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78" r:id="rId3"/>
    <p:sldId id="308" r:id="rId4"/>
    <p:sldId id="282" r:id="rId5"/>
    <p:sldId id="292" r:id="rId6"/>
    <p:sldId id="291" r:id="rId7"/>
    <p:sldId id="319" r:id="rId8"/>
    <p:sldId id="295" r:id="rId9"/>
    <p:sldId id="316" r:id="rId10"/>
    <p:sldId id="290" r:id="rId11"/>
    <p:sldId id="317" r:id="rId12"/>
    <p:sldId id="309" r:id="rId13"/>
    <p:sldId id="296" r:id="rId14"/>
    <p:sldId id="293" r:id="rId15"/>
    <p:sldId id="297" r:id="rId16"/>
    <p:sldId id="298" r:id="rId17"/>
    <p:sldId id="360" r:id="rId18"/>
    <p:sldId id="376" r:id="rId19"/>
    <p:sldId id="300" r:id="rId20"/>
    <p:sldId id="301" r:id="rId21"/>
    <p:sldId id="302" r:id="rId22"/>
    <p:sldId id="303" r:id="rId23"/>
    <p:sldId id="299" r:id="rId24"/>
    <p:sldId id="320" r:id="rId25"/>
    <p:sldId id="352" r:id="rId26"/>
    <p:sldId id="323" r:id="rId27"/>
    <p:sldId id="350" r:id="rId28"/>
    <p:sldId id="324" r:id="rId29"/>
    <p:sldId id="351" r:id="rId30"/>
    <p:sldId id="325" r:id="rId31"/>
    <p:sldId id="354" r:id="rId32"/>
    <p:sldId id="353" r:id="rId33"/>
    <p:sldId id="326" r:id="rId34"/>
    <p:sldId id="355" r:id="rId35"/>
    <p:sldId id="327" r:id="rId36"/>
    <p:sldId id="356" r:id="rId37"/>
    <p:sldId id="357" r:id="rId38"/>
    <p:sldId id="330" r:id="rId39"/>
    <p:sldId id="358" r:id="rId40"/>
    <p:sldId id="359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32" r:id="rId49"/>
    <p:sldId id="368" r:id="rId50"/>
    <p:sldId id="334" r:id="rId51"/>
    <p:sldId id="369" r:id="rId52"/>
    <p:sldId id="370" r:id="rId53"/>
    <p:sldId id="371" r:id="rId54"/>
    <p:sldId id="372" r:id="rId55"/>
    <p:sldId id="373" r:id="rId56"/>
    <p:sldId id="381" r:id="rId57"/>
    <p:sldId id="382" r:id="rId58"/>
    <p:sldId id="383" r:id="rId59"/>
    <p:sldId id="385" r:id="rId60"/>
    <p:sldId id="375" r:id="rId61"/>
    <p:sldId id="348" r:id="rId62"/>
    <p:sldId id="347" r:id="rId63"/>
    <p:sldId id="315" r:id="rId64"/>
    <p:sldId id="304" r:id="rId65"/>
    <p:sldId id="379" r:id="rId66"/>
    <p:sldId id="276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Introducción a R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es una herramienta extremadamente poderosa que agilizará muchas operaciones.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añade un componente de complejidad adicional a una materia de por sí densa.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Acostumbrarse al uso de R es fundamental para tener éxito en el curso.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33489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¿Qué son R y </a:t>
            </a:r>
            <a:r>
              <a:rPr lang="es-419" dirty="0" err="1"/>
              <a:t>RStudio</a:t>
            </a:r>
            <a:r>
              <a:rPr lang="es-419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Herramientas para todo el curso</a:t>
            </a:r>
          </a:p>
        </p:txBody>
      </p:sp>
    </p:spTree>
    <p:extLst>
      <p:ext uri="{BB962C8B-B14F-4D97-AF65-F5344CB8AC3E}">
        <p14:creationId xmlns:p14="http://schemas.microsoft.com/office/powerpoint/2010/main" val="39309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¿Qué es</a:t>
            </a:r>
            <a:r>
              <a:rPr lang="es-419" b="1" dirty="0">
                <a:solidFill>
                  <a:srgbClr val="003A5D"/>
                </a:solidFill>
              </a:rPr>
              <a:t> R</a:t>
            </a:r>
            <a:r>
              <a:rPr lang="es-419" dirty="0"/>
              <a:t>?</a:t>
            </a:r>
            <a:endParaRPr lang="en-US" b="1" dirty="0">
              <a:solidFill>
                <a:srgbClr val="003A5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419" sz="2400" b="1" dirty="0">
                <a:solidFill>
                  <a:srgbClr val="003A5D"/>
                </a:solidFill>
              </a:rPr>
              <a:t>R</a:t>
            </a:r>
            <a:r>
              <a:rPr lang="es-419" sz="2400" dirty="0"/>
              <a:t> es un lenguaje de programación dedicado a análisis estadístico.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Uno de los dos lenguajes más populares para la </a:t>
            </a:r>
            <a:r>
              <a:rPr lang="es-419" sz="2400" i="1" dirty="0"/>
              <a:t>Ciencia de Datos.</a:t>
            </a:r>
            <a:endParaRPr lang="es-419" sz="2400" dirty="0"/>
          </a:p>
          <a:p>
            <a:pPr lvl="1" algn="just">
              <a:lnSpc>
                <a:spcPct val="150000"/>
              </a:lnSpc>
            </a:pPr>
            <a:r>
              <a:rPr lang="es-419" sz="2000" dirty="0"/>
              <a:t>El otro siendo </a:t>
            </a:r>
            <a:r>
              <a:rPr lang="es-419" sz="2000" i="1" dirty="0"/>
              <a:t>Python</a:t>
            </a:r>
            <a:r>
              <a:rPr lang="es-419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Usado principalmente para análisis de datos “aislado”.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No tiene mucha funcionalidad para programar aplicaciones.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Popular en ramas de academia e investigación, con expansión en el mundo corporativo.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Muy buena sinergia con el trabajo y formación de economistas.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Apto para aquellos sin experiencia de programación.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Software libre (gratis).</a:t>
            </a:r>
          </a:p>
          <a:p>
            <a:pPr algn="just">
              <a:lnSpc>
                <a:spcPct val="150000"/>
              </a:lnSpc>
            </a:pPr>
            <a:r>
              <a:rPr lang="es-419" sz="2400" dirty="0"/>
              <a:t>Muy versátil gracias a paquetes, librerías y comunidad de desarrolladores.</a:t>
            </a:r>
          </a:p>
          <a:p>
            <a:pPr algn="just">
              <a:lnSpc>
                <a:spcPct val="150000"/>
              </a:lnSpc>
            </a:pP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BB960E-A120-4DDF-AE57-8E373F0B7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135" y="1355657"/>
            <a:ext cx="1537728" cy="119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75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Ventajas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Software libre (Gratis!).</a:t>
            </a:r>
          </a:p>
          <a:p>
            <a:pPr>
              <a:lnSpc>
                <a:spcPct val="150000"/>
              </a:lnSpc>
            </a:pPr>
            <a:r>
              <a:rPr lang="es-419" dirty="0"/>
              <a:t>Corre en todas las plataformas grandes: Windows, Mac Os, UNIX/Linux.</a:t>
            </a:r>
          </a:p>
          <a:p>
            <a:pPr>
              <a:lnSpc>
                <a:spcPct val="150000"/>
              </a:lnSpc>
            </a:pPr>
            <a:r>
              <a:rPr lang="es-419" dirty="0"/>
              <a:t>Tiene muchas funcionalidades para el análisis estadístico.</a:t>
            </a:r>
          </a:p>
          <a:p>
            <a:pPr>
              <a:lnSpc>
                <a:spcPct val="150000"/>
              </a:lnSpc>
            </a:pPr>
            <a:r>
              <a:rPr lang="es-419" dirty="0"/>
              <a:t>Excelente para análisis estadístico.</a:t>
            </a:r>
          </a:p>
          <a:p>
            <a:pPr>
              <a:lnSpc>
                <a:spcPct val="150000"/>
              </a:lnSpc>
            </a:pPr>
            <a:r>
              <a:rPr lang="es-419" dirty="0"/>
              <a:t>Altamente poderoso en cuanto a visualizaciones.</a:t>
            </a:r>
          </a:p>
          <a:p>
            <a:pPr>
              <a:lnSpc>
                <a:spcPct val="150000"/>
              </a:lnSpc>
            </a:pPr>
            <a:r>
              <a:rPr lang="es-419" dirty="0"/>
              <a:t>Interfaz de línea de código (todo se hace desde la consola y scripts).</a:t>
            </a:r>
          </a:p>
          <a:p>
            <a:pPr>
              <a:lnSpc>
                <a:spcPct val="150000"/>
              </a:lnSpc>
            </a:pPr>
            <a:r>
              <a:rPr lang="es-419" dirty="0"/>
              <a:t>Reproducibilidad gracias a </a:t>
            </a:r>
            <a:r>
              <a:rPr lang="es-419" b="1" dirty="0">
                <a:solidFill>
                  <a:srgbClr val="003A5D"/>
                </a:solidFill>
              </a:rPr>
              <a:t>Scripts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dirty="0"/>
              <a:t>Versátil: varios proceso tienen diferentes formas válidas de escribirse.</a:t>
            </a:r>
          </a:p>
          <a:p>
            <a:pPr>
              <a:lnSpc>
                <a:spcPct val="150000"/>
              </a:lnSpc>
            </a:pPr>
            <a:r>
              <a:rPr lang="es-419" dirty="0"/>
              <a:t>Paquetes y librerías: extensiones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para expandir capacidad analítica.</a:t>
            </a:r>
          </a:p>
          <a:p>
            <a:pPr>
              <a:lnSpc>
                <a:spcPct val="150000"/>
              </a:lnSpc>
            </a:pPr>
            <a:r>
              <a:rPr lang="es-419" dirty="0"/>
              <a:t>Vibrante comunidad de desarrolladores.</a:t>
            </a:r>
          </a:p>
          <a:p>
            <a:pPr>
              <a:lnSpc>
                <a:spcPct val="150000"/>
              </a:lnSpc>
            </a:pPr>
            <a:r>
              <a:rPr lang="es-419" dirty="0"/>
              <a:t>Herramienta solicitada en trabajos de análisis cuantitativo.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2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Desventajas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endParaRPr lang="en-US" b="1" dirty="0">
              <a:solidFill>
                <a:srgbClr val="003A5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Fácil de entender, difícil de dominar.</a:t>
            </a:r>
          </a:p>
          <a:p>
            <a:pPr>
              <a:lnSpc>
                <a:spcPct val="150000"/>
              </a:lnSpc>
            </a:pPr>
            <a:r>
              <a:rPr lang="es-419" dirty="0"/>
              <a:t>Interfaz de línea de comando puede ser desafiante al inicio.</a:t>
            </a:r>
          </a:p>
          <a:p>
            <a:pPr>
              <a:lnSpc>
                <a:spcPct val="150000"/>
              </a:lnSpc>
            </a:pPr>
            <a:r>
              <a:rPr lang="es-419" dirty="0"/>
              <a:t>Escrito por estadísticos: la sintaxis es idiosincrática que no sigue la lógica de otros lenguajes más accesibles.</a:t>
            </a:r>
          </a:p>
          <a:p>
            <a:pPr>
              <a:lnSpc>
                <a:spcPct val="150000"/>
              </a:lnSpc>
            </a:pPr>
            <a:r>
              <a:rPr lang="es-419" dirty="0"/>
              <a:t>Encontrar el paquete adecuado puede ser difícil.</a:t>
            </a:r>
          </a:p>
          <a:p>
            <a:pPr>
              <a:lnSpc>
                <a:spcPct val="150000"/>
              </a:lnSpc>
            </a:pPr>
            <a:r>
              <a:rPr lang="es-419" dirty="0"/>
              <a:t>Dependencias entre librerías hace tedioso mantener actualizadas algunas herramientas. </a:t>
            </a:r>
          </a:p>
          <a:p>
            <a:pPr>
              <a:lnSpc>
                <a:spcPct val="150000"/>
              </a:lnSpc>
            </a:pPr>
            <a:r>
              <a:rPr lang="es-419" dirty="0"/>
              <a:t>Código pobremente escrito es difícil de mantener.</a:t>
            </a:r>
          </a:p>
          <a:p>
            <a:pPr>
              <a:lnSpc>
                <a:spcPct val="150000"/>
              </a:lnSpc>
            </a:pPr>
            <a:r>
              <a:rPr lang="es-419" dirty="0"/>
              <a:t>Código pobremente escrito es lento de ejecutar.</a:t>
            </a:r>
          </a:p>
          <a:p>
            <a:pPr>
              <a:lnSpc>
                <a:spcPct val="150000"/>
              </a:lnSpc>
            </a:pPr>
            <a:r>
              <a:rPr lang="es-419" dirty="0"/>
              <a:t>No es tan popular como </a:t>
            </a:r>
            <a:r>
              <a:rPr lang="es-419" i="1" dirty="0"/>
              <a:t>Python</a:t>
            </a:r>
            <a:r>
              <a:rPr lang="es-419" dirty="0"/>
              <a:t> en cuanto a IA.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0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Algunos paquetes y librerías populares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El </a:t>
            </a:r>
            <a:r>
              <a:rPr lang="es-419" b="1" i="1" dirty="0" err="1">
                <a:solidFill>
                  <a:srgbClr val="003A5D"/>
                </a:solidFill>
              </a:rPr>
              <a:t>tidyverse</a:t>
            </a:r>
            <a:r>
              <a:rPr lang="es-419" dirty="0"/>
              <a:t>: sintaxis intuitiva para manipular y procesar datos.</a:t>
            </a:r>
          </a:p>
          <a:p>
            <a:pPr lvl="1"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ggplot2 </a:t>
            </a:r>
            <a:r>
              <a:rPr lang="es-419" dirty="0"/>
              <a:t>para visualizaciones.</a:t>
            </a:r>
          </a:p>
          <a:p>
            <a:pPr lvl="1"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dplyr</a:t>
            </a:r>
            <a:r>
              <a:rPr lang="es-419" dirty="0"/>
              <a:t> para manipular y organizar datos.</a:t>
            </a:r>
          </a:p>
          <a:p>
            <a:pPr lvl="1"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readr</a:t>
            </a:r>
            <a:r>
              <a:rPr lang="es-419" b="1" i="1" dirty="0">
                <a:solidFill>
                  <a:srgbClr val="003A5D"/>
                </a:solidFill>
              </a:rPr>
              <a:t> </a:t>
            </a:r>
            <a:r>
              <a:rPr lang="es-419" dirty="0"/>
              <a:t>para importar datos delimitadas (CSV).</a:t>
            </a:r>
          </a:p>
          <a:p>
            <a:pPr lvl="1"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stringr</a:t>
            </a:r>
            <a:r>
              <a:rPr lang="es-419" b="1" i="1" dirty="0">
                <a:solidFill>
                  <a:srgbClr val="003A5D"/>
                </a:solidFill>
              </a:rPr>
              <a:t> </a:t>
            </a:r>
            <a:r>
              <a:rPr lang="es-419" dirty="0"/>
              <a:t>para procesar texto.</a:t>
            </a:r>
          </a:p>
          <a:p>
            <a:pPr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xts</a:t>
            </a:r>
            <a:r>
              <a:rPr lang="es-419" b="1" i="1" dirty="0">
                <a:solidFill>
                  <a:srgbClr val="003A5D"/>
                </a:solidFill>
              </a:rPr>
              <a:t> </a:t>
            </a:r>
            <a:r>
              <a:rPr lang="es-419" dirty="0"/>
              <a:t>para trabajar con series de tiempo.</a:t>
            </a:r>
            <a:endParaRPr lang="es-419" b="1" i="1" dirty="0">
              <a:solidFill>
                <a:srgbClr val="003A5D"/>
              </a:solidFill>
            </a:endParaRPr>
          </a:p>
          <a:p>
            <a:pPr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caret</a:t>
            </a:r>
            <a:r>
              <a:rPr lang="es-419" i="1" dirty="0"/>
              <a:t> </a:t>
            </a:r>
            <a:r>
              <a:rPr lang="es-419" dirty="0"/>
              <a:t>para machine </a:t>
            </a:r>
            <a:r>
              <a:rPr lang="es-419" dirty="0" err="1"/>
              <a:t>learning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igraph</a:t>
            </a:r>
            <a:r>
              <a:rPr lang="es-419" dirty="0">
                <a:solidFill>
                  <a:srgbClr val="003A5D"/>
                </a:solidFill>
              </a:rPr>
              <a:t> </a:t>
            </a:r>
            <a:r>
              <a:rPr lang="es-419" dirty="0"/>
              <a:t>para análisis de redes.</a:t>
            </a:r>
          </a:p>
          <a:p>
            <a:pPr>
              <a:lnSpc>
                <a:spcPct val="150000"/>
              </a:lnSpc>
            </a:pPr>
            <a:r>
              <a:rPr lang="es-419" b="1" i="1" dirty="0" err="1">
                <a:solidFill>
                  <a:srgbClr val="003A5D"/>
                </a:solidFill>
              </a:rPr>
              <a:t>markdown</a:t>
            </a:r>
            <a:r>
              <a:rPr lang="es-419" b="1" i="1" dirty="0"/>
              <a:t> </a:t>
            </a:r>
            <a:r>
              <a:rPr lang="es-419" dirty="0"/>
              <a:t>para documentos reproducibles.</a:t>
            </a:r>
            <a:endParaRPr lang="es-419" b="1" i="1" dirty="0"/>
          </a:p>
          <a:p>
            <a:pPr lvl="1">
              <a:lnSpc>
                <a:spcPct val="150000"/>
              </a:lnSpc>
            </a:pPr>
            <a:endParaRPr lang="es-419" dirty="0"/>
          </a:p>
          <a:p>
            <a:pPr algn="just"/>
            <a:endParaRPr lang="en-US" dirty="0"/>
          </a:p>
        </p:txBody>
      </p:sp>
      <p:sp>
        <p:nvSpPr>
          <p:cNvPr id="4" name="AutoShape 2" descr="Introduction to the Tidyverse">
            <a:extLst>
              <a:ext uri="{FF2B5EF4-FFF2-40B4-BE49-F238E27FC236}">
                <a16:creationId xmlns:a16="http://schemas.microsoft.com/office/drawing/2014/main" id="{84D430EC-3E50-40D3-B215-08BF158502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3078" name="Picture 6" descr="Introducción a la Estadística para Científicos de Datos. Capítulo 3. Manejo  de datos con R - Análisis y Decisión">
            <a:extLst>
              <a:ext uri="{FF2B5EF4-FFF2-40B4-BE49-F238E27FC236}">
                <a16:creationId xmlns:a16="http://schemas.microsoft.com/office/drawing/2014/main" id="{F508F603-E87D-45A8-8F62-13AD6778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943" y="1415815"/>
            <a:ext cx="3426014" cy="395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05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La interfaz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1DE39-29DC-4697-BDAF-A398107E4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4" b="5292"/>
          <a:stretch/>
        </p:blipFill>
        <p:spPr>
          <a:xfrm>
            <a:off x="1296981" y="873000"/>
            <a:ext cx="9598037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¿Qué es </a:t>
            </a:r>
            <a:r>
              <a:rPr lang="es-419" b="1" dirty="0" err="1">
                <a:solidFill>
                  <a:srgbClr val="003A5D"/>
                </a:solidFill>
              </a:rPr>
              <a:t>RStudio</a:t>
            </a:r>
            <a:r>
              <a:rPr lang="es-419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419" sz="3100" b="1" dirty="0" err="1">
                <a:solidFill>
                  <a:srgbClr val="003A5D"/>
                </a:solidFill>
              </a:rPr>
              <a:t>RStudio</a:t>
            </a:r>
            <a:r>
              <a:rPr lang="es-419" sz="3100" dirty="0"/>
              <a:t> es un </a:t>
            </a:r>
            <a:r>
              <a:rPr lang="es-419" sz="3100" i="1" dirty="0"/>
              <a:t>entorno de desarrollo integrado </a:t>
            </a:r>
            <a:r>
              <a:rPr lang="es-419" sz="3100" dirty="0"/>
              <a:t>de </a:t>
            </a:r>
            <a:r>
              <a:rPr lang="es-419" sz="3100" b="1" dirty="0">
                <a:solidFill>
                  <a:srgbClr val="003A5D"/>
                </a:solidFill>
              </a:rPr>
              <a:t>R.</a:t>
            </a:r>
            <a:r>
              <a:rPr lang="es-419" sz="3100" dirty="0"/>
              <a:t> </a:t>
            </a:r>
          </a:p>
          <a:p>
            <a:pPr lvl="1" algn="just">
              <a:lnSpc>
                <a:spcPct val="150000"/>
              </a:lnSpc>
            </a:pPr>
            <a:r>
              <a:rPr lang="es-419" sz="2600" dirty="0"/>
              <a:t>También conocido como</a:t>
            </a:r>
            <a:r>
              <a:rPr lang="es-419" sz="2600" i="1" dirty="0"/>
              <a:t> entorno de desarrollo interactivo.</a:t>
            </a:r>
          </a:p>
          <a:p>
            <a:pPr lvl="1" algn="just">
              <a:lnSpc>
                <a:spcPct val="150000"/>
              </a:lnSpc>
            </a:pPr>
            <a:r>
              <a:rPr lang="es-419" sz="2600" dirty="0"/>
              <a:t>IDE por sus siglas en inglés.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Es una interface para trabajar con </a:t>
            </a:r>
            <a:r>
              <a:rPr lang="es-419" sz="3100" b="1" dirty="0">
                <a:solidFill>
                  <a:srgbClr val="003A5D"/>
                </a:solidFill>
              </a:rPr>
              <a:t>R.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Se requiere de </a:t>
            </a:r>
            <a:r>
              <a:rPr lang="es-419" sz="3100" b="1" dirty="0">
                <a:solidFill>
                  <a:srgbClr val="003A5D"/>
                </a:solidFill>
              </a:rPr>
              <a:t>R</a:t>
            </a:r>
            <a:r>
              <a:rPr lang="es-419" sz="3100" dirty="0"/>
              <a:t> para trabajar con </a:t>
            </a:r>
            <a:r>
              <a:rPr lang="es-419" sz="3100" b="1" dirty="0" err="1">
                <a:solidFill>
                  <a:srgbClr val="003A5D"/>
                </a:solidFill>
              </a:rPr>
              <a:t>Rstudio</a:t>
            </a:r>
            <a:r>
              <a:rPr lang="es-419" sz="3100" b="1" dirty="0">
                <a:solidFill>
                  <a:srgbClr val="003A5D"/>
                </a:solidFill>
              </a:rPr>
              <a:t>, </a:t>
            </a:r>
            <a:r>
              <a:rPr lang="es-419" sz="3100" dirty="0"/>
              <a:t>pero no a la inversa.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Facilita organizar código, documentos, visualizaciones y proyectos.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Al igual que </a:t>
            </a:r>
            <a:r>
              <a:rPr lang="es-419" sz="3100" b="1" dirty="0">
                <a:solidFill>
                  <a:srgbClr val="003A5D"/>
                </a:solidFill>
              </a:rPr>
              <a:t>R</a:t>
            </a:r>
            <a:r>
              <a:rPr lang="es-419" sz="3100" dirty="0"/>
              <a:t>, es un software libre en su versión más básica.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Prácticamente todos los usuarios experimentados de </a:t>
            </a:r>
            <a:r>
              <a:rPr lang="es-419" sz="3100" b="1" dirty="0">
                <a:solidFill>
                  <a:srgbClr val="003A5D"/>
                </a:solidFill>
              </a:rPr>
              <a:t>R</a:t>
            </a:r>
            <a:r>
              <a:rPr lang="es-419" sz="3100" dirty="0">
                <a:solidFill>
                  <a:srgbClr val="003A5D"/>
                </a:solidFill>
              </a:rPr>
              <a:t> </a:t>
            </a:r>
            <a:r>
              <a:rPr lang="es-419" sz="3100" dirty="0"/>
              <a:t>lo hacen vía</a:t>
            </a:r>
            <a:r>
              <a:rPr lang="es-419" sz="3100" dirty="0">
                <a:solidFill>
                  <a:srgbClr val="003A5D"/>
                </a:solidFill>
              </a:rPr>
              <a:t> </a:t>
            </a:r>
            <a:r>
              <a:rPr lang="es-419" sz="3100" b="1" dirty="0" err="1">
                <a:solidFill>
                  <a:srgbClr val="003A5D"/>
                </a:solidFill>
              </a:rPr>
              <a:t>RStudio</a:t>
            </a:r>
            <a:r>
              <a:rPr lang="es-419" sz="3100" dirty="0">
                <a:solidFill>
                  <a:srgbClr val="003A5D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419" sz="3100" dirty="0"/>
              <a:t>Nuestra principal interacción con </a:t>
            </a:r>
            <a:r>
              <a:rPr lang="es-419" sz="3100" b="1" dirty="0">
                <a:solidFill>
                  <a:srgbClr val="003A5D"/>
                </a:solidFill>
              </a:rPr>
              <a:t>R</a:t>
            </a:r>
            <a:r>
              <a:rPr lang="es-419" sz="3100" dirty="0"/>
              <a:t> será vía </a:t>
            </a:r>
            <a:r>
              <a:rPr lang="es-419" sz="3100" b="1" dirty="0" err="1">
                <a:solidFill>
                  <a:srgbClr val="003A5D"/>
                </a:solidFill>
              </a:rPr>
              <a:t>RStudio</a:t>
            </a:r>
            <a:r>
              <a:rPr lang="es-419" sz="31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/>
          </a:p>
          <a:p>
            <a:pPr algn="just"/>
            <a:endParaRPr 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131DF2A-E411-4A83-8516-F16352BD2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541" y="1000848"/>
            <a:ext cx="2663215" cy="9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90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La interfaz de </a:t>
            </a:r>
            <a:r>
              <a:rPr lang="es-419" b="1" dirty="0" err="1">
                <a:solidFill>
                  <a:srgbClr val="003A5D"/>
                </a:solidFill>
              </a:rPr>
              <a:t>RStudio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4F8995-FED0-437E-917C-CDE515634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9"/>
          <a:stretch/>
        </p:blipFill>
        <p:spPr>
          <a:xfrm>
            <a:off x="1305523" y="873000"/>
            <a:ext cx="9580953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Aclaratoria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sz="2000" dirty="0"/>
              <a:t>Importante: este es un curso extensivamente en </a:t>
            </a:r>
            <a:r>
              <a:rPr lang="es-419" sz="2000" b="1" dirty="0">
                <a:solidFill>
                  <a:srgbClr val="003A5D"/>
                </a:solidFill>
              </a:rPr>
              <a:t>R</a:t>
            </a:r>
            <a:r>
              <a:rPr lang="es-419" sz="2000" dirty="0"/>
              <a:t>, mas no es un curso </a:t>
            </a:r>
            <a:r>
              <a:rPr lang="es-419" sz="2000" i="1" dirty="0"/>
              <a:t>de</a:t>
            </a:r>
            <a:r>
              <a:rPr lang="es-419" sz="2000" dirty="0"/>
              <a:t> </a:t>
            </a:r>
            <a:r>
              <a:rPr lang="es-419" sz="2000" b="1" dirty="0">
                <a:solidFill>
                  <a:srgbClr val="003A5D"/>
                </a:solidFill>
              </a:rPr>
              <a:t>R</a:t>
            </a:r>
            <a:r>
              <a:rPr lang="es-419" sz="20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s-419" sz="2000" dirty="0"/>
              <a:t>Se emplea </a:t>
            </a:r>
            <a:r>
              <a:rPr lang="es-419" sz="2000" b="1" dirty="0">
                <a:solidFill>
                  <a:srgbClr val="003A5D"/>
                </a:solidFill>
              </a:rPr>
              <a:t>R </a:t>
            </a:r>
            <a:r>
              <a:rPr lang="es-419" sz="2000" dirty="0"/>
              <a:t>como herramienta para realización de ejercicios prácticos.</a:t>
            </a:r>
          </a:p>
          <a:p>
            <a:pPr algn="just">
              <a:lnSpc>
                <a:spcPct val="150000"/>
              </a:lnSpc>
            </a:pPr>
            <a:r>
              <a:rPr lang="es-419" sz="2000" dirty="0"/>
              <a:t>Se enseñan las bases elementales necesarias para la materia.</a:t>
            </a:r>
          </a:p>
          <a:p>
            <a:pPr lvl="1" algn="just">
              <a:lnSpc>
                <a:spcPct val="150000"/>
              </a:lnSpc>
            </a:pPr>
            <a:r>
              <a:rPr lang="es-419" sz="2000" dirty="0"/>
              <a:t>No es un curso lo bastante integral como para producir “programadores de R”</a:t>
            </a:r>
          </a:p>
          <a:p>
            <a:pPr algn="just">
              <a:lnSpc>
                <a:spcPct val="150000"/>
              </a:lnSpc>
            </a:pPr>
            <a:r>
              <a:rPr lang="es-419" sz="2000" dirty="0"/>
              <a:t>Se tratará de mostrar ejemplos del uso de </a:t>
            </a:r>
            <a:r>
              <a:rPr lang="es-419" sz="2000" b="1" dirty="0">
                <a:solidFill>
                  <a:srgbClr val="003A5D"/>
                </a:solidFill>
              </a:rPr>
              <a:t>R</a:t>
            </a:r>
            <a:r>
              <a:rPr lang="es-419" sz="2000" dirty="0"/>
              <a:t> en entornos más realistas.</a:t>
            </a:r>
          </a:p>
          <a:p>
            <a:pPr algn="just">
              <a:lnSpc>
                <a:spcPct val="150000"/>
              </a:lnSpc>
            </a:pPr>
            <a:r>
              <a:rPr lang="es-419" sz="2000" dirty="0"/>
              <a:t>Los estudiantes son invitados a profundizar el uso de la herramienta a lo largo de su carrera.</a:t>
            </a:r>
          </a:p>
          <a:p>
            <a:pPr algn="just">
              <a:lnSpc>
                <a:spcPct val="150000"/>
              </a:lnSpc>
            </a:pPr>
            <a:r>
              <a:rPr lang="es-419" sz="2000" dirty="0"/>
              <a:t>Espacios de enseñanza en línea son amplios y de (relativo) bajo costo:</a:t>
            </a:r>
          </a:p>
          <a:p>
            <a:pPr algn="just">
              <a:lnSpc>
                <a:spcPct val="150000"/>
              </a:lnSpc>
            </a:pPr>
            <a:endParaRPr lang="es-419" b="1" dirty="0"/>
          </a:p>
          <a:p>
            <a:pPr algn="just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0BEE435-1E32-412D-AF4C-E794E96A7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124" y="5181596"/>
            <a:ext cx="1484918" cy="77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earn R, Python &amp; Data Science Online | DataCamp">
            <a:extLst>
              <a:ext uri="{FF2B5EF4-FFF2-40B4-BE49-F238E27FC236}">
                <a16:creationId xmlns:a16="http://schemas.microsoft.com/office/drawing/2014/main" id="{4780F2DD-E98F-4EC1-AC22-3FE8DFD1E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568" y="5138731"/>
            <a:ext cx="2298030" cy="86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E71BC59-7FC0-4F23-AD30-E2D501B64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124" y="5067169"/>
            <a:ext cx="2390774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64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 </a:t>
            </a:r>
            <a:r>
              <a:rPr lang="es-419" dirty="0" err="1"/>
              <a:t>RStudio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Lo básico</a:t>
            </a:r>
          </a:p>
        </p:txBody>
      </p:sp>
    </p:spTree>
    <p:extLst>
      <p:ext uri="{BB962C8B-B14F-4D97-AF65-F5344CB8AC3E}">
        <p14:creationId xmlns:p14="http://schemas.microsoft.com/office/powerpoint/2010/main" val="3651161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La consola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4F8995-FED0-437E-917C-CDE515634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9"/>
          <a:stretch/>
        </p:blipFill>
        <p:spPr>
          <a:xfrm>
            <a:off x="1305523" y="873000"/>
            <a:ext cx="9580953" cy="511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E8F485-9EBE-4B15-8A8A-63D5D4355849}"/>
              </a:ext>
            </a:extLst>
          </p:cNvPr>
          <p:cNvSpPr/>
          <p:nvPr/>
        </p:nvSpPr>
        <p:spPr>
          <a:xfrm>
            <a:off x="1305523" y="3429001"/>
            <a:ext cx="4989260" cy="255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74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La consola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Escritura y ejecución de código.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Arroja resultados de operaciones.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Operaciones matemáticas.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Asignación de variables usando el operador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&lt;-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También se puede usar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=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Revisión del espacio de trabajo usando la función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ls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Utilizar función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rm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 </a:t>
            </a:r>
            <a:r>
              <a:rPr lang="es-419" dirty="0"/>
              <a:t>para remover elementos del espacio.</a:t>
            </a:r>
          </a:p>
          <a:p>
            <a:pPr algn="just">
              <a:lnSpc>
                <a:spcPct val="150000"/>
              </a:lnSpc>
            </a:pPr>
            <a:endParaRPr lang="es-419" dirty="0"/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491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Scripts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4F8995-FED0-437E-917C-CDE515634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9"/>
          <a:stretch/>
        </p:blipFill>
        <p:spPr>
          <a:xfrm>
            <a:off x="1305523" y="873000"/>
            <a:ext cx="9580953" cy="511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E8F485-9EBE-4B15-8A8A-63D5D4355849}"/>
              </a:ext>
            </a:extLst>
          </p:cNvPr>
          <p:cNvSpPr/>
          <p:nvPr/>
        </p:nvSpPr>
        <p:spPr>
          <a:xfrm>
            <a:off x="1305523" y="1325217"/>
            <a:ext cx="4989260" cy="21998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2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Scripts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Archivos de texto donde se puede plasmar código reproducible.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Escribir y posteriormente ejecutar código de forma selectiva.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Espacio recomendable para probar código y guardarlo para uso futuro.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Escribir comentarios no ejecutables utilizado </a:t>
            </a:r>
            <a:r>
              <a:rPr lang="es-419" i="1" dirty="0">
                <a:solidFill>
                  <a:srgbClr val="003A5D"/>
                </a:solidFill>
                <a:latin typeface="Consolas" panose="020B0609020204030204" pitchFamily="49" charset="0"/>
              </a:rPr>
              <a:t>#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Fijar generador aleatorio de números usando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set.seed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Puede segmentarse para fácil navegación.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Documentos en los que se entregarán procedimientos de pruebas.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48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Espacio de intervención: 30 segundos.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Para una prueba de Estadística III, ¿Cuáles serían las ventajas de usar scripts? ¿Con solo usar la consola basta?</a:t>
            </a:r>
          </a:p>
        </p:txBody>
      </p:sp>
    </p:spTree>
    <p:extLst>
      <p:ext uri="{BB962C8B-B14F-4D97-AF65-F5344CB8AC3E}">
        <p14:creationId xmlns:p14="http://schemas.microsoft.com/office/powerpoint/2010/main" val="4150270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Estilo de código recomendado para </a:t>
            </a:r>
            <a:r>
              <a:rPr lang="es-419" b="1" dirty="0">
                <a:solidFill>
                  <a:srgbClr val="003A5D"/>
                </a:solidFill>
              </a:rPr>
              <a:t>Estadística III</a:t>
            </a:r>
            <a:endParaRPr lang="en-US" b="1" dirty="0">
              <a:solidFill>
                <a:srgbClr val="003A5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Seguir plantilla adjuntada en archivos de curso y evaluaciones.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Todo el código debería correrse en otra computadora de principio a fin sin errores.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Código deber ser entendible y estar correctamente marcado con comentarios.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Tratar de mantenerlo todo en minúsculas.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Los pasos individuales separados y ordenados de forma secuencial.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Argumentos de funciones explicitados (recomendable siempre a nivel principiante).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Cálculos intermedios guardados como elementos para trabajarse sobre ellos después.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Asegurarse que último paso genere (y muestre) resultado final de ejercicio.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NO</a:t>
            </a:r>
            <a:r>
              <a:rPr lang="es-419" dirty="0"/>
              <a:t> hacer cálculos manuales “al aire” cuando son parte de resultados definitivos.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NO</a:t>
            </a:r>
            <a:r>
              <a:rPr lang="es-419" dirty="0"/>
              <a:t> copiar y pegar resultaos de consola en Script.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63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4F8995-FED0-437E-917C-CDE515634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9"/>
          <a:stretch/>
        </p:blipFill>
        <p:spPr>
          <a:xfrm>
            <a:off x="1305523" y="873000"/>
            <a:ext cx="9580953" cy="511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trabajo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8F485-9EBE-4B15-8A8A-63D5D4355849}"/>
              </a:ext>
            </a:extLst>
          </p:cNvPr>
          <p:cNvSpPr/>
          <p:nvPr/>
        </p:nvSpPr>
        <p:spPr>
          <a:xfrm>
            <a:off x="6261836" y="1325217"/>
            <a:ext cx="4624640" cy="21998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trabajo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Almacena todas las bases, variables y elementos cargados o creados durante la sesión.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Control de elementos que pueden ser reutilizados o modificados.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Pestaña para acceder a historial de código y tutoriales.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204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Documentación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4F8995-FED0-437E-917C-CDE515634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9"/>
          <a:stretch/>
        </p:blipFill>
        <p:spPr>
          <a:xfrm>
            <a:off x="1305523" y="873000"/>
            <a:ext cx="9580953" cy="5112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52424B-F35C-4CBD-A2B4-CCF07DCF28F4}"/>
              </a:ext>
            </a:extLst>
          </p:cNvPr>
          <p:cNvSpPr/>
          <p:nvPr/>
        </p:nvSpPr>
        <p:spPr>
          <a:xfrm>
            <a:off x="6294783" y="3429000"/>
            <a:ext cx="4591693" cy="255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36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Documentación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Espacio donde se mostrarán gráficos generados durante sesión.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Pestaña para ver archivos en el directorio de trabajo.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Pestañas para acceder a los paquetes y documentos de ayuda de funciones.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87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Las </a:t>
            </a:r>
            <a:r>
              <a:rPr lang="es-419" dirty="0" err="1">
                <a:solidFill>
                  <a:srgbClr val="003A5D"/>
                </a:solidFill>
                <a:latin typeface="Consolas" panose="020B0609020204030204" pitchFamily="49" charset="0"/>
              </a:rPr>
              <a:t>cheat_sheets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 </a:t>
            </a:r>
            <a:r>
              <a:rPr lang="es-419" dirty="0"/>
              <a:t>son sus amigas</a:t>
            </a:r>
            <a:endParaRPr 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E7BE1D-4332-4828-807E-7200C45F37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69"/>
          <a:stretch/>
        </p:blipFill>
        <p:spPr bwMode="auto">
          <a:xfrm>
            <a:off x="838200" y="1359000"/>
            <a:ext cx="5418792" cy="41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1385416-2A0A-4406-A90C-6FF2D6E2D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16"/>
          <a:stretch/>
        </p:blipFill>
        <p:spPr bwMode="auto">
          <a:xfrm>
            <a:off x="6256992" y="1359000"/>
            <a:ext cx="5214263" cy="41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025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al uso de 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Primeros pasos.</a:t>
            </a:r>
          </a:p>
        </p:txBody>
      </p:sp>
    </p:spTree>
    <p:extLst>
      <p:ext uri="{BB962C8B-B14F-4D97-AF65-F5344CB8AC3E}">
        <p14:creationId xmlns:p14="http://schemas.microsoft.com/office/powerpoint/2010/main" val="3822853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Operaciones básicas de 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Empezaremos con operaciones básicas en la </a:t>
            </a:r>
            <a:r>
              <a:rPr lang="es-419" b="1" dirty="0">
                <a:solidFill>
                  <a:srgbClr val="003A5D"/>
                </a:solidFill>
              </a:rPr>
              <a:t>consola</a:t>
            </a:r>
            <a:r>
              <a:rPr lang="es-419" dirty="0"/>
              <a:t> y los </a:t>
            </a:r>
            <a:r>
              <a:rPr lang="es-419" b="1" dirty="0">
                <a:solidFill>
                  <a:srgbClr val="003A5D"/>
                </a:solidFill>
              </a:rPr>
              <a:t>scripts</a:t>
            </a:r>
            <a:r>
              <a:rPr lang="es-419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puede ser utilizado como una calculadora glorificada.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es un lenguaje estructurado alrededor de </a:t>
            </a:r>
            <a:r>
              <a:rPr lang="es-419" b="1" dirty="0">
                <a:solidFill>
                  <a:srgbClr val="003A5D"/>
                </a:solidFill>
              </a:rPr>
              <a:t>objetos</a:t>
            </a:r>
            <a:r>
              <a:rPr lang="es-419" dirty="0"/>
              <a:t>, o unidades de información.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También conocidas como variables.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Asignación de variables usando el operador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&lt;-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También se puede usar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=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es sensible a la capitalización de palabras.</a:t>
            </a:r>
          </a:p>
          <a:p>
            <a:pPr lvl="1"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CUIDADO AL MOMENTO DE ASIGNAR NOMBRES.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 </a:t>
            </a:r>
            <a:r>
              <a:rPr lang="es-419" dirty="0"/>
              <a:t>tiene algunas variables definidas por defecto.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39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Operaciones básicas de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 R Básico ------------------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## Primeros </a:t>
            </a:r>
            <a:r>
              <a:rPr lang="es-ES" dirty="0" err="1">
                <a:latin typeface="Consolas" panose="020B0609020204030204" pitchFamily="49" charset="0"/>
              </a:rPr>
              <a:t>computos</a:t>
            </a:r>
            <a:r>
              <a:rPr lang="es-ES" dirty="0">
                <a:latin typeface="Consolas" panose="020B0609020204030204" pitchFamily="49" charset="0"/>
              </a:rPr>
              <a:t> en línea de comando --------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#Escribir texto en la consola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"</a:t>
            </a:r>
            <a:r>
              <a:rPr lang="es-ES" dirty="0" err="1">
                <a:latin typeface="Consolas" panose="020B0609020204030204" pitchFamily="49" charset="0"/>
              </a:rPr>
              <a:t>hello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world</a:t>
            </a:r>
            <a:r>
              <a:rPr lang="es-ES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812955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Operaciones básicas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#Usar R como calculadora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#Suma simple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2 + 2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4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4 + 5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9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#Promedio de 5 números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(1 + 3 + 2 + 12 + 8)/5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5.2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#Distancia entre dos puntos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((2 - 1)^2 + (1 - 3)^2)^(1/2)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2.236068</a:t>
            </a:r>
          </a:p>
        </p:txBody>
      </p:sp>
    </p:spTree>
    <p:extLst>
      <p:ext uri="{BB962C8B-B14F-4D97-AF65-F5344CB8AC3E}">
        <p14:creationId xmlns:p14="http://schemas.microsoft.com/office/powerpoint/2010/main" val="2151701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#La </a:t>
            </a:r>
            <a:r>
              <a:rPr lang="es-ES" dirty="0" err="1">
                <a:latin typeface="Consolas" panose="020B0609020204030204" pitchFamily="49" charset="0"/>
              </a:rPr>
              <a:t>linea</a:t>
            </a:r>
            <a:r>
              <a:rPr lang="es-ES" dirty="0">
                <a:latin typeface="Consolas" panose="020B0609020204030204" pitchFamily="49" charset="0"/>
              </a:rPr>
              <a:t> de comando identifica errores.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2 ^^ 2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Error: </a:t>
            </a:r>
            <a:r>
              <a:rPr lang="es-ES" sz="2700" dirty="0" err="1">
                <a:highlight>
                  <a:srgbClr val="FFFF00"/>
                </a:highlight>
                <a:latin typeface="Consolas" panose="020B0609020204030204" pitchFamily="49" charset="0"/>
              </a:rPr>
              <a:t>unexpected</a:t>
            </a: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 '^' in "  2 ^^"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 txBox="1">
            <a:spLocks/>
          </p:cNvSpPr>
          <p:nvPr/>
        </p:nvSpPr>
        <p:spPr>
          <a:xfrm>
            <a:off x="841131" y="24907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s-419" dirty="0"/>
              <a:t>Operaciones básicas</a:t>
            </a:r>
          </a:p>
        </p:txBody>
      </p:sp>
    </p:spTree>
    <p:extLst>
      <p:ext uri="{BB962C8B-B14F-4D97-AF65-F5344CB8AC3E}">
        <p14:creationId xmlns:p14="http://schemas.microsoft.com/office/powerpoint/2010/main" val="582083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#Podemos realizar una amplia gama de operaciones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2+5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7</a:t>
            </a:r>
          </a:p>
          <a:p>
            <a:pPr marL="0" indent="0">
              <a:buNone/>
            </a:pPr>
            <a:r>
              <a:rPr lang="es-ES" sz="2700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7/2+7*8+1+9-4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65.5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8*6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48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2^16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65536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8*10</a:t>
            </a:r>
          </a:p>
          <a:p>
            <a:pPr marL="0" indent="0">
              <a:buNone/>
            </a:pPr>
            <a:r>
              <a:rPr lang="es-ES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80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 txBox="1">
            <a:spLocks/>
          </p:cNvSpPr>
          <p:nvPr/>
        </p:nvSpPr>
        <p:spPr>
          <a:xfrm>
            <a:off x="841131" y="24907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s-419" dirty="0"/>
              <a:t>Operaciones básicas</a:t>
            </a:r>
          </a:p>
        </p:txBody>
      </p:sp>
    </p:spTree>
    <p:extLst>
      <p:ext uri="{BB962C8B-B14F-4D97-AF65-F5344CB8AC3E}">
        <p14:creationId xmlns:p14="http://schemas.microsoft.com/office/powerpoint/2010/main" val="1186235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Operaciones básicas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#Guardamos objetos usando"&lt;-"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 &lt;- 2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2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y &lt;- x^2 - 2*x + 1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y</a:t>
            </a:r>
            <a:endParaRPr lang="es-ES" sz="2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#print() es una forma explícita de presentar objetos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2</a:t>
            </a:r>
          </a:p>
        </p:txBody>
      </p:sp>
    </p:spTree>
    <p:extLst>
      <p:ext uri="{BB962C8B-B14F-4D97-AF65-F5344CB8AC3E}">
        <p14:creationId xmlns:p14="http://schemas.microsoft.com/office/powerpoint/2010/main" val="2479205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Operaciones básicas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 es dinámico por lo que podemos renombrar ciertos tipos de valores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 &lt;- "</a:t>
            </a:r>
            <a:r>
              <a:rPr lang="es-ES" dirty="0" err="1">
                <a:latin typeface="Consolas" panose="020B0609020204030204" pitchFamily="49" charset="0"/>
              </a:rPr>
              <a:t>two</a:t>
            </a:r>
            <a:r>
              <a:rPr lang="es-ES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two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&gt;#Sensible a mayúsculas</a:t>
            </a:r>
            <a:br>
              <a:rPr lang="es-E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&gt; X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Error: object 'X' not found</a:t>
            </a:r>
          </a:p>
          <a:p>
            <a:pPr marL="0" indent="0">
              <a:buNone/>
            </a:pPr>
            <a:endParaRPr lang="en-US" sz="29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900" dirty="0">
                <a:latin typeface="Consolas" panose="020B0609020204030204" pitchFamily="49" charset="0"/>
              </a:rPr>
              <a:t>&gt; #Algunas funciones por defecto</a:t>
            </a:r>
          </a:p>
          <a:p>
            <a:pPr marL="0" indent="0">
              <a:buNone/>
            </a:pPr>
            <a:r>
              <a:rPr lang="es-ES" sz="2900" dirty="0">
                <a:latin typeface="Consolas" panose="020B0609020204030204" pitchFamily="49" charset="0"/>
              </a:rPr>
              <a:t>&gt; pi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3.141593</a:t>
            </a:r>
          </a:p>
        </p:txBody>
      </p:sp>
    </p:spTree>
    <p:extLst>
      <p:ext uri="{BB962C8B-B14F-4D97-AF65-F5344CB8AC3E}">
        <p14:creationId xmlns:p14="http://schemas.microsoft.com/office/powerpoint/2010/main" val="2868442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Funciones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trabaja sobre los elementos usando funciones, o acciones para realizar alguna operación.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Las funciones se llaman por su nombre seguido de paréntesis.</a:t>
            </a:r>
          </a:p>
          <a:p>
            <a:pPr lvl="1" algn="just">
              <a:lnSpc>
                <a:spcPct val="150000"/>
              </a:lnSpc>
            </a:pP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mean()</a:t>
            </a:r>
            <a:endParaRPr lang="es-419" dirty="0"/>
          </a:p>
          <a:p>
            <a:pPr algn="just">
              <a:lnSpc>
                <a:spcPct val="150000"/>
              </a:lnSpc>
            </a:pPr>
            <a:r>
              <a:rPr lang="es-419" dirty="0"/>
              <a:t>Hay miles de funciones en el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base como en paquetes instalables.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Las funciones tienen </a:t>
            </a:r>
            <a:r>
              <a:rPr lang="es-419" b="1" i="1" dirty="0">
                <a:solidFill>
                  <a:srgbClr val="003A5D"/>
                </a:solidFill>
              </a:rPr>
              <a:t>argumentos</a:t>
            </a:r>
            <a:r>
              <a:rPr lang="es-419" dirty="0">
                <a:solidFill>
                  <a:srgbClr val="003A5D"/>
                </a:solidFill>
              </a:rPr>
              <a:t> </a:t>
            </a:r>
            <a:r>
              <a:rPr lang="es-419" dirty="0"/>
              <a:t>que permiten personalizar operaciones.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Algunos argumentos deben ser explicitados.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Podemos crear nuestras propias funciones.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6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#Funciones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#print() es una forma explícita de presentar objetos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2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#Con </a:t>
            </a:r>
            <a:r>
              <a:rPr lang="es-ES" dirty="0" err="1">
                <a:latin typeface="Consolas" panose="020B0609020204030204" pitchFamily="49" charset="0"/>
              </a:rPr>
              <a:t>class</a:t>
            </a:r>
            <a:r>
              <a:rPr lang="es-ES" dirty="0">
                <a:latin typeface="Consolas" panose="020B0609020204030204" pitchFamily="49" charset="0"/>
              </a:rPr>
              <a:t>() podemos ver la clase de los objetos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class</a:t>
            </a:r>
            <a:r>
              <a:rPr lang="es-ES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character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class</a:t>
            </a:r>
            <a:r>
              <a:rPr lang="es-ES" dirty="0">
                <a:latin typeface="Consolas" panose="020B0609020204030204" pitchFamily="49" charset="0"/>
              </a:rPr>
              <a:t>(y)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numeric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03785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#Funciones aplicables a objetos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 &lt;- pi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3.141593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#Seno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sin(x)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1.224606e-16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#Desplegar ayuda de una función con el operador "?"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&gt;?sin()</a:t>
            </a:r>
          </a:p>
        </p:txBody>
      </p:sp>
    </p:spTree>
    <p:extLst>
      <p:ext uri="{BB962C8B-B14F-4D97-AF65-F5344CB8AC3E}">
        <p14:creationId xmlns:p14="http://schemas.microsoft.com/office/powerpoint/2010/main" val="923965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#Raiz cuadrada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1.772454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#Valor absoluto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abs</a:t>
            </a:r>
            <a:r>
              <a:rPr lang="es-ES" dirty="0">
                <a:latin typeface="Consolas" panose="020B0609020204030204" pitchFamily="49" charset="0"/>
              </a:rPr>
              <a:t>(-65)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65</a:t>
            </a:r>
          </a:p>
        </p:txBody>
      </p:sp>
    </p:spTree>
    <p:extLst>
      <p:ext uri="{BB962C8B-B14F-4D97-AF65-F5344CB8AC3E}">
        <p14:creationId xmlns:p14="http://schemas.microsoft.com/office/powerpoint/2010/main" val="3611415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Funciones</a:t>
            </a:r>
            <a:endParaRPr lang="es-419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#Logaritmos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log(x)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1.14473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?log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log(x,10)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0.4971499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dirty="0">
                <a:latin typeface="Consolas" panose="020B0609020204030204" pitchFamily="49" charset="0"/>
              </a:rPr>
              <a:t>&gt; log(100, 10)</a:t>
            </a:r>
          </a:p>
          <a:p>
            <a:pPr marL="0" indent="0">
              <a:buNone/>
            </a:pPr>
            <a:r>
              <a:rPr lang="sv-SE" dirty="0">
                <a:highlight>
                  <a:srgbClr val="FFFF00"/>
                </a:highlight>
                <a:latin typeface="Consolas" panose="020B0609020204030204" pitchFamily="49" charset="0"/>
              </a:rPr>
              <a:t>[1] 2</a:t>
            </a:r>
          </a:p>
          <a:p>
            <a:pPr marL="0" indent="0">
              <a:buNone/>
            </a:pPr>
            <a:endParaRPr lang="sv-SE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dirty="0">
                <a:latin typeface="Consolas" panose="020B0609020204030204" pitchFamily="49" charset="0"/>
              </a:rPr>
              <a:t>&gt; log(100, 2)</a:t>
            </a:r>
          </a:p>
          <a:p>
            <a:pPr marL="0" indent="0">
              <a:buNone/>
            </a:pPr>
            <a:r>
              <a:rPr lang="sv-SE" dirty="0">
                <a:highlight>
                  <a:srgbClr val="FFFF00"/>
                </a:highlight>
                <a:latin typeface="Consolas" panose="020B0609020204030204" pitchFamily="49" charset="0"/>
              </a:rPr>
              <a:t>[1] 6.643856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536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Los objetos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pueden contener más de un componente.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Los vectores son secuencias de elementos de datos.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Los vectores son homogéneos.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Solo admiten un mismo tipo de dato.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De ser necesario se coaccionan a tal tipo.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Los vectores de crean usando la función </a:t>
            </a:r>
            <a:r>
              <a:rPr lang="es-419" dirty="0">
                <a:solidFill>
                  <a:srgbClr val="003A5D"/>
                </a:solidFill>
                <a:latin typeface="Consolas" panose="020B0609020204030204" pitchFamily="49" charset="0"/>
              </a:rPr>
              <a:t>c()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Se pueden aplicar funciones a vectores.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endParaRPr lang="es-419" dirty="0">
              <a:solidFill>
                <a:srgbClr val="003A5D"/>
              </a:solidFill>
              <a:latin typeface="Consolas" panose="020B0609020204030204" pitchFamily="49" charset="0"/>
            </a:endParaRPr>
          </a:p>
          <a:p>
            <a:pPr algn="just"/>
            <a:endParaRPr lang="es-419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17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  <a:endParaRPr lang="es-419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#Vectores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y &lt;- c(1, 2, 3, 4, 5)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(y)</a:t>
            </a:r>
            <a:endParaRPr lang="es-ES" sz="2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 2 3 4 5</a:t>
            </a:r>
          </a:p>
          <a:p>
            <a:pPr marL="0" indent="0">
              <a:buNone/>
            </a:pPr>
            <a:r>
              <a:rPr lang="es-ES" sz="2900" dirty="0">
                <a:latin typeface="Consolas" panose="020B0609020204030204" pitchFamily="49" charset="0"/>
              </a:rPr>
              <a:t>&gt; y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 2 3 4 5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 &lt;- c(74, 122, 235, 111, 292)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 74 122 235 111 292</a:t>
            </a:r>
          </a:p>
        </p:txBody>
      </p:sp>
    </p:spTree>
    <p:extLst>
      <p:ext uri="{BB962C8B-B14F-4D97-AF65-F5344CB8AC3E}">
        <p14:creationId xmlns:p14="http://schemas.microsoft.com/office/powerpoint/2010/main" val="3347569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&gt;#Vectores de diferentes tipos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palos &lt;- c("Picas", "Diamantes", "Corazones", "</a:t>
            </a:r>
            <a:r>
              <a:rPr lang="es-ES" dirty="0" err="1">
                <a:latin typeface="Consolas" panose="020B0609020204030204" pitchFamily="49" charset="0"/>
              </a:rPr>
              <a:t>Treboles</a:t>
            </a:r>
            <a:r>
              <a:rPr lang="es-ES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palos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"Picas" "Diamantes" "Corazones"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Treboles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v &lt;- c(TRUE, FALSE, TRUE, TRUE)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v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 TRUE FALSE  TRUE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48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class(y)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[1] "numeric"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class(v)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[1] "logical"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class(palos)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[1] "character"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717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20 segundos.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sz="2400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sz="24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sz="2400" i="1" dirty="0"/>
              <a:t>¿Cuál es la clase del vector </a:t>
            </a:r>
            <a:r>
              <a:rPr lang="es-419" sz="2400" dirty="0">
                <a:solidFill>
                  <a:srgbClr val="003A5D"/>
                </a:solidFill>
                <a:latin typeface="Consolas" panose="020B0609020204030204" pitchFamily="49" charset="0"/>
              </a:rPr>
              <a:t>c(0, "A", "B", 3, "D", 5, 6, 7)</a:t>
            </a:r>
            <a:r>
              <a:rPr lang="es-419" sz="2400" i="1" dirty="0"/>
              <a:t>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4172822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  <a:endParaRPr lang="es-419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sum(z)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834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length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5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sum(z)/</a:t>
            </a:r>
            <a:r>
              <a:rPr lang="es-ES" dirty="0" err="1">
                <a:latin typeface="Consolas" panose="020B0609020204030204" pitchFamily="49" charset="0"/>
              </a:rPr>
              <a:t>length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166.8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#Operaciones por elemento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x + z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 77.14159 125.14159 238.14159 114.14159 295.14159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 8.602325 11.045361 15.329710 10.535654 17.088007</a:t>
            </a:r>
          </a:p>
          <a:p>
            <a:pPr marL="0" indent="0">
              <a:buNone/>
            </a:pPr>
            <a:endParaRPr lang="es-ES" sz="29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900" dirty="0">
                <a:latin typeface="Consolas" panose="020B0609020204030204" pitchFamily="49" charset="0"/>
              </a:rPr>
              <a:t>&gt; log(z)</a:t>
            </a:r>
          </a:p>
          <a:p>
            <a:pPr marL="0" indent="0">
              <a:buNone/>
            </a:pPr>
            <a:r>
              <a:rPr lang="pl-PL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4.304065 4.804021 5.459586 4.709530 5.676754</a:t>
            </a:r>
            <a:endParaRPr lang="es-ES" sz="29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43161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#Media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mean(z)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166.8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#Mediana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median(z)</a:t>
            </a:r>
          </a:p>
          <a:p>
            <a:pPr marL="0" indent="0">
              <a:buNone/>
            </a:pPr>
            <a:r>
              <a:rPr lang="es-ES" sz="2900" dirty="0">
                <a:highlight>
                  <a:srgbClr val="FFFF00"/>
                </a:highlight>
                <a:latin typeface="Consolas" panose="020B0609020204030204" pitchFamily="49" charset="0"/>
              </a:rPr>
              <a:t>[1] 122</a:t>
            </a:r>
          </a:p>
          <a:p>
            <a:pPr marL="0" indent="0">
              <a:buNone/>
            </a:pPr>
            <a:endParaRPr lang="es-ES" sz="29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#Desviación </a:t>
            </a:r>
            <a:r>
              <a:rPr lang="es-ES" sz="3200" dirty="0" err="1">
                <a:latin typeface="Consolas" panose="020B0609020204030204" pitchFamily="49" charset="0"/>
              </a:rPr>
              <a:t>estandard</a:t>
            </a:r>
            <a:endParaRPr lang="es-ES" sz="3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</a:t>
            </a:r>
            <a:r>
              <a:rPr lang="es-ES" sz="3200" dirty="0" err="1">
                <a:latin typeface="Consolas" panose="020B0609020204030204" pitchFamily="49" charset="0"/>
              </a:rPr>
              <a:t>sd</a:t>
            </a:r>
            <a:r>
              <a:rPr lang="es-ES" sz="3200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92.27513</a:t>
            </a:r>
          </a:p>
        </p:txBody>
      </p:sp>
    </p:spTree>
    <p:extLst>
      <p:ext uri="{BB962C8B-B14F-4D97-AF65-F5344CB8AC3E}">
        <p14:creationId xmlns:p14="http://schemas.microsoft.com/office/powerpoint/2010/main" val="3036124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2 minutos.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69A3F-CEB1-4100-9987-2A295CA6F7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endParaRPr lang="es-419" i="1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i="1" dirty="0"/>
                  <a:t>¿Cuál es la varianza de 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z</a:t>
                </a:r>
                <a:r>
                  <a:rPr lang="es-419" i="1" dirty="0"/>
                  <a:t>?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i="1" dirty="0"/>
                  <a:t>¿Es lo mismo usar la versión </a:t>
                </a:r>
                <a:r>
                  <a:rPr lang="es-419" dirty="0" err="1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var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()</a:t>
                </a:r>
                <a:r>
                  <a:rPr lang="es-419" i="1" dirty="0"/>
                  <a:t> que la siguiente fórmula?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419" i="1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69A3F-CEB1-4100-9987-2A295CA6F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799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indent="0">
              <a:buNone/>
            </a:pPr>
            <a:r>
              <a:rPr lang="pl-PL" sz="3200" dirty="0">
                <a:latin typeface="Consolas" panose="020B0609020204030204" pitchFamily="49" charset="0"/>
              </a:rPr>
              <a:t>&gt; #Calculamos la media de z</a:t>
            </a:r>
          </a:p>
          <a:p>
            <a:pPr marL="0" indent="0">
              <a:buNone/>
            </a:pPr>
            <a:r>
              <a:rPr lang="pl-PL" sz="3200" dirty="0">
                <a:latin typeface="Consolas" panose="020B0609020204030204" pitchFamily="49" charset="0"/>
              </a:rPr>
              <a:t>&gt; mu_z &lt;- mean(z)</a:t>
            </a:r>
          </a:p>
          <a:p>
            <a:pPr marL="0" indent="0">
              <a:buNone/>
            </a:pPr>
            <a:r>
              <a:rPr lang="pl-PL" sz="3200" dirty="0">
                <a:latin typeface="Consolas" panose="020B0609020204030204" pitchFamily="49" charset="0"/>
              </a:rPr>
              <a:t>&gt; mu_z</a:t>
            </a:r>
          </a:p>
          <a:p>
            <a:pPr marL="0" indent="0">
              <a:buNone/>
            </a:pPr>
            <a:r>
              <a:rPr lang="pl-PL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166.8</a:t>
            </a:r>
            <a:endParaRPr lang="es-419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419" sz="3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#Calculamos el numero de elementos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n &lt;- </a:t>
            </a:r>
            <a:r>
              <a:rPr lang="es-ES" sz="3200" dirty="0" err="1">
                <a:latin typeface="Consolas" panose="020B0609020204030204" pitchFamily="49" charset="0"/>
              </a:rPr>
              <a:t>length</a:t>
            </a:r>
            <a:r>
              <a:rPr lang="es-ES" sz="3200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n</a:t>
            </a:r>
          </a:p>
          <a:p>
            <a:pPr marL="0" indent="0">
              <a:buNone/>
            </a:pPr>
            <a:r>
              <a:rPr lang="es-ES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5</a:t>
            </a:r>
          </a:p>
          <a:p>
            <a:pPr marL="0" indent="0">
              <a:buNone/>
            </a:pP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#Calculamos la varianza</a:t>
            </a:r>
          </a:p>
          <a:p>
            <a:pPr marL="0" indent="0">
              <a:buNone/>
            </a:pPr>
            <a:r>
              <a:rPr lang="pl-PL" sz="3200" dirty="0">
                <a:latin typeface="Consolas" panose="020B0609020204030204" pitchFamily="49" charset="0"/>
              </a:rPr>
              <a:t>&gt; sum((z-mu_z)^2)/n</a:t>
            </a:r>
          </a:p>
          <a:p>
            <a:pPr marL="0" indent="0">
              <a:buNone/>
            </a:pPr>
            <a:r>
              <a:rPr lang="pl-PL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6811.76</a:t>
            </a:r>
            <a:endParaRPr lang="es-419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419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3200" dirty="0">
                <a:latin typeface="Consolas" panose="020B0609020204030204" pitchFamily="49" charset="0"/>
              </a:rPr>
              <a:t>&gt; </a:t>
            </a:r>
            <a:r>
              <a:rPr lang="es-419" sz="3200" dirty="0" err="1">
                <a:latin typeface="Consolas" panose="020B0609020204030204" pitchFamily="49" charset="0"/>
              </a:rPr>
              <a:t>var</a:t>
            </a:r>
            <a:r>
              <a:rPr lang="es-419" sz="3200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419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8514.7</a:t>
            </a:r>
          </a:p>
          <a:p>
            <a:pPr marL="0" indent="0">
              <a:buNone/>
            </a:pP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55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8B4D-223C-4A10-8129-15099A4D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Espacio de intervención: 1 minuto.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A3F-CEB1-4100-9987-2A295CA6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419" i="1" dirty="0"/>
              <a:t>¿Qué debemos hacer para que las dos operaciones anteriores coincidan?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1983561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3200" dirty="0">
                <a:latin typeface="Consolas" panose="020B0609020204030204" pitchFamily="49" charset="0"/>
              </a:rPr>
              <a:t>&gt; #Calculamos la varianza muestral</a:t>
            </a:r>
          </a:p>
          <a:p>
            <a:pPr marL="0" indent="0">
              <a:buNone/>
            </a:pPr>
            <a:r>
              <a:rPr lang="pl-PL" sz="3200" dirty="0">
                <a:latin typeface="Consolas" panose="020B0609020204030204" pitchFamily="49" charset="0"/>
              </a:rPr>
              <a:t>&gt; sum((z-mu_z)^2)/</a:t>
            </a:r>
            <a:r>
              <a:rPr lang="es-419" sz="3200" dirty="0">
                <a:latin typeface="Consolas" panose="020B0609020204030204" pitchFamily="49" charset="0"/>
              </a:rPr>
              <a:t>(</a:t>
            </a:r>
            <a:r>
              <a:rPr lang="pl-PL" sz="3200" dirty="0">
                <a:latin typeface="Consolas" panose="020B0609020204030204" pitchFamily="49" charset="0"/>
              </a:rPr>
              <a:t>n</a:t>
            </a:r>
            <a:r>
              <a:rPr lang="es-419" sz="3200" dirty="0">
                <a:latin typeface="Consolas" panose="020B0609020204030204" pitchFamily="49" charset="0"/>
              </a:rPr>
              <a:t>-1)</a:t>
            </a:r>
            <a:endParaRPr lang="pl-PL" sz="3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8514.7</a:t>
            </a:r>
            <a:endParaRPr lang="es-419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419" sz="32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3200" dirty="0">
                <a:latin typeface="Consolas" panose="020B0609020204030204" pitchFamily="49" charset="0"/>
              </a:rPr>
              <a:t>&gt; </a:t>
            </a:r>
            <a:r>
              <a:rPr lang="es-419" sz="3200" dirty="0" err="1">
                <a:latin typeface="Consolas" panose="020B0609020204030204" pitchFamily="49" charset="0"/>
              </a:rPr>
              <a:t>var</a:t>
            </a:r>
            <a:r>
              <a:rPr lang="es-419" sz="3200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419" sz="3200" dirty="0">
                <a:highlight>
                  <a:srgbClr val="FFFF00"/>
                </a:highlight>
                <a:latin typeface="Consolas" panose="020B0609020204030204" pitchFamily="49" charset="0"/>
              </a:rPr>
              <a:t>[1] 8514.7</a:t>
            </a:r>
          </a:p>
          <a:p>
            <a:pPr marL="0" indent="0">
              <a:buNone/>
            </a:pPr>
            <a:endParaRPr lang="es-ES" sz="32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0246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Vectores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#Summary para estadísticas de resumen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summary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Min. 1st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Qu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.  Median    Mean 3rd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Qu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.    Max.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74.0   111.0   122.0   166.8   235.0   292.0 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summary(v)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Mode   FALSE    TRUE 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logical       1       3 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8303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El espacio de trabajo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mantendrá guardado objetos en un espacio de trabajo global.</a:t>
            </a:r>
            <a:endParaRPr lang="es-419" dirty="0">
              <a:solidFill>
                <a:srgbClr val="003A5D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419" b="1" dirty="0" err="1">
                <a:solidFill>
                  <a:srgbClr val="003A5D"/>
                </a:solidFill>
              </a:rPr>
              <a:t>RStudio</a:t>
            </a:r>
            <a:r>
              <a:rPr lang="es-419" dirty="0">
                <a:solidFill>
                  <a:srgbClr val="003A5D"/>
                </a:solidFill>
              </a:rPr>
              <a:t> </a:t>
            </a:r>
            <a:r>
              <a:rPr lang="es-419" dirty="0"/>
              <a:t>lista los objetos del espacio de trabajo con un resumen corto.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Se pueden listar y eliminar elementos del espacio de trabajo usando la línea de comando.</a:t>
            </a:r>
          </a:p>
        </p:txBody>
      </p:sp>
    </p:spTree>
    <p:extLst>
      <p:ext uri="{BB962C8B-B14F-4D97-AF65-F5344CB8AC3E}">
        <p14:creationId xmlns:p14="http://schemas.microsoft.com/office/powerpoint/2010/main" val="20199286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El espacio de trabajo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#Revisión de elementos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ls</a:t>
            </a:r>
            <a:r>
              <a:rPr lang="es-ES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"x" "y" "z"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#Estructura del elemento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str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[1:5] 74 122 235 111 292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#Remover elementos del espacio de trabajo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rm</a:t>
            </a:r>
            <a:r>
              <a:rPr lang="es-ES" dirty="0">
                <a:latin typeface="Consolas" panose="020B0609020204030204" pitchFamily="49" charset="0"/>
              </a:rPr>
              <a:t>(z)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rm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ls</a:t>
            </a:r>
            <a:r>
              <a:rPr lang="es-ES" dirty="0">
                <a:latin typeface="Consolas" panose="020B0609020204030204" pitchFamily="49" charset="0"/>
              </a:rPr>
              <a:t>())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9542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Sesiones y Proyectos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Sesiones: </a:t>
            </a:r>
            <a:r>
              <a:rPr lang="es-419" dirty="0"/>
              <a:t>El espacio de trabajo global y su historial se mantienen de sesión en sesión si uno así lo desea.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Para efectos de este curso es recomendable NO.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Desactivar restauración de libro de trabajo al inicio.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En opciones generales seleccionar </a:t>
            </a:r>
            <a:r>
              <a:rPr lang="es-419" b="1" dirty="0">
                <a:solidFill>
                  <a:srgbClr val="003A5D"/>
                </a:solidFill>
              </a:rPr>
              <a:t>NUNCA</a:t>
            </a:r>
            <a:r>
              <a:rPr lang="es-419" dirty="0"/>
              <a:t> guardas espacio de trabajo a .</a:t>
            </a:r>
            <a:r>
              <a:rPr lang="es-419" dirty="0" err="1"/>
              <a:t>Rdata</a:t>
            </a:r>
            <a:r>
              <a:rPr lang="es-419" dirty="0"/>
              <a:t> al salir.</a:t>
            </a:r>
          </a:p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Proyectos: R</a:t>
            </a:r>
            <a:r>
              <a:rPr lang="es-419" dirty="0">
                <a:solidFill>
                  <a:srgbClr val="003A5D"/>
                </a:solidFill>
              </a:rPr>
              <a:t> </a:t>
            </a:r>
            <a:r>
              <a:rPr lang="es-419" dirty="0"/>
              <a:t>permite establecer directorios para acceder a archivos y subcarpetas, además de facilidades adicionales para guardar sesiones. </a:t>
            </a:r>
          </a:p>
          <a:p>
            <a:pPr lvl="1" algn="just">
              <a:lnSpc>
                <a:spcPct val="150000"/>
              </a:lnSpc>
            </a:pPr>
            <a:r>
              <a:rPr lang="es-419" dirty="0"/>
              <a:t>Apto para hacer trabajos con muchas partes.</a:t>
            </a:r>
          </a:p>
        </p:txBody>
      </p:sp>
    </p:spTree>
    <p:extLst>
      <p:ext uri="{BB962C8B-B14F-4D97-AF65-F5344CB8AC3E}">
        <p14:creationId xmlns:p14="http://schemas.microsoft.com/office/powerpoint/2010/main" val="1658383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Instalación y carga de paquetes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puede ser extendido vía la instalación de paquetes.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La mayoría se encuentran en el repositorio </a:t>
            </a:r>
            <a:r>
              <a:rPr lang="es-419" b="1" dirty="0">
                <a:solidFill>
                  <a:srgbClr val="003A5D"/>
                </a:solidFill>
              </a:rPr>
              <a:t>CRAN</a:t>
            </a:r>
            <a:r>
              <a:rPr lang="es-419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419" dirty="0" err="1"/>
              <a:t>RStudio</a:t>
            </a:r>
            <a:r>
              <a:rPr lang="es-419" dirty="0"/>
              <a:t> tiene un panel para observar los paquetes instalados y cargados.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Leer un </a:t>
            </a:r>
            <a:r>
              <a:rPr lang="es-419" b="1" dirty="0">
                <a:solidFill>
                  <a:srgbClr val="003A5D"/>
                </a:solidFill>
              </a:rPr>
              <a:t>Script</a:t>
            </a:r>
            <a:r>
              <a:rPr lang="es-419" dirty="0"/>
              <a:t> que usa un paquete no instalado localmente generara un mensaje con la opción de descargarlo.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Algunos paquetes tienen dependencias de otros paquetes para funcionar.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Los paquetes deben cargarse individualmente cada sesión para usar sus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2265957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Instalación y carga de paquetes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#Intalar paquetes (una sola vez)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</a:t>
            </a:r>
            <a:r>
              <a:rPr lang="es-ES" dirty="0" err="1">
                <a:latin typeface="Consolas" panose="020B0609020204030204" pitchFamily="49" charset="0"/>
              </a:rPr>
              <a:t>install.packages</a:t>
            </a:r>
            <a:r>
              <a:rPr lang="es-ES" dirty="0">
                <a:latin typeface="Consolas" panose="020B0609020204030204" pitchFamily="49" charset="0"/>
              </a:rPr>
              <a:t>("</a:t>
            </a:r>
            <a:r>
              <a:rPr lang="es-ES" dirty="0" err="1">
                <a:latin typeface="Consolas" panose="020B0609020204030204" pitchFamily="49" charset="0"/>
              </a:rPr>
              <a:t>tidyverse</a:t>
            </a:r>
            <a:r>
              <a:rPr lang="es-ES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</a:t>
            </a:r>
            <a:r>
              <a:rPr lang="es-ES" dirty="0" err="1">
                <a:latin typeface="Consolas" panose="020B0609020204030204" pitchFamily="49" charset="0"/>
              </a:rPr>
              <a:t>install.packages</a:t>
            </a:r>
            <a:r>
              <a:rPr lang="es-ES" dirty="0">
                <a:latin typeface="Consolas" panose="020B0609020204030204" pitchFamily="49" charset="0"/>
              </a:rPr>
              <a:t>("</a:t>
            </a:r>
            <a:r>
              <a:rPr lang="es-ES" dirty="0" err="1">
                <a:latin typeface="Consolas" panose="020B0609020204030204" pitchFamily="49" charset="0"/>
              </a:rPr>
              <a:t>UsingR</a:t>
            </a:r>
            <a:r>
              <a:rPr lang="es-ES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#Cargar paquetes (cada </a:t>
            </a:r>
            <a:r>
              <a:rPr lang="es-ES" dirty="0" err="1">
                <a:latin typeface="Consolas" panose="020B0609020204030204" pitchFamily="49" charset="0"/>
              </a:rPr>
              <a:t>sesion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</a:t>
            </a:r>
            <a:r>
              <a:rPr lang="es-ES" dirty="0" err="1">
                <a:latin typeface="Consolas" panose="020B0609020204030204" pitchFamily="49" charset="0"/>
              </a:rPr>
              <a:t>library</a:t>
            </a:r>
            <a:r>
              <a:rPr lang="es-ES" dirty="0">
                <a:latin typeface="Consolas" panose="020B0609020204030204" pitchFamily="49" charset="0"/>
              </a:rPr>
              <a:t>("</a:t>
            </a:r>
            <a:r>
              <a:rPr lang="es-ES" dirty="0" err="1">
                <a:latin typeface="Consolas" panose="020B0609020204030204" pitchFamily="49" charset="0"/>
              </a:rPr>
              <a:t>tidyverse</a:t>
            </a:r>
            <a:r>
              <a:rPr lang="es-ES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</a:t>
            </a:r>
            <a:r>
              <a:rPr lang="es-ES" dirty="0" err="1">
                <a:latin typeface="Consolas" panose="020B0609020204030204" pitchFamily="49" charset="0"/>
              </a:rPr>
              <a:t>library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UsingR</a:t>
            </a:r>
            <a:r>
              <a:rPr lang="es-ES" dirty="0">
                <a:latin typeface="Consolas" panose="020B0609020204030204" pitchFamily="49" charset="0"/>
              </a:rPr>
              <a:t>)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1052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Otros elementos de data básicos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 </a:t>
            </a:r>
            <a:r>
              <a:rPr lang="es-419" dirty="0"/>
              <a:t>admite operaciones con una amplia gama de estructuras:</a:t>
            </a:r>
          </a:p>
          <a:p>
            <a:pPr lvl="1" algn="just"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Matrices</a:t>
            </a:r>
          </a:p>
          <a:p>
            <a:pPr lvl="1" algn="just"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Listas</a:t>
            </a:r>
          </a:p>
          <a:p>
            <a:pPr lvl="2" algn="just">
              <a:lnSpc>
                <a:spcPct val="150000"/>
              </a:lnSpc>
            </a:pPr>
            <a:r>
              <a:rPr lang="es-419" dirty="0"/>
              <a:t>Colección de elementos que admiten diferentes tipos.</a:t>
            </a:r>
          </a:p>
          <a:p>
            <a:pPr lvl="1" algn="just"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Bases de datos </a:t>
            </a:r>
            <a:r>
              <a:rPr lang="es-419" dirty="0"/>
              <a:t>(</a:t>
            </a:r>
            <a:r>
              <a:rPr lang="es-419" dirty="0" err="1"/>
              <a:t>dataframes</a:t>
            </a:r>
            <a:r>
              <a:rPr lang="es-419" dirty="0"/>
              <a:t>, </a:t>
            </a:r>
            <a:r>
              <a:rPr lang="es-419" dirty="0" err="1"/>
              <a:t>tibbles</a:t>
            </a:r>
            <a:r>
              <a:rPr lang="es-419" dirty="0"/>
              <a:t>)</a:t>
            </a:r>
          </a:p>
          <a:p>
            <a:pPr lvl="2" algn="just">
              <a:lnSpc>
                <a:spcPct val="150000"/>
              </a:lnSpc>
            </a:pPr>
            <a:r>
              <a:rPr lang="es-419" dirty="0"/>
              <a:t>Un subtipo de lista en donde todos los elementos (o variables) tienen la misma longitud.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R y sus paquetes más populares trabajan de forma muy sinérgica cuando los datos con los que se trabajan están en formato </a:t>
            </a:r>
            <a:r>
              <a:rPr lang="es-419" b="1" i="1" dirty="0" err="1">
                <a:solidFill>
                  <a:srgbClr val="003A5D"/>
                </a:solidFill>
              </a:rPr>
              <a:t>tidy</a:t>
            </a:r>
            <a:endParaRPr lang="es-419" b="1" i="1" dirty="0">
              <a:solidFill>
                <a:srgbClr val="003A5D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419" dirty="0"/>
              <a:t>Filas son observaciones individuales y variables en columnas.</a:t>
            </a:r>
          </a:p>
        </p:txBody>
      </p:sp>
    </p:spTree>
    <p:extLst>
      <p:ext uri="{BB962C8B-B14F-4D97-AF65-F5344CB8AC3E}">
        <p14:creationId xmlns:p14="http://schemas.microsoft.com/office/powerpoint/2010/main" val="6106126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0EC-5E5D-43CA-B9DB-C60AAE5A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Otros elementos de data básicos</a:t>
            </a:r>
          </a:p>
        </p:txBody>
      </p:sp>
      <p:pic>
        <p:nvPicPr>
          <p:cNvPr id="5122" name="Picture 2" descr="Introduction to Tidy Data | R">
            <a:extLst>
              <a:ext uri="{FF2B5EF4-FFF2-40B4-BE49-F238E27FC236}">
                <a16:creationId xmlns:a16="http://schemas.microsoft.com/office/drawing/2014/main" id="{AFD4F74C-6ACB-4560-8310-EA0C378CD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984" y="963000"/>
            <a:ext cx="8770031" cy="49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629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Trabajar con bases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#data() nos da una lista de bases en R por defecto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data()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#Cargaremos los datos de “iris”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 &lt;- </a:t>
            </a:r>
            <a:r>
              <a:rPr lang="es-ES" dirty="0" err="1">
                <a:latin typeface="Consolas" panose="020B0609020204030204" pitchFamily="49" charset="0"/>
              </a:rPr>
              <a:t>as.data.frame</a:t>
            </a:r>
            <a:r>
              <a:rPr lang="es-ES" dirty="0">
                <a:latin typeface="Consolas" panose="020B0609020204030204" pitchFamily="49" charset="0"/>
              </a:rPr>
              <a:t>(iris)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#Usamos head() para ver las primeras observaciones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head(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, n = 5)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Species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1          5.1         3.5          1.4         0.2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2          4.9         3.0          1.4         0.2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3          4.7         3.2          1.3         0.2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4          4.6         3.1          1.5         0.2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5          5.0         3.6          1.4         0.2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3949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Trabajar con bases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str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data.frame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':	150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obs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.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of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5 variables: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5.1 4.9 4.7 4.6 5 5.4 4.6 5 4.4 4.9 ...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3.5 3 3.2 3.1 3.6 3.9 3.4 3.4 2.9 3.1 ...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1.4 1.4 1.3 1.5 1.4 1.7 1.4 1.5 1.4 1.5 ...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0.2 0.2 0.2 0.2 0.2 0.4 0.3 0.2 0.2 0.1 ...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Species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 : Factor w/ 3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levels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","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versicolor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",..: 1 1 1 1 1 1 1 1 1 1 ...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summary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   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Species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Min.   :4.300   Min.   :2.000   Min.   :1.000   Min.   :0.100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setosa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:50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1st Qu.:5.100   1st Qu.:2.800   1st Qu.:1.600   1st Qu.:0.300   versicolor:50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Median :5.800   Median :3.000   Median :4.350   Median :1.300 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virginica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:50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Mean   :5.843   Mean   :3.057   Mean   :3.758   Mean   :1.199                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3rd Qu.:6.400   3rd Qu.:3.300   3rd Qu.:5.100   3rd Qu.:1.800                  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Max.   :7.900   Max.   :4.400   Max.   :6.900   Max.   :2.500 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6607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Trabajar con bases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#Utilizando el símbolo $ para aislar información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data_iris$Sepal.Length</a:t>
            </a: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highlight>
                  <a:srgbClr val="FFFF00"/>
                </a:highlight>
                <a:latin typeface="Consolas" panose="020B0609020204030204" pitchFamily="49" charset="0"/>
              </a:rPr>
              <a:t>  [1] 5.1 4.9 4.7 4.6 5.0 5.4 4.6 5.0 4.4 4.9 5.4 4.8 4.8 4.3 5.8 5.7 5.4 5.1 5.7 5.1 5.4 5.1 4.6 5.1 4.8 5.0 5.0 5.2 5.2 4.7 4.8 5.4 5.2</a:t>
            </a:r>
          </a:p>
          <a:p>
            <a:pPr marL="0" indent="0">
              <a:buNone/>
            </a:pPr>
            <a:r>
              <a:rPr lang="es-ES" sz="2000" dirty="0">
                <a:highlight>
                  <a:srgbClr val="FFFF00"/>
                </a:highlight>
                <a:latin typeface="Consolas" panose="020B0609020204030204" pitchFamily="49" charset="0"/>
              </a:rPr>
              <a:t> [34] 5.5 4.9 5.0 5.5 4.9 4.4 5.1 5.0 4.5 4.4 5.0 5.1 4.8 5.1 4.6 5.3 5.0 7.0 6.4 6.9 5.5 6.5 5.7 6.3 4.9 6.6 5.2 5.0 5.9 6.0 6.1 5.6 6.7</a:t>
            </a:r>
          </a:p>
          <a:p>
            <a:pPr marL="0" indent="0">
              <a:buNone/>
            </a:pPr>
            <a:r>
              <a:rPr lang="es-ES" sz="2000" dirty="0">
                <a:highlight>
                  <a:srgbClr val="FFFF00"/>
                </a:highlight>
                <a:latin typeface="Consolas" panose="020B0609020204030204" pitchFamily="49" charset="0"/>
              </a:rPr>
              <a:t> [67] 5.6 5.8 6.2 5.6 5.9 6.1 6.3 6.1 6.4 6.6 6.8 6.7 6.0 5.7 5.5 5.5 5.8 6.0 5.4 6.0 6.7 6.3 5.6 5.5 5.5 6.1 5.8 5.0 5.6 5.7 5.7 6.2 5.1</a:t>
            </a:r>
          </a:p>
          <a:p>
            <a:pPr marL="0" indent="0">
              <a:buNone/>
            </a:pPr>
            <a:r>
              <a:rPr lang="es-ES" sz="2000" dirty="0">
                <a:highlight>
                  <a:srgbClr val="FFFF00"/>
                </a:highlight>
                <a:latin typeface="Consolas" panose="020B0609020204030204" pitchFamily="49" charset="0"/>
              </a:rPr>
              <a:t>[100] 5.7 6.3 5.8 7.1 6.3 6.5 7.6 4.9 7.3 6.7 7.2 6.5 6.4 6.8 5.7 5.8 6.4 6.5 7.7 7.7 6.0 6.9 5.6 7.7 6.3 6.7 7.2 6.2 6.1 6.4 7.2 7.4 7.9</a:t>
            </a:r>
          </a:p>
          <a:p>
            <a:pPr marL="0" indent="0">
              <a:buNone/>
            </a:pPr>
            <a:r>
              <a:rPr lang="es-ES" sz="2000" dirty="0">
                <a:highlight>
                  <a:srgbClr val="FFFF00"/>
                </a:highlight>
                <a:latin typeface="Consolas" panose="020B0609020204030204" pitchFamily="49" charset="0"/>
              </a:rPr>
              <a:t>[133] 6.4 6.3 6.1 7.7 6.3 6.4 6.0 6.9 6.7 6.9 5.8 6.8 6.7 6.7 6.3 6.5 6.2 5.9</a:t>
            </a:r>
          </a:p>
        </p:txBody>
      </p:sp>
    </p:spTree>
    <p:extLst>
      <p:ext uri="{BB962C8B-B14F-4D97-AF65-F5344CB8AC3E}">
        <p14:creationId xmlns:p14="http://schemas.microsoft.com/office/powerpoint/2010/main" val="3527679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Trabajar con bases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#Usar [] para extraer columnas o filas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[,1]</a:t>
            </a:r>
          </a:p>
          <a:p>
            <a:pPr marL="0" indent="0">
              <a:buNone/>
            </a:pPr>
            <a:r>
              <a:rPr lang="es-ES" sz="2600" dirty="0">
                <a:highlight>
                  <a:srgbClr val="FFFF00"/>
                </a:highlight>
                <a:latin typeface="Consolas" panose="020B0609020204030204" pitchFamily="49" charset="0"/>
              </a:rPr>
              <a:t>  [1] 5.1 4.9 4.7 4.6 5.0 5.4 4.6 5.0 4.4 4.9 5.4 4.8 4.8 4.3 5.8 5.7 5.4 5.1 5.7 5.1 5.4 5.1 4.6 5.1 4.8 5.0 5.0 5.2 5.2 4.7 4.8 5.4 5.2</a:t>
            </a:r>
          </a:p>
          <a:p>
            <a:pPr marL="0" indent="0">
              <a:buNone/>
            </a:pPr>
            <a:r>
              <a:rPr lang="es-ES" sz="2600" dirty="0">
                <a:highlight>
                  <a:srgbClr val="FFFF00"/>
                </a:highlight>
                <a:latin typeface="Consolas" panose="020B0609020204030204" pitchFamily="49" charset="0"/>
              </a:rPr>
              <a:t> [34] 5.5 4.9 5.0 5.5 4.9 4.4 5.1 5.0 4.5 4.4 5.0 5.1 4.8 5.1 4.6 5.3 5.0 7.0 6.4 6.9 5.5 6.5 5.7 6.3 4.9 6.6 5.2 5.0 5.9 6.0 6.1 5.6 6.7</a:t>
            </a:r>
          </a:p>
          <a:p>
            <a:pPr marL="0" indent="0">
              <a:buNone/>
            </a:pPr>
            <a:r>
              <a:rPr lang="es-ES" sz="2600" dirty="0">
                <a:highlight>
                  <a:srgbClr val="FFFF00"/>
                </a:highlight>
                <a:latin typeface="Consolas" panose="020B0609020204030204" pitchFamily="49" charset="0"/>
              </a:rPr>
              <a:t> [67] 5.6 5.8 6.2 5.6 5.9 6.1 6.3 6.1 6.4 6.6 6.8 6.7 6.0 5.7 5.5 5.5 5.8 6.0 5.4 6.0 6.7 6.3 5.6 5.5 5.5 6.1 5.8 5.0 5.6 5.7 5.7 6.2 5.1</a:t>
            </a:r>
          </a:p>
          <a:p>
            <a:pPr marL="0" indent="0">
              <a:buNone/>
            </a:pPr>
            <a:r>
              <a:rPr lang="es-ES" sz="2600" dirty="0">
                <a:highlight>
                  <a:srgbClr val="FFFF00"/>
                </a:highlight>
                <a:latin typeface="Consolas" panose="020B0609020204030204" pitchFamily="49" charset="0"/>
              </a:rPr>
              <a:t>[100] 5.7 6.3 5.8 7.1 6.3 6.5 7.6 4.9 7.3 6.7 7.2 6.5 6.4 6.8 5.7 5.8 6.4 6.5 7.7 7.7 6.0 6.9 5.6 7.7 6.3 6.7 7.2 6.2 6.1 6.4 7.2 7.4 7.9</a:t>
            </a:r>
          </a:p>
          <a:p>
            <a:pPr marL="0" indent="0">
              <a:buNone/>
            </a:pPr>
            <a:r>
              <a:rPr lang="es-ES" sz="2600" dirty="0">
                <a:highlight>
                  <a:srgbClr val="FFFF00"/>
                </a:highlight>
                <a:latin typeface="Consolas" panose="020B0609020204030204" pitchFamily="49" charset="0"/>
              </a:rPr>
              <a:t>[133] 6.4 6.3 6.1 7.7 6.3 6.4 6.0 6.9 6.7 6.9 5.8 6.8 6.7 6.7 6.3 6.5 6.2 5.9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data_iris</a:t>
            </a:r>
            <a:r>
              <a:rPr lang="es-ES" dirty="0">
                <a:latin typeface="Consolas" panose="020B0609020204030204" pitchFamily="49" charset="0"/>
              </a:rPr>
              <a:t>[2,]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Sepal.Width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Petal.Length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Petal.Width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Consolas" panose="020B0609020204030204" pitchFamily="49" charset="0"/>
              </a:rPr>
              <a:t>Species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0494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Distribución en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2F6FEE-60D9-47C7-A9E7-09794D879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b="1" dirty="0">
                <a:solidFill>
                  <a:srgbClr val="003A5D"/>
                </a:solidFill>
              </a:rPr>
              <a:t>Inciso: </a:t>
            </a:r>
            <a:r>
              <a:rPr lang="es-419" b="1" dirty="0"/>
              <a:t>Uso de distribuciones en 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61425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22AD-8BF1-40E7-9E2B-F76A2CE9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 es muy poderoso: Un ejemplo gráfico</a:t>
            </a:r>
          </a:p>
        </p:txBody>
      </p:sp>
      <p:pic>
        <p:nvPicPr>
          <p:cNvPr id="5" name="Imagen 11">
            <a:extLst>
              <a:ext uri="{FF2B5EF4-FFF2-40B4-BE49-F238E27FC236}">
                <a16:creationId xmlns:a16="http://schemas.microsoft.com/office/drawing/2014/main" id="{3DC2F6CB-B4A3-44CE-AE7F-A247046778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" t="7245" b="17420"/>
          <a:stretch/>
        </p:blipFill>
        <p:spPr>
          <a:xfrm>
            <a:off x="2658222" y="819000"/>
            <a:ext cx="6875556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313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22AD-8BF1-40E7-9E2B-F76A2CE9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 es muy poderoso: Un ejemplo gráfico</a:t>
            </a: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1CB855B7-DE8D-410D-9C2E-CF5F824EC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00" y="765000"/>
            <a:ext cx="5328000" cy="53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040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Resumen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El mejor amigo que tendrán a lo largo del curso.</a:t>
            </a:r>
          </a:p>
        </p:txBody>
      </p:sp>
    </p:spTree>
    <p:extLst>
      <p:ext uri="{BB962C8B-B14F-4D97-AF65-F5344CB8AC3E}">
        <p14:creationId xmlns:p14="http://schemas.microsoft.com/office/powerpoint/2010/main" val="31545035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F59B-C4E1-4964-A96A-F70FB948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En Resumen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F092-1CF5-468D-9045-D7EE7791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es una herramienta </a:t>
            </a:r>
            <a:r>
              <a:rPr lang="es-419" i="1" dirty="0"/>
              <a:t>considerablemente</a:t>
            </a:r>
            <a:r>
              <a:rPr lang="es-419" dirty="0"/>
              <a:t> poderosa para el análisis estadístico.</a:t>
            </a:r>
          </a:p>
          <a:p>
            <a:pPr>
              <a:lnSpc>
                <a:spcPct val="150000"/>
              </a:lnSpc>
            </a:pPr>
            <a:r>
              <a:rPr lang="es-419" dirty="0"/>
              <a:t>Tiene muy buena sinergia con el trabajo de Economista y es altamente solicitada en el mercado laboral.</a:t>
            </a:r>
          </a:p>
          <a:p>
            <a:pPr>
              <a:lnSpc>
                <a:spcPct val="150000"/>
              </a:lnSpc>
            </a:pPr>
            <a:r>
              <a:rPr lang="es-419" dirty="0"/>
              <a:t>Aclaratoria respecto a clase: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Implementación de </a:t>
            </a:r>
            <a:r>
              <a:rPr lang="es-419" b="1" dirty="0">
                <a:solidFill>
                  <a:srgbClr val="003A5D"/>
                </a:solidFill>
              </a:rPr>
              <a:t>R</a:t>
            </a:r>
            <a:r>
              <a:rPr lang="es-419" dirty="0"/>
              <a:t> en este curso es para </a:t>
            </a:r>
            <a:r>
              <a:rPr lang="es-419" i="1" dirty="0"/>
              <a:t>agilizar </a:t>
            </a:r>
            <a:r>
              <a:rPr lang="es-419" dirty="0"/>
              <a:t>procedimientos planteados por el </a:t>
            </a:r>
            <a:r>
              <a:rPr lang="es-419" dirty="0" err="1"/>
              <a:t>Casuso</a:t>
            </a:r>
            <a:r>
              <a:rPr lang="es-419" dirty="0"/>
              <a:t> con finalidad pedagógica.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En la vida real muchas de las operaciones que realizaremos requieren de comandos hasta más simples (y datos con qué trabajar).</a:t>
            </a:r>
          </a:p>
        </p:txBody>
      </p:sp>
    </p:spTree>
    <p:extLst>
      <p:ext uri="{BB962C8B-B14F-4D97-AF65-F5344CB8AC3E}">
        <p14:creationId xmlns:p14="http://schemas.microsoft.com/office/powerpoint/2010/main" val="8938485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es una herramienta extremadamente poderosa que agilizará muchas operaciones.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R añade un componente de complejidad adicional a una materia de por sí densa.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Acostumbrarse al uso de R es fundamental para tener éxito en el curso.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5148736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5008</TotalTime>
  <Words>3507</Words>
  <Application>Microsoft Office PowerPoint</Application>
  <PresentationFormat>Widescreen</PresentationFormat>
  <Paragraphs>511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Mensaje principal</vt:lpstr>
      <vt:lpstr>¿Qué son R y RStudio?</vt:lpstr>
      <vt:lpstr>¿Qué es R?</vt:lpstr>
      <vt:lpstr>Ventajas de R</vt:lpstr>
      <vt:lpstr>Desventajas de R</vt:lpstr>
      <vt:lpstr>Algunos paquetes y librerías populares R</vt:lpstr>
      <vt:lpstr>La interfaz de R</vt:lpstr>
      <vt:lpstr>¿Qué es RStudio?</vt:lpstr>
      <vt:lpstr>La interfaz de RStudio</vt:lpstr>
      <vt:lpstr>Aclaratoria</vt:lpstr>
      <vt:lpstr>Introducción a RStudio</vt:lpstr>
      <vt:lpstr>La consola</vt:lpstr>
      <vt:lpstr>La consola</vt:lpstr>
      <vt:lpstr>Scripts</vt:lpstr>
      <vt:lpstr>Scripts</vt:lpstr>
      <vt:lpstr>Espacio de intervención: 30 segundos.</vt:lpstr>
      <vt:lpstr>Estilo de código recomendado para Estadística III</vt:lpstr>
      <vt:lpstr>Espacio de trabajo</vt:lpstr>
      <vt:lpstr>Espacio de trabajo</vt:lpstr>
      <vt:lpstr>Documentación</vt:lpstr>
      <vt:lpstr>Documentación</vt:lpstr>
      <vt:lpstr>Las cheat_sheets son sus amigas</vt:lpstr>
      <vt:lpstr>Introducción al uso de R</vt:lpstr>
      <vt:lpstr>Operaciones básicas de R</vt:lpstr>
      <vt:lpstr>Operaciones básicas de R</vt:lpstr>
      <vt:lpstr>Operaciones básicas</vt:lpstr>
      <vt:lpstr>PowerPoint Presentation</vt:lpstr>
      <vt:lpstr>PowerPoint Presentation</vt:lpstr>
      <vt:lpstr>Operaciones básicas</vt:lpstr>
      <vt:lpstr>Operaciones básicas</vt:lpstr>
      <vt:lpstr>Funciones</vt:lpstr>
      <vt:lpstr>Funciones</vt:lpstr>
      <vt:lpstr>Funciones</vt:lpstr>
      <vt:lpstr>Funciones</vt:lpstr>
      <vt:lpstr>Funciones</vt:lpstr>
      <vt:lpstr>Vectores</vt:lpstr>
      <vt:lpstr>Vectores</vt:lpstr>
      <vt:lpstr>Vectores</vt:lpstr>
      <vt:lpstr>Vectores</vt:lpstr>
      <vt:lpstr>Espacio de intervención: 20 segundos.</vt:lpstr>
      <vt:lpstr>Vectores</vt:lpstr>
      <vt:lpstr>Vectores</vt:lpstr>
      <vt:lpstr>Espacio de intervención: 2 minutos.</vt:lpstr>
      <vt:lpstr>Vectores</vt:lpstr>
      <vt:lpstr>Espacio de intervención: 1 minuto.</vt:lpstr>
      <vt:lpstr>Vectores</vt:lpstr>
      <vt:lpstr>Vectores</vt:lpstr>
      <vt:lpstr>El espacio de trabajo</vt:lpstr>
      <vt:lpstr>El espacio de trabajo</vt:lpstr>
      <vt:lpstr>Sesiones y Proyectos</vt:lpstr>
      <vt:lpstr>Instalación y carga de paquetes</vt:lpstr>
      <vt:lpstr>Instalación y carga de paquetes</vt:lpstr>
      <vt:lpstr>Otros elementos de data básicos</vt:lpstr>
      <vt:lpstr>Otros elementos de data básicos</vt:lpstr>
      <vt:lpstr>Trabajar con bases de datos</vt:lpstr>
      <vt:lpstr>Trabajar con bases de datos</vt:lpstr>
      <vt:lpstr>Trabajar con bases de datos</vt:lpstr>
      <vt:lpstr>Trabajar con bases de datos</vt:lpstr>
      <vt:lpstr>Distribución en R</vt:lpstr>
      <vt:lpstr>R es muy poderoso: Un ejemplo gráfico</vt:lpstr>
      <vt:lpstr>R es muy poderoso: Un ejemplo gráfico</vt:lpstr>
      <vt:lpstr>Resumen</vt:lpstr>
      <vt:lpstr>En Resumen</vt:lpstr>
      <vt:lpstr>Mensaje principal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109</cp:revision>
  <dcterms:created xsi:type="dcterms:W3CDTF">2020-04-17T00:45:03Z</dcterms:created>
  <dcterms:modified xsi:type="dcterms:W3CDTF">2023-03-26T22:54:07Z</dcterms:modified>
</cp:coreProperties>
</file>