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99" r:id="rId3"/>
    <p:sldId id="289" r:id="rId4"/>
    <p:sldId id="278" r:id="rId5"/>
    <p:sldId id="282" r:id="rId6"/>
    <p:sldId id="283" r:id="rId7"/>
    <p:sldId id="285" r:id="rId8"/>
    <p:sldId id="290" r:id="rId9"/>
    <p:sldId id="280" r:id="rId10"/>
    <p:sldId id="286" r:id="rId11"/>
    <p:sldId id="288" r:id="rId12"/>
    <p:sldId id="277" r:id="rId13"/>
    <p:sldId id="258" r:id="rId14"/>
    <p:sldId id="259" r:id="rId15"/>
    <p:sldId id="291" r:id="rId16"/>
    <p:sldId id="261" r:id="rId17"/>
    <p:sldId id="262" r:id="rId18"/>
    <p:sldId id="263" r:id="rId19"/>
    <p:sldId id="264" r:id="rId20"/>
    <p:sldId id="265" r:id="rId21"/>
    <p:sldId id="266" r:id="rId22"/>
    <p:sldId id="292" r:id="rId23"/>
    <p:sldId id="267" r:id="rId24"/>
    <p:sldId id="268" r:id="rId25"/>
    <p:sldId id="269" r:id="rId26"/>
    <p:sldId id="270" r:id="rId27"/>
    <p:sldId id="271" r:id="rId28"/>
    <p:sldId id="500" r:id="rId29"/>
    <p:sldId id="27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A5D"/>
    <a:srgbClr val="D700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41" autoAdjust="0"/>
    <p:restoredTop sz="94660"/>
  </p:normalViewPr>
  <p:slideViewPr>
    <p:cSldViewPr snapToGrid="0">
      <p:cViewPr varScale="1">
        <p:scale>
          <a:sx n="85" d="100"/>
          <a:sy n="85" d="100"/>
        </p:scale>
        <p:origin x="571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9FDA-64E3-4AE2-8866-4624A7B52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2F877-47BE-4588-88BA-8CB06EF954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ESTADÍ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48BE2-9CB5-4C5E-8562-2E2F3985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42264-421F-4D62-B951-6F2CA84F9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6052C-8ACB-49D8-B8EF-3B485F1F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35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BDA8-E557-4626-86BA-56B3E1FD5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80CC3-0AE0-407B-AA10-92B5CA698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AB793-7AFA-4089-A3A8-6F5D861A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AFA07-C55D-41EC-A7F6-0D9213E7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F8243-5F9D-4E5D-A01D-354E1EF0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837F-6BD1-4AAD-9C8A-82F79552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90E71-BEAA-4E89-9F9B-8D341D3EE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B1FB1-360D-4C6B-A023-DCAB577B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D68ED-D1DC-4D87-BF60-77747EFB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7893A-50E5-4DE3-9F41-A593BD958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9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D2B31-20AA-4B71-8958-20712FE7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406AA-4B6F-43A3-89E7-B7AD5DB2D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51F21-E287-4135-8D73-3856EB177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2E284-D29E-4263-9B92-14E81D63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DCAAE-6263-43B5-B6D0-A04C09AE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A0485-671F-481D-A078-CC6F9C7F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86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756B-B1FD-4858-8717-BF0654D2E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DB432-76DA-4E5E-9D92-1FB6A4A5D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45127-11B6-4861-A9DF-76B9382CF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4DE2B-E6EC-47B4-8D56-743BDF7B6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D8FE8-2E69-44C5-96AD-36FCEF147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BE675A-6736-4C8E-A9EE-9DCBE93593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72B57B-8AF2-4A15-B4AB-1BE127C6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374B8D-E941-4327-989C-EF590E7B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7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E511-F376-4864-963C-822DE639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292F6-7361-495F-B87A-97CFCF45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ED667-FA23-4238-9DC9-603C6813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204F2-440D-421C-A4F3-993CC7D31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7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681DA9-86E2-446F-97B1-95945B32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1814C-C49F-4B1A-8D5A-E76A917D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B9687-9812-4C8F-B4CC-5F937D8B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3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CBEF-82BA-4669-9E7B-51319881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EEAB-C165-4C1E-8D50-A5404E010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6983C-47E0-45A6-AF00-81B08CEFF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6A8D8-6B93-41B3-BEE8-E4CD53C9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24811-32C8-45C8-BACE-14B782A7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FE574-1E14-46C1-9D0E-93C544CF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4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76A9-8C1D-43E1-88AA-91D262B7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A912B1-A51A-4595-A017-4DD32A003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5B3A8-74B0-4DBC-B6A3-50091F74F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C9DFA-2481-4F4D-AB20-BAB63513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0A896-D462-4798-B918-D8D61CA3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2D00F-802A-4AE9-9E23-8CE855E87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88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378CE-E55C-4180-A5C8-9D020B41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56904-45A5-4B44-95EE-236498EDF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31A5B-A008-4021-9A06-5401823374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14A92-A4D6-44F8-91CC-AA47B6B8D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A0C67-F949-4EF9-A5E4-0D3DD082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6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A3A273-84A6-45E5-AEDE-1EE145C1B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A47B9-E8B5-4E2B-8DB3-58F5ECC68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529D8-B941-4F10-BAA8-BBB0C608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8/15/2022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98421-F993-4FE9-AC55-80526D9A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7208D-A169-4843-9917-E9B7D94B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1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8040-58BC-42CF-B0E1-4021AAE0D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75"/>
            <a:ext cx="10515600" cy="666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1C751-C9B4-420E-9FC2-17D521431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88816"/>
            <a:ext cx="10515600" cy="5488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C5EBC2-48FF-4AE7-8A93-8A46A84D23FA}"/>
              </a:ext>
            </a:extLst>
          </p:cNvPr>
          <p:cNvCxnSpPr>
            <a:cxnSpLocks/>
          </p:cNvCxnSpPr>
          <p:nvPr userDrawn="1"/>
        </p:nvCxnSpPr>
        <p:spPr>
          <a:xfrm>
            <a:off x="838200" y="723559"/>
            <a:ext cx="10515600" cy="0"/>
          </a:xfrm>
          <a:prstGeom prst="line">
            <a:avLst/>
          </a:prstGeom>
          <a:ln w="38100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252427-CE25-435F-B457-304E4F500EFE}"/>
              </a:ext>
            </a:extLst>
          </p:cNvPr>
          <p:cNvCxnSpPr/>
          <p:nvPr userDrawn="1"/>
        </p:nvCxnSpPr>
        <p:spPr>
          <a:xfrm>
            <a:off x="838200" y="6192520"/>
            <a:ext cx="10515600" cy="0"/>
          </a:xfrm>
          <a:prstGeom prst="line">
            <a:avLst/>
          </a:prstGeom>
          <a:ln w="19050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5ACB22-8E4D-401A-A3BA-16BB52BD29C5}"/>
              </a:ext>
            </a:extLst>
          </p:cNvPr>
          <p:cNvSpPr txBox="1"/>
          <p:nvPr userDrawn="1"/>
        </p:nvSpPr>
        <p:spPr>
          <a:xfrm>
            <a:off x="838200" y="6192520"/>
            <a:ext cx="1051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600" dirty="0">
                <a:latin typeface="Georgia" panose="02040502050405020303" pitchFamily="18" charset="0"/>
              </a:rPr>
              <a:t>Giorgio Cunto Morales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21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iorgiocmorales/" TargetMode="External"/><Relationship Id="rId2" Type="http://schemas.openxmlformats.org/officeDocument/2006/relationships/hyperlink" Target="mailto:gcuntomo@ucab.edu.v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43B509-C3AB-4D18-8154-6C185FB4DC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419" sz="2800" b="1" dirty="0">
                <a:solidFill>
                  <a:srgbClr val="003A5D"/>
                </a:solidFill>
                <a:latin typeface="Georgia" panose="02040502050405020303" pitchFamily="18" charset="0"/>
              </a:rPr>
              <a:t>ESTADÍSTICA III</a:t>
            </a:r>
          </a:p>
          <a:p>
            <a:r>
              <a:rPr lang="es-419" dirty="0">
                <a:latin typeface="Georgia" panose="02040502050405020303" pitchFamily="18" charset="0"/>
              </a:rPr>
              <a:t>Funció</a:t>
            </a:r>
            <a:r>
              <a:rPr lang="es-419" dirty="0"/>
              <a:t>n Generatriz de Momentos (de una Distribución Normal)</a:t>
            </a:r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6C2B5-519A-412E-8AF8-57C867BD7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428" y="1921565"/>
            <a:ext cx="8909144" cy="134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30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357B-7739-64ED-CF4A-BEB18B3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Mensaje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8D337-D951-332A-AC1D-6135DA1A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Las propiedades de una función de probabilidades pueden modelarse vía momentos.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Los momentos son en esencia distancias respecto a puntos de referencia.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La función generatriz de momentos justifica muchas de las formas particulares que toman distribuciones vistas en este curso. 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</p:txBody>
      </p:sp>
    </p:spTree>
    <p:extLst>
      <p:ext uri="{BB962C8B-B14F-4D97-AF65-F5344CB8AC3E}">
        <p14:creationId xmlns:p14="http://schemas.microsoft.com/office/powerpoint/2010/main" val="2999212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Momentos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Crudos, centrales y estandarizados</a:t>
            </a:r>
          </a:p>
        </p:txBody>
      </p:sp>
    </p:spTree>
    <p:extLst>
      <p:ext uri="{BB962C8B-B14F-4D97-AF65-F5344CB8AC3E}">
        <p14:creationId xmlns:p14="http://schemas.microsoft.com/office/powerpoint/2010/main" val="3449067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Momentos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Concepto compartido con la física relacionado a </a:t>
                </a:r>
                <a:r>
                  <a:rPr lang="es-419" b="1" dirty="0">
                    <a:solidFill>
                      <a:srgbClr val="003A5D"/>
                    </a:solidFill>
                  </a:rPr>
                  <a:t>distancias </a:t>
                </a:r>
                <a:r>
                  <a:rPr lang="es-419" dirty="0"/>
                  <a:t>respecto a un punto de referencia. 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Medidas cuantitativas relacionadas a la forma de una función.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s-419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e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Siendo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c</a:t>
                </a:r>
                <a:r>
                  <a:rPr lang="es-419" dirty="0"/>
                  <a:t> el punto de referencia.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Los momentos de una función son respecto al </a:t>
                </a:r>
                <a:r>
                  <a:rPr lang="es-419" i="1" dirty="0"/>
                  <a:t>origen</a:t>
                </a:r>
                <a:r>
                  <a:rPr lang="es-419" dirty="0"/>
                  <a:t> (</a:t>
                </a:r>
                <a:r>
                  <a:rPr lang="es-419" b="1" dirty="0">
                    <a:solidFill>
                      <a:srgbClr val="003A5D"/>
                    </a:solidFill>
                  </a:rPr>
                  <a:t>c</a:t>
                </a:r>
                <a:r>
                  <a:rPr lang="es-419" dirty="0"/>
                  <a:t> = 0).</a:t>
                </a:r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22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Momentos crudos (respecto al origen)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Cuando </a:t>
                </a:r>
                <a:r>
                  <a:rPr lang="es-419" b="1" dirty="0">
                    <a:solidFill>
                      <a:srgbClr val="003A5D"/>
                    </a:solidFill>
                  </a:rPr>
                  <a:t>c</a:t>
                </a:r>
                <a:r>
                  <a:rPr lang="es-419" dirty="0"/>
                  <a:t> = 0, el momento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 </a:t>
                </a:r>
                <a:r>
                  <a:rPr lang="es-419" dirty="0"/>
                  <a:t>de una función de densidad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s-419" b="1" dirty="0"/>
                  <a:t> </a:t>
                </a:r>
                <a:r>
                  <a:rPr lang="es-419" dirty="0"/>
                  <a:t>es el valor esperado de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30000" dirty="0" err="1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A efectos de resumen: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𝑑𝐹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El primer momento crudo es la </a:t>
                </a:r>
                <a:r>
                  <a:rPr lang="es-419" b="1" dirty="0">
                    <a:solidFill>
                      <a:srgbClr val="003A5D"/>
                    </a:solidFill>
                  </a:rPr>
                  <a:t>media </a:t>
                </a:r>
                <a:r>
                  <a:rPr lang="es-419" dirty="0"/>
                  <a:t>de la función (</a:t>
                </a:r>
                <a:r>
                  <a:rPr lang="es-419" b="1" dirty="0">
                    <a:solidFill>
                      <a:srgbClr val="003A5D"/>
                    </a:solidFill>
                  </a:rPr>
                  <a:t>esperanza matemática</a:t>
                </a:r>
                <a:r>
                  <a:rPr lang="es-419" dirty="0"/>
                  <a:t>).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El segundo momento es la media de valores cuadrados.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1217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8568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Momentos centrales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Cuando el punto de referencia se vuelve la media (el primer momento crudo).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El primer momento respecto a la media es cero.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El segundo momento respecto a la media es igual a la </a:t>
                </a:r>
                <a:r>
                  <a:rPr lang="es-419" b="1" dirty="0">
                    <a:solidFill>
                      <a:srgbClr val="003A5D"/>
                    </a:solidFill>
                  </a:rPr>
                  <a:t>varianza </a:t>
                </a:r>
                <a:r>
                  <a:rPr lang="es-419" dirty="0"/>
                  <a:t>de la función.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Los otros momentos requieren un ajuste para tener significado concreto.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3004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Momentos estandarizados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Se ajustan los momentos centrales por el efecto de desviación típica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s-419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El primer momento estandarizado sigue siendo cero.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El segundo momento estandarizado se vuelve 1.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El tercer momento estandarizado es igual a la </a:t>
                </a:r>
                <a:r>
                  <a:rPr lang="es-419" b="1" dirty="0">
                    <a:solidFill>
                      <a:srgbClr val="003A5D"/>
                    </a:solidFill>
                  </a:rPr>
                  <a:t>asimetría</a:t>
                </a:r>
                <a:r>
                  <a:rPr lang="es-419" dirty="0"/>
                  <a:t> de la función.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El cuarto momento estandarizado es igual a la </a:t>
                </a:r>
                <a:r>
                  <a:rPr lang="es-419" b="1" dirty="0">
                    <a:solidFill>
                      <a:srgbClr val="003A5D"/>
                    </a:solidFill>
                  </a:rPr>
                  <a:t>curtosis</a:t>
                </a:r>
                <a:r>
                  <a:rPr lang="es-419" dirty="0"/>
                  <a:t> de la función.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3224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Función Generatriz de Momentos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Ejemplos para algunas variables</a:t>
            </a:r>
          </a:p>
        </p:txBody>
      </p:sp>
    </p:spTree>
    <p:extLst>
      <p:ext uri="{BB962C8B-B14F-4D97-AF65-F5344CB8AC3E}">
        <p14:creationId xmlns:p14="http://schemas.microsoft.com/office/powerpoint/2010/main" val="4110522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Función generatriz de momentos (FGM)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Función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s-419" dirty="0"/>
                  <a:t> de una variable aleatoria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 </a:t>
                </a:r>
                <a:r>
                  <a:rPr lang="es-419" dirty="0"/>
                  <a:t>con función de densidad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dirty="0"/>
                  <a:t>, a partir de la cual se pueden calcular momentos por simple diferenciación: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Para variables aleatorias discretas: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𝑘𝑥</m:t>
                              </m:r>
                            </m:sup>
                          </m:sSup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𝑘𝑥</m:t>
                              </m:r>
                            </m:sup>
                          </m:sSup>
                        </m:e>
                      </m:nary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Para variables aleatorias continuas: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𝑘𝑥</m:t>
                              </m:r>
                            </m:sup>
                          </m:sSup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𝑘𝑥</m:t>
                              </m:r>
                            </m:sup>
                          </m:sSup>
                        </m:e>
                      </m:nary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Función del parámetro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k </a:t>
                </a:r>
                <a:r>
                  <a:rPr lang="es-419" dirty="0"/>
                  <a:t>(sin significado real).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Forma alternativa de especificar una distribución de probabilidades.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211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5721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799D4-37DB-4D23-9ED5-F0FB3A3DF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FGM para algunas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8">
                <a:extLst>
                  <a:ext uri="{FF2B5EF4-FFF2-40B4-BE49-F238E27FC236}">
                    <a16:creationId xmlns:a16="http://schemas.microsoft.com/office/drawing/2014/main" id="{37A10B64-9ADA-42F8-8906-C621FFAE62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2360233"/>
                  </p:ext>
                </p:extLst>
              </p:nvPr>
            </p:nvGraphicFramePr>
            <p:xfrm>
              <a:off x="838200" y="1254315"/>
              <a:ext cx="10515601" cy="409225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24271">
                      <a:extLst>
                        <a:ext uri="{9D8B030D-6E8A-4147-A177-3AD203B41FA5}">
                          <a16:colId xmlns:a16="http://schemas.microsoft.com/office/drawing/2014/main" val="3024221833"/>
                        </a:ext>
                      </a:extLst>
                    </a:gridCol>
                    <a:gridCol w="2544417">
                      <a:extLst>
                        <a:ext uri="{9D8B030D-6E8A-4147-A177-3AD203B41FA5}">
                          <a16:colId xmlns:a16="http://schemas.microsoft.com/office/drawing/2014/main" val="1004522117"/>
                        </a:ext>
                      </a:extLst>
                    </a:gridCol>
                    <a:gridCol w="2256521">
                      <a:extLst>
                        <a:ext uri="{9D8B030D-6E8A-4147-A177-3AD203B41FA5}">
                          <a16:colId xmlns:a16="http://schemas.microsoft.com/office/drawing/2014/main" val="222007212"/>
                        </a:ext>
                      </a:extLst>
                    </a:gridCol>
                    <a:gridCol w="1552927">
                      <a:extLst>
                        <a:ext uri="{9D8B030D-6E8A-4147-A177-3AD203B41FA5}">
                          <a16:colId xmlns:a16="http://schemas.microsoft.com/office/drawing/2014/main" val="1649917447"/>
                        </a:ext>
                      </a:extLst>
                    </a:gridCol>
                    <a:gridCol w="2137465">
                      <a:extLst>
                        <a:ext uri="{9D8B030D-6E8A-4147-A177-3AD203B41FA5}">
                          <a16:colId xmlns:a16="http://schemas.microsoft.com/office/drawing/2014/main" val="35432115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800" dirty="0">
                              <a:highlight>
                                <a:srgbClr val="003A5D"/>
                              </a:highlight>
                              <a:latin typeface="Georgia" panose="02040502050405020303" pitchFamily="18" charset="0"/>
                            </a:rPr>
                            <a:t>Distribución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800" dirty="0">
                              <a:highlight>
                                <a:srgbClr val="003A5D"/>
                              </a:highlight>
                              <a:latin typeface="Georgia" panose="02040502050405020303" pitchFamily="18" charset="0"/>
                            </a:rPr>
                            <a:t>Función de densidad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419" sz="1800" dirty="0">
                            <a:highlight>
                              <a:srgbClr val="003A5D"/>
                            </a:highlight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800" dirty="0">
                              <a:highlight>
                                <a:srgbClr val="003A5D"/>
                              </a:highlight>
                              <a:latin typeface="Georgia" panose="02040502050405020303" pitchFamily="18" charset="0"/>
                            </a:rPr>
                            <a:t>FGM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s-419" sz="18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s-419" sz="1800" b="0" i="0" smtClean="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a:rPr lang="es-419" sz="18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419" sz="1800" b="0" dirty="0">
                            <a:highlight>
                              <a:srgbClr val="003A5D"/>
                            </a:highlight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800" dirty="0">
                              <a:highlight>
                                <a:srgbClr val="003A5D"/>
                              </a:highlight>
                              <a:latin typeface="Georgia" panose="02040502050405020303" pitchFamily="18" charset="0"/>
                            </a:rPr>
                            <a:t>Valor esperado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800" dirty="0">
                              <a:highlight>
                                <a:srgbClr val="003A5D"/>
                              </a:highlight>
                              <a:latin typeface="Georgia" panose="02040502050405020303" pitchFamily="18" charset="0"/>
                            </a:rPr>
                            <a:t>Varianza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659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800" dirty="0">
                              <a:latin typeface="Georgia" panose="02040502050405020303" pitchFamily="18" charset="0"/>
                            </a:rPr>
                            <a:t>Binomial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dirty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oMath>
                          </a14:m>
                          <a:endParaRPr lang="es-419" sz="1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p>
                                        </m:s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b="0" i="1" smtClean="0">
                                    <a:latin typeface="Cambria Math" panose="02040503050406030204" pitchFamily="18" charset="0"/>
                                  </a:rPr>
                                  <m:t>𝑛𝑝</m:t>
                                </m:r>
                              </m:oMath>
                            </m:oMathPara>
                          </a14:m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b="0" i="1" smtClean="0">
                                    <a:latin typeface="Cambria Math" panose="02040503050406030204" pitchFamily="18" charset="0"/>
                                  </a:rPr>
                                  <m:t>𝑛𝑝𝑞</m:t>
                                </m:r>
                              </m:oMath>
                            </m:oMathPara>
                          </a14:m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75925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800" dirty="0">
                              <a:latin typeface="Georgia" panose="02040502050405020303" pitchFamily="18" charset="0"/>
                            </a:rPr>
                            <a:t>Geométrica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(1−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419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sSup>
                                      <m:sSupPr>
                                        <m:ctrlPr>
                                          <a:rPr lang="es-419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8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s-419" sz="1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1−(1−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p>
                                      <m:sSupPr>
                                        <m:ctrlPr>
                                          <a:rPr lang="es-419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8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s-419" sz="1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419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419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419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8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p>
                                        <m:r>
                                          <a:rPr lang="es-419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042427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800" dirty="0">
                              <a:latin typeface="Georgia" panose="02040502050405020303" pitchFamily="18" charset="0"/>
                            </a:rPr>
                            <a:t>Hipergeométrica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type m:val="noBar"/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type m:val="noBar"/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type m:val="noBar"/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419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num>
                                  <m:den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419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𝑚𝑟𝑛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419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s-419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419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  <m:r>
                                              <a:rPr lang="es-419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s-419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s-419" sz="1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939698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800" dirty="0">
                              <a:latin typeface="Georgia" panose="02040502050405020303" pitchFamily="18" charset="0"/>
                            </a:rPr>
                            <a:t>Multinomial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!…</m:t>
                                    </m:r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  <m:sSubSup>
                                  <m:sSub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p>
                                </m:sSubSup>
                                <m:r>
                                  <a:rPr lang="en-US" sz="1800" b="0" i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sSubSup>
                                  <m:sSub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sup>
                                </m:sSubSup>
                              </m:oMath>
                            </m:oMathPara>
                          </a14:m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b>
                                  <m:sSubPr>
                                    <m:ctrlP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sSub>
                                  <m:sSubPr>
                                    <m:ctrlP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sz="1800" b="0" i="1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sSub>
                                  <m:sSubPr>
                                    <m:ctrlP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s-419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89231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800" dirty="0">
                              <a:latin typeface="Georgia" panose="02040502050405020303" pitchFamily="18" charset="0"/>
                            </a:rPr>
                            <a:t>Poisson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  <m:sSup>
                                  <m:sSupPr>
                                    <m:ctrlPr>
                                      <a:rPr lang="es-419" sz="18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s-419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s-419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p>
                                    </m:sSup>
                                    <m:r>
                                      <a:rPr lang="es-419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1736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8">
                <a:extLst>
                  <a:ext uri="{FF2B5EF4-FFF2-40B4-BE49-F238E27FC236}">
                    <a16:creationId xmlns:a16="http://schemas.microsoft.com/office/drawing/2014/main" id="{37A10B64-9ADA-42F8-8906-C621FFAE62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2360233"/>
                  </p:ext>
                </p:extLst>
              </p:nvPr>
            </p:nvGraphicFramePr>
            <p:xfrm>
              <a:off x="838200" y="1254315"/>
              <a:ext cx="10515601" cy="409225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24271">
                      <a:extLst>
                        <a:ext uri="{9D8B030D-6E8A-4147-A177-3AD203B41FA5}">
                          <a16:colId xmlns:a16="http://schemas.microsoft.com/office/drawing/2014/main" val="3024221833"/>
                        </a:ext>
                      </a:extLst>
                    </a:gridCol>
                    <a:gridCol w="2544417">
                      <a:extLst>
                        <a:ext uri="{9D8B030D-6E8A-4147-A177-3AD203B41FA5}">
                          <a16:colId xmlns:a16="http://schemas.microsoft.com/office/drawing/2014/main" val="1004522117"/>
                        </a:ext>
                      </a:extLst>
                    </a:gridCol>
                    <a:gridCol w="2256521">
                      <a:extLst>
                        <a:ext uri="{9D8B030D-6E8A-4147-A177-3AD203B41FA5}">
                          <a16:colId xmlns:a16="http://schemas.microsoft.com/office/drawing/2014/main" val="222007212"/>
                        </a:ext>
                      </a:extLst>
                    </a:gridCol>
                    <a:gridCol w="1552927">
                      <a:extLst>
                        <a:ext uri="{9D8B030D-6E8A-4147-A177-3AD203B41FA5}">
                          <a16:colId xmlns:a16="http://schemas.microsoft.com/office/drawing/2014/main" val="1649917447"/>
                        </a:ext>
                      </a:extLst>
                    </a:gridCol>
                    <a:gridCol w="2137465">
                      <a:extLst>
                        <a:ext uri="{9D8B030D-6E8A-4147-A177-3AD203B41FA5}">
                          <a16:colId xmlns:a16="http://schemas.microsoft.com/office/drawing/2014/main" val="3543211515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800" dirty="0">
                              <a:highlight>
                                <a:srgbClr val="003A5D"/>
                              </a:highlight>
                              <a:latin typeface="Georgia" panose="02040502050405020303" pitchFamily="18" charset="0"/>
                            </a:rPr>
                            <a:t>Distribución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665" t="-3333" r="-234450" b="-3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973" t="-3333" r="-164865" b="-3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800" dirty="0">
                              <a:highlight>
                                <a:srgbClr val="003A5D"/>
                              </a:highlight>
                              <a:latin typeface="Georgia" panose="02040502050405020303" pitchFamily="18" charset="0"/>
                            </a:rPr>
                            <a:t>Valor esperado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800" dirty="0">
                              <a:highlight>
                                <a:srgbClr val="003A5D"/>
                              </a:highlight>
                              <a:latin typeface="Georgia" panose="02040502050405020303" pitchFamily="18" charset="0"/>
                            </a:rPr>
                            <a:t>Varianza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659220"/>
                      </a:ext>
                    </a:extLst>
                  </a:tr>
                  <a:tr h="4328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800" dirty="0">
                              <a:latin typeface="Georgia" panose="02040502050405020303" pitchFamily="18" charset="0"/>
                            </a:rPr>
                            <a:t>Binomial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665" t="-215278" r="-234450" b="-62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973" t="-215278" r="-164865" b="-62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39608" t="-215278" r="-139216" b="-62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2023" t="-215278" r="-1140" b="-629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592539"/>
                      </a:ext>
                    </a:extLst>
                  </a:tr>
                  <a:tr h="696278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800" dirty="0">
                              <a:latin typeface="Georgia" panose="02040502050405020303" pitchFamily="18" charset="0"/>
                            </a:rPr>
                            <a:t>Geométrica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665" t="-199123" r="-234450" b="-29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973" t="-199123" r="-164865" b="-29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39608" t="-199123" r="-139216" b="-29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2023" t="-199123" r="-1140" b="-2973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242789"/>
                      </a:ext>
                    </a:extLst>
                  </a:tr>
                  <a:tr h="77933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800" dirty="0">
                              <a:latin typeface="Georgia" panose="02040502050405020303" pitchFamily="18" charset="0"/>
                            </a:rPr>
                            <a:t>Hipergeométrica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665" t="-266406" r="-234450" b="-1648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39608" t="-266406" r="-139216" b="-1648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2023" t="-266406" r="-1140" b="-1648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3969868"/>
                      </a:ext>
                    </a:extLst>
                  </a:tr>
                  <a:tr h="64985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800" dirty="0">
                              <a:latin typeface="Georgia" panose="02040502050405020303" pitchFamily="18" charset="0"/>
                            </a:rPr>
                            <a:t>Multinomial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665" t="-438318" r="-234450" b="-971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419" sz="18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39608" t="-438318" r="-139216" b="-971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2023" t="-438318" r="-1140" b="-971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8923155"/>
                      </a:ext>
                    </a:extLst>
                  </a:tr>
                  <a:tr h="61950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800" dirty="0">
                              <a:latin typeface="Georgia" panose="02040502050405020303" pitchFamily="18" charset="0"/>
                            </a:rPr>
                            <a:t>Poisson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665" t="-564706" r="-234450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2973" t="-564706" r="-164865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39608" t="-564706" r="-139216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92023" t="-564706" r="-1140" b="-19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117369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18653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799D4-37DB-4D23-9ED5-F0FB3A3DF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FGM para algunas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8">
                <a:extLst>
                  <a:ext uri="{FF2B5EF4-FFF2-40B4-BE49-F238E27FC236}">
                    <a16:creationId xmlns:a16="http://schemas.microsoft.com/office/drawing/2014/main" id="{37A10B64-9ADA-42F8-8906-C621FFAE62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7550363"/>
                  </p:ext>
                </p:extLst>
              </p:nvPr>
            </p:nvGraphicFramePr>
            <p:xfrm>
              <a:off x="838199" y="1008220"/>
              <a:ext cx="10515600" cy="48914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41003">
                      <a:extLst>
                        <a:ext uri="{9D8B030D-6E8A-4147-A177-3AD203B41FA5}">
                          <a16:colId xmlns:a16="http://schemas.microsoft.com/office/drawing/2014/main" val="3024221833"/>
                        </a:ext>
                      </a:extLst>
                    </a:gridCol>
                    <a:gridCol w="3697751">
                      <a:extLst>
                        <a:ext uri="{9D8B030D-6E8A-4147-A177-3AD203B41FA5}">
                          <a16:colId xmlns:a16="http://schemas.microsoft.com/office/drawing/2014/main" val="1004522117"/>
                        </a:ext>
                      </a:extLst>
                    </a:gridCol>
                    <a:gridCol w="1338257">
                      <a:extLst>
                        <a:ext uri="{9D8B030D-6E8A-4147-A177-3AD203B41FA5}">
                          <a16:colId xmlns:a16="http://schemas.microsoft.com/office/drawing/2014/main" val="222007212"/>
                        </a:ext>
                      </a:extLst>
                    </a:gridCol>
                    <a:gridCol w="1489048">
                      <a:extLst>
                        <a:ext uri="{9D8B030D-6E8A-4147-A177-3AD203B41FA5}">
                          <a16:colId xmlns:a16="http://schemas.microsoft.com/office/drawing/2014/main" val="1649917447"/>
                        </a:ext>
                      </a:extLst>
                    </a:gridCol>
                    <a:gridCol w="2049541">
                      <a:extLst>
                        <a:ext uri="{9D8B030D-6E8A-4147-A177-3AD203B41FA5}">
                          <a16:colId xmlns:a16="http://schemas.microsoft.com/office/drawing/2014/main" val="35432115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highlight>
                                <a:srgbClr val="003A5D"/>
                              </a:highlight>
                              <a:latin typeface="Georgia" panose="02040502050405020303" pitchFamily="18" charset="0"/>
                            </a:rPr>
                            <a:t>Distribución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highlight>
                                <a:srgbClr val="003A5D"/>
                              </a:highlight>
                              <a:latin typeface="Georgia" panose="02040502050405020303" pitchFamily="18" charset="0"/>
                            </a:rPr>
                            <a:t>Función de densidad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419" sz="1600" dirty="0">
                            <a:highlight>
                              <a:srgbClr val="003A5D"/>
                            </a:highlight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highlight>
                                <a:srgbClr val="003A5D"/>
                              </a:highlight>
                              <a:latin typeface="Georgia" panose="02040502050405020303" pitchFamily="18" charset="0"/>
                            </a:rPr>
                            <a:t>FGM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s-419" sz="16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s-419" sz="1600" b="0" i="0" smtClean="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a:rPr lang="es-419" sz="16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419" sz="1600" b="0" dirty="0">
                            <a:highlight>
                              <a:srgbClr val="003A5D"/>
                            </a:highlight>
                            <a:latin typeface="Georgia" panose="02040502050405020303" pitchFamily="18" charset="0"/>
                          </a:endParaRP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highlight>
                                <a:srgbClr val="003A5D"/>
                              </a:highlight>
                              <a:latin typeface="Georgia" panose="02040502050405020303" pitchFamily="18" charset="0"/>
                            </a:rPr>
                            <a:t>Valor esperado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highlight>
                                <a:srgbClr val="003A5D"/>
                              </a:highlight>
                              <a:latin typeface="Georgia" panose="02040502050405020303" pitchFamily="18" charset="0"/>
                            </a:rPr>
                            <a:t>Varianza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6592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Uniforme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𝑏𝑘</m:t>
                                        </m:r>
                                      </m:sup>
                                    </m:sSup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𝑎𝑘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75925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Exponencial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skw"/>
                                        <m:ctrlP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042427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Normal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419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419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s-419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419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s-419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rad>
                                  </m:den>
                                </m:f>
                                <m:sSup>
                                  <m:sSupPr>
                                    <m:ctrlPr>
                                      <a:rPr lang="es-419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419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s-419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s-419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419" sz="1600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s-419" sz="16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s-419" sz="16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s-419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  <m:r>
                                              <a:rPr lang="es-419" sz="1600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s-419" sz="16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s-419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sSup>
                                          <m:sSupPr>
                                            <m:ctrlPr>
                                              <a:rPr lang="es-419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419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p>
                                            <m:r>
                                              <a:rPr lang="es-419" sz="16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419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  <m:r>
                                      <a:rPr lang="es-419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419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s-419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s-419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419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p>
                                            <m:r>
                                              <a:rPr lang="es-419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sSup>
                                          <m:sSupPr>
                                            <m:ctrlPr>
                                              <a:rPr lang="es-419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419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  <m:sup>
                                            <m:r>
                                              <a:rPr lang="es-419" sz="1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s-419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939698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Chi-Cuadrada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s-419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num>
                                          <m:den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type m:val="skw"/>
                                            <m:ctrlPr>
                                              <a:rPr lang="es-419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num>
                                          <m:den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</m:den>
                                </m:f>
                                <m:sSup>
                                  <m:sSup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s-419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num>
                                          <m:den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skw"/>
                                        <m:ctrlP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(1−2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s-419" sz="1600" dirty="0">
                                        <a:latin typeface="Georgia" panose="02040502050405020303" pitchFamily="18" charset="0"/>
                                      </a:rPr>
                                      <m:t> </m:t>
                                    </m:r>
                                  </m:e>
                                  <m:sup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skw"/>
                                        <m:ctrlP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89231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T-</a:t>
                          </a:r>
                          <a:r>
                            <a:rPr lang="es-419" sz="1600" dirty="0" err="1">
                              <a:latin typeface="Georgia" panose="02040502050405020303" pitchFamily="18" charset="0"/>
                            </a:rPr>
                            <a:t>Student</a:t>
                          </a:r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type m:val="lin"/>
                                            <m:ctrlP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d>
                                              <m:dPr>
                                                <m:ctrlPr>
                                                  <a:rPr lang="es-419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s-419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  <m:r>
                                                  <a:rPr lang="es-419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−1</m:t>
                                                </m:r>
                                              </m:e>
                                            </m:d>
                                          </m:num>
                                          <m:den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rad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type m:val="lin"/>
                                            <m:ctrlP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d>
                                              <m:dPr>
                                                <m:ctrlPr>
                                                  <a:rPr lang="es-419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s-419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  <m:r>
                                                  <a:rPr lang="es-419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−2</m:t>
                                                </m:r>
                                              </m:e>
                                            </m:d>
                                          </m:num>
                                          <m:den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[1+</m:t>
                                        </m:r>
                                        <m:f>
                                          <m:fPr>
                                            <m:type m:val="lin"/>
                                            <m:ctrlP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lang="es-419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s-419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s-419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]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es-419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num>
                                          <m:den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No definida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11736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F-Snedecor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s-419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−2</m:t>
                                            </m:r>
                                          </m:num>
                                          <m:den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s-419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−2</m:t>
                                            </m:r>
                                          </m:num>
                                          <m:den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  <m:d>
                                      <m:dPr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s-419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−2</m:t>
                                            </m:r>
                                          </m:num>
                                          <m:den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s-419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num>
                                          <m:den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num>
                                      <m:den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  <m:f>
                                  <m:fPr>
                                    <m:ctrlPr>
                                      <a:rPr lang="es-419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es-419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−2</m:t>
                                            </m:r>
                                          </m:num>
                                          <m:den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s-419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s-419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f>
                                              <m:fPr>
                                                <m:ctrlPr>
                                                  <a:rPr lang="es-419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s-419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s-419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den>
                                            </m:f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𝑊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es-419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num>
                                          <m:den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No existe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−2)</m:t>
                                    </m:r>
                                  </m:num>
                                  <m:den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sSup>
                                      <m:sSupPr>
                                        <m:ctrlP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s-419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−2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s-419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s-419" sz="1600" b="0" i="1" smtClean="0">
                                        <a:latin typeface="Cambria Math" panose="02040503050406030204" pitchFamily="18" charset="0"/>
                                      </a:rPr>
                                      <m:t>−4)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48853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8">
                <a:extLst>
                  <a:ext uri="{FF2B5EF4-FFF2-40B4-BE49-F238E27FC236}">
                    <a16:creationId xmlns:a16="http://schemas.microsoft.com/office/drawing/2014/main" id="{37A10B64-9ADA-42F8-8906-C621FFAE62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7550363"/>
                  </p:ext>
                </p:extLst>
              </p:nvPr>
            </p:nvGraphicFramePr>
            <p:xfrm>
              <a:off x="838199" y="1008220"/>
              <a:ext cx="10515600" cy="489147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41003">
                      <a:extLst>
                        <a:ext uri="{9D8B030D-6E8A-4147-A177-3AD203B41FA5}">
                          <a16:colId xmlns:a16="http://schemas.microsoft.com/office/drawing/2014/main" val="3024221833"/>
                        </a:ext>
                      </a:extLst>
                    </a:gridCol>
                    <a:gridCol w="3697751">
                      <a:extLst>
                        <a:ext uri="{9D8B030D-6E8A-4147-A177-3AD203B41FA5}">
                          <a16:colId xmlns:a16="http://schemas.microsoft.com/office/drawing/2014/main" val="1004522117"/>
                        </a:ext>
                      </a:extLst>
                    </a:gridCol>
                    <a:gridCol w="1338257">
                      <a:extLst>
                        <a:ext uri="{9D8B030D-6E8A-4147-A177-3AD203B41FA5}">
                          <a16:colId xmlns:a16="http://schemas.microsoft.com/office/drawing/2014/main" val="222007212"/>
                        </a:ext>
                      </a:extLst>
                    </a:gridCol>
                    <a:gridCol w="1489048">
                      <a:extLst>
                        <a:ext uri="{9D8B030D-6E8A-4147-A177-3AD203B41FA5}">
                          <a16:colId xmlns:a16="http://schemas.microsoft.com/office/drawing/2014/main" val="1649917447"/>
                        </a:ext>
                      </a:extLst>
                    </a:gridCol>
                    <a:gridCol w="2049541">
                      <a:extLst>
                        <a:ext uri="{9D8B030D-6E8A-4147-A177-3AD203B41FA5}">
                          <a16:colId xmlns:a16="http://schemas.microsoft.com/office/drawing/2014/main" val="3543211515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highlight>
                                <a:srgbClr val="003A5D"/>
                              </a:highlight>
                              <a:latin typeface="Georgia" panose="02040502050405020303" pitchFamily="18" charset="0"/>
                            </a:rPr>
                            <a:t>Distribución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2718" t="-3158" r="-132455" b="-7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3288" t="-3158" r="-267123" b="-74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highlight>
                                <a:srgbClr val="003A5D"/>
                              </a:highlight>
                              <a:latin typeface="Georgia" panose="02040502050405020303" pitchFamily="18" charset="0"/>
                            </a:rPr>
                            <a:t>Valor esperado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highlight>
                                <a:srgbClr val="003A5D"/>
                              </a:highlight>
                              <a:latin typeface="Georgia" panose="02040502050405020303" pitchFamily="18" charset="0"/>
                            </a:rPr>
                            <a:t>Varianza</a:t>
                          </a:r>
                        </a:p>
                      </a:txBody>
                      <a:tcPr anchor="ctr">
                        <a:solidFill>
                          <a:srgbClr val="003A5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659220"/>
                      </a:ext>
                    </a:extLst>
                  </a:tr>
                  <a:tr h="629095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Uniforme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2718" t="-95146" r="-132455" b="-5893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3288" t="-95146" r="-267123" b="-5893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7755" t="-95146" r="-138776" b="-5893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3988" t="-95146" r="-1190" b="-5893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592539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Exponencial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2718" t="-220879" r="-132455" b="-567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3288" t="-220879" r="-267123" b="-567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7755" t="-220879" r="-138776" b="-567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3988" t="-220879" r="-1190" b="-5670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4242789"/>
                      </a:ext>
                    </a:extLst>
                  </a:tr>
                  <a:tr h="636905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Normal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2718" t="-280769" r="-132455" b="-39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3288" t="-280769" r="-267123" b="-39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7755" t="-280769" r="-138776" b="-39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3988" t="-280769" r="-1190" b="-39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3969868"/>
                      </a:ext>
                    </a:extLst>
                  </a:tr>
                  <a:tr h="72155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Chi-Cuadrada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2718" t="-332773" r="-132455" b="-2462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3288" t="-332773" r="-267123" b="-2462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7755" t="-332773" r="-138776" b="-2462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3988" t="-332773" r="-1190" b="-2462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8923155"/>
                      </a:ext>
                    </a:extLst>
                  </a:tr>
                  <a:tr h="72555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T-</a:t>
                          </a:r>
                          <a:r>
                            <a:rPr lang="es-419" sz="1600" dirty="0" err="1">
                              <a:latin typeface="Georgia" panose="02040502050405020303" pitchFamily="18" charset="0"/>
                            </a:rPr>
                            <a:t>Student</a:t>
                          </a:r>
                          <a:endParaRPr lang="es-419" sz="1600" dirty="0">
                            <a:latin typeface="Georgia" panose="02040502050405020303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2718" t="-432773" r="-132455" b="-1462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No definida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3988" t="-432773" r="-1190" b="-1462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1173695"/>
                      </a:ext>
                    </a:extLst>
                  </a:tr>
                  <a:tr h="1049655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F-Snedecor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2718" t="-368605" r="-132455" b="-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419" sz="1600" dirty="0">
                              <a:latin typeface="Georgia" panose="02040502050405020303" pitchFamily="18" charset="0"/>
                            </a:rPr>
                            <a:t>No existe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67755" t="-368605" r="-138776" b="-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13988" t="-368605" r="-1190" b="-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88538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68005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FGM normal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s-419" dirty="0"/>
                  <a:t>Función generatriz de momentos de una normal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𝑘𝑥</m:t>
                              </m:r>
                            </m:sup>
                          </m:sSup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𝑥𝑘</m:t>
                              </m:r>
                            </m:sup>
                          </m:sSup>
                          <m:f>
                            <m:f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𝜋𝜎</m:t>
                                  </m:r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 − </m:t>
                                      </m:r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Derivación convencional muy complicada, nosotros aplicaremos transformaciones: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s-419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𝑎𝑘</m:t>
                        </m:r>
                      </m:sup>
                    </m:sSup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𝑘𝑏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222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423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Demostración de transformación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Demostrar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𝑎𝑘</m:t>
                        </m:r>
                      </m:sup>
                    </m:sSup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𝑘𝑏</m:t>
                        </m:r>
                      </m:e>
                    </m:d>
                  </m:oMath>
                </a14:m>
                <a:r>
                  <a:rPr lang="es-419" i="1" dirty="0">
                    <a:latin typeface="Cambria Math" panose="02040503050406030204" pitchFamily="18" charset="0"/>
                  </a:rPr>
                  <a:t> </a:t>
                </a:r>
                <a:r>
                  <a:rPr lang="es-419" dirty="0"/>
                  <a:t>cuando </a:t>
                </a: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es-419" dirty="0"/>
                  <a:t> </a:t>
                </a: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𝑏𝑦</m:t>
                        </m:r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419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𝑘𝑏𝑦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419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s-419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𝑘𝑏</m:t>
                        </m:r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𝑘𝑎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𝑘𝑏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𝑎𝑘</m:t>
                        </m:r>
                      </m:sup>
                    </m:sSup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𝑘𝑏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8563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Transformación aplicada a una </a:t>
            </a:r>
            <a:r>
              <a:rPr lang="es-419" dirty="0" err="1"/>
              <a:t>v.a.</a:t>
            </a:r>
            <a:r>
              <a:rPr lang="es-419" dirty="0"/>
              <a:t> normal estandarizada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s-419" dirty="0"/>
                  <a:t>Partimos de una variable estandarizada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z</a:t>
                </a:r>
                <a:r>
                  <a:rPr lang="es-419" dirty="0"/>
                  <a:t>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s-419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419" sz="4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419" sz="4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s-419" sz="4000" b="0" i="1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a:rPr lang="es-419" sz="4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419" sz="40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s-419" sz="4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419" sz="4000" b="0" i="1" smtClean="0">
                        <a:latin typeface="Cambria Math" panose="02040503050406030204" pitchFamily="18" charset="0"/>
                      </a:rPr>
                      <m:t>(0, 1)</m:t>
                    </m:r>
                  </m:oMath>
                </a14:m>
                <a:r>
                  <a:rPr lang="es-419" sz="4000" dirty="0">
                    <a:latin typeface="Cambria Math" panose="02040503050406030204" pitchFamily="18" charset="0"/>
                  </a:rPr>
                  <a:t>          </a:t>
                </a:r>
              </a:p>
              <a:p>
                <a:pPr>
                  <a:lnSpc>
                    <a:spcPct val="100000"/>
                  </a:lnSpc>
                </a:pPr>
                <a:r>
                  <a:rPr lang="es-419" dirty="0"/>
                  <a:t>Lo que podemos expresar como: </a:t>
                </a:r>
                <a:endParaRPr lang="en-US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s-419" sz="4000" dirty="0"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Así que la FGM de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dirty="0"/>
                  <a:t> será igual a: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4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419" sz="4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s-419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sz="4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s-419" sz="4000" i="1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s-419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sz="4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419" sz="4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419" sz="4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b>
                        <m:sSubPr>
                          <m:ctrlPr>
                            <a:rPr lang="es-419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4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419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s-419" sz="4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419" sz="40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419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s-419" sz="4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sz="4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223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Función Generatriz de Momentos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Para la Distribución Normal</a:t>
            </a:r>
          </a:p>
        </p:txBody>
      </p:sp>
    </p:spTree>
    <p:extLst>
      <p:ext uri="{BB962C8B-B14F-4D97-AF65-F5344CB8AC3E}">
        <p14:creationId xmlns:p14="http://schemas.microsoft.com/office/powerpoint/2010/main" val="3729490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FGM para distribución normal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b="0" i="1" smtClean="0">
                                <a:latin typeface="Cambria Math" panose="02040503050406030204" pitchFamily="18" charset="0"/>
                              </a:rPr>
                              <m:t>𝑘𝑧</m:t>
                            </m:r>
                          </m:sup>
                        </m:sSup>
                      </m:e>
                    </m:d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s-419" sz="3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3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s-419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b="0" i="1" smtClean="0">
                                <a:latin typeface="Cambria Math" panose="02040503050406030204" pitchFamily="18" charset="0"/>
                              </a:rPr>
                              <m:t>𝑘𝑧</m:t>
                            </m:r>
                          </m:sup>
                        </m:sSup>
                        <m:f>
                          <m:fPr>
                            <m:ctrlPr>
                              <a:rPr lang="es-419" sz="3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s-419" sz="3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sz="3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s-419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419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419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s-419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419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s-419" sz="3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s-419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s-419" sz="3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sup>
                        </m:sSup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s-419" sz="36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3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𝑘𝑧</m:t>
                            </m:r>
                          </m:sup>
                        </m:sSup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s-419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(1)</m:t>
                                    </m:r>
                                  </m:e>
                                  <m:sup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−0)</m:t>
                                    </m:r>
                                  </m:e>
                                  <m:sup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s-419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e>
                                  <m:sup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sup>
                        </m:s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s-419" sz="36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3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𝑘𝑧</m:t>
                            </m:r>
                          </m:sup>
                        </m:sSup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419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s-419" sz="3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s-419" sz="3200" dirty="0"/>
              </a:p>
              <a:p>
                <a:pPr>
                  <a:lnSpc>
                    <a:spcPct val="150000"/>
                  </a:lnSpc>
                </a:pPr>
                <a:endParaRPr lang="es-419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5284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FGM para distribución normal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sz="3600" i="1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3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𝑘𝑧</m:t>
                            </m:r>
                          </m:sup>
                        </m:sSup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s-419" sz="36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3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419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p>
                                  <m:sSupPr>
                                    <m:ctrlPr>
                                      <a:rPr lang="es-419" sz="360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419" sz="36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sz="36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36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𝑧𝑘</m:t>
                                </m:r>
                                <m:r>
                                  <a:rPr lang="es-419" sz="3600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s-419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s-419" sz="36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3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𝑧𝑘</m:t>
                                </m:r>
                                <m:r>
                                  <a:rPr lang="es-419" sz="3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s-419" sz="3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s-419" sz="3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419" sz="3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s-419" sz="3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s-419" sz="3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3737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FGM para distribución normal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742950" indent="-7429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3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𝑧𝑘</m:t>
                                </m:r>
                                <m:r>
                                  <a:rPr lang="es-419" sz="3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s-419" sz="3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s-419" sz="3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419" sz="3600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s-419" sz="3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s-419" sz="3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s-419" sz="3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419" sz="3600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num>
                              <m:den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s-419" sz="36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3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sz="36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p>
                                  <m:sSupPr>
                                    <m:ctrlPr>
                                      <a:rPr lang="es-419" sz="36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sz="36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s-419" sz="36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sz="36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419" sz="36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s-419" sz="36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419" sz="3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s-419" sz="3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s-419" sz="3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419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num>
                              <m:den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s-419" sz="36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3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sz="3600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d>
                              <m:dPr>
                                <m:ctrlPr>
                                  <a:rPr lang="es-419" sz="3600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419" sz="36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36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s-419" sz="3600" b="0" i="1" smtClean="0">
                                            <a:solidFill>
                                              <a:srgbClr val="003A5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3600" b="0" i="1" smtClean="0">
                                            <a:solidFill>
                                              <a:srgbClr val="003A5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p>
                                        <m:r>
                                          <a:rPr lang="es-419" sz="3600" b="0" i="1" smtClean="0">
                                            <a:solidFill>
                                              <a:srgbClr val="003A5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419" sz="36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s-419" sz="3600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s-419" sz="3600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419" sz="36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419" sz="3600" i="1">
                                            <a:solidFill>
                                              <a:srgbClr val="003A5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s-419" sz="3600" i="1">
                                                <a:solidFill>
                                                  <a:srgbClr val="003A5D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419" sz="3600" i="1">
                                                <a:solidFill>
                                                  <a:srgbClr val="003A5D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  <m:r>
                                              <a:rPr lang="es-419" sz="3600" i="1">
                                                <a:solidFill>
                                                  <a:srgbClr val="003A5D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s-419" sz="3600" i="1">
                                                <a:solidFill>
                                                  <a:srgbClr val="003A5D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s-419" sz="3600" i="1">
                                            <a:solidFill>
                                              <a:srgbClr val="003A5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419" sz="3600" b="0" i="1" smtClean="0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s-419" sz="3600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38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FGM para distribución normal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742950" indent="-7429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3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419" sz="3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d>
                              <m:dPr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s-419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419" sz="36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p>
                                        <m:r>
                                          <a:rPr lang="es-419" sz="3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s-419" sz="3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419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s-419" sz="3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419" sz="3600" i="1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  <m:r>
                                              <a:rPr lang="es-419" sz="36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s-419" sz="36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s-419" sz="3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s-419" sz="3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s-419" sz="36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3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s-419" sz="360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s-419" sz="36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s-419" sz="36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sSup>
                          <m:sSupPr>
                            <m:ctrlPr>
                              <a:rPr lang="es-419" sz="360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b="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419" sz="3600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s-419" sz="3600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s-419" sz="36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7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sz="360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600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sz="36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sz="36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6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sz="36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sz="36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nary>
                      <m:nary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3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6279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FGM para distribución normal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742950" indent="-742950">
                  <a:lnSpc>
                    <a:spcPct val="150000"/>
                  </a:lnSpc>
                  <a:buFont typeface="+mj-lt"/>
                  <a:buAutoNum type="arabicPeriod" startAt="9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nary>
                      <m:nary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3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s-419" sz="3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s-419" sz="36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9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nary>
                      <m:naryPr>
                        <m:ctrlPr>
                          <a:rPr lang="es-419" sz="360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3600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3600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419" sz="3600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sz="3600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s-419" sz="36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sz="36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419" sz="36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419" sz="36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36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s-419" sz="3600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(1)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s-419" sz="36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419" sz="36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s-419" sz="3600" i="1">
                                        <a:solidFill>
                                          <a:srgbClr val="003A5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s-419" sz="36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419" sz="3600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den>
                            </m:f>
                          </m:sup>
                        </m:sSup>
                        <m:r>
                          <a:rPr lang="es-419" sz="3600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endParaRPr lang="es-419" sz="36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9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s-419" sz="3600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B97866-E2F3-4718-998A-DA3BB176A004}"/>
                  </a:ext>
                </a:extLst>
              </p:cNvPr>
              <p:cNvSpPr txBox="1"/>
              <p:nvPr/>
            </p:nvSpPr>
            <p:spPr>
              <a:xfrm>
                <a:off x="8282609" y="2627375"/>
                <a:ext cx="2438399" cy="139121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419" sz="2000" b="1" i="1" dirty="0">
                    <a:solidFill>
                      <a:srgbClr val="003A5D"/>
                    </a:solidFill>
                    <a:latin typeface="Georgia" panose="02040502050405020303" pitchFamily="18" charset="0"/>
                  </a:rPr>
                  <a:t>z</a:t>
                </a:r>
                <a:r>
                  <a:rPr lang="es-419" sz="2000" i="1" dirty="0">
                    <a:latin typeface="Georgia" panose="02040502050405020303" pitchFamily="18" charset="0"/>
                  </a:rPr>
                  <a:t> ~N(k,1)</a:t>
                </a:r>
              </a:p>
              <a:p>
                <a:pPr algn="ctr"/>
                <a:endParaRPr lang="es-419" sz="2000" i="1" dirty="0">
                  <a:solidFill>
                    <a:srgbClr val="003A5D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nary>
                      <m:naryPr>
                        <m:ctrlPr>
                          <a:rPr lang="es-419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419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419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s-419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s-419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419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s-419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s-419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r>
                  <a:rPr lang="es-419" sz="2000" dirty="0">
                    <a:solidFill>
                      <a:schemeClr val="tx1"/>
                    </a:solidFill>
                    <a:latin typeface="Georgia" panose="02040502050405020303" pitchFamily="18" charset="0"/>
                  </a:rPr>
                  <a:t> = </a:t>
                </a:r>
                <a:r>
                  <a:rPr lang="es-419" sz="2000" dirty="0">
                    <a:latin typeface="Georgia" panose="02040502050405020303" pitchFamily="18" charset="0"/>
                  </a:rPr>
                  <a:t>1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B97866-E2F3-4718-998A-DA3BB176A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609" y="2627375"/>
                <a:ext cx="2438399" cy="1391215"/>
              </a:xfrm>
              <a:prstGeom prst="rect">
                <a:avLst/>
              </a:prstGeom>
              <a:blipFill>
                <a:blip r:embed="rId3"/>
                <a:stretch>
                  <a:fillRect l="-6965" t="-2174" b="-4304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735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FGM para distribución normal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742950" indent="-742950">
                  <a:lnSpc>
                    <a:spcPct val="150000"/>
                  </a:lnSpc>
                  <a:buFont typeface="+mj-lt"/>
                  <a:buAutoNum type="arabicPeriod" startAt="11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s-419" sz="36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1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sSub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s-419" sz="3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sz="36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419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s-419" sz="3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sz="36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1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419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419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s-419" sz="360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s-419" sz="3600" i="1" smtClean="0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sz="360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6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sz="36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sz="36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60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sz="36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sz="36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s-419" sz="36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1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s-419" sz="3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419" sz="36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s-419" sz="36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11"/>
                </a:pPr>
                <a:endParaRPr lang="es-419" sz="3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8909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FGM </a:t>
            </a:r>
            <a:r>
              <a:rPr lang="es-419" dirty="0" err="1"/>
              <a:t>Distribuci</a:t>
            </a:r>
            <a:r>
              <a:rPr lang="es-VE" dirty="0" err="1"/>
              <a:t>ón</a:t>
            </a:r>
            <a:r>
              <a:rPr lang="es-VE" dirty="0"/>
              <a:t> Normal</a:t>
            </a:r>
            <a:endParaRPr lang="es-419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3240-91F8-449F-81B7-432D6F81E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Derivación de Media y Varianza</a:t>
            </a:r>
          </a:p>
        </p:txBody>
      </p:sp>
    </p:spTree>
    <p:extLst>
      <p:ext uri="{BB962C8B-B14F-4D97-AF65-F5344CB8AC3E}">
        <p14:creationId xmlns:p14="http://schemas.microsoft.com/office/powerpoint/2010/main" val="2030383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Derivar media y varianza de distribución normal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Derivando los momentos a partir de </a:t>
                </a:r>
                <a:endParaRPr lang="es-419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s-419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419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s-419" dirty="0"/>
              </a:p>
              <a:p>
                <a:pPr>
                  <a:lnSpc>
                    <a:spcPct val="120000"/>
                  </a:lnSpc>
                </a:pPr>
                <a:r>
                  <a:rPr lang="es-419" dirty="0"/>
                  <a:t>Primera derivada: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32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s-419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s-419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num>
                      <m:den>
                        <m:r>
                          <a:rPr lang="es-419" sz="32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s-419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s-419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s-419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s-419" sz="3200" dirty="0"/>
                  <a:t>(</a:t>
                </a:r>
                <a14:m>
                  <m:oMath xmlns:m="http://schemas.openxmlformats.org/officeDocument/2006/math">
                    <m:r>
                      <a:rPr lang="es-419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sz="3200" dirty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419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419" sz="3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sSupPr>
                            <m:ctrlPr>
                              <a:rPr lang="es-419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sz="3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s-419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419" sz="3200" dirty="0"/>
                  <a:t>)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s-419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s-419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num>
                      <m:den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𝑑𝑘</m:t>
                        </m:r>
                      </m:den>
                    </m:f>
                    <m:r>
                      <a:rPr lang="es-419" sz="32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s-419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s-419" sz="3200" dirty="0"/>
                  <a:t>(</a:t>
                </a:r>
                <a14:m>
                  <m:oMath xmlns:m="http://schemas.openxmlformats.org/officeDocument/2006/math">
                    <m:r>
                      <a:rPr lang="es-419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sz="3200" dirty="0"/>
                  <a:t>+ </a:t>
                </a:r>
                <a14:m>
                  <m:oMath xmlns:m="http://schemas.openxmlformats.org/officeDocument/2006/math">
                    <m:r>
                      <a:rPr lang="es-419" sz="3200" i="1" dirty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s-419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sz="3200" dirty="0"/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9446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Derivar media y varianza de distribución normal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Primer momento (valor esperado)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num>
                      <m:den>
                        <m:r>
                          <a:rPr lang="es-419" i="1">
                            <a:latin typeface="Cambria Math" panose="02040503050406030204" pitchFamily="18" charset="0"/>
                          </a:rPr>
                          <m:t>𝑑𝑘</m:t>
                        </m:r>
                      </m:den>
                    </m:f>
                    <m:r>
                      <a:rPr lang="es-419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s-419" dirty="0"/>
                  <a:t>(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dirty="0"/>
                  <a:t>+ </a:t>
                </a:r>
                <a14:m>
                  <m:oMath xmlns:m="http://schemas.openxmlformats.org/officeDocument/2006/math">
                    <m:r>
                      <a:rPr lang="es-419" i="1" dirty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s-419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dirty="0"/>
                  <a:t>)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𝑑𝑘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(0)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(0)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s-419" dirty="0"/>
                  <a:t>(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dirty="0"/>
                  <a:t>+ </a:t>
                </a:r>
                <a:r>
                  <a:rPr lang="es-419" dirty="0">
                    <a:solidFill>
                      <a:srgbClr val="003A5D"/>
                    </a:solidFill>
                  </a:rPr>
                  <a:t>(0)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dirty="0"/>
                  <a:t>)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dirty="0"/>
                  <a:t>+0)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dirty="0"/>
                  <a:t>)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3998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Derivar media y varianza de distribución normal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419" dirty="0"/>
                  <a:t>Segunda derivada: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s-419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s-419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num>
                      <m:den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𝑑𝑘</m:t>
                        </m:r>
                      </m:den>
                    </m:f>
                    <m:r>
                      <a:rPr lang="es-419" sz="32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s-419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s-419" sz="3200" dirty="0"/>
                  <a:t>(</a:t>
                </a:r>
                <a14:m>
                  <m:oMath xmlns:m="http://schemas.openxmlformats.org/officeDocument/2006/math">
                    <m:r>
                      <a:rPr lang="es-419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sz="3200" dirty="0"/>
                  <a:t>+ </a:t>
                </a:r>
                <a14:m>
                  <m:oMath xmlns:m="http://schemas.openxmlformats.org/officeDocument/2006/math">
                    <m:r>
                      <a:rPr lang="es-419" sz="3200" i="1" dirty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s-419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sz="3200" dirty="0"/>
                  <a:t>)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2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s-419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s-419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s-419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num>
                      <m:den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s-419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s-419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sz="32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s-419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s-419" sz="3200" dirty="0"/>
                  <a:t>(</a:t>
                </a:r>
                <a14:m>
                  <m:oMath xmlns:m="http://schemas.openxmlformats.org/officeDocument/2006/math">
                    <m:r>
                      <a:rPr lang="es-419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sz="3200" dirty="0"/>
                  <a:t>+ </a:t>
                </a:r>
                <a14:m>
                  <m:oMath xmlns:m="http://schemas.openxmlformats.org/officeDocument/2006/math">
                    <m:r>
                      <a:rPr lang="es-419" sz="3200" i="1" dirty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s-419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sz="3200" dirty="0"/>
                  <a:t>)(</a:t>
                </a:r>
                <a14:m>
                  <m:oMath xmlns:m="http://schemas.openxmlformats.org/officeDocument/2006/math">
                    <m:r>
                      <a:rPr lang="es-419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419" sz="3200" dirty="0"/>
                  <a:t>+ </a:t>
                </a:r>
                <a14:m>
                  <m:oMath xmlns:m="http://schemas.openxmlformats.org/officeDocument/2006/math">
                    <m:r>
                      <a:rPr lang="es-419" sz="3200" i="1" dirty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s-419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sz="3200" dirty="0"/>
                  <a:t>)+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s-419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s-419" sz="32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sz="3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sz="3200" dirty="0"/>
                  <a:t>)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s-419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s-419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num>
                      <m:den>
                        <m:r>
                          <a:rPr lang="es-419" sz="32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s-419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s-419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sz="32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s-419" sz="320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sz="3200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sz="3200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s-419" sz="3200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sz="32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sz="32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2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sz="32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sz="32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32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sz="3200" i="1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sz="3200" i="1">
                                <a:solidFill>
                                  <a:srgbClr val="003A5D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s-419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s-419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s-419" sz="3200" dirty="0"/>
                          <m:t>(</m:t>
                        </m:r>
                        <m:r>
                          <a:rPr lang="es-419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m:rPr>
                            <m:nor/>
                          </m:rPr>
                          <a:rPr lang="es-419" sz="3200" dirty="0"/>
                          <m:t>+ </m:t>
                        </m:r>
                        <m:r>
                          <a:rPr lang="es-419" sz="3200" i="1" dirty="0"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sSupPr>
                            <m:ctrlPr>
                              <a:rPr lang="es-419" sz="3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sz="3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s-419" sz="3200" dirty="0"/>
                          <m:t>)</m:t>
                        </m:r>
                      </m:e>
                      <m:sup>
                        <m:r>
                          <a:rPr lang="es-419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sz="3200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sz="3200" dirty="0"/>
                  <a:t>]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87827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Derivar media y varianza de distribución normal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Segundo momento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s-419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num>
                      <m:den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s-419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s-419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s-419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s-419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m:rPr>
                            <m:nor/>
                          </m:rPr>
                          <a:rPr lang="es-419" dirty="0">
                            <a:solidFill>
                              <a:schemeClr val="tx1"/>
                            </a:solidFill>
                          </a:rPr>
                          <m:t>+ </m:t>
                        </m:r>
                        <m:r>
                          <a:rPr lang="es-419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sSupPr>
                            <m:ctrlPr>
                              <a:rPr lang="es-419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s-419" dirty="0">
                            <a:solidFill>
                              <a:schemeClr val="tx1"/>
                            </a:solidFill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dirty="0">
                    <a:solidFill>
                      <a:schemeClr val="tx1"/>
                    </a:solidFill>
                  </a:rPr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dirty="0">
                    <a:solidFill>
                      <a:schemeClr val="tx1"/>
                    </a:solidFill>
                  </a:rPr>
                  <a:t>]</a:t>
                </a:r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419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s-419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sSupPr>
                                    <m:ctrlP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s-419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419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(0)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solidFill>
                                      <a:srgbClr val="003A5D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(0)</m:t>
                                </m:r>
                              </m:e>
                              <m:sup>
                                <m:r>
                                  <a:rPr lang="es-41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s-41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s-419" dirty="0"/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m:rPr>
                            <m:nor/>
                          </m:rPr>
                          <a:rPr lang="es-419" dirty="0"/>
                          <m:t>+ </m:t>
                        </m:r>
                        <m:r>
                          <a:rPr lang="es-419" b="0" i="1" dirty="0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  <m:sSup>
                          <m:sSupPr>
                            <m:ctrlPr>
                              <a:rPr lang="es-419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419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s-419" dirty="0"/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dirty="0"/>
                  <a:t>]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s-419" dirty="0"/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m:rPr>
                            <m:nor/>
                          </m:rPr>
                          <a:rPr lang="es-419" dirty="0"/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dirty="0"/>
                  <a:t>]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s-419" dirty="0"/>
                          <m:t>(</m:t>
                        </m:r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m:rPr>
                            <m:nor/>
                          </m:rPr>
                          <a:rPr lang="es-419" dirty="0"/>
                          <m:t>)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dirty="0"/>
                  <a:t>]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857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Derivar media y varianza de distribución normal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Varianza: </a:t>
                </a:r>
                <a:endParaRPr lang="es-419" i="1" baseline="3000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419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− </m:t>
                    </m:r>
                    <m:sSup>
                      <m:sSup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s-419" dirty="0"/>
                      <m:t>+ </m:t>
                    </m:r>
                    <m:sSup>
                      <m:sSupPr>
                        <m:ctrlPr>
                          <a:rPr lang="es-419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419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419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419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419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3629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357B-7739-64ED-CF4A-BEB18B3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Mensaje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8D337-D951-332A-AC1D-6135DA1A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Las propiedades de una función de probabilidades pueden modelarse vía momentos.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Los momentos son en esencia distancias respecto a puntos de referencia.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La función generatriz de momentos justifica muchas de las formas particulares que toman distribuciones vistas en este curso. 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</p:txBody>
      </p:sp>
    </p:spTree>
    <p:extLst>
      <p:ext uri="{BB962C8B-B14F-4D97-AF65-F5344CB8AC3E}">
        <p14:creationId xmlns:p14="http://schemas.microsoft.com/office/powerpoint/2010/main" val="28221394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B5B7C-2524-4454-BA98-4C573E5FA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r>
              <a:rPr lang="es-419" dirty="0"/>
              <a:t>Giorgio Cunto Morales</a:t>
            </a:r>
          </a:p>
          <a:p>
            <a:pPr marL="0" indent="0" algn="ctr">
              <a:buNone/>
            </a:pPr>
            <a:r>
              <a:rPr lang="es-419" sz="2400" dirty="0">
                <a:hlinkClick r:id="rId2"/>
              </a:rPr>
              <a:t>gcuntomo@ucab.edu.ve</a:t>
            </a:r>
            <a:r>
              <a:rPr lang="es-419" sz="2400" dirty="0"/>
              <a:t> | </a:t>
            </a:r>
            <a:r>
              <a:rPr lang="en-US" sz="2400" dirty="0">
                <a:hlinkClick r:id="rId3"/>
              </a:rPr>
              <a:t>https://www.linkedin.com/in/giorgiocmorales/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8922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3826</TotalTime>
  <Words>1126</Words>
  <Application>Microsoft Office PowerPoint</Application>
  <PresentationFormat>Panorámica</PresentationFormat>
  <Paragraphs>231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 Math</vt:lpstr>
      <vt:lpstr>Georgia</vt:lpstr>
      <vt:lpstr>Office Theme</vt:lpstr>
      <vt:lpstr>Presentación de PowerPoint</vt:lpstr>
      <vt:lpstr>Mensaje principal</vt:lpstr>
      <vt:lpstr>Momentos</vt:lpstr>
      <vt:lpstr>Momentos</vt:lpstr>
      <vt:lpstr>Momentos crudos (respecto al origen)</vt:lpstr>
      <vt:lpstr>Momentos centrales</vt:lpstr>
      <vt:lpstr>Momentos estandarizados</vt:lpstr>
      <vt:lpstr>Función Generatriz de Momentos</vt:lpstr>
      <vt:lpstr>Función generatriz de momentos (FGM)</vt:lpstr>
      <vt:lpstr>FGM para algunas variables</vt:lpstr>
      <vt:lpstr>FGM para algunas variables</vt:lpstr>
      <vt:lpstr>FGM normal</vt:lpstr>
      <vt:lpstr>Demostración de transformación</vt:lpstr>
      <vt:lpstr>Transformación aplicada a una v.a. normal estandarizada</vt:lpstr>
      <vt:lpstr>Función Generatriz de Momentos</vt:lpstr>
      <vt:lpstr>FGM para distribución normal</vt:lpstr>
      <vt:lpstr>FGM para distribución normal</vt:lpstr>
      <vt:lpstr>FGM para distribución normal</vt:lpstr>
      <vt:lpstr>FGM para distribución normal</vt:lpstr>
      <vt:lpstr>FGM para distribución normal</vt:lpstr>
      <vt:lpstr>FGM para distribución normal</vt:lpstr>
      <vt:lpstr>FGM Distribución Normal</vt:lpstr>
      <vt:lpstr>Derivar media y varianza de distribución normal</vt:lpstr>
      <vt:lpstr>Derivar media y varianza de distribución normal</vt:lpstr>
      <vt:lpstr>Derivar media y varianza de distribución normal</vt:lpstr>
      <vt:lpstr>Derivar media y varianza de distribución normal</vt:lpstr>
      <vt:lpstr>Derivar media y varianza de distribución normal</vt:lpstr>
      <vt:lpstr>Mensaje principal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Giorgio C Morales</dc:creator>
  <cp:lastModifiedBy>Giorgio Cunto Morales</cp:lastModifiedBy>
  <cp:revision>90</cp:revision>
  <dcterms:created xsi:type="dcterms:W3CDTF">2020-04-17T00:45:03Z</dcterms:created>
  <dcterms:modified xsi:type="dcterms:W3CDTF">2022-08-15T14:18:36Z</dcterms:modified>
</cp:coreProperties>
</file>