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00" r:id="rId3"/>
    <p:sldId id="278" r:id="rId4"/>
    <p:sldId id="291" r:id="rId5"/>
    <p:sldId id="292" r:id="rId6"/>
    <p:sldId id="293" r:id="rId7"/>
    <p:sldId id="294" r:id="rId8"/>
    <p:sldId id="295" r:id="rId9"/>
    <p:sldId id="296" r:id="rId10"/>
    <p:sldId id="285" r:id="rId11"/>
    <p:sldId id="279" r:id="rId12"/>
    <p:sldId id="281" r:id="rId13"/>
    <p:sldId id="452" r:id="rId14"/>
    <p:sldId id="277" r:id="rId15"/>
    <p:sldId id="297" r:id="rId16"/>
    <p:sldId id="471" r:id="rId17"/>
    <p:sldId id="473" r:id="rId18"/>
    <p:sldId id="472" r:id="rId19"/>
    <p:sldId id="474" r:id="rId20"/>
    <p:sldId id="475" r:id="rId21"/>
    <p:sldId id="287" r:id="rId22"/>
    <p:sldId id="257" r:id="rId23"/>
    <p:sldId id="260" r:id="rId24"/>
    <p:sldId id="476" r:id="rId25"/>
    <p:sldId id="477" r:id="rId26"/>
    <p:sldId id="258" r:id="rId27"/>
    <p:sldId id="419" r:id="rId28"/>
    <p:sldId id="478" r:id="rId29"/>
    <p:sldId id="479" r:id="rId30"/>
    <p:sldId id="481" r:id="rId31"/>
    <p:sldId id="482" r:id="rId32"/>
    <p:sldId id="483" r:id="rId33"/>
    <p:sldId id="480" r:id="rId34"/>
    <p:sldId id="259" r:id="rId35"/>
    <p:sldId id="261" r:id="rId36"/>
    <p:sldId id="262" r:id="rId37"/>
    <p:sldId id="263" r:id="rId38"/>
    <p:sldId id="264" r:id="rId39"/>
    <p:sldId id="265" r:id="rId40"/>
    <p:sldId id="266" r:id="rId41"/>
    <p:sldId id="267" r:id="rId42"/>
    <p:sldId id="268" r:id="rId43"/>
    <p:sldId id="290" r:id="rId44"/>
    <p:sldId id="282" r:id="rId45"/>
    <p:sldId id="501" r:id="rId46"/>
    <p:sldId id="27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rgio Cunto Morales" userId="ea752b05bfacd42e" providerId="LiveId" clId="{3D182A8B-E258-465C-B23C-AE05F93AC1F5}"/>
    <pc:docChg chg="undo custSel addSld delSld modSld">
      <pc:chgData name="Giorgio Cunto Morales" userId="ea752b05bfacd42e" providerId="LiveId" clId="{3D182A8B-E258-465C-B23C-AE05F93AC1F5}" dt="2022-05-17T08:00:40.389" v="367" actId="20577"/>
      <pc:docMkLst>
        <pc:docMk/>
      </pc:docMkLst>
      <pc:sldChg chg="del">
        <pc:chgData name="Giorgio Cunto Morales" userId="ea752b05bfacd42e" providerId="LiveId" clId="{3D182A8B-E258-465C-B23C-AE05F93AC1F5}" dt="2022-05-12T01:19:54.689" v="198" actId="47"/>
        <pc:sldMkLst>
          <pc:docMk/>
          <pc:sldMk cId="3123361689" sldId="280"/>
        </pc:sldMkLst>
      </pc:sldChg>
      <pc:sldChg chg="del">
        <pc:chgData name="Giorgio Cunto Morales" userId="ea752b05bfacd42e" providerId="LiveId" clId="{3D182A8B-E258-465C-B23C-AE05F93AC1F5}" dt="2022-05-12T01:20:02.109" v="199" actId="47"/>
        <pc:sldMkLst>
          <pc:docMk/>
          <pc:sldMk cId="179402354" sldId="284"/>
        </pc:sldMkLst>
      </pc:sldChg>
      <pc:sldChg chg="del">
        <pc:chgData name="Giorgio Cunto Morales" userId="ea752b05bfacd42e" providerId="LiveId" clId="{3D182A8B-E258-465C-B23C-AE05F93AC1F5}" dt="2022-05-12T01:11:31.076" v="13" actId="47"/>
        <pc:sldMkLst>
          <pc:docMk/>
          <pc:sldMk cId="2441989472" sldId="288"/>
        </pc:sldMkLst>
      </pc:sldChg>
      <pc:sldChg chg="modSp mod">
        <pc:chgData name="Giorgio Cunto Morales" userId="ea752b05bfacd42e" providerId="LiveId" clId="{3D182A8B-E258-465C-B23C-AE05F93AC1F5}" dt="2022-05-17T08:00:40.389" v="367" actId="20577"/>
        <pc:sldMkLst>
          <pc:docMk/>
          <pc:sldMk cId="3726839102" sldId="290"/>
        </pc:sldMkLst>
        <pc:spChg chg="mod">
          <ac:chgData name="Giorgio Cunto Morales" userId="ea752b05bfacd42e" providerId="LiveId" clId="{3D182A8B-E258-465C-B23C-AE05F93AC1F5}" dt="2022-05-17T08:00:40.389" v="367" actId="20577"/>
          <ac:spMkLst>
            <pc:docMk/>
            <pc:sldMk cId="3726839102" sldId="290"/>
            <ac:spMk id="2" creationId="{00000000-0000-0000-0000-000000000000}"/>
          </ac:spMkLst>
        </pc:spChg>
      </pc:sldChg>
      <pc:sldChg chg="modSp add mod">
        <pc:chgData name="Giorgio Cunto Morales" userId="ea752b05bfacd42e" providerId="LiveId" clId="{3D182A8B-E258-465C-B23C-AE05F93AC1F5}" dt="2022-05-12T01:40:02.776" v="239" actId="27636"/>
        <pc:sldMkLst>
          <pc:docMk/>
          <pc:sldMk cId="105142016" sldId="419"/>
        </pc:sldMkLst>
        <pc:spChg chg="mod">
          <ac:chgData name="Giorgio Cunto Morales" userId="ea752b05bfacd42e" providerId="LiveId" clId="{3D182A8B-E258-465C-B23C-AE05F93AC1F5}" dt="2022-05-12T01:25:19.821" v="226" actId="20577"/>
          <ac:spMkLst>
            <pc:docMk/>
            <pc:sldMk cId="105142016" sldId="419"/>
            <ac:spMk id="2" creationId="{567A7408-68A4-46BE-AAA1-E8F067126436}"/>
          </ac:spMkLst>
        </pc:spChg>
        <pc:spChg chg="mod">
          <ac:chgData name="Giorgio Cunto Morales" userId="ea752b05bfacd42e" providerId="LiveId" clId="{3D182A8B-E258-465C-B23C-AE05F93AC1F5}" dt="2022-05-12T01:40:02.776" v="239" actId="27636"/>
          <ac:spMkLst>
            <pc:docMk/>
            <pc:sldMk cId="105142016" sldId="419"/>
            <ac:spMk id="3" creationId="{5FF01FCA-855B-4DA4-B864-3D93B9A664A7}"/>
          </ac:spMkLst>
        </pc:spChg>
      </pc:sldChg>
      <pc:sldChg chg="modSp mod">
        <pc:chgData name="Giorgio Cunto Morales" userId="ea752b05bfacd42e" providerId="LiveId" clId="{3D182A8B-E258-465C-B23C-AE05F93AC1F5}" dt="2022-05-11T23:03:37.660" v="12" actId="404"/>
        <pc:sldMkLst>
          <pc:docMk/>
          <pc:sldMk cId="1372213106" sldId="473"/>
        </pc:sldMkLst>
        <pc:spChg chg="mod">
          <ac:chgData name="Giorgio Cunto Morales" userId="ea752b05bfacd42e" providerId="LiveId" clId="{3D182A8B-E258-465C-B23C-AE05F93AC1F5}" dt="2022-05-11T23:03:37.660" v="12" actId="404"/>
          <ac:spMkLst>
            <pc:docMk/>
            <pc:sldMk cId="1372213106" sldId="473"/>
            <ac:spMk id="3" creationId="{5FF01FCA-855B-4DA4-B864-3D93B9A664A7}"/>
          </ac:spMkLst>
        </pc:spChg>
      </pc:sldChg>
      <pc:sldChg chg="addSp delSp modSp new mod">
        <pc:chgData name="Giorgio Cunto Morales" userId="ea752b05bfacd42e" providerId="LiveId" clId="{3D182A8B-E258-465C-B23C-AE05F93AC1F5}" dt="2022-05-12T01:12:22.730" v="51" actId="12789"/>
        <pc:sldMkLst>
          <pc:docMk/>
          <pc:sldMk cId="4095728666" sldId="476"/>
        </pc:sldMkLst>
        <pc:spChg chg="mod">
          <ac:chgData name="Giorgio Cunto Morales" userId="ea752b05bfacd42e" providerId="LiveId" clId="{3D182A8B-E258-465C-B23C-AE05F93AC1F5}" dt="2022-05-12T01:11:46.214" v="46" actId="20577"/>
          <ac:spMkLst>
            <pc:docMk/>
            <pc:sldMk cId="4095728666" sldId="476"/>
            <ac:spMk id="2" creationId="{0FD8DFFE-E16E-3EF5-2904-69BF8DCAFE83}"/>
          </ac:spMkLst>
        </pc:spChg>
        <pc:spChg chg="del">
          <ac:chgData name="Giorgio Cunto Morales" userId="ea752b05bfacd42e" providerId="LiveId" clId="{3D182A8B-E258-465C-B23C-AE05F93AC1F5}" dt="2022-05-12T01:11:48.689" v="47" actId="478"/>
          <ac:spMkLst>
            <pc:docMk/>
            <pc:sldMk cId="4095728666" sldId="476"/>
            <ac:spMk id="3" creationId="{2FFFF23F-51F9-91EB-58A4-E9CBAC32B73C}"/>
          </ac:spMkLst>
        </pc:spChg>
        <pc:picChg chg="add mod">
          <ac:chgData name="Giorgio Cunto Morales" userId="ea752b05bfacd42e" providerId="LiveId" clId="{3D182A8B-E258-465C-B23C-AE05F93AC1F5}" dt="2022-05-12T01:12:22.730" v="51" actId="12789"/>
          <ac:picMkLst>
            <pc:docMk/>
            <pc:sldMk cId="4095728666" sldId="476"/>
            <ac:picMk id="1026" creationId="{71AA1093-A8BB-3A13-E274-97A7E2AE4200}"/>
          </ac:picMkLst>
        </pc:picChg>
      </pc:sldChg>
      <pc:sldChg chg="addSp delSp modSp add mod">
        <pc:chgData name="Giorgio Cunto Morales" userId="ea752b05bfacd42e" providerId="LiveId" clId="{3D182A8B-E258-465C-B23C-AE05F93AC1F5}" dt="2022-05-12T01:13:40.218" v="197" actId="12788"/>
        <pc:sldMkLst>
          <pc:docMk/>
          <pc:sldMk cId="4287541391" sldId="477"/>
        </pc:sldMkLst>
        <pc:spChg chg="mod">
          <ac:chgData name="Giorgio Cunto Morales" userId="ea752b05bfacd42e" providerId="LiveId" clId="{3D182A8B-E258-465C-B23C-AE05F93AC1F5}" dt="2022-05-12T01:13:15.797" v="192" actId="5793"/>
          <ac:spMkLst>
            <pc:docMk/>
            <pc:sldMk cId="4287541391" sldId="477"/>
            <ac:spMk id="2" creationId="{0FD8DFFE-E16E-3EF5-2904-69BF8DCAFE83}"/>
          </ac:spMkLst>
        </pc:spChg>
        <pc:picChg chg="add mod">
          <ac:chgData name="Giorgio Cunto Morales" userId="ea752b05bfacd42e" providerId="LiveId" clId="{3D182A8B-E258-465C-B23C-AE05F93AC1F5}" dt="2022-05-12T01:13:40.218" v="197" actId="12788"/>
          <ac:picMkLst>
            <pc:docMk/>
            <pc:sldMk cId="4287541391" sldId="477"/>
            <ac:picMk id="3" creationId="{B91FD725-4045-064E-7770-9BF7472593A8}"/>
          </ac:picMkLst>
        </pc:picChg>
        <pc:picChg chg="del">
          <ac:chgData name="Giorgio Cunto Morales" userId="ea752b05bfacd42e" providerId="LiveId" clId="{3D182A8B-E258-465C-B23C-AE05F93AC1F5}" dt="2022-05-12T01:13:18.589" v="193" actId="478"/>
          <ac:picMkLst>
            <pc:docMk/>
            <pc:sldMk cId="4287541391" sldId="477"/>
            <ac:picMk id="1026" creationId="{71AA1093-A8BB-3A13-E274-97A7E2AE4200}"/>
          </ac:picMkLst>
        </pc:picChg>
      </pc:sldChg>
      <pc:sldChg chg="addSp delSp modSp new mod">
        <pc:chgData name="Giorgio Cunto Morales" userId="ea752b05bfacd42e" providerId="LiveId" clId="{3D182A8B-E258-465C-B23C-AE05F93AC1F5}" dt="2022-05-12T01:41:16.120" v="245" actId="12788"/>
        <pc:sldMkLst>
          <pc:docMk/>
          <pc:sldMk cId="615912253" sldId="478"/>
        </pc:sldMkLst>
        <pc:spChg chg="mod">
          <ac:chgData name="Giorgio Cunto Morales" userId="ea752b05bfacd42e" providerId="LiveId" clId="{3D182A8B-E258-465C-B23C-AE05F93AC1F5}" dt="2022-05-12T01:40:12.459" v="240"/>
          <ac:spMkLst>
            <pc:docMk/>
            <pc:sldMk cId="615912253" sldId="478"/>
            <ac:spMk id="2" creationId="{57B016C2-1B16-8D57-08DB-B0049C08E633}"/>
          </ac:spMkLst>
        </pc:spChg>
        <pc:spChg chg="del">
          <ac:chgData name="Giorgio Cunto Morales" userId="ea752b05bfacd42e" providerId="LiveId" clId="{3D182A8B-E258-465C-B23C-AE05F93AC1F5}" dt="2022-05-12T01:41:05.308" v="242" actId="478"/>
          <ac:spMkLst>
            <pc:docMk/>
            <pc:sldMk cId="615912253" sldId="478"/>
            <ac:spMk id="3" creationId="{6D1ECD8A-0388-0AD3-B0B5-13F876ED0FF9}"/>
          </ac:spMkLst>
        </pc:spChg>
        <pc:picChg chg="add mod">
          <ac:chgData name="Giorgio Cunto Morales" userId="ea752b05bfacd42e" providerId="LiveId" clId="{3D182A8B-E258-465C-B23C-AE05F93AC1F5}" dt="2022-05-12T01:41:16.120" v="245" actId="12788"/>
          <ac:picMkLst>
            <pc:docMk/>
            <pc:sldMk cId="615912253" sldId="478"/>
            <ac:picMk id="4" creationId="{7AB0214F-4214-500F-15B2-DB2FBCA1D7B8}"/>
          </ac:picMkLst>
        </pc:picChg>
      </pc:sldChg>
      <pc:sldChg chg="modSp add mod">
        <pc:chgData name="Giorgio Cunto Morales" userId="ea752b05bfacd42e" providerId="LiveId" clId="{3D182A8B-E258-465C-B23C-AE05F93AC1F5}" dt="2022-05-12T01:52:52.171" v="296" actId="20577"/>
        <pc:sldMkLst>
          <pc:docMk/>
          <pc:sldMk cId="2141513102" sldId="479"/>
        </pc:sldMkLst>
        <pc:spChg chg="mod">
          <ac:chgData name="Giorgio Cunto Morales" userId="ea752b05bfacd42e" providerId="LiveId" clId="{3D182A8B-E258-465C-B23C-AE05F93AC1F5}" dt="2022-05-12T01:52:52.171" v="296" actId="20577"/>
          <ac:spMkLst>
            <pc:docMk/>
            <pc:sldMk cId="2141513102" sldId="479"/>
            <ac:spMk id="3" creationId="{5FF01FCA-855B-4DA4-B864-3D93B9A664A7}"/>
          </ac:spMkLst>
        </pc:spChg>
      </pc:sldChg>
      <pc:sldChg chg="addSp delSp modSp add mod">
        <pc:chgData name="Giorgio Cunto Morales" userId="ea752b05bfacd42e" providerId="LiveId" clId="{3D182A8B-E258-465C-B23C-AE05F93AC1F5}" dt="2022-05-12T02:27:48.157" v="325" actId="12789"/>
        <pc:sldMkLst>
          <pc:docMk/>
          <pc:sldMk cId="3897968962" sldId="480"/>
        </pc:sldMkLst>
        <pc:picChg chg="add mod">
          <ac:chgData name="Giorgio Cunto Morales" userId="ea752b05bfacd42e" providerId="LiveId" clId="{3D182A8B-E258-465C-B23C-AE05F93AC1F5}" dt="2022-05-12T02:27:48.157" v="325" actId="12789"/>
          <ac:picMkLst>
            <pc:docMk/>
            <pc:sldMk cId="3897968962" sldId="480"/>
            <ac:picMk id="3" creationId="{6276A026-102D-9785-1D0B-8BE52D9BB987}"/>
          </ac:picMkLst>
        </pc:picChg>
        <pc:picChg chg="del">
          <ac:chgData name="Giorgio Cunto Morales" userId="ea752b05bfacd42e" providerId="LiveId" clId="{3D182A8B-E258-465C-B23C-AE05F93AC1F5}" dt="2022-05-12T02:27:13.889" v="311" actId="478"/>
          <ac:picMkLst>
            <pc:docMk/>
            <pc:sldMk cId="3897968962" sldId="480"/>
            <ac:picMk id="4" creationId="{7AB0214F-4214-500F-15B2-DB2FBCA1D7B8}"/>
          </ac:picMkLst>
        </pc:picChg>
      </pc:sldChg>
      <pc:sldChg chg="modSp add mod">
        <pc:chgData name="Giorgio Cunto Morales" userId="ea752b05bfacd42e" providerId="LiveId" clId="{3D182A8B-E258-465C-B23C-AE05F93AC1F5}" dt="2022-05-12T01:51:38.339" v="273" actId="20577"/>
        <pc:sldMkLst>
          <pc:docMk/>
          <pc:sldMk cId="2006796030" sldId="481"/>
        </pc:sldMkLst>
        <pc:spChg chg="mod">
          <ac:chgData name="Giorgio Cunto Morales" userId="ea752b05bfacd42e" providerId="LiveId" clId="{3D182A8B-E258-465C-B23C-AE05F93AC1F5}" dt="2022-05-12T01:51:38.339" v="273" actId="20577"/>
          <ac:spMkLst>
            <pc:docMk/>
            <pc:sldMk cId="2006796030" sldId="481"/>
            <ac:spMk id="3" creationId="{5FF01FCA-855B-4DA4-B864-3D93B9A664A7}"/>
          </ac:spMkLst>
        </pc:spChg>
      </pc:sldChg>
      <pc:sldChg chg="modSp add mod">
        <pc:chgData name="Giorgio Cunto Morales" userId="ea752b05bfacd42e" providerId="LiveId" clId="{3D182A8B-E258-465C-B23C-AE05F93AC1F5}" dt="2022-05-12T01:50:46.046" v="257" actId="13926"/>
        <pc:sldMkLst>
          <pc:docMk/>
          <pc:sldMk cId="462364025" sldId="482"/>
        </pc:sldMkLst>
        <pc:spChg chg="mod">
          <ac:chgData name="Giorgio Cunto Morales" userId="ea752b05bfacd42e" providerId="LiveId" clId="{3D182A8B-E258-465C-B23C-AE05F93AC1F5}" dt="2022-05-12T01:50:46.046" v="257" actId="13926"/>
          <ac:spMkLst>
            <pc:docMk/>
            <pc:sldMk cId="462364025" sldId="482"/>
            <ac:spMk id="3" creationId="{5FF01FCA-855B-4DA4-B864-3D93B9A664A7}"/>
          </ac:spMkLst>
        </pc:spChg>
      </pc:sldChg>
      <pc:sldChg chg="modSp add mod">
        <pc:chgData name="Giorgio Cunto Morales" userId="ea752b05bfacd42e" providerId="LiveId" clId="{3D182A8B-E258-465C-B23C-AE05F93AC1F5}" dt="2022-05-12T02:27:10.488" v="310" actId="27636"/>
        <pc:sldMkLst>
          <pc:docMk/>
          <pc:sldMk cId="3481453434" sldId="483"/>
        </pc:sldMkLst>
        <pc:spChg chg="mod">
          <ac:chgData name="Giorgio Cunto Morales" userId="ea752b05bfacd42e" providerId="LiveId" clId="{3D182A8B-E258-465C-B23C-AE05F93AC1F5}" dt="2022-05-12T02:27:10.488" v="310" actId="27636"/>
          <ac:spMkLst>
            <pc:docMk/>
            <pc:sldMk cId="3481453434" sldId="483"/>
            <ac:spMk id="3" creationId="{5FF01FCA-855B-4DA4-B864-3D93B9A664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/>
              <a:t>Ley de los Grandes Números y Teorema del Límite Central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08313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Muchas de la intuición de la estadística inferencial descansa sobre nociones asintóticas.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Qué pasa si un experimento o un suceso ocurriera infinitas veces con muestras infinitamente grandes.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En resumen dictan convergencias entre lo que se observa y lo que se espera.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En la vida real esas convergencias no siempre se dan.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282213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Métodos para encontrar distribuciones muestrales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b="1" i="1" dirty="0">
                    <a:solidFill>
                      <a:srgbClr val="003A5D"/>
                    </a:solidFill>
                  </a:rPr>
                  <a:t>Exacto</a:t>
                </a:r>
                <a:r>
                  <a:rPr lang="es-419" dirty="0"/>
                  <a:t>: encontrar formas de distribución que sean cierta para cualquier muestra de tamaño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Las funciones se conocen y pueden escribirse como expresiones analíticas.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b="1" i="1" dirty="0">
                    <a:solidFill>
                      <a:srgbClr val="003A5D"/>
                    </a:solidFill>
                  </a:rPr>
                  <a:t>Aproximado</a:t>
                </a:r>
                <a:r>
                  <a:rPr lang="es-419" dirty="0"/>
                  <a:t>: acercamiento a la distribución muestral cuando es requerido que el tamaño de n sea lo suficientemente grande.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Conocido como distribuciones asintóticas: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s-419" dirty="0"/>
                  <a:t>	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La aproximación se vuelve exacta cuando la muestra se vuelve infinita.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26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Desigualdad de </a:t>
            </a:r>
            <a:r>
              <a:rPr lang="es-419" dirty="0" err="1"/>
              <a:t>Chebyshev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Algunas garantías</a:t>
            </a:r>
          </a:p>
        </p:txBody>
      </p:sp>
    </p:spTree>
    <p:extLst>
      <p:ext uri="{BB962C8B-B14F-4D97-AF65-F5344CB8AC3E}">
        <p14:creationId xmlns:p14="http://schemas.microsoft.com/office/powerpoint/2010/main" val="393936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1AD0D0-BA39-EF65-44DD-6C3CD7EE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Desigualdad de </a:t>
            </a:r>
            <a:r>
              <a:rPr lang="es-419" dirty="0" err="1"/>
              <a:t>Chebyshev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F86E3B-DECC-DB08-209E-91152D6E0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Si se conoce la función de probabilidades de una variable aleatoria X, se puede calcular con facilidad: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Su esperanza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Su varianza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Cualquier probabilidad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s-419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419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s-419" dirty="0"/>
                  <a:t> donde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C</a:t>
                </a:r>
                <a:r>
                  <a:rPr lang="es-419" dirty="0"/>
                  <a:t> es una constante cualquiera.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No se puede hacer a la inversa: Conociendo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 como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 es insuficiente para estimar probabilidades.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</a:t>
                </a:r>
                <a:r>
                  <a:rPr lang="es-419" b="1" dirty="0">
                    <a:solidFill>
                      <a:srgbClr val="003A5D"/>
                    </a:solidFill>
                  </a:rPr>
                  <a:t>desigualdad de </a:t>
                </a:r>
                <a:r>
                  <a:rPr lang="es-419" b="1" dirty="0" err="1">
                    <a:solidFill>
                      <a:srgbClr val="003A5D"/>
                    </a:solidFill>
                  </a:rPr>
                  <a:t>Chebyshev</a:t>
                </a:r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atiende esta limitante: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Establece que para un amplio conjunto de distribuciones de probabilidades, no más que una fracción de valores pueden estar a cierta distancia de la media.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Para casos en los que la </a:t>
                </a:r>
                <a:r>
                  <a:rPr lang="es-419" b="1" dirty="0">
                    <a:solidFill>
                      <a:srgbClr val="003A5D"/>
                    </a:solidFill>
                  </a:rPr>
                  <a:t>𝑓(𝑥) </a:t>
                </a:r>
                <a:r>
                  <a:rPr lang="es-419" dirty="0"/>
                  <a:t>sea desconocida, se puede calcular una cota de probabilidad de valores si se conoce el valor esperado y varianza de la distribución en cuestión.</a:t>
                </a:r>
              </a:p>
              <a:p>
                <a:pPr lvl="1"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F86E3B-DECC-DB08-209E-91152D6E0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57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79C6-2377-5D83-93D3-90DEB9E0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Desigualdad de </a:t>
            </a:r>
            <a:r>
              <a:rPr lang="es-419" dirty="0" err="1"/>
              <a:t>Chebyshev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AB4A4-3254-4E22-FBF9-2DBD198A71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Partiendo de una variable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dirty="0"/>
                  <a:t> con valor esperado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s-419" dirty="0"/>
                  <a:t> y varianza no-negativa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419" b="1" dirty="0"/>
                  <a:t> </a:t>
                </a:r>
                <a:r>
                  <a:rPr lang="es-419" dirty="0"/>
                  <a:t>a la vez que definimos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Cotas de probabilidad superiores: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𝑠𝑖𝑒𝑛𝑑𝑜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𝑢𝑛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ú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𝑚𝑒𝑟𝑜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𝑝𝑜𝑠𝑖𝑡𝑖𝑣𝑜</m:t>
                    </m:r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Sí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dirty="0"/>
                  <a:t> entonces la esperanza para a ser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 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Si ahora hacemos que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s-419" dirty="0"/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Esta última expresión mide la concentración de probabilidades alrededor de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dirty="0"/>
                  <a:t> y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419" dirty="0"/>
                  <a:t> puede tomar valores como (no limitados a), 2; 2,5; 3.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AB4A4-3254-4E22-FBF9-2DBD198A7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6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79C6-2377-5D83-93D3-90DEB9E0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Desigualdad de </a:t>
            </a:r>
            <a:r>
              <a:rPr lang="es-419" dirty="0" err="1"/>
              <a:t>Chebyshev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AB4A4-3254-4E22-FBF9-2DBD198A71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Cotas de probabilidad inferiores: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s-419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dirty="0"/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AB4A4-3254-4E22-FBF9-2DBD198A7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185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FFD9-7DB5-FB84-7C05-904821FC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Desigualdad de </a:t>
            </a:r>
            <a:r>
              <a:rPr lang="es-419" dirty="0" err="1"/>
              <a:t>Chebyshev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18427-5C40-9253-823E-DA2643B4E0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En términos más simples: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Al menos 3/4 de los datos se encuentran dentro de </a:t>
                </a:r>
                <a:r>
                  <a:rPr lang="es-419" b="1" dirty="0">
                    <a:solidFill>
                      <a:srgbClr val="003A5D"/>
                    </a:solidFill>
                  </a:rPr>
                  <a:t>dos</a:t>
                </a:r>
                <a:r>
                  <a:rPr lang="es-419" dirty="0"/>
                  <a:t> desviaciones estándares de la media: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∓2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Al menos 8/9 de los datos se encuentran dentro de </a:t>
                </a:r>
                <a:r>
                  <a:rPr lang="es-419" b="1" dirty="0">
                    <a:solidFill>
                      <a:srgbClr val="003A5D"/>
                    </a:solidFill>
                  </a:rPr>
                  <a:t>tres</a:t>
                </a:r>
                <a:r>
                  <a:rPr lang="es-419" dirty="0"/>
                  <a:t> desviaciones estándares de la media: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∓3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Al menos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s-419" dirty="0"/>
                  <a:t> de los datos se encuentran dentro de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k</a:t>
                </a:r>
                <a:r>
                  <a:rPr lang="es-419" dirty="0"/>
                  <a:t> desviaciones estándares de la media: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desigualdad de </a:t>
                </a:r>
                <a:r>
                  <a:rPr lang="es-419" dirty="0" err="1"/>
                  <a:t>Chebyshev</a:t>
                </a:r>
                <a:r>
                  <a:rPr lang="es-419" dirty="0"/>
                  <a:t> aplica también para información muestral: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teorema da proporciones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mínimas </a:t>
                </a:r>
                <a:r>
                  <a:rPr lang="es-419" dirty="0"/>
                  <a:t>de datos que deben encontrarse a cierta distancia de la media. </a:t>
                </a:r>
              </a:p>
              <a:p>
                <a:pPr lvl="1"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18427-5C40-9253-823E-DA2643B4E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696" b="-12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970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FFD9-7DB5-FB84-7C05-904821FC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Desigualdad de </a:t>
            </a:r>
            <a:r>
              <a:rPr lang="es-419" dirty="0" err="1"/>
              <a:t>Chebyshev</a:t>
            </a:r>
            <a:endParaRPr lang="es-419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B9581-5345-0EAB-A9CB-F437A941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24" y="999000"/>
            <a:ext cx="6419552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7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</a:t>
            </a:r>
            <a:r>
              <a:rPr lang="es-VE" dirty="0" err="1"/>
              <a:t>úmeros</a:t>
            </a:r>
            <a:r>
              <a:rPr lang="es-419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Conceptos básicos</a:t>
            </a:r>
          </a:p>
        </p:txBody>
      </p:sp>
    </p:spTree>
    <p:extLst>
      <p:ext uri="{BB962C8B-B14F-4D97-AF65-F5344CB8AC3E}">
        <p14:creationId xmlns:p14="http://schemas.microsoft.com/office/powerpoint/2010/main" val="3384003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Números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Ley cuyo cumplimiento es esencial para poder realizar ciencia estadística.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En esencia: Para largas muestras,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s-419" b="1" i="1" dirty="0"/>
                  <a:t> </a:t>
                </a:r>
                <a:r>
                  <a:rPr lang="es-419" dirty="0"/>
                  <a:t>tenderá al valor esperado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µ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x</a:t>
                </a:r>
                <a:r>
                  <a:rPr lang="es-419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con </a:t>
                </a:r>
                <a:r>
                  <a:rPr lang="es-419" b="1" dirty="0">
                    <a:solidFill>
                      <a:srgbClr val="003A5D"/>
                    </a:solidFill>
                  </a:rPr>
                  <a:t>creciente probabilidad</a:t>
                </a:r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Bajo condiciones generales, la probabilidad de obtener una media muestral cercana al valor esperado es alta con muestras grandes.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El promedio de muchas muestras independientes es (con alta probabilidad) cercano a la media de la distribución subyacente.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El histograma de densidad de muchas muestras independientes es (con alta probabilidad) cercano a la densidad de la distribución subyacente.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230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Números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Medida de convergencia en la que los promedios se comportan de forma más estable que los componentes individuales.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“En balance, los portafolios son más estables que acciones individuales”. – </a:t>
            </a:r>
            <a:r>
              <a:rPr lang="es-419" i="1" dirty="0" err="1"/>
              <a:t>Nassim</a:t>
            </a:r>
            <a:r>
              <a:rPr lang="es-419" i="1" dirty="0"/>
              <a:t> Taleb</a:t>
            </a:r>
          </a:p>
          <a:p>
            <a:pPr>
              <a:lnSpc>
                <a:spcPct val="150000"/>
              </a:lnSpc>
            </a:pPr>
            <a:r>
              <a:rPr lang="es-419" dirty="0"/>
              <a:t>No siempre se da en la vida real, especialmente para fenómenos con medias y varianzas indefinidas.</a:t>
            </a:r>
          </a:p>
        </p:txBody>
      </p:sp>
    </p:spTree>
    <p:extLst>
      <p:ext uri="{BB962C8B-B14F-4D97-AF65-F5344CB8AC3E}">
        <p14:creationId xmlns:p14="http://schemas.microsoft.com/office/powerpoint/2010/main" val="3959545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estudiaríamos la LGN lanzando una moneda?</a:t>
            </a:r>
          </a:p>
        </p:txBody>
      </p:sp>
    </p:spTree>
    <p:extLst>
      <p:ext uri="{BB962C8B-B14F-4D97-AF65-F5344CB8AC3E}">
        <p14:creationId xmlns:p14="http://schemas.microsoft.com/office/powerpoint/2010/main" val="3668419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Números (ejemplo de una moneda)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Consideremos el ejemplo de repetidas veces lanzar una moneda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es el resultado del </a:t>
                </a:r>
                <a:r>
                  <a:rPr lang="es-419" b="1" dirty="0">
                    <a:solidFill>
                      <a:srgbClr val="003A5D"/>
                    </a:solidFill>
                  </a:rPr>
                  <a:t>i-</a:t>
                </a:r>
                <a:r>
                  <a:rPr lang="es-419" b="1" dirty="0" err="1">
                    <a:solidFill>
                      <a:srgbClr val="003A5D"/>
                    </a:solidFill>
                  </a:rPr>
                  <a:t>ésimo</a:t>
                </a:r>
                <a:r>
                  <a:rPr lang="es-419" dirty="0"/>
                  <a:t> lanzamiento.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 una distribución de Bernoulli con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dirty="0"/>
                  <a:t> siendo la probabilidad de obtener cara.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eqAr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s-419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419" i="1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Dónde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p=0,5 </a:t>
                </a:r>
                <a:r>
                  <a:rPr lang="es-419" dirty="0"/>
                  <a:t>si asumimos una moneda bien balanceada.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91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449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Números (ejemplo de una moneda)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Dejemos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sea igual  a la proporción de resultados que son cara.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De acuerdo a la ley de los grandes números, la proporción caras observadas convergerá en probabilidad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s-419" dirty="0"/>
                  <a:t>, o la probabilidad de lanzar una sola moneda.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=0,5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𝑚𝑒𝑑𝑖𝑑𝑎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→∞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Podemos observar esto en </a:t>
                </a:r>
                <a:r>
                  <a:rPr lang="es-419" b="1" dirty="0"/>
                  <a:t>R</a:t>
                </a:r>
                <a:r>
                  <a:rPr lang="es-419" dirty="0"/>
                  <a:t> usando </a:t>
                </a:r>
                <a:r>
                  <a:rPr lang="es-419" dirty="0" err="1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sample</a:t>
                </a:r>
                <a:r>
                  <a:rPr lang="es-419" dirty="0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().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664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Números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library</a:t>
            </a:r>
            <a:r>
              <a:rPr lang="es-ES" sz="2400" dirty="0">
                <a:latin typeface="Consolas" panose="020B0609020204030204" pitchFamily="49" charset="0"/>
              </a:rPr>
              <a:t>(</a:t>
            </a:r>
            <a:r>
              <a:rPr lang="es-ES" sz="2400" dirty="0" err="1">
                <a:latin typeface="Consolas" panose="020B0609020204030204" pitchFamily="49" charset="0"/>
              </a:rPr>
              <a:t>tidyverse</a:t>
            </a:r>
            <a:r>
              <a:rPr lang="es-ES" sz="2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library</a:t>
            </a:r>
            <a:r>
              <a:rPr lang="es-ES" sz="2400" dirty="0">
                <a:latin typeface="Consolas" panose="020B0609020204030204" pitchFamily="49" charset="0"/>
              </a:rPr>
              <a:t>(</a:t>
            </a:r>
            <a:r>
              <a:rPr lang="es-ES" sz="2400" dirty="0" err="1">
                <a:latin typeface="Consolas" panose="020B0609020204030204" pitchFamily="49" charset="0"/>
              </a:rPr>
              <a:t>scales</a:t>
            </a:r>
            <a:r>
              <a:rPr lang="es-ES" sz="2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#Lanzar una moneda 100000 veces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set.seed</a:t>
            </a:r>
            <a:r>
              <a:rPr lang="es-ES" sz="2400" dirty="0">
                <a:latin typeface="Consolas" panose="020B0609020204030204" pitchFamily="49" charset="0"/>
              </a:rPr>
              <a:t>(121)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n &lt;- 100000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x &lt;- </a:t>
            </a:r>
            <a:r>
              <a:rPr lang="es-ES" sz="2400" dirty="0" err="1">
                <a:latin typeface="Consolas" panose="020B0609020204030204" pitchFamily="49" charset="0"/>
              </a:rPr>
              <a:t>sample</a:t>
            </a:r>
            <a:r>
              <a:rPr lang="es-ES" sz="2400" dirty="0">
                <a:latin typeface="Consolas" panose="020B0609020204030204" pitchFamily="49" charset="0"/>
              </a:rPr>
              <a:t>(0:1, n, </a:t>
            </a:r>
            <a:r>
              <a:rPr lang="es-ES" sz="2400" dirty="0" err="1">
                <a:latin typeface="Consolas" panose="020B0609020204030204" pitchFamily="49" charset="0"/>
              </a:rPr>
              <a:t>replace</a:t>
            </a:r>
            <a:r>
              <a:rPr lang="es-ES" sz="2400" dirty="0">
                <a:latin typeface="Consolas" panose="020B0609020204030204" pitchFamily="49" charset="0"/>
              </a:rPr>
              <a:t> = TRUE)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suma_acum</a:t>
            </a:r>
            <a:r>
              <a:rPr lang="es-ES" sz="2400" dirty="0">
                <a:latin typeface="Consolas" panose="020B0609020204030204" pitchFamily="49" charset="0"/>
              </a:rPr>
              <a:t> &lt;- </a:t>
            </a:r>
            <a:r>
              <a:rPr lang="es-ES" sz="2400" dirty="0" err="1">
                <a:latin typeface="Consolas" panose="020B0609020204030204" pitchFamily="49" charset="0"/>
              </a:rPr>
              <a:t>cumsum</a:t>
            </a:r>
            <a:r>
              <a:rPr lang="es-ES" sz="2400" dirty="0">
                <a:latin typeface="Consolas" panose="020B0609020204030204" pitchFamily="49" charset="0"/>
              </a:rPr>
              <a:t>(x)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index</a:t>
            </a:r>
            <a:r>
              <a:rPr lang="es-ES" sz="2400" dirty="0">
                <a:latin typeface="Consolas" panose="020B0609020204030204" pitchFamily="49" charset="0"/>
              </a:rPr>
              <a:t> &lt;- c(1:n)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media_acum</a:t>
            </a:r>
            <a:r>
              <a:rPr lang="es-ES" sz="2400" dirty="0">
                <a:latin typeface="Consolas" panose="020B0609020204030204" pitchFamily="49" charset="0"/>
              </a:rPr>
              <a:t> &lt;- </a:t>
            </a:r>
            <a:r>
              <a:rPr lang="es-ES" sz="2400" dirty="0" err="1">
                <a:latin typeface="Consolas" panose="020B0609020204030204" pitchFamily="49" charset="0"/>
              </a:rPr>
              <a:t>suma_acum</a:t>
            </a:r>
            <a:r>
              <a:rPr lang="es-ES" sz="2400" dirty="0">
                <a:latin typeface="Consolas" panose="020B0609020204030204" pitchFamily="49" charset="0"/>
              </a:rPr>
              <a:t>/(1:n)</a:t>
            </a:r>
          </a:p>
          <a:p>
            <a:pPr marL="0" indent="0">
              <a:buNone/>
            </a:pPr>
            <a:endParaRPr lang="es-E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961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Números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&gt; #Gráfico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&gt; </a:t>
            </a:r>
            <a:r>
              <a:rPr lang="es-ES" sz="1200" dirty="0" err="1">
                <a:latin typeface="Consolas" panose="020B0609020204030204" pitchFamily="49" charset="0"/>
              </a:rPr>
              <a:t>tibble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index</a:t>
            </a:r>
            <a:r>
              <a:rPr lang="es-ES" sz="1200" dirty="0">
                <a:latin typeface="Consolas" panose="020B0609020204030204" pitchFamily="49" charset="0"/>
              </a:rPr>
              <a:t>, </a:t>
            </a:r>
            <a:r>
              <a:rPr lang="es-ES" sz="1200" dirty="0" err="1">
                <a:latin typeface="Consolas" panose="020B0609020204030204" pitchFamily="49" charset="0"/>
              </a:rPr>
              <a:t>media_acum</a:t>
            </a:r>
            <a:r>
              <a:rPr lang="es-ES" sz="1200" dirty="0">
                <a:latin typeface="Consolas" panose="020B0609020204030204" pitchFamily="49" charset="0"/>
              </a:rPr>
              <a:t>) %&gt;%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ggplot</a:t>
            </a:r>
            <a:r>
              <a:rPr lang="es-ES" sz="1200" dirty="0">
                <a:latin typeface="Consolas" panose="020B0609020204030204" pitchFamily="49" charset="0"/>
              </a:rPr>
              <a:t>(aes(x = </a:t>
            </a:r>
            <a:r>
              <a:rPr lang="es-ES" sz="1200" dirty="0" err="1">
                <a:latin typeface="Consolas" panose="020B0609020204030204" pitchFamily="49" charset="0"/>
              </a:rPr>
              <a:t>index</a:t>
            </a:r>
            <a:r>
              <a:rPr lang="es-ES" sz="1200" dirty="0">
                <a:latin typeface="Consolas" panose="020B0609020204030204" pitchFamily="49" charset="0"/>
              </a:rPr>
              <a:t>, y = </a:t>
            </a:r>
            <a:r>
              <a:rPr lang="es-ES" sz="1200" dirty="0" err="1">
                <a:latin typeface="Consolas" panose="020B0609020204030204" pitchFamily="49" charset="0"/>
              </a:rPr>
              <a:t>media_acum</a:t>
            </a:r>
            <a:r>
              <a:rPr lang="es-ES" sz="1200" dirty="0">
                <a:latin typeface="Consolas" panose="020B0609020204030204" pitchFamily="49" charset="0"/>
              </a:rPr>
              <a:t>))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geom_line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colour</a:t>
            </a:r>
            <a:r>
              <a:rPr lang="es-ES" sz="1200" dirty="0">
                <a:latin typeface="Consolas" panose="020B0609020204030204" pitchFamily="49" charset="0"/>
              </a:rPr>
              <a:t> = "blue")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geom_abline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intercept</a:t>
            </a:r>
            <a:r>
              <a:rPr lang="es-ES" sz="1200" dirty="0">
                <a:latin typeface="Consolas" panose="020B0609020204030204" pitchFamily="49" charset="0"/>
              </a:rPr>
              <a:t> = 0.5, </a:t>
            </a:r>
            <a:r>
              <a:rPr lang="es-ES" sz="1200" dirty="0" err="1">
                <a:latin typeface="Consolas" panose="020B0609020204030204" pitchFamily="49" charset="0"/>
              </a:rPr>
              <a:t>slope</a:t>
            </a:r>
            <a:r>
              <a:rPr lang="es-ES" sz="1200" dirty="0">
                <a:latin typeface="Consolas" panose="020B0609020204030204" pitchFamily="49" charset="0"/>
              </a:rPr>
              <a:t> = 0, </a:t>
            </a:r>
            <a:r>
              <a:rPr lang="es-ES" sz="1200" dirty="0" err="1">
                <a:latin typeface="Consolas" panose="020B0609020204030204" pitchFamily="49" charset="0"/>
              </a:rPr>
              <a:t>colour</a:t>
            </a:r>
            <a:r>
              <a:rPr lang="es-ES" sz="1200" dirty="0">
                <a:latin typeface="Consolas" panose="020B0609020204030204" pitchFamily="49" charset="0"/>
              </a:rPr>
              <a:t> = "red")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scale_x_continuous</a:t>
            </a:r>
            <a:r>
              <a:rPr lang="es-ES" sz="1200" dirty="0">
                <a:latin typeface="Consolas" panose="020B0609020204030204" pitchFamily="49" charset="0"/>
              </a:rPr>
              <a:t>(trans = "log10", </a:t>
            </a:r>
            <a:r>
              <a:rPr lang="es-ES" sz="1200" dirty="0" err="1">
                <a:latin typeface="Consolas" panose="020B0609020204030204" pitchFamily="49" charset="0"/>
              </a:rPr>
              <a:t>labels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comma</a:t>
            </a:r>
            <a:r>
              <a:rPr lang="es-ES" sz="1200" dirty="0">
                <a:latin typeface="Consolas" panose="020B0609020204030204" pitchFamily="49" charset="0"/>
              </a:rPr>
              <a:t>, </a:t>
            </a:r>
            <a:r>
              <a:rPr lang="es-ES" sz="1200" dirty="0" err="1">
                <a:latin typeface="Consolas" panose="020B0609020204030204" pitchFamily="49" charset="0"/>
              </a:rPr>
              <a:t>breaks</a:t>
            </a:r>
            <a:r>
              <a:rPr lang="es-ES" sz="1200" dirty="0">
                <a:latin typeface="Consolas" panose="020B0609020204030204" pitchFamily="49" charset="0"/>
              </a:rPr>
              <a:t> = c(1, 10, 100, 1000, 10000, 10000, 100000))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scale_y_continuous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limits</a:t>
            </a:r>
            <a:r>
              <a:rPr lang="es-ES" sz="1200" dirty="0">
                <a:latin typeface="Consolas" panose="020B0609020204030204" pitchFamily="49" charset="0"/>
              </a:rPr>
              <a:t> = c(0,1))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labs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title</a:t>
            </a:r>
            <a:r>
              <a:rPr lang="es-ES" sz="1200" dirty="0">
                <a:latin typeface="Consolas" panose="020B0609020204030204" pitchFamily="49" charset="0"/>
              </a:rPr>
              <a:t> = "Convergencia de proporción de caras en lanzamientos repetidos",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    </a:t>
            </a:r>
            <a:r>
              <a:rPr lang="es-ES" sz="1200" dirty="0" err="1">
                <a:latin typeface="Consolas" panose="020B0609020204030204" pitchFamily="49" charset="0"/>
              </a:rPr>
              <a:t>subtitle</a:t>
            </a:r>
            <a:r>
              <a:rPr lang="es-ES" sz="1200" dirty="0">
                <a:latin typeface="Consolas" panose="020B0609020204030204" pitchFamily="49" charset="0"/>
              </a:rPr>
              <a:t> = "</a:t>
            </a:r>
            <a:r>
              <a:rPr lang="es-ES" sz="1200" dirty="0" err="1">
                <a:latin typeface="Consolas" panose="020B0609020204030204" pitchFamily="49" charset="0"/>
              </a:rPr>
              <a:t>Pomedio</a:t>
            </a:r>
            <a:r>
              <a:rPr lang="es-ES" sz="1200" dirty="0">
                <a:latin typeface="Consolas" panose="020B0609020204030204" pitchFamily="49" charset="0"/>
              </a:rPr>
              <a:t> de 100000 lanzamientos",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    x = "Número de lanzamientos (n)",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    y = "Promedio acumulado")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theme_bw</a:t>
            </a:r>
            <a:r>
              <a:rPr lang="es-ES" sz="1200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</a:t>
            </a:r>
            <a:r>
              <a:rPr lang="es-ES" sz="1200" dirty="0" err="1">
                <a:latin typeface="Consolas" panose="020B0609020204030204" pitchFamily="49" charset="0"/>
              </a:rPr>
              <a:t>theme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panel.grid.major.x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element_blank</a:t>
            </a:r>
            <a:r>
              <a:rPr lang="es-ES" sz="12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     </a:t>
            </a:r>
            <a:r>
              <a:rPr lang="es-ES" sz="1200" dirty="0" err="1">
                <a:latin typeface="Consolas" panose="020B0609020204030204" pitchFamily="49" charset="0"/>
              </a:rPr>
              <a:t>panel.grid.minor.x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element_blank</a:t>
            </a:r>
            <a:r>
              <a:rPr lang="es-ES" sz="12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     </a:t>
            </a:r>
            <a:r>
              <a:rPr lang="es-ES" sz="1200" dirty="0" err="1">
                <a:latin typeface="Consolas" panose="020B0609020204030204" pitchFamily="49" charset="0"/>
              </a:rPr>
              <a:t>panel.grid.minor.y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element_blank</a:t>
            </a:r>
            <a:r>
              <a:rPr lang="es-ES" sz="1200" dirty="0"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endParaRPr lang="es-E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21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Ley de los Grandes Números (ejemplo de una moneda)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C683E-4D65-AD6C-2922-BDB6A97D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472" y="909000"/>
            <a:ext cx="9319056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2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¿Qué pasa cuando no se da (o tarda en darse) la LGN?</a:t>
            </a:r>
          </a:p>
        </p:txBody>
      </p:sp>
    </p:spTree>
    <p:extLst>
      <p:ext uri="{BB962C8B-B14F-4D97-AF65-F5344CB8AC3E}">
        <p14:creationId xmlns:p14="http://schemas.microsoft.com/office/powerpoint/2010/main" val="3152987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Extremistan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1DD61-82A8-382F-0D46-9D44E195C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904" y="999000"/>
            <a:ext cx="4342191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34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Teorema del Límite Central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Cuando se quiere que todo parezca una Normal</a:t>
            </a:r>
          </a:p>
        </p:txBody>
      </p:sp>
    </p:spTree>
    <p:extLst>
      <p:ext uri="{BB962C8B-B14F-4D97-AF65-F5344CB8AC3E}">
        <p14:creationId xmlns:p14="http://schemas.microsoft.com/office/powerpoint/2010/main" val="1882996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Teorema del Límite Central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Concepto absurdamente importante en estadística.</a:t>
            </a:r>
          </a:p>
          <a:p>
            <a:pPr>
              <a:lnSpc>
                <a:spcPct val="150000"/>
              </a:lnSpc>
            </a:pPr>
            <a:r>
              <a:rPr lang="es-419" dirty="0"/>
              <a:t>En esencia: la media muestral será normalmente distribuida para medias grandes, </a:t>
            </a:r>
            <a:r>
              <a:rPr lang="es-419" b="1" dirty="0">
                <a:solidFill>
                  <a:srgbClr val="003A5D"/>
                </a:solidFill>
              </a:rPr>
              <a:t>sin importar la distribución de la población</a:t>
            </a:r>
            <a:r>
              <a:rPr lang="es-419" dirty="0"/>
              <a:t>.</a:t>
            </a:r>
          </a:p>
          <a:p>
            <a:pPr>
              <a:lnSpc>
                <a:spcPct val="150000"/>
              </a:lnSpc>
            </a:pPr>
            <a:r>
              <a:rPr lang="es-419" dirty="0"/>
              <a:t>El promedio de los componentes converge a tener forma gaussiana.</a:t>
            </a:r>
          </a:p>
          <a:p>
            <a:pPr>
              <a:lnSpc>
                <a:spcPct val="150000"/>
              </a:lnSpc>
            </a:pPr>
            <a:r>
              <a:rPr lang="es-419" dirty="0"/>
              <a:t>Tiene la facilidad analítica de llevar elementos de cualquier distribución a una distribución conocida.</a:t>
            </a:r>
          </a:p>
          <a:p>
            <a:pPr lvl="1">
              <a:lnSpc>
                <a:spcPct val="150000"/>
              </a:lnSpc>
            </a:pPr>
            <a:r>
              <a:rPr lang="es-419" i="1" dirty="0"/>
              <a:t>“Es lo que le permite a idiotas hacer estadística” </a:t>
            </a:r>
            <a:r>
              <a:rPr lang="es-419" dirty="0"/>
              <a:t>– </a:t>
            </a:r>
            <a:r>
              <a:rPr lang="es-419" dirty="0" err="1"/>
              <a:t>Nassim</a:t>
            </a:r>
            <a:r>
              <a:rPr lang="es-419" dirty="0"/>
              <a:t> Taleb</a:t>
            </a:r>
          </a:p>
          <a:p>
            <a:pPr>
              <a:lnSpc>
                <a:spcPct val="150000"/>
              </a:lnSpc>
            </a:pPr>
            <a:r>
              <a:rPr lang="es-419" dirty="0"/>
              <a:t>Versión tradicional condicionada a la existencia de varianzas finitas. </a:t>
            </a:r>
          </a:p>
        </p:txBody>
      </p:sp>
    </p:spTree>
    <p:extLst>
      <p:ext uri="{BB962C8B-B14F-4D97-AF65-F5344CB8AC3E}">
        <p14:creationId xmlns:p14="http://schemas.microsoft.com/office/powerpoint/2010/main" val="3512033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Teorema del Límite Central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Supongamos que estamos realizando un muestreo de una población con media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µ</a:t>
                </a:r>
                <a:r>
                  <a:rPr lang="es-419" i="1" dirty="0"/>
                  <a:t> </a:t>
                </a:r>
                <a:r>
                  <a:rPr lang="es-419" dirty="0"/>
                  <a:t>y desviación estándar </a:t>
                </a:r>
                <a:r>
                  <a:rPr lang="el-GR" b="1" i="1" dirty="0">
                    <a:solidFill>
                      <a:srgbClr val="003A5D"/>
                    </a:solidFill>
                  </a:rPr>
                  <a:t>σ</a:t>
                </a:r>
                <a:r>
                  <a:rPr lang="es-419" b="1" i="1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s-419" b="1" i="1" dirty="0"/>
                  <a:t> </a:t>
                </a:r>
                <a:r>
                  <a:rPr lang="es-419" dirty="0"/>
                  <a:t>es una </a:t>
                </a:r>
                <a:r>
                  <a:rPr lang="es-419" i="1" dirty="0" err="1"/>
                  <a:t>v.a.</a:t>
                </a:r>
                <a:r>
                  <a:rPr lang="es-419" i="1" dirty="0"/>
                  <a:t> </a:t>
                </a:r>
                <a:r>
                  <a:rPr lang="es-419" dirty="0"/>
                  <a:t>representando la media muestral de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muestras independientes</a:t>
                </a:r>
                <a:r>
                  <a:rPr lang="es-419" i="1" dirty="0"/>
                  <a:t>.</a:t>
                </a:r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media muestral es igual a la media poblacional: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s-419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s-419" sz="4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sub>
                    </m:sSub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s-419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sz="4000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desviación estándar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s-419" b="1" i="1" dirty="0"/>
                  <a:t> </a:t>
                </a:r>
                <a:r>
                  <a:rPr lang="es-419" dirty="0"/>
                  <a:t>es igual a: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sz="4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sub>
                    </m:sSub>
                    <m:r>
                      <a:rPr lang="es-419" sz="4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419" sz="4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s-419" sz="4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674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DFFE-E16E-3EF5-2904-69BF8DCA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Teorema del Límite Central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AA1093-A8BB-3A13-E274-97A7E2AE4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068" y="999000"/>
            <a:ext cx="8767865" cy="48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728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DFFE-E16E-3EF5-2904-69BF8DCA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Teorema del Límite Central: Para cualquier distribución.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FD725-4045-064E-7770-9BF747259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263" y="1017000"/>
            <a:ext cx="8235475" cy="48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41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simulado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C05AD-AAB4-42CF-8412-5C1FCBDC3C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82" b="5036"/>
          <a:stretch/>
        </p:blipFill>
        <p:spPr>
          <a:xfrm>
            <a:off x="838200" y="688816"/>
            <a:ext cx="10515600" cy="549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76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Un Ejemplo Simulado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#Población no uniforme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set.seed</a:t>
            </a:r>
            <a:r>
              <a:rPr lang="es-ES" sz="1600" dirty="0">
                <a:latin typeface="Consolas" panose="020B0609020204030204" pitchFamily="49" charset="0"/>
              </a:rPr>
              <a:t>(451)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pop1 &lt;- </a:t>
            </a:r>
            <a:r>
              <a:rPr lang="es-ES" sz="1600" dirty="0" err="1">
                <a:latin typeface="Consolas" panose="020B0609020204030204" pitchFamily="49" charset="0"/>
              </a:rPr>
              <a:t>rnorm</a:t>
            </a:r>
            <a:r>
              <a:rPr lang="es-ES" sz="1600" dirty="0">
                <a:latin typeface="Consolas" panose="020B0609020204030204" pitchFamily="49" charset="0"/>
              </a:rPr>
              <a:t>(20000, mean = 10, </a:t>
            </a:r>
            <a:r>
              <a:rPr lang="es-ES" sz="1600" dirty="0" err="1">
                <a:latin typeface="Consolas" panose="020B0609020204030204" pitchFamily="49" charset="0"/>
              </a:rPr>
              <a:t>sd</a:t>
            </a:r>
            <a:r>
              <a:rPr lang="es-ES" sz="1600" dirty="0">
                <a:latin typeface="Consolas" panose="020B0609020204030204" pitchFamily="49" charset="0"/>
              </a:rPr>
              <a:t> = 3)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pop2 &lt;- </a:t>
            </a:r>
            <a:r>
              <a:rPr lang="es-ES" sz="1600" dirty="0" err="1">
                <a:latin typeface="Consolas" panose="020B0609020204030204" pitchFamily="49" charset="0"/>
              </a:rPr>
              <a:t>rnorm</a:t>
            </a:r>
            <a:r>
              <a:rPr lang="es-ES" sz="1600" dirty="0">
                <a:latin typeface="Consolas" panose="020B0609020204030204" pitchFamily="49" charset="0"/>
              </a:rPr>
              <a:t>(50000, mean = 65, </a:t>
            </a:r>
            <a:r>
              <a:rPr lang="es-ES" sz="1600" dirty="0" err="1">
                <a:latin typeface="Consolas" panose="020B0609020204030204" pitchFamily="49" charset="0"/>
              </a:rPr>
              <a:t>sd</a:t>
            </a:r>
            <a:r>
              <a:rPr lang="es-ES" sz="1600" dirty="0">
                <a:latin typeface="Consolas" panose="020B0609020204030204" pitchFamily="49" charset="0"/>
              </a:rPr>
              <a:t> = 10)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pop3 &lt;- </a:t>
            </a:r>
            <a:r>
              <a:rPr lang="es-ES" sz="1600" dirty="0" err="1">
                <a:latin typeface="Consolas" panose="020B0609020204030204" pitchFamily="49" charset="0"/>
              </a:rPr>
              <a:t>rnorm</a:t>
            </a:r>
            <a:r>
              <a:rPr lang="es-ES" sz="1600" dirty="0">
                <a:latin typeface="Consolas" panose="020B0609020204030204" pitchFamily="49" charset="0"/>
              </a:rPr>
              <a:t>(30000, mean = 28, </a:t>
            </a:r>
            <a:r>
              <a:rPr lang="es-ES" sz="1600" dirty="0" err="1">
                <a:latin typeface="Consolas" panose="020B0609020204030204" pitchFamily="49" charset="0"/>
              </a:rPr>
              <a:t>sd</a:t>
            </a:r>
            <a:r>
              <a:rPr lang="es-ES" sz="1600" dirty="0">
                <a:latin typeface="Consolas" panose="020B0609020204030204" pitchFamily="49" charset="0"/>
              </a:rPr>
              <a:t> = 5)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pop &lt;- c(pop1, pop2, pop3)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rm</a:t>
            </a:r>
            <a:r>
              <a:rPr lang="es-ES" sz="1600" dirty="0">
                <a:latin typeface="Consolas" panose="020B0609020204030204" pitchFamily="49" charset="0"/>
              </a:rPr>
              <a:t>(pop1, pop2, pop3)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#Histograma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as_tibble</a:t>
            </a:r>
            <a:r>
              <a:rPr lang="es-ES" sz="1600" dirty="0">
                <a:latin typeface="Consolas" panose="020B0609020204030204" pitchFamily="49" charset="0"/>
              </a:rPr>
              <a:t>(pop) %&gt;%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ggplot</a:t>
            </a:r>
            <a:r>
              <a:rPr lang="es-ES" sz="1600" dirty="0">
                <a:latin typeface="Consolas" panose="020B0609020204030204" pitchFamily="49" charset="0"/>
              </a:rPr>
              <a:t>(aes(x = </a:t>
            </a:r>
            <a:r>
              <a:rPr lang="es-ES" sz="1600" dirty="0" err="1">
                <a:latin typeface="Consolas" panose="020B0609020204030204" pitchFamily="49" charset="0"/>
              </a:rPr>
              <a:t>value</a:t>
            </a:r>
            <a:r>
              <a:rPr lang="es-ES" sz="1600" dirty="0">
                <a:latin typeface="Consolas" panose="020B0609020204030204" pitchFamily="49" charset="0"/>
              </a:rPr>
              <a:t>)) +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geom_histogram</a:t>
            </a:r>
            <a:r>
              <a:rPr lang="es-ES" sz="1600" dirty="0">
                <a:latin typeface="Consolas" panose="020B0609020204030204" pitchFamily="49" charset="0"/>
              </a:rPr>
              <a:t>(color = "</a:t>
            </a:r>
            <a:r>
              <a:rPr lang="es-ES" sz="1600" dirty="0" err="1">
                <a:latin typeface="Consolas" panose="020B0609020204030204" pitchFamily="49" charset="0"/>
              </a:rPr>
              <a:t>black</a:t>
            </a:r>
            <a:r>
              <a:rPr lang="es-ES" sz="1600" dirty="0">
                <a:latin typeface="Consolas" panose="020B0609020204030204" pitchFamily="49" charset="0"/>
              </a:rPr>
              <a:t>") +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labs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title</a:t>
            </a:r>
            <a:r>
              <a:rPr lang="es-ES" sz="1600" dirty="0">
                <a:latin typeface="Consolas" panose="020B0609020204030204" pitchFamily="49" charset="0"/>
              </a:rPr>
              <a:t> = "Histograma de Frecuencias Población </a:t>
            </a:r>
            <a:r>
              <a:rPr lang="es-ES" sz="1600" dirty="0" err="1">
                <a:latin typeface="Consolas" panose="020B0609020204030204" pitchFamily="49" charset="0"/>
              </a:rPr>
              <a:t>Hipotérica</a:t>
            </a:r>
            <a:r>
              <a:rPr lang="es-ES" sz="1600" dirty="0">
                <a:latin typeface="Consolas" panose="020B0609020204030204" pitchFamily="49" charset="0"/>
              </a:rPr>
              <a:t>",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  </a:t>
            </a:r>
            <a:r>
              <a:rPr lang="es-ES" sz="1600" dirty="0" err="1">
                <a:latin typeface="Consolas" panose="020B0609020204030204" pitchFamily="49" charset="0"/>
              </a:rPr>
              <a:t>subtitle</a:t>
            </a:r>
            <a:r>
              <a:rPr lang="es-ES" sz="1600" dirty="0">
                <a:latin typeface="Consolas" panose="020B0609020204030204" pitchFamily="49" charset="0"/>
              </a:rPr>
              <a:t> = "100000 datos no uniformes",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  x = "Valor",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  y = "Frecuencia") +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theme_bw</a:t>
            </a:r>
            <a:r>
              <a:rPr lang="es-ES" sz="16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theme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panel.grid.major.x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element_blank</a:t>
            </a:r>
            <a:r>
              <a:rPr lang="es-ES" sz="1600" dirty="0">
                <a:latin typeface="Consolas" panose="020B0609020204030204" pitchFamily="49" charset="0"/>
              </a:rPr>
              <a:t>(),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</a:t>
            </a:r>
            <a:r>
              <a:rPr lang="es-ES" sz="1600" dirty="0" err="1">
                <a:latin typeface="Consolas" panose="020B0609020204030204" pitchFamily="49" charset="0"/>
              </a:rPr>
              <a:t>panel.grid.minor.x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element_blank</a:t>
            </a:r>
            <a:r>
              <a:rPr lang="es-ES" sz="1600" dirty="0">
                <a:latin typeface="Consolas" panose="020B0609020204030204" pitchFamily="49" charset="0"/>
              </a:rPr>
              <a:t>(),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</a:t>
            </a:r>
            <a:r>
              <a:rPr lang="es-ES" sz="1600" dirty="0" err="1">
                <a:latin typeface="Consolas" panose="020B0609020204030204" pitchFamily="49" charset="0"/>
              </a:rPr>
              <a:t>panel.grid.minor.y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element_blank</a:t>
            </a:r>
            <a:r>
              <a:rPr lang="es-ES" sz="1600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05142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16C2-1B16-8D57-08DB-B0049C08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Un Ejemplo Simulado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0214F-4214-500F-15B2-DB2FBCA1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445" y="999000"/>
            <a:ext cx="6975111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12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Un Ejemplo Simulado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#Simulacion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#Tamaño de muestras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n &lt;- c(1, 5, 10, 30, 50, 100)</a:t>
            </a:r>
          </a:p>
          <a:p>
            <a:pPr marL="0" indent="0">
              <a:buNone/>
            </a:pPr>
            <a:endParaRPr lang="es-E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#Numero de muestras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t &lt;- c(10, 100, 1000, 10000)</a:t>
            </a:r>
          </a:p>
          <a:p>
            <a:pPr marL="0" indent="0">
              <a:buNone/>
            </a:pPr>
            <a:endParaRPr lang="es-E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#Data </a:t>
            </a:r>
            <a:r>
              <a:rPr lang="es-ES" sz="1600" dirty="0" err="1">
                <a:latin typeface="Consolas" panose="020B0609020204030204" pitchFamily="49" charset="0"/>
              </a:rPr>
              <a:t>frame</a:t>
            </a:r>
            <a:r>
              <a:rPr lang="es-ES" sz="1600" dirty="0">
                <a:latin typeface="Consolas" panose="020B0609020204030204" pitchFamily="49" charset="0"/>
              </a:rPr>
              <a:t> vacío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df</a:t>
            </a:r>
            <a:r>
              <a:rPr lang="es-ES" sz="1600" dirty="0">
                <a:latin typeface="Consolas" panose="020B0609020204030204" pitchFamily="49" charset="0"/>
              </a:rPr>
              <a:t> &lt;- </a:t>
            </a:r>
            <a:r>
              <a:rPr lang="es-ES" sz="1600" dirty="0" err="1">
                <a:latin typeface="Consolas" panose="020B0609020204030204" pitchFamily="49" charset="0"/>
              </a:rPr>
              <a:t>data.frame</a:t>
            </a:r>
            <a:r>
              <a:rPr lang="es-ES" sz="1600" dirty="0">
                <a:latin typeface="Consolas" panose="020B0609020204030204" pitchFamily="49" charset="0"/>
              </a:rPr>
              <a:t>() #Data </a:t>
            </a:r>
            <a:r>
              <a:rPr lang="es-ES" sz="1600" dirty="0" err="1">
                <a:latin typeface="Consolas" panose="020B0609020204030204" pitchFamily="49" charset="0"/>
              </a:rPr>
              <a:t>frame</a:t>
            </a:r>
            <a:r>
              <a:rPr lang="es-ES" sz="1600" dirty="0">
                <a:latin typeface="Consolas" panose="020B0609020204030204" pitchFamily="49" charset="0"/>
              </a:rPr>
              <a:t> vacío</a:t>
            </a:r>
          </a:p>
          <a:p>
            <a:pPr marL="0" indent="0">
              <a:buNone/>
            </a:pPr>
            <a:endParaRPr lang="es-E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51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Un Ejemplo Simulado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Correr </a:t>
            </a:r>
            <a:r>
              <a:rPr lang="es-ES" sz="1600" dirty="0" err="1">
                <a:latin typeface="Consolas" panose="020B0609020204030204" pitchFamily="49" charset="0"/>
              </a:rPr>
              <a:t>simulacion</a:t>
            </a:r>
            <a:endParaRPr lang="es-E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for</a:t>
            </a:r>
            <a:r>
              <a:rPr lang="es-ES" sz="1600" dirty="0">
                <a:latin typeface="Consolas" panose="020B0609020204030204" pitchFamily="49" charset="0"/>
              </a:rPr>
              <a:t>(i in n) { #Para cada valor de n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col &lt;- c()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for</a:t>
            </a:r>
            <a:r>
              <a:rPr lang="es-ES" sz="1600" dirty="0">
                <a:latin typeface="Consolas" panose="020B0609020204030204" pitchFamily="49" charset="0"/>
              </a:rPr>
              <a:t>(j in t) { #Repetiremos para cada valor de t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trial &lt;- 1:j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counter</a:t>
            </a:r>
            <a:r>
              <a:rPr lang="es-ES" sz="1600" dirty="0">
                <a:latin typeface="Consolas" panose="020B0609020204030204" pitchFamily="49" charset="0"/>
              </a:rPr>
              <a:t> &lt;- j #Contador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value</a:t>
            </a:r>
            <a:r>
              <a:rPr lang="es-ES" sz="1600" dirty="0">
                <a:latin typeface="Consolas" panose="020B0609020204030204" pitchFamily="49" charset="0"/>
              </a:rPr>
              <a:t> &lt;- c()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while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counter</a:t>
            </a:r>
            <a:r>
              <a:rPr lang="es-ES" sz="1600" dirty="0">
                <a:latin typeface="Consolas" panose="020B0609020204030204" pitchFamily="49" charset="0"/>
              </a:rPr>
              <a:t> &gt; 0) {    # Extraer n muestras de la distribución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</a:t>
            </a:r>
            <a:r>
              <a:rPr lang="es-ES" sz="1600" dirty="0" err="1">
                <a:latin typeface="Consolas" panose="020B0609020204030204" pitchFamily="49" charset="0"/>
              </a:rPr>
              <a:t>bucket</a:t>
            </a:r>
            <a:r>
              <a:rPr lang="es-ES" sz="1600" dirty="0">
                <a:latin typeface="Consolas" panose="020B0609020204030204" pitchFamily="49" charset="0"/>
              </a:rPr>
              <a:t> &lt;- </a:t>
            </a:r>
            <a:r>
              <a:rPr lang="es-ES" sz="1600" dirty="0" err="1">
                <a:latin typeface="Consolas" panose="020B0609020204030204" pitchFamily="49" charset="0"/>
              </a:rPr>
              <a:t>sample</a:t>
            </a:r>
            <a:r>
              <a:rPr lang="es-ES" sz="1600" dirty="0">
                <a:latin typeface="Consolas" panose="020B0609020204030204" pitchFamily="49" charset="0"/>
              </a:rPr>
              <a:t>(pop, i, </a:t>
            </a:r>
            <a:r>
              <a:rPr lang="es-ES" sz="1600" dirty="0" err="1">
                <a:latin typeface="Consolas" panose="020B0609020204030204" pitchFamily="49" charset="0"/>
              </a:rPr>
              <a:t>replace</a:t>
            </a:r>
            <a:r>
              <a:rPr lang="es-ES" sz="1600" dirty="0">
                <a:latin typeface="Consolas" panose="020B0609020204030204" pitchFamily="49" charset="0"/>
              </a:rPr>
              <a:t> = TRUE)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</a:t>
            </a:r>
            <a:r>
              <a:rPr lang="es-ES" sz="1600" dirty="0" err="1">
                <a:latin typeface="Consolas" panose="020B0609020204030204" pitchFamily="49" charset="0"/>
              </a:rPr>
              <a:t>xbar</a:t>
            </a:r>
            <a:r>
              <a:rPr lang="es-ES" sz="1600" dirty="0">
                <a:latin typeface="Consolas" panose="020B0609020204030204" pitchFamily="49" charset="0"/>
              </a:rPr>
              <a:t> &lt;- mean(</a:t>
            </a:r>
            <a:r>
              <a:rPr lang="es-ES" sz="1600" dirty="0" err="1">
                <a:latin typeface="Consolas" panose="020B0609020204030204" pitchFamily="49" charset="0"/>
              </a:rPr>
              <a:t>bucket</a:t>
            </a:r>
            <a:r>
              <a:rPr lang="es-ES" sz="1600" dirty="0">
                <a:latin typeface="Consolas" panose="020B0609020204030204" pitchFamily="49" charset="0"/>
              </a:rPr>
              <a:t>) #Calcular la media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</a:t>
            </a:r>
            <a:r>
              <a:rPr lang="es-ES" sz="1600" dirty="0" err="1">
                <a:latin typeface="Consolas" panose="020B0609020204030204" pitchFamily="49" charset="0"/>
              </a:rPr>
              <a:t>value</a:t>
            </a:r>
            <a:r>
              <a:rPr lang="es-ES" sz="1600" dirty="0">
                <a:latin typeface="Consolas" panose="020B0609020204030204" pitchFamily="49" charset="0"/>
              </a:rPr>
              <a:t> &lt;- c(</a:t>
            </a:r>
            <a:r>
              <a:rPr lang="es-ES" sz="1600" dirty="0" err="1">
                <a:latin typeface="Consolas" panose="020B0609020204030204" pitchFamily="49" charset="0"/>
              </a:rPr>
              <a:t>value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xbar</a:t>
            </a:r>
            <a:r>
              <a:rPr lang="es-ES" sz="1600" dirty="0">
                <a:latin typeface="Consolas" panose="020B0609020204030204" pitchFamily="49" charset="0"/>
              </a:rPr>
              <a:t>) # Añadirlo a un vector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</a:t>
            </a:r>
            <a:r>
              <a:rPr lang="es-ES" sz="1600" dirty="0" err="1">
                <a:latin typeface="Consolas" panose="020B0609020204030204" pitchFamily="49" charset="0"/>
              </a:rPr>
              <a:t>counter</a:t>
            </a:r>
            <a:r>
              <a:rPr lang="es-ES" sz="1600" dirty="0">
                <a:latin typeface="Consolas" panose="020B0609020204030204" pitchFamily="49" charset="0"/>
              </a:rPr>
              <a:t> &lt;- </a:t>
            </a:r>
            <a:r>
              <a:rPr lang="es-ES" sz="1600" dirty="0" err="1">
                <a:latin typeface="Consolas" panose="020B0609020204030204" pitchFamily="49" charset="0"/>
              </a:rPr>
              <a:t>counter</a:t>
            </a:r>
            <a:r>
              <a:rPr lang="es-ES" sz="1600" dirty="0">
                <a:latin typeface="Consolas" panose="020B0609020204030204" pitchFamily="49" charset="0"/>
              </a:rPr>
              <a:t> - 1 #Contador cuenta 1 menos hasta llegar a cero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}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sbar</a:t>
            </a:r>
            <a:r>
              <a:rPr lang="es-ES" sz="1600" dirty="0">
                <a:latin typeface="Consolas" panose="020B0609020204030204" pitchFamily="49" charset="0"/>
              </a:rPr>
              <a:t> &lt;- </a:t>
            </a:r>
            <a:r>
              <a:rPr lang="es-ES" sz="1600" dirty="0" err="1">
                <a:latin typeface="Consolas" panose="020B0609020204030204" pitchFamily="49" charset="0"/>
              </a:rPr>
              <a:t>sd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value</a:t>
            </a:r>
            <a:r>
              <a:rPr lang="es-ES" sz="1600" dirty="0">
                <a:latin typeface="Consolas" panose="020B0609020204030204" pitchFamily="49" charset="0"/>
              </a:rPr>
              <a:t>) #calcular </a:t>
            </a:r>
            <a:r>
              <a:rPr lang="es-ES" sz="1600" dirty="0" err="1">
                <a:latin typeface="Consolas" panose="020B0609020204030204" pitchFamily="49" charset="0"/>
              </a:rPr>
              <a:t>sd</a:t>
            </a:r>
            <a:r>
              <a:rPr lang="es-ES" sz="1600" dirty="0">
                <a:latin typeface="Consolas" panose="020B0609020204030204" pitchFamily="49" charset="0"/>
              </a:rPr>
              <a:t> de la muestra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col &lt;- </a:t>
            </a:r>
            <a:r>
              <a:rPr lang="es-ES" sz="1600" dirty="0" err="1">
                <a:latin typeface="Consolas" panose="020B0609020204030204" pitchFamily="49" charset="0"/>
              </a:rPr>
              <a:t>cbind</a:t>
            </a:r>
            <a:r>
              <a:rPr lang="es-ES" sz="1600" dirty="0">
                <a:latin typeface="Consolas" panose="020B0609020204030204" pitchFamily="49" charset="0"/>
              </a:rPr>
              <a:t>(trial, </a:t>
            </a:r>
            <a:r>
              <a:rPr lang="es-ES" sz="1600" dirty="0" err="1">
                <a:latin typeface="Consolas" panose="020B0609020204030204" pitchFamily="49" charset="0"/>
              </a:rPr>
              <a:t>value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sbar</a:t>
            </a:r>
            <a:r>
              <a:rPr lang="es-ES" sz="1600" dirty="0">
                <a:latin typeface="Consolas" panose="020B0609020204030204" pitchFamily="49" charset="0"/>
              </a:rPr>
              <a:t>, i, j) #unir información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df</a:t>
            </a:r>
            <a:r>
              <a:rPr lang="es-ES" sz="1600" dirty="0">
                <a:latin typeface="Consolas" panose="020B0609020204030204" pitchFamily="49" charset="0"/>
              </a:rPr>
              <a:t> &lt;- </a:t>
            </a:r>
            <a:r>
              <a:rPr lang="es-ES" sz="1600" dirty="0" err="1">
                <a:latin typeface="Consolas" panose="020B0609020204030204" pitchFamily="49" charset="0"/>
              </a:rPr>
              <a:t>rbind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df</a:t>
            </a:r>
            <a:r>
              <a:rPr lang="es-ES" sz="1600" dirty="0">
                <a:latin typeface="Consolas" panose="020B0609020204030204" pitchFamily="49" charset="0"/>
              </a:rPr>
              <a:t>, col) #añadir a la base de datos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} #Repetir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}</a:t>
            </a:r>
          </a:p>
          <a:p>
            <a:pPr marL="0" indent="0">
              <a:buNone/>
            </a:pPr>
            <a:endParaRPr lang="es-E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rm</a:t>
            </a:r>
            <a:r>
              <a:rPr lang="es-ES" sz="1600" dirty="0">
                <a:latin typeface="Consolas" panose="020B0609020204030204" pitchFamily="49" charset="0"/>
              </a:rPr>
              <a:t>(col, </a:t>
            </a:r>
            <a:r>
              <a:rPr lang="es-ES" sz="1600" dirty="0" err="1">
                <a:latin typeface="Consolas" panose="020B0609020204030204" pitchFamily="49" charset="0"/>
              </a:rPr>
              <a:t>bucket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value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counter</a:t>
            </a:r>
            <a:r>
              <a:rPr lang="es-ES" sz="1600" dirty="0">
                <a:latin typeface="Consolas" panose="020B0609020204030204" pitchFamily="49" charset="0"/>
              </a:rPr>
              <a:t>, i, j, n, </a:t>
            </a:r>
            <a:r>
              <a:rPr lang="es-ES" sz="1600" dirty="0" err="1">
                <a:latin typeface="Consolas" panose="020B0609020204030204" pitchFamily="49" charset="0"/>
              </a:rPr>
              <a:t>sbar</a:t>
            </a:r>
            <a:r>
              <a:rPr lang="es-ES" sz="1600" dirty="0">
                <a:latin typeface="Consolas" panose="020B0609020204030204" pitchFamily="49" charset="0"/>
              </a:rPr>
              <a:t>, t, </a:t>
            </a:r>
            <a:r>
              <a:rPr lang="es-ES" sz="1600" dirty="0" err="1">
                <a:latin typeface="Consolas" panose="020B0609020204030204" pitchFamily="49" charset="0"/>
              </a:rPr>
              <a:t>xbar</a:t>
            </a:r>
            <a:r>
              <a:rPr lang="es-ES" sz="1600" dirty="0">
                <a:latin typeface="Consolas" panose="020B0609020204030204" pitchFamily="49" charset="0"/>
              </a:rPr>
              <a:t>, trial) #Limpiar</a:t>
            </a:r>
          </a:p>
        </p:txBody>
      </p:sp>
    </p:spTree>
    <p:extLst>
      <p:ext uri="{BB962C8B-B14F-4D97-AF65-F5344CB8AC3E}">
        <p14:creationId xmlns:p14="http://schemas.microsoft.com/office/powerpoint/2010/main" val="2006796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Un Ejemplo Simulado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str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df</a:t>
            </a:r>
            <a:r>
              <a:rPr lang="es-ES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data.frame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':	66660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obs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.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of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 5 variables:</a:t>
            </a:r>
          </a:p>
          <a:p>
            <a:pPr marL="0" indent="0">
              <a:buNone/>
            </a:pP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$ trial: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 1 2 3 4 5 6 7 8 9 10 ...</a:t>
            </a:r>
          </a:p>
          <a:p>
            <a:pPr marL="0" indent="0">
              <a:buNone/>
            </a:pP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$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 76.1 33.2 14.1 10.5 57.7 ...</a:t>
            </a:r>
          </a:p>
          <a:p>
            <a:pPr marL="0" indent="0">
              <a:buNone/>
            </a:pP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$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sbar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 28.1 28.1 28.1 28.1 28.1 ...</a:t>
            </a:r>
          </a:p>
          <a:p>
            <a:pPr marL="0" indent="0">
              <a:buNone/>
            </a:pP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$ i    :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 1 1 1 1 1 1 1 1 1 1 ...</a:t>
            </a:r>
          </a:p>
          <a:p>
            <a:pPr marL="0" indent="0">
              <a:buNone/>
            </a:pP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$ j    : </a:t>
            </a:r>
            <a:r>
              <a:rPr lang="es-ES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num</a:t>
            </a: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  10 10 10 10 10 10 10 10 10 10 ...</a:t>
            </a:r>
          </a:p>
        </p:txBody>
      </p:sp>
    </p:spTree>
    <p:extLst>
      <p:ext uri="{BB962C8B-B14F-4D97-AF65-F5344CB8AC3E}">
        <p14:creationId xmlns:p14="http://schemas.microsoft.com/office/powerpoint/2010/main" val="462364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Un Ejemplo Simulado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08"/>
            <a:ext cx="10515600" cy="5427455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names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df</a:t>
            </a:r>
            <a:r>
              <a:rPr lang="es-ES" sz="1600" dirty="0">
                <a:latin typeface="Consolas" panose="020B0609020204030204" pitchFamily="49" charset="0"/>
              </a:rPr>
              <a:t>) &lt;- c("muestra#", "valor", "</a:t>
            </a:r>
            <a:r>
              <a:rPr lang="es-ES" sz="1600" dirty="0" err="1">
                <a:latin typeface="Consolas" panose="020B0609020204030204" pitchFamily="49" charset="0"/>
              </a:rPr>
              <a:t>sdev</a:t>
            </a:r>
            <a:r>
              <a:rPr lang="es-ES" sz="1600" dirty="0">
                <a:latin typeface="Consolas" panose="020B0609020204030204" pitchFamily="49" charset="0"/>
              </a:rPr>
              <a:t>", "tamaño", "muestras")</a:t>
            </a:r>
          </a:p>
          <a:p>
            <a:pPr marL="0" indent="0">
              <a:buNone/>
            </a:pPr>
            <a:endParaRPr lang="es-E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#Gráfico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df</a:t>
            </a:r>
            <a:r>
              <a:rPr lang="es-ES" sz="16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ggplot</a:t>
            </a:r>
            <a:r>
              <a:rPr lang="es-ES" sz="1600" dirty="0">
                <a:latin typeface="Consolas" panose="020B0609020204030204" pitchFamily="49" charset="0"/>
              </a:rPr>
              <a:t>(aes(x = valor)) +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geom_density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fill</a:t>
            </a:r>
            <a:r>
              <a:rPr lang="es-ES" sz="1600" dirty="0">
                <a:latin typeface="Consolas" panose="020B0609020204030204" pitchFamily="49" charset="0"/>
              </a:rPr>
              <a:t> = "</a:t>
            </a:r>
            <a:r>
              <a:rPr lang="es-ES" sz="1600" dirty="0" err="1">
                <a:latin typeface="Consolas" panose="020B0609020204030204" pitchFamily="49" charset="0"/>
              </a:rPr>
              <a:t>steelblue</a:t>
            </a:r>
            <a:r>
              <a:rPr lang="es-ES" sz="1600" dirty="0">
                <a:latin typeface="Consolas" panose="020B0609020204030204" pitchFamily="49" charset="0"/>
              </a:rPr>
              <a:t>") +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geom_vline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xintercept</a:t>
            </a:r>
            <a:r>
              <a:rPr lang="es-ES" sz="1600" dirty="0">
                <a:latin typeface="Consolas" panose="020B0609020204030204" pitchFamily="49" charset="0"/>
              </a:rPr>
              <a:t> = mu, </a:t>
            </a:r>
            <a:r>
              <a:rPr lang="es-ES" sz="1600" dirty="0" err="1">
                <a:latin typeface="Consolas" panose="020B0609020204030204" pitchFamily="49" charset="0"/>
              </a:rPr>
              <a:t>linetype</a:t>
            </a:r>
            <a:r>
              <a:rPr lang="es-ES" sz="1600" dirty="0">
                <a:latin typeface="Consolas" panose="020B0609020204030204" pitchFamily="49" charset="0"/>
              </a:rPr>
              <a:t> = "</a:t>
            </a:r>
            <a:r>
              <a:rPr lang="es-ES" sz="1600" dirty="0" err="1">
                <a:latin typeface="Consolas" panose="020B0609020204030204" pitchFamily="49" charset="0"/>
              </a:rPr>
              <a:t>dashed</a:t>
            </a:r>
            <a:r>
              <a:rPr lang="es-ES" sz="1600" dirty="0">
                <a:latin typeface="Consolas" panose="020B0609020204030204" pitchFamily="49" charset="0"/>
              </a:rPr>
              <a:t>") +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</a:t>
            </a:r>
            <a:r>
              <a:rPr lang="es-ES" sz="1600" dirty="0" err="1">
                <a:latin typeface="Consolas" panose="020B0609020204030204" pitchFamily="49" charset="0"/>
              </a:rPr>
              <a:t>facet_grid</a:t>
            </a:r>
            <a:r>
              <a:rPr lang="es-ES" sz="1600" dirty="0">
                <a:latin typeface="Consolas" panose="020B0609020204030204" pitchFamily="49" charset="0"/>
              </a:rPr>
              <a:t>(tamaño ~ muestras, </a:t>
            </a:r>
            <a:r>
              <a:rPr lang="es-ES" sz="1600" dirty="0" err="1">
                <a:latin typeface="Consolas" panose="020B0609020204030204" pitchFamily="49" charset="0"/>
              </a:rPr>
              <a:t>labeller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label_both</a:t>
            </a:r>
            <a:r>
              <a:rPr lang="es-ES" sz="1600" dirty="0">
                <a:latin typeface="Consolas" panose="020B0609020204030204" pitchFamily="49" charset="0"/>
              </a:rPr>
              <a:t>) +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labs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title</a:t>
            </a:r>
            <a:r>
              <a:rPr lang="es-ES" sz="1600" dirty="0">
                <a:latin typeface="Consolas" panose="020B0609020204030204" pitchFamily="49" charset="0"/>
              </a:rPr>
              <a:t> = "Teorema del Límite Central con simulaciones",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</a:t>
            </a:r>
            <a:r>
              <a:rPr lang="es-ES" sz="1600" dirty="0" err="1">
                <a:latin typeface="Consolas" panose="020B0609020204030204" pitchFamily="49" charset="0"/>
              </a:rPr>
              <a:t>subtitle</a:t>
            </a:r>
            <a:r>
              <a:rPr lang="es-ES" sz="1600" dirty="0">
                <a:latin typeface="Consolas" panose="020B0609020204030204" pitchFamily="49" charset="0"/>
              </a:rPr>
              <a:t> = "Promedio de muestras aleatorias",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x = "Valor",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y = "Densidad") +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theme_bw</a:t>
            </a:r>
            <a:r>
              <a:rPr lang="es-ES" sz="1600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</a:t>
            </a:r>
            <a:r>
              <a:rPr lang="es-ES" sz="1600" dirty="0" err="1">
                <a:latin typeface="Consolas" panose="020B0609020204030204" pitchFamily="49" charset="0"/>
              </a:rPr>
              <a:t>theme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panel.grid.major.x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element_blank</a:t>
            </a:r>
            <a:r>
              <a:rPr lang="es-ES" sz="16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 </a:t>
            </a:r>
            <a:r>
              <a:rPr lang="es-ES" sz="1600" dirty="0" err="1">
                <a:latin typeface="Consolas" panose="020B0609020204030204" pitchFamily="49" charset="0"/>
              </a:rPr>
              <a:t>panel.grid.minor.x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element_blank</a:t>
            </a:r>
            <a:r>
              <a:rPr lang="es-ES" sz="16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+           </a:t>
            </a:r>
            <a:r>
              <a:rPr lang="es-ES" sz="1600" dirty="0" err="1">
                <a:latin typeface="Consolas" panose="020B0609020204030204" pitchFamily="49" charset="0"/>
              </a:rPr>
              <a:t>panel.grid.minor.y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element_blank</a:t>
            </a:r>
            <a:r>
              <a:rPr lang="es-ES" sz="1600" dirty="0">
                <a:latin typeface="Consolas" panose="020B0609020204030204" pitchFamily="49" charset="0"/>
              </a:rPr>
              <a:t>()) </a:t>
            </a:r>
            <a:endParaRPr lang="es-E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53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16C2-1B16-8D57-08DB-B0049C08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Un Ejemplo Simulado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6A026-102D-9785-1D0B-8BE52D9B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63" y="819000"/>
            <a:ext cx="9917274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68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Teorema del Límite Central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La distribución de la media muestral tiende a ser normalmente distribuida en la medida que el tamaño de la muestra crezca</a:t>
            </a:r>
          </a:p>
          <a:p>
            <a:pPr lvl="1">
              <a:lnSpc>
                <a:spcPct val="150000"/>
              </a:lnSpc>
            </a:pPr>
            <a:r>
              <a:rPr lang="es-419" b="1" i="1" dirty="0">
                <a:solidFill>
                  <a:srgbClr val="003A5D"/>
                </a:solidFill>
              </a:rPr>
              <a:t>n</a:t>
            </a:r>
            <a:r>
              <a:rPr lang="es-419" dirty="0"/>
              <a:t>&gt; 30 para la mayoría de los ejemplos.</a:t>
            </a:r>
          </a:p>
          <a:p>
            <a:pPr>
              <a:lnSpc>
                <a:spcPct val="150000"/>
              </a:lnSpc>
            </a:pPr>
            <a:r>
              <a:rPr lang="es-419" dirty="0"/>
              <a:t>Muchos estadísticos tienen distribuciones aproximadamente normales para muestras grandes, incluso cuando la población no es normal.</a:t>
            </a:r>
          </a:p>
          <a:p>
            <a:pPr>
              <a:lnSpc>
                <a:spcPct val="150000"/>
              </a:lnSpc>
            </a:pPr>
            <a:r>
              <a:rPr lang="es-419" dirty="0"/>
              <a:t>No siempre se dará tan evidentemente en la vida real.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Convergencia tarda en el reino de colas gruesas.</a:t>
            </a:r>
          </a:p>
        </p:txBody>
      </p:sp>
    </p:spTree>
    <p:extLst>
      <p:ext uri="{BB962C8B-B14F-4D97-AF65-F5344CB8AC3E}">
        <p14:creationId xmlns:p14="http://schemas.microsoft.com/office/powerpoint/2010/main" val="4227290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Teorema del Límite Central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Formalmente: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419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419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s-419" sz="32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ctrlPr>
                                <a:rPr lang="es-419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320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sz="32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s-419" sz="32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s-419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419" sz="3200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En la medida que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~ ∞ (provisto que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µ </a:t>
                </a:r>
                <a:r>
                  <a:rPr lang="es-419" dirty="0"/>
                  <a:t>y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 </a:t>
                </a:r>
                <a:r>
                  <a:rPr lang="el-GR" b="1" i="1" dirty="0">
                    <a:solidFill>
                      <a:srgbClr val="003A5D"/>
                    </a:solidFill>
                  </a:rPr>
                  <a:t>σ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2 </a:t>
                </a:r>
                <a:r>
                  <a:rPr lang="es-419" dirty="0"/>
                  <a:t>sean finitos)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Sean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variables aleatorias independientes e idénticamente distribuidas.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Todas con: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s-419" dirty="0"/>
                  <a:t>𝜇,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042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Teorema del Límite Central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b="1" i="1" dirty="0">
                    <a:solidFill>
                      <a:srgbClr val="003A5D"/>
                    </a:solidFill>
                  </a:rPr>
                  <a:t>S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es la suma de variables (con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i</a:t>
                </a:r>
                <a:r>
                  <a:rPr lang="es-419" dirty="0"/>
                  <a:t> = </a:t>
                </a:r>
                <a:r>
                  <a:rPr lang="es-419" i="1" dirty="0"/>
                  <a:t>1, 2, …,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sz="3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3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5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419" sz="35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sz="35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s-419" sz="3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sz="35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sz="35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sz="3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3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sz="3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Con valor esperado: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419" b="0" i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b="0" i="0" smtClean="0">
                        <a:latin typeface="Cambria Math" panose="02040503050406030204" pitchFamily="18" charset="0"/>
                      </a:rPr>
                      <m:t>+ ….+ 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/>
                  <a:t> =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Con varianza: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419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419" dirty="0">
                    <a:latin typeface="Cambria Math" panose="02040503050406030204" pitchFamily="18" charset="0"/>
                  </a:rPr>
                  <a:t>+ … +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419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)=</m:t>
                        </m:r>
                      </m:e>
                    </m:nary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419" dirty="0">
                    <a:latin typeface="Cambria Math" panose="02040503050406030204" pitchFamily="18" charset="0"/>
                  </a:rPr>
                  <a:t>+…+</a:t>
                </a:r>
                <a:r>
                  <a:rPr lang="es-419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436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Teorema del Límite Central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Por lo tanto: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S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~ </a:t>
                </a:r>
                <a:r>
                  <a:rPr lang="es-419" i="1" dirty="0"/>
                  <a:t>N(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nµ</a:t>
                </a:r>
                <a:r>
                  <a:rPr lang="es-419" i="1" dirty="0"/>
                  <a:t>,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 n</a:t>
                </a:r>
                <a:r>
                  <a:rPr lang="el-GR" b="1" i="1" dirty="0">
                    <a:solidFill>
                      <a:srgbClr val="003A5D"/>
                    </a:solidFill>
                  </a:rPr>
                  <a:t>σ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2</a:t>
                </a:r>
                <a:r>
                  <a:rPr lang="es-419" i="1" dirty="0"/>
                  <a:t>)</a:t>
                </a:r>
                <a:r>
                  <a:rPr lang="es-419" dirty="0"/>
                  <a:t>, o también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S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~ </a:t>
                </a:r>
                <a:r>
                  <a:rPr lang="es-419" i="1" dirty="0"/>
                  <a:t>N(∑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µ</a:t>
                </a:r>
                <a:r>
                  <a:rPr lang="es-419" i="1" dirty="0"/>
                  <a:t>,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 </a:t>
                </a:r>
                <a:r>
                  <a:rPr lang="es-419" i="1" dirty="0"/>
                  <a:t>∑</a:t>
                </a:r>
                <a:r>
                  <a:rPr lang="el-GR" b="1" i="1" dirty="0">
                    <a:solidFill>
                      <a:srgbClr val="003A5D"/>
                    </a:solidFill>
                  </a:rPr>
                  <a:t>σ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2</a:t>
                </a:r>
                <a:r>
                  <a:rPr lang="es-419" i="1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Equivalente a: </a:t>
                </a:r>
                <a:r>
                  <a:rPr lang="es-419" i="1" dirty="0"/>
                  <a:t>E(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S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n</a:t>
                </a:r>
                <a:r>
                  <a:rPr lang="es-419" i="1" dirty="0"/>
                  <a:t>) = ∑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medias </a:t>
                </a:r>
                <a:r>
                  <a:rPr lang="es-419" i="1" dirty="0"/>
                  <a:t>, Var(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S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n</a:t>
                </a:r>
                <a:r>
                  <a:rPr lang="es-419" i="1" dirty="0"/>
                  <a:t>) = ∑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varianzas</a:t>
                </a:r>
                <a:endParaRPr lang="es-419" i="1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Ahora: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s-419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Demostración: cuando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tiende a </a:t>
                </a:r>
                <a:r>
                  <a:rPr lang="es-419" b="1" dirty="0">
                    <a:solidFill>
                      <a:srgbClr val="003A5D"/>
                    </a:solidFill>
                  </a:rPr>
                  <a:t>∞ </a:t>
                </a:r>
                <a:r>
                  <a:rPr lang="es-419" dirty="0"/>
                  <a:t>la FGM de Z tiende a ser igual a la FGM de una normal </a:t>
                </a:r>
                <a:r>
                  <a:rPr lang="es-419" i="1" dirty="0"/>
                  <a:t>N(0,1) </a:t>
                </a:r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567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Demostración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𝑧𝑘</m:t>
                        </m:r>
                      </m:sup>
                    </m:sSup>
                    <m:r>
                      <a:rPr lang="es-419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sz="32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3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sz="32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["/>
                                <m:ctrlPr>
                                  <a:rPr lang="es-419" sz="32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419" sz="32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32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2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sz="32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sz="32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419" sz="32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32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sz="32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419" sz="32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s-419" sz="32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32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sz="32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419" sz="32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32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sz="32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sz="32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  <m:r>
                              <a:rPr lang="es-419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sz="32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</m:oMath>
                </a14:m>
                <a:r>
                  <a:rPr lang="es-419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sz="3200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s-419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sz="32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sz="32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sz="32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008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Demostración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419" dirty="0"/>
                  <a:t> 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sup>
                        </m:sSup>
                        <m:r>
                          <a:rPr lang="es-419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s-419" dirty="0"/>
                          <m:t> </m:t>
                        </m:r>
                        <m:r>
                          <a:rPr lang="es-419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419" dirty="0"/>
                      <m:t>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+…]</m:t>
                        </m:r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AD69F4-B374-4125-8026-7697CBF8DD0F}"/>
                  </a:ext>
                </a:extLst>
              </p:cNvPr>
              <p:cNvSpPr txBox="1"/>
              <p:nvPr/>
            </p:nvSpPr>
            <p:spPr>
              <a:xfrm>
                <a:off x="5456582" y="3333070"/>
                <a:ext cx="3354572" cy="70993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AD69F4-B374-4125-8026-7697CBF8D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582" y="3333070"/>
                <a:ext cx="3354572" cy="709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034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Demostración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[1+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2!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3!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+…]</m:t>
                        </m:r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{1+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2!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3!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{1+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2!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3!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{1+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3!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D79FA4-616F-41A3-9286-3F92BA7AA30A}"/>
                  </a:ext>
                </a:extLst>
              </p:cNvPr>
              <p:cNvSpPr txBox="1"/>
              <p:nvPr/>
            </p:nvSpPr>
            <p:spPr>
              <a:xfrm>
                <a:off x="8909004" y="3385930"/>
                <a:ext cx="2444795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s-419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s-419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D79FA4-616F-41A3-9286-3F92BA7AA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004" y="3385930"/>
                <a:ext cx="2444795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934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Demostración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{1+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3!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{1+</m:t>
                        </m:r>
                        <m:f>
                          <m:f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3!</m:t>
                            </m:r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sSup>
                                          <m:sSupPr>
                                            <m:ctrlP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s-419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{1+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e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𝑐𝑜𝑛𝑠𝑡𝑎𝑛𝑡𝑒</m:t>
                                </m:r>
                              </m:e>
                            </m:eqAr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{1+</m:t>
                            </m:r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fName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func>
                      </m:sup>
                    </m:sSup>
                  </m:oMath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0"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BE1094-2C85-4735-AF63-91D43C03E8CE}"/>
                  </a:ext>
                </a:extLst>
              </p:cNvPr>
              <p:cNvSpPr txBox="1"/>
              <p:nvPr/>
            </p:nvSpPr>
            <p:spPr>
              <a:xfrm>
                <a:off x="7736697" y="2529267"/>
                <a:ext cx="3369860" cy="8997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419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s-419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3!</m:t>
                          </m:r>
                          <m:sSup>
                            <m:sSup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p>
                                        <m:sSupPr>
                                          <m:ctrlPr>
                                            <a:rPr lang="es-419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419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s-419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419" sz="2000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BE1094-2C85-4735-AF63-91D43C03E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697" y="2529267"/>
                <a:ext cx="3369860" cy="89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23D7E5-1BF2-4A7D-BD27-04EBC6E5D6DB}"/>
                  </a:ext>
                </a:extLst>
              </p:cNvPr>
              <p:cNvSpPr txBox="1"/>
              <p:nvPr/>
            </p:nvSpPr>
            <p:spPr>
              <a:xfrm>
                <a:off x="4570294" y="3575806"/>
                <a:ext cx="1525706" cy="7078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func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23D7E5-1BF2-4A7D-BD27-04EBC6E5D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294" y="3575806"/>
                <a:ext cx="1525706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263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Demostración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4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e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𝑐𝑜𝑛𝑠𝑡𝑎𝑛𝑡𝑒</m:t>
                                </m:r>
                              </m:e>
                            </m:eqAr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{1+</m:t>
                            </m:r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fName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func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4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FGM de una normal </a:t>
                </a:r>
                <a:r>
                  <a:rPr lang="es-419" i="1" dirty="0"/>
                  <a:t>N(0,1)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419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984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Resumen</a:t>
            </a:r>
            <a:endParaRPr lang="es-419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</a:t>
            </a:r>
            <a:r>
              <a:rPr lang="en-US" dirty="0" err="1"/>
              <a:t>limites</a:t>
            </a:r>
            <a:r>
              <a:rPr lang="en-US" dirty="0"/>
              <a:t> de la </a:t>
            </a:r>
            <a:r>
              <a:rPr lang="en-US" dirty="0" err="1"/>
              <a:t>teoría</a:t>
            </a:r>
            <a:r>
              <a:rPr lang="en-US" dirty="0"/>
              <a:t> </a:t>
            </a:r>
            <a:r>
              <a:rPr lang="en-US" dirty="0" err="1"/>
              <a:t>asintótica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8391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AF2A-B5EE-4236-A6F1-F4440D88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En Resumen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D792-49E5-4E24-A663-93FD08EA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La Ley de Los Grandes Números como el Teorema del Límite Central son de las principales transformaciones de escala en Estadística.</a:t>
            </a:r>
          </a:p>
          <a:p>
            <a:pPr>
              <a:lnSpc>
                <a:spcPct val="150000"/>
              </a:lnSpc>
            </a:pPr>
            <a:r>
              <a:rPr lang="es-419" dirty="0"/>
              <a:t>Bajo ciertas condiciones los agregados se comportan de forma mucho más estables que componentes individuales (menor desviación).</a:t>
            </a:r>
          </a:p>
          <a:p>
            <a:pPr>
              <a:lnSpc>
                <a:spcPct val="150000"/>
              </a:lnSpc>
            </a:pPr>
            <a:r>
              <a:rPr lang="es-419" dirty="0"/>
              <a:t>Su naturaleza convergente produce certidumbre. Mucho de la Estadística lidia con </a:t>
            </a:r>
            <a:r>
              <a:rPr lang="es-419" i="1" dirty="0"/>
              <a:t>incertidumbre</a:t>
            </a:r>
            <a:r>
              <a:rPr lang="es-419" dirty="0"/>
              <a:t>.</a:t>
            </a:r>
          </a:p>
          <a:p>
            <a:pPr>
              <a:lnSpc>
                <a:spcPct val="150000"/>
              </a:lnSpc>
            </a:pPr>
            <a:r>
              <a:rPr lang="es-419" dirty="0"/>
              <a:t>Hay dominios en los cuales estos conceptos no aplican, o no aplican con </a:t>
            </a:r>
            <a:r>
              <a:rPr lang="es-419" i="1" dirty="0"/>
              <a:t>suficiente</a:t>
            </a:r>
            <a:r>
              <a:rPr lang="es-419" dirty="0"/>
              <a:t> velocidad (muy lenta convergencia). Por lo que se requerirán de otras herramientas analíticas.</a:t>
            </a:r>
          </a:p>
          <a:p>
            <a:pPr>
              <a:lnSpc>
                <a:spcPct val="150000"/>
              </a:lnSpc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964122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Muchas de la intuición de la estadística inferencial descansa sobre nociones asintóticas.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Qué pasa si un experimento o un suceso ocurriera infinitas veces con muestras infinitamente grandes.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En resumen dictan convergencias entre lo que se observa y lo que se espera.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En la vida real esas convergencias no siempre se dan.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7424559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| </a:t>
            </a:r>
            <a:r>
              <a:rPr lang="en-US" sz="2400" dirty="0">
                <a:hlinkClick r:id="rId3"/>
              </a:rPr>
              <a:t>https://www.linkedin.com/in/giorgiocmorales/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6757</TotalTime>
  <Words>2656</Words>
  <Application>Microsoft Office PowerPoint</Application>
  <PresentationFormat>Widescreen</PresentationFormat>
  <Paragraphs>355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Cambria Math</vt:lpstr>
      <vt:lpstr>Consolas</vt:lpstr>
      <vt:lpstr>Georgia</vt:lpstr>
      <vt:lpstr>Office Theme</vt:lpstr>
      <vt:lpstr>PowerPoint Presentation</vt:lpstr>
      <vt:lpstr>Mensaje principal</vt:lpstr>
      <vt:lpstr>Métodos para encontrar distribuciones muestrales</vt:lpstr>
      <vt:lpstr>Desigualdad de Chebyshev</vt:lpstr>
      <vt:lpstr>Desigualdad de Chebyshev</vt:lpstr>
      <vt:lpstr>Desigualdad de Chebyshev</vt:lpstr>
      <vt:lpstr>Desigualdad de Chebyshev</vt:lpstr>
      <vt:lpstr>Desigualdad de Chebyshev</vt:lpstr>
      <vt:lpstr>Desigualdad de Chebyshev</vt:lpstr>
      <vt:lpstr>Ley de los Grandes Números </vt:lpstr>
      <vt:lpstr>Ley de los Grandes Números</vt:lpstr>
      <vt:lpstr>Ley de los Grandes Números</vt:lpstr>
      <vt:lpstr>Espacio de intervención: 30 segundos.</vt:lpstr>
      <vt:lpstr>Ley de los Grandes Números (ejemplo de una moneda)</vt:lpstr>
      <vt:lpstr>Ley de los Grandes Números (ejemplo de una moneda)</vt:lpstr>
      <vt:lpstr>Ley de los Grandes Números</vt:lpstr>
      <vt:lpstr>Ley de los Grandes Números</vt:lpstr>
      <vt:lpstr>Ley de los Grandes Números (ejemplo de una moneda)</vt:lpstr>
      <vt:lpstr>Espacio de intervención: 30 segundo.</vt:lpstr>
      <vt:lpstr>Extremistan</vt:lpstr>
      <vt:lpstr>Teorema del Límite Central</vt:lpstr>
      <vt:lpstr>Teorema del Límite Central</vt:lpstr>
      <vt:lpstr>Teorema del Límite Central</vt:lpstr>
      <vt:lpstr>Teorema del Límite Central</vt:lpstr>
      <vt:lpstr>Teorema del Límite Central: Para cualquier distribución.</vt:lpstr>
      <vt:lpstr>Ejemplo simulado</vt:lpstr>
      <vt:lpstr>Un Ejemplo Simulado</vt:lpstr>
      <vt:lpstr>Un Ejemplo Simulado</vt:lpstr>
      <vt:lpstr>Un Ejemplo Simulado</vt:lpstr>
      <vt:lpstr>Un Ejemplo Simulado</vt:lpstr>
      <vt:lpstr>Un Ejemplo Simulado</vt:lpstr>
      <vt:lpstr>Un Ejemplo Simulado</vt:lpstr>
      <vt:lpstr>Un Ejemplo Simulado</vt:lpstr>
      <vt:lpstr>Teorema del Límite Central</vt:lpstr>
      <vt:lpstr>Teorema del Límite Central</vt:lpstr>
      <vt:lpstr>Teorema del Límite Central</vt:lpstr>
      <vt:lpstr>Teorema del Límite Central</vt:lpstr>
      <vt:lpstr>Demostración</vt:lpstr>
      <vt:lpstr>Demostración</vt:lpstr>
      <vt:lpstr>Demostración</vt:lpstr>
      <vt:lpstr>Demostración</vt:lpstr>
      <vt:lpstr>Demostración</vt:lpstr>
      <vt:lpstr>Resumen</vt:lpstr>
      <vt:lpstr>En Resumen</vt:lpstr>
      <vt:lpstr>Mensaje principal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Giorgio Cunto Morales</cp:lastModifiedBy>
  <cp:revision>86</cp:revision>
  <dcterms:created xsi:type="dcterms:W3CDTF">2020-04-17T00:45:03Z</dcterms:created>
  <dcterms:modified xsi:type="dcterms:W3CDTF">2023-04-22T17:52:25Z</dcterms:modified>
</cp:coreProperties>
</file>