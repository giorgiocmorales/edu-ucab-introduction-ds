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79" r:id="rId3"/>
    <p:sldId id="370" r:id="rId4"/>
    <p:sldId id="372" r:id="rId5"/>
    <p:sldId id="478" r:id="rId6"/>
    <p:sldId id="571" r:id="rId7"/>
    <p:sldId id="537" r:id="rId8"/>
    <p:sldId id="318" r:id="rId9"/>
    <p:sldId id="536" r:id="rId10"/>
    <p:sldId id="527" r:id="rId11"/>
    <p:sldId id="392" r:id="rId12"/>
    <p:sldId id="480" r:id="rId13"/>
    <p:sldId id="395" r:id="rId14"/>
    <p:sldId id="397" r:id="rId15"/>
    <p:sldId id="481" r:id="rId16"/>
    <p:sldId id="457" r:id="rId17"/>
    <p:sldId id="546" r:id="rId18"/>
    <p:sldId id="555" r:id="rId19"/>
    <p:sldId id="556" r:id="rId20"/>
    <p:sldId id="557" r:id="rId21"/>
    <p:sldId id="558" r:id="rId22"/>
    <p:sldId id="559" r:id="rId23"/>
    <p:sldId id="560" r:id="rId24"/>
    <p:sldId id="374" r:id="rId25"/>
    <p:sldId id="319" r:id="rId26"/>
    <p:sldId id="535" r:id="rId27"/>
    <p:sldId id="484" r:id="rId28"/>
    <p:sldId id="485" r:id="rId29"/>
    <p:sldId id="573" r:id="rId30"/>
    <p:sldId id="482" r:id="rId31"/>
    <p:sldId id="570" r:id="rId32"/>
    <p:sldId id="409" r:id="rId33"/>
    <p:sldId id="410" r:id="rId34"/>
    <p:sldId id="487" r:id="rId35"/>
    <p:sldId id="486" r:id="rId36"/>
    <p:sldId id="572" r:id="rId37"/>
    <p:sldId id="468" r:id="rId38"/>
    <p:sldId id="529" r:id="rId39"/>
    <p:sldId id="528" r:id="rId40"/>
    <p:sldId id="375" r:id="rId41"/>
    <p:sldId id="322" r:id="rId42"/>
    <p:sldId id="531" r:id="rId43"/>
    <p:sldId id="574" r:id="rId44"/>
    <p:sldId id="419" r:id="rId45"/>
    <p:sldId id="533" r:id="rId46"/>
    <p:sldId id="530" r:id="rId47"/>
    <p:sldId id="534" r:id="rId48"/>
    <p:sldId id="424" r:id="rId49"/>
    <p:sldId id="425" r:id="rId50"/>
    <p:sldId id="561" r:id="rId51"/>
    <p:sldId id="376" r:id="rId52"/>
    <p:sldId id="323" r:id="rId53"/>
    <p:sldId id="383" r:id="rId54"/>
    <p:sldId id="428" r:id="rId55"/>
    <p:sldId id="430" r:id="rId56"/>
    <p:sldId id="539" r:id="rId57"/>
    <p:sldId id="434" r:id="rId58"/>
    <p:sldId id="562" r:id="rId59"/>
    <p:sldId id="540" r:id="rId60"/>
    <p:sldId id="377" r:id="rId61"/>
    <p:sldId id="336" r:id="rId62"/>
    <p:sldId id="538" r:id="rId63"/>
    <p:sldId id="575" r:id="rId64"/>
    <p:sldId id="576" r:id="rId65"/>
    <p:sldId id="577" r:id="rId66"/>
    <p:sldId id="578" r:id="rId67"/>
    <p:sldId id="438" r:id="rId68"/>
    <p:sldId id="541" r:id="rId69"/>
    <p:sldId id="542" r:id="rId70"/>
    <p:sldId id="543" r:id="rId71"/>
    <p:sldId id="441" r:id="rId72"/>
    <p:sldId id="445" r:id="rId73"/>
    <p:sldId id="544" r:id="rId74"/>
    <p:sldId id="564" r:id="rId75"/>
    <p:sldId id="446" r:id="rId76"/>
    <p:sldId id="378" r:id="rId77"/>
    <p:sldId id="324" r:id="rId78"/>
    <p:sldId id="337" r:id="rId79"/>
    <p:sldId id="567" r:id="rId80"/>
    <p:sldId id="453" r:id="rId81"/>
    <p:sldId id="380" r:id="rId82"/>
    <p:sldId id="569" r:id="rId83"/>
    <p:sldId id="568" r:id="rId84"/>
    <p:sldId id="580" r:id="rId85"/>
    <p:sldId id="276"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5D"/>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690" autoAdjust="0"/>
  </p:normalViewPr>
  <p:slideViewPr>
    <p:cSldViewPr snapToGrid="0">
      <p:cViewPr varScale="1">
        <p:scale>
          <a:sx n="67" d="100"/>
          <a:sy n="67" d="100"/>
        </p:scale>
        <p:origin x="846"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19FDA-64E3-4AE2-8866-4624A7B5228D}"/>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D52F877-47BE-4588-88BA-8CB06EF954D7}"/>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ESTADÍ</a:t>
            </a:r>
          </a:p>
        </p:txBody>
      </p:sp>
      <p:sp>
        <p:nvSpPr>
          <p:cNvPr id="4" name="Date Placeholder 3">
            <a:extLst>
              <a:ext uri="{FF2B5EF4-FFF2-40B4-BE49-F238E27FC236}">
                <a16:creationId xmlns:a16="http://schemas.microsoft.com/office/drawing/2014/main" id="{1DC48BE2-9CB5-4C5E-8562-2E2F3985C331}"/>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5" name="Footer Placeholder 4">
            <a:extLst>
              <a:ext uri="{FF2B5EF4-FFF2-40B4-BE49-F238E27FC236}">
                <a16:creationId xmlns:a16="http://schemas.microsoft.com/office/drawing/2014/main" id="{AD342264-421F-4D62-B951-6F2CA84F941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A86052C-8ACB-49D8-B8EF-3B485F1F3542}"/>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1389335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0BDA8-E557-4626-86BA-56B3E1FD52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E80CC3-0AE0-407B-AA10-92B5CA698B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AB793-7AFA-4089-A3A8-6F5D861A65AA}"/>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5" name="Footer Placeholder 4">
            <a:extLst>
              <a:ext uri="{FF2B5EF4-FFF2-40B4-BE49-F238E27FC236}">
                <a16:creationId xmlns:a16="http://schemas.microsoft.com/office/drawing/2014/main" id="{2D4AFA07-C55D-41EC-A7F6-0D9213E7D1A1}"/>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74F8243-5F9D-4E5D-A01D-354E1EF08F4D}"/>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205921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837F-6BD1-4AAD-9C8A-82F7955281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890E71-BEAA-4E89-9F9B-8D341D3EE9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4B1FB1-360D-4C6B-A023-DCAB577BB6E1}"/>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5" name="Footer Placeholder 4">
            <a:extLst>
              <a:ext uri="{FF2B5EF4-FFF2-40B4-BE49-F238E27FC236}">
                <a16:creationId xmlns:a16="http://schemas.microsoft.com/office/drawing/2014/main" id="{52ED68ED-D1DC-4D87-BF60-77747EFBC16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FE7893A-50E5-4DE3-9F41-A593BD958AD3}"/>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2287291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2B31-20AA-4B71-8958-20712FE714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3406AA-4B6F-43A3-89E7-B7AD5DB2D8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851F21-E287-4135-8D73-3856EB1770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02E284-D29E-4263-9B92-14E81D63512C}"/>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6" name="Footer Placeholder 5">
            <a:extLst>
              <a:ext uri="{FF2B5EF4-FFF2-40B4-BE49-F238E27FC236}">
                <a16:creationId xmlns:a16="http://schemas.microsoft.com/office/drawing/2014/main" id="{908DCAAE-6263-43B5-B6D0-A04C09AE27F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65A0485-671F-481D-A078-CC6F9C7F0E67}"/>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1392886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5756B-B1FD-4858-8717-BF0654D2E1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EDB432-76DA-4E5E-9D92-1FB6A4A5DC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745127-11B6-4861-A9DF-76B9382CF3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04DE2B-E6EC-47B4-8D56-743BDF7B64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D8FE8-2E69-44C5-96AD-36FCEF147F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BE675A-6736-4C8E-A9EE-9DCBE9359319}"/>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8" name="Footer Placeholder 7">
            <a:extLst>
              <a:ext uri="{FF2B5EF4-FFF2-40B4-BE49-F238E27FC236}">
                <a16:creationId xmlns:a16="http://schemas.microsoft.com/office/drawing/2014/main" id="{F772B57B-8AF2-4A15-B4AB-1BE127C6B0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1374B8D-E941-4327-989C-EF590E7BD4D2}"/>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627671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E511-F376-4864-963C-822DE63936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C292F6-7361-495F-B87A-97CFCF45C907}"/>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4" name="Footer Placeholder 3">
            <a:extLst>
              <a:ext uri="{FF2B5EF4-FFF2-40B4-BE49-F238E27FC236}">
                <a16:creationId xmlns:a16="http://schemas.microsoft.com/office/drawing/2014/main" id="{2E2ED667-FA23-4238-9DC9-603C68135D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85204F2-440D-421C-A4F3-993CC7D31A34}"/>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2820376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681DA9-86E2-446F-97B1-95945B321CD7}"/>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3" name="Footer Placeholder 2">
            <a:extLst>
              <a:ext uri="{FF2B5EF4-FFF2-40B4-BE49-F238E27FC236}">
                <a16:creationId xmlns:a16="http://schemas.microsoft.com/office/drawing/2014/main" id="{F861814C-C49F-4B1A-8D5A-E76A917DC14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3CB9687-9812-4C8F-B4CC-5F937D8B3BC0}"/>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1078134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DCBEF-82BA-4669-9E7B-51319881E5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CEEEAB-C165-4C1E-8D50-A5404E0105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86983C-47E0-45A6-AF00-81B08CEFFB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6A8D8-6B93-41B3-BEE8-E4CD53C991D0}"/>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6" name="Footer Placeholder 5">
            <a:extLst>
              <a:ext uri="{FF2B5EF4-FFF2-40B4-BE49-F238E27FC236}">
                <a16:creationId xmlns:a16="http://schemas.microsoft.com/office/drawing/2014/main" id="{F6624811-32C8-45C8-BACE-14B782A7683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14FE574-1E14-46C1-9D0E-93C544CFA8DB}"/>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1407844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E76A9-8C1D-43E1-88AA-91D262B7CB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A912B1-A51A-4595-A017-4DD32A003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95B3A8-74B0-4DBC-B6A3-50091F74F9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C9DFA-2481-4F4D-AB20-BAB63513114D}"/>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6" name="Footer Placeholder 5">
            <a:extLst>
              <a:ext uri="{FF2B5EF4-FFF2-40B4-BE49-F238E27FC236}">
                <a16:creationId xmlns:a16="http://schemas.microsoft.com/office/drawing/2014/main" id="{AA40A896-D462-4798-B918-D8D61CA34EA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C2D00F-802A-4AE9-9E23-8CE855E87E9B}"/>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2606788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78CE-E55C-4180-A5C8-9D020B415F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D56904-45A5-4B44-95EE-236498EDF8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31A5B-A008-4021-9A06-5401823374BA}"/>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5" name="Footer Placeholder 4">
            <a:extLst>
              <a:ext uri="{FF2B5EF4-FFF2-40B4-BE49-F238E27FC236}">
                <a16:creationId xmlns:a16="http://schemas.microsoft.com/office/drawing/2014/main" id="{E9114A92-A4D6-44F8-91CC-AA47B6B8DE9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82A0C67-F949-4EF9-A5E4-0D3DD082A44E}"/>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2602566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3A273-84A6-45E5-AEDE-1EE145C1BB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CA47B9-E8B5-4E2B-8DB3-58F5ECC68B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529D8-B941-4F10-BAA8-BBB0C608833B}"/>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6/18/2023</a:t>
            </a:fld>
            <a:endParaRPr lang="en-US"/>
          </a:p>
        </p:txBody>
      </p:sp>
      <p:sp>
        <p:nvSpPr>
          <p:cNvPr id="5" name="Footer Placeholder 4">
            <a:extLst>
              <a:ext uri="{FF2B5EF4-FFF2-40B4-BE49-F238E27FC236}">
                <a16:creationId xmlns:a16="http://schemas.microsoft.com/office/drawing/2014/main" id="{37598421-F993-4FE9-AC55-80526D9A7C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B97208D-A169-4843-9917-E9B7D94B358F}"/>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a:t>
            </a:fld>
            <a:endParaRPr lang="en-US"/>
          </a:p>
        </p:txBody>
      </p:sp>
    </p:spTree>
    <p:extLst>
      <p:ext uri="{BB962C8B-B14F-4D97-AF65-F5344CB8AC3E}">
        <p14:creationId xmlns:p14="http://schemas.microsoft.com/office/powerpoint/2010/main" val="3327714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38040-58BC-42CF-B0E1-4021AAE0DFEE}"/>
              </a:ext>
            </a:extLst>
          </p:cNvPr>
          <p:cNvSpPr>
            <a:spLocks noGrp="1"/>
          </p:cNvSpPr>
          <p:nvPr>
            <p:ph type="title"/>
          </p:nvPr>
        </p:nvSpPr>
        <p:spPr>
          <a:xfrm>
            <a:off x="838200" y="21975"/>
            <a:ext cx="10515600" cy="66684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A51C751-C9B4-420E-9FC2-17D521431204}"/>
              </a:ext>
            </a:extLst>
          </p:cNvPr>
          <p:cNvSpPr>
            <a:spLocks noGrp="1"/>
          </p:cNvSpPr>
          <p:nvPr>
            <p:ph type="body" idx="1"/>
          </p:nvPr>
        </p:nvSpPr>
        <p:spPr>
          <a:xfrm>
            <a:off x="838200" y="688816"/>
            <a:ext cx="10515600" cy="548814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EFC5EBC2-48FF-4AE7-8A93-8A46A84D23FA}"/>
              </a:ext>
            </a:extLst>
          </p:cNvPr>
          <p:cNvCxnSpPr>
            <a:cxnSpLocks/>
          </p:cNvCxnSpPr>
          <p:nvPr userDrawn="1"/>
        </p:nvCxnSpPr>
        <p:spPr>
          <a:xfrm>
            <a:off x="838200" y="723559"/>
            <a:ext cx="10515600" cy="0"/>
          </a:xfrm>
          <a:prstGeom prst="line">
            <a:avLst/>
          </a:prstGeom>
          <a:ln w="38100">
            <a:solidFill>
              <a:srgbClr val="003A5D"/>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C252427-CE25-435F-B457-304E4F500EFE}"/>
              </a:ext>
            </a:extLst>
          </p:cNvPr>
          <p:cNvCxnSpPr/>
          <p:nvPr userDrawn="1"/>
        </p:nvCxnSpPr>
        <p:spPr>
          <a:xfrm>
            <a:off x="838200" y="6192520"/>
            <a:ext cx="10515600" cy="0"/>
          </a:xfrm>
          <a:prstGeom prst="line">
            <a:avLst/>
          </a:prstGeom>
          <a:ln w="19050">
            <a:solidFill>
              <a:srgbClr val="003A5D"/>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5ACB22-8E4D-401A-A3BA-16BB52BD29C5}"/>
              </a:ext>
            </a:extLst>
          </p:cNvPr>
          <p:cNvSpPr txBox="1"/>
          <p:nvPr userDrawn="1"/>
        </p:nvSpPr>
        <p:spPr>
          <a:xfrm>
            <a:off x="838200" y="6192520"/>
            <a:ext cx="10515600" cy="338554"/>
          </a:xfrm>
          <a:prstGeom prst="rect">
            <a:avLst/>
          </a:prstGeom>
          <a:noFill/>
        </p:spPr>
        <p:txBody>
          <a:bodyPr wrap="square" rtlCol="0">
            <a:spAutoFit/>
          </a:bodyPr>
          <a:lstStyle/>
          <a:p>
            <a:r>
              <a:rPr lang="es-419" sz="1600" dirty="0">
                <a:latin typeface="Georgia" panose="02040502050405020303" pitchFamily="18" charset="0"/>
              </a:rPr>
              <a:t>Giorgio Cunto Morales</a:t>
            </a:r>
            <a:endParaRPr lang="en-US" sz="1600" dirty="0">
              <a:latin typeface="Georgia" panose="02040502050405020303" pitchFamily="18" charset="0"/>
            </a:endParaRPr>
          </a:p>
        </p:txBody>
      </p:sp>
    </p:spTree>
    <p:extLst>
      <p:ext uri="{BB962C8B-B14F-4D97-AF65-F5344CB8AC3E}">
        <p14:creationId xmlns:p14="http://schemas.microsoft.com/office/powerpoint/2010/main" val="2448213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8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4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590.png"/><Relationship Id="rId4" Type="http://schemas.openxmlformats.org/officeDocument/2006/relationships/image" Target="../media/image48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7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730.png"/><Relationship Id="rId4" Type="http://schemas.openxmlformats.org/officeDocument/2006/relationships/image" Target="../media/image72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www.linkedin.com/in/giorgiocmorales/" TargetMode="External"/><Relationship Id="rId2" Type="http://schemas.openxmlformats.org/officeDocument/2006/relationships/hyperlink" Target="mailto:gcuntomo@ucab.edu.v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143B509-C3AB-4D18-8154-6C185FB4DCB6}"/>
              </a:ext>
            </a:extLst>
          </p:cNvPr>
          <p:cNvSpPr>
            <a:spLocks noGrp="1"/>
          </p:cNvSpPr>
          <p:nvPr>
            <p:ph type="subTitle" idx="1"/>
          </p:nvPr>
        </p:nvSpPr>
        <p:spPr/>
        <p:txBody>
          <a:bodyPr>
            <a:normAutofit/>
          </a:bodyPr>
          <a:lstStyle/>
          <a:p>
            <a:r>
              <a:rPr lang="es-419" sz="2800" b="1" dirty="0">
                <a:solidFill>
                  <a:srgbClr val="003A5D"/>
                </a:solidFill>
                <a:latin typeface="Georgia" panose="02040502050405020303" pitchFamily="18" charset="0"/>
              </a:rPr>
              <a:t>ESTADÍSTICA III</a:t>
            </a:r>
          </a:p>
          <a:p>
            <a:r>
              <a:rPr lang="es-419" dirty="0">
                <a:latin typeface="Georgia" panose="02040502050405020303" pitchFamily="18" charset="0"/>
              </a:rPr>
              <a:t>Contraste de Hipótesis</a:t>
            </a:r>
            <a:endParaRPr lang="en-US" dirty="0">
              <a:latin typeface="Georgia" panose="02040502050405020303" pitchFamily="18" charset="0"/>
            </a:endParaRPr>
          </a:p>
        </p:txBody>
      </p:sp>
      <p:pic>
        <p:nvPicPr>
          <p:cNvPr id="5" name="Picture 4">
            <a:extLst>
              <a:ext uri="{FF2B5EF4-FFF2-40B4-BE49-F238E27FC236}">
                <a16:creationId xmlns:a16="http://schemas.microsoft.com/office/drawing/2014/main" id="{71C6C2B5-519A-412E-8AF8-57C867BD7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428" y="1908313"/>
            <a:ext cx="8909144" cy="1347649"/>
          </a:xfrm>
          <a:prstGeom prst="rect">
            <a:avLst/>
          </a:prstGeom>
        </p:spPr>
      </p:pic>
    </p:spTree>
    <p:extLst>
      <p:ext uri="{BB962C8B-B14F-4D97-AF65-F5344CB8AC3E}">
        <p14:creationId xmlns:p14="http://schemas.microsoft.com/office/powerpoint/2010/main" val="3035302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4357B-7739-64ED-CF4A-BEB18B31C762}"/>
              </a:ext>
            </a:extLst>
          </p:cNvPr>
          <p:cNvSpPr>
            <a:spLocks noGrp="1"/>
          </p:cNvSpPr>
          <p:nvPr>
            <p:ph type="title"/>
          </p:nvPr>
        </p:nvSpPr>
        <p:spPr/>
        <p:txBody>
          <a:bodyPr/>
          <a:lstStyle/>
          <a:p>
            <a:r>
              <a:rPr lang="es-VE" dirty="0"/>
              <a:t>Mensaje principal</a:t>
            </a:r>
          </a:p>
        </p:txBody>
      </p:sp>
      <p:sp>
        <p:nvSpPr>
          <p:cNvPr id="3" name="Marcador de contenido 2">
            <a:extLst>
              <a:ext uri="{FF2B5EF4-FFF2-40B4-BE49-F238E27FC236}">
                <a16:creationId xmlns:a16="http://schemas.microsoft.com/office/drawing/2014/main" id="{9478D337-D951-332A-AC1D-6135DA1A7AA2}"/>
              </a:ext>
            </a:extLst>
          </p:cNvPr>
          <p:cNvSpPr>
            <a:spLocks noGrp="1"/>
          </p:cNvSpPr>
          <p:nvPr>
            <p:ph idx="1"/>
          </p:nvPr>
        </p:nvSpPr>
        <p:spPr/>
        <p:txBody>
          <a:bodyPr>
            <a:normAutofit/>
          </a:bodyPr>
          <a:lstStyle/>
          <a:p>
            <a:pPr marL="0" indent="0" algn="ctr">
              <a:lnSpc>
                <a:spcPct val="150000"/>
              </a:lnSpc>
              <a:buNone/>
            </a:pPr>
            <a:endParaRPr lang="es-VE" sz="2400" i="1" dirty="0"/>
          </a:p>
          <a:p>
            <a:pPr marL="0" indent="0" algn="ctr">
              <a:lnSpc>
                <a:spcPct val="150000"/>
              </a:lnSpc>
              <a:buNone/>
            </a:pPr>
            <a:endParaRPr lang="es-VE" sz="2400" i="1" dirty="0"/>
          </a:p>
          <a:p>
            <a:pPr marL="0" indent="0" algn="ctr">
              <a:lnSpc>
                <a:spcPct val="150000"/>
              </a:lnSpc>
              <a:buNone/>
            </a:pPr>
            <a:r>
              <a:rPr lang="es-VE" sz="2400" i="1" dirty="0"/>
              <a:t>Para muchos parámetros poblacionales, se pueden plantear contrastes a partir de estadísticos con distribuciones conocidas y trabajar con ellos de forma estandarizada.</a:t>
            </a:r>
          </a:p>
          <a:p>
            <a:pPr marL="0" indent="0" algn="ctr">
              <a:lnSpc>
                <a:spcPct val="150000"/>
              </a:lnSpc>
              <a:buNone/>
            </a:pPr>
            <a:endParaRPr lang="es-VE" i="1" dirty="0"/>
          </a:p>
          <a:p>
            <a:pPr marL="0" indent="0" algn="ctr">
              <a:lnSpc>
                <a:spcPct val="150000"/>
              </a:lnSpc>
              <a:buNone/>
            </a:pPr>
            <a:endParaRPr lang="es-VE" i="1" dirty="0"/>
          </a:p>
        </p:txBody>
      </p:sp>
    </p:spTree>
    <p:extLst>
      <p:ext uri="{BB962C8B-B14F-4D97-AF65-F5344CB8AC3E}">
        <p14:creationId xmlns:p14="http://schemas.microsoft.com/office/powerpoint/2010/main" val="1954462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88FDA7-7F95-48AB-BA14-43466AAD17C7}"/>
              </a:ext>
            </a:extLst>
          </p:cNvPr>
          <p:cNvSpPr>
            <a:spLocks noGrp="1"/>
          </p:cNvSpPr>
          <p:nvPr>
            <p:ph type="title"/>
          </p:nvPr>
        </p:nvSpPr>
        <p:spPr/>
        <p:txBody>
          <a:bodyPr>
            <a:normAutofit/>
          </a:bodyPr>
          <a:lstStyle/>
          <a:p>
            <a:r>
              <a:rPr lang="es-419" sz="4800" dirty="0"/>
              <a:t>Contrastes para parámetros determinados</a:t>
            </a:r>
          </a:p>
        </p:txBody>
      </p:sp>
      <p:sp>
        <p:nvSpPr>
          <p:cNvPr id="5" name="Text Placeholder 4">
            <a:extLst>
              <a:ext uri="{FF2B5EF4-FFF2-40B4-BE49-F238E27FC236}">
                <a16:creationId xmlns:a16="http://schemas.microsoft.com/office/drawing/2014/main" id="{F39C5933-CAFC-46D8-AC24-39A264C2D41F}"/>
              </a:ext>
            </a:extLst>
          </p:cNvPr>
          <p:cNvSpPr>
            <a:spLocks noGrp="1"/>
          </p:cNvSpPr>
          <p:nvPr>
            <p:ph type="body" idx="1"/>
          </p:nvPr>
        </p:nvSpPr>
        <p:spPr/>
        <p:txBody>
          <a:bodyPr/>
          <a:lstStyle/>
          <a:p>
            <a:r>
              <a:rPr lang="es-419" dirty="0"/>
              <a:t>Usando estimadores con distribuciones conocidas</a:t>
            </a:r>
          </a:p>
        </p:txBody>
      </p:sp>
    </p:spTree>
    <p:extLst>
      <p:ext uri="{BB962C8B-B14F-4D97-AF65-F5344CB8AC3E}">
        <p14:creationId xmlns:p14="http://schemas.microsoft.com/office/powerpoint/2010/main" val="4248817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CBB11B-893D-4E8F-869D-7AAA8CCB01D8}"/>
              </a:ext>
            </a:extLst>
          </p:cNvPr>
          <p:cNvSpPr>
            <a:spLocks noGrp="1"/>
          </p:cNvSpPr>
          <p:nvPr>
            <p:ph type="title"/>
          </p:nvPr>
        </p:nvSpPr>
        <p:spPr/>
        <p:txBody>
          <a:bodyPr/>
          <a:lstStyle/>
          <a:p>
            <a:r>
              <a:rPr lang="es-419" dirty="0"/>
              <a:t>Pasos a tener en cuenta cuando se realiza un contraste</a:t>
            </a:r>
          </a:p>
        </p:txBody>
      </p:sp>
      <p:sp>
        <p:nvSpPr>
          <p:cNvPr id="5" name="Content Placeholder 4">
            <a:extLst>
              <a:ext uri="{FF2B5EF4-FFF2-40B4-BE49-F238E27FC236}">
                <a16:creationId xmlns:a16="http://schemas.microsoft.com/office/drawing/2014/main" id="{29548C5B-10EF-432E-B5B5-D93C0929E85C}"/>
              </a:ext>
            </a:extLst>
          </p:cNvPr>
          <p:cNvSpPr>
            <a:spLocks noGrp="1"/>
          </p:cNvSpPr>
          <p:nvPr>
            <p:ph idx="1"/>
          </p:nvPr>
        </p:nvSpPr>
        <p:spPr/>
        <p:txBody>
          <a:bodyPr>
            <a:noAutofit/>
          </a:bodyPr>
          <a:lstStyle/>
          <a:p>
            <a:pPr marL="514350" indent="-514350">
              <a:lnSpc>
                <a:spcPct val="170000"/>
              </a:lnSpc>
              <a:buFont typeface="+mj-lt"/>
              <a:buAutoNum type="arabicPeriod"/>
            </a:pPr>
            <a:r>
              <a:rPr lang="es-ES" sz="1700" dirty="0"/>
              <a:t>Identificar el parámetro poblacional en cuestión: (</a:t>
            </a:r>
            <a:r>
              <a:rPr lang="el-GR" sz="1700" i="1" dirty="0"/>
              <a:t>μ</a:t>
            </a:r>
            <a:r>
              <a:rPr lang="es-419" sz="1700" i="1" dirty="0"/>
              <a:t>, </a:t>
            </a:r>
            <a:r>
              <a:rPr lang="el-GR" sz="1700" i="1" dirty="0"/>
              <a:t>χ</a:t>
            </a:r>
            <a:r>
              <a:rPr lang="es-419" sz="1700" i="1" baseline="30000" dirty="0"/>
              <a:t>2</a:t>
            </a:r>
            <a:r>
              <a:rPr lang="es-419" sz="1700" i="1" dirty="0"/>
              <a:t>, </a:t>
            </a:r>
            <a:r>
              <a:rPr lang="el-GR" sz="1700" i="1" dirty="0"/>
              <a:t>ρ</a:t>
            </a:r>
            <a:r>
              <a:rPr lang="es-ES" sz="1700" dirty="0"/>
              <a:t>) </a:t>
            </a:r>
          </a:p>
          <a:p>
            <a:pPr marL="514350" indent="-514350">
              <a:lnSpc>
                <a:spcPct val="170000"/>
              </a:lnSpc>
              <a:buFont typeface="+mj-lt"/>
              <a:buAutoNum type="arabicPeriod"/>
            </a:pPr>
            <a:r>
              <a:rPr lang="es-ES" sz="1700" dirty="0"/>
              <a:t>Establecer </a:t>
            </a:r>
            <a:r>
              <a:rPr lang="es-419" sz="1700" b="1" i="1" dirty="0">
                <a:solidFill>
                  <a:srgbClr val="003A5D"/>
                </a:solidFill>
              </a:rPr>
              <a:t>H</a:t>
            </a:r>
            <a:r>
              <a:rPr lang="es-419" sz="1700" b="1" i="1" baseline="-25000" dirty="0">
                <a:solidFill>
                  <a:srgbClr val="003A5D"/>
                </a:solidFill>
              </a:rPr>
              <a:t>0</a:t>
            </a:r>
            <a:r>
              <a:rPr lang="es-ES" sz="1700" dirty="0"/>
              <a:t> y </a:t>
            </a:r>
            <a:r>
              <a:rPr lang="es-419" sz="1700" b="1" i="1" dirty="0">
                <a:solidFill>
                  <a:srgbClr val="003A5D"/>
                </a:solidFill>
              </a:rPr>
              <a:t>H</a:t>
            </a:r>
            <a:r>
              <a:rPr lang="es-419" sz="1700" b="1" i="1" baseline="-25000" dirty="0">
                <a:solidFill>
                  <a:srgbClr val="003A5D"/>
                </a:solidFill>
              </a:rPr>
              <a:t>1</a:t>
            </a:r>
            <a:r>
              <a:rPr lang="es-ES" sz="1700" dirty="0"/>
              <a:t>, que deben ser mutuamente excluyentes. Se escoge contraste.</a:t>
            </a:r>
          </a:p>
          <a:p>
            <a:pPr marL="514350" indent="-514350">
              <a:lnSpc>
                <a:spcPct val="170000"/>
              </a:lnSpc>
              <a:buFont typeface="+mj-lt"/>
              <a:buAutoNum type="arabicPeriod"/>
            </a:pPr>
            <a:r>
              <a:rPr lang="es-ES" sz="1700" dirty="0"/>
              <a:t>Fijar </a:t>
            </a:r>
            <a:r>
              <a:rPr lang="el-GR" sz="1700" b="1" i="1" dirty="0">
                <a:solidFill>
                  <a:srgbClr val="003A5D"/>
                </a:solidFill>
              </a:rPr>
              <a:t>α</a:t>
            </a:r>
            <a:r>
              <a:rPr lang="es-419" sz="1700" dirty="0">
                <a:solidFill>
                  <a:srgbClr val="003A5D"/>
                </a:solidFill>
              </a:rPr>
              <a:t>. </a:t>
            </a:r>
            <a:r>
              <a:rPr lang="es-419" sz="1700" dirty="0"/>
              <a:t>(Usualmente determinado por los problemas)</a:t>
            </a:r>
            <a:endParaRPr lang="es-ES" sz="1700" dirty="0"/>
          </a:p>
          <a:p>
            <a:pPr marL="514350" indent="-514350">
              <a:lnSpc>
                <a:spcPct val="170000"/>
              </a:lnSpc>
              <a:buFont typeface="+mj-lt"/>
              <a:buAutoNum type="arabicPeriod"/>
            </a:pPr>
            <a:r>
              <a:rPr lang="es-ES" sz="1700" dirty="0"/>
              <a:t>Elegir el </a:t>
            </a:r>
            <a:r>
              <a:rPr lang="es-ES" sz="1700" b="1" dirty="0">
                <a:solidFill>
                  <a:srgbClr val="003A5D"/>
                </a:solidFill>
              </a:rPr>
              <a:t>estadístico de prueba</a:t>
            </a:r>
            <a:r>
              <a:rPr lang="es-ES" sz="1700" dirty="0"/>
              <a:t>, cuya distribución de probabilidad es conocida bajo </a:t>
            </a:r>
            <a:r>
              <a:rPr lang="es-419" sz="1700" b="1" i="1" dirty="0">
                <a:solidFill>
                  <a:srgbClr val="003A5D"/>
                </a:solidFill>
              </a:rPr>
              <a:t>H</a:t>
            </a:r>
            <a:r>
              <a:rPr lang="es-419" sz="1700" b="1" i="1" baseline="-25000" dirty="0">
                <a:solidFill>
                  <a:srgbClr val="003A5D"/>
                </a:solidFill>
              </a:rPr>
              <a:t>0</a:t>
            </a:r>
            <a:r>
              <a:rPr lang="es-ES" sz="1700" dirty="0"/>
              <a:t>.</a:t>
            </a:r>
          </a:p>
          <a:p>
            <a:pPr lvl="1">
              <a:lnSpc>
                <a:spcPct val="170000"/>
              </a:lnSpc>
            </a:pPr>
            <a:r>
              <a:rPr lang="es-ES" sz="1700" dirty="0"/>
              <a:t>Considerar que la selección del estadístico dependerá de condiciones del ejercicio.</a:t>
            </a:r>
          </a:p>
          <a:p>
            <a:pPr marL="514350" indent="-514350">
              <a:lnSpc>
                <a:spcPct val="170000"/>
              </a:lnSpc>
              <a:buFont typeface="+mj-lt"/>
              <a:buAutoNum type="arabicPeriod"/>
            </a:pPr>
            <a:r>
              <a:rPr lang="es-ES" sz="1700" dirty="0"/>
              <a:t>Evaluar/calcular valor de </a:t>
            </a:r>
            <a:r>
              <a:rPr lang="es-ES" sz="1700" b="1" dirty="0">
                <a:solidFill>
                  <a:srgbClr val="003A5D"/>
                </a:solidFill>
              </a:rPr>
              <a:t>estadístico de prueba</a:t>
            </a:r>
            <a:r>
              <a:rPr lang="es-ES" sz="1700" dirty="0"/>
              <a:t>.</a:t>
            </a:r>
          </a:p>
          <a:p>
            <a:pPr marL="514350" indent="-514350">
              <a:lnSpc>
                <a:spcPct val="170000"/>
              </a:lnSpc>
              <a:buFont typeface="+mj-lt"/>
              <a:buAutoNum type="arabicPeriod"/>
            </a:pPr>
            <a:r>
              <a:rPr lang="es-ES" sz="1700" dirty="0"/>
              <a:t>Determinar la </a:t>
            </a:r>
            <a:r>
              <a:rPr lang="es-ES" sz="1700" b="1" dirty="0">
                <a:solidFill>
                  <a:srgbClr val="003A5D"/>
                </a:solidFill>
              </a:rPr>
              <a:t>regla de decisión</a:t>
            </a:r>
            <a:r>
              <a:rPr lang="es-ES" sz="1700" dirty="0"/>
              <a:t>, íntimamente ligada con las regiones de rechazo y no rechazo.</a:t>
            </a:r>
          </a:p>
          <a:p>
            <a:pPr marL="514350" indent="-514350">
              <a:lnSpc>
                <a:spcPct val="170000"/>
              </a:lnSpc>
              <a:buFont typeface="+mj-lt"/>
              <a:buAutoNum type="arabicPeriod"/>
            </a:pPr>
            <a:r>
              <a:rPr lang="es-ES" sz="1700" dirty="0"/>
              <a:t>Decidir si se rechaza o no </a:t>
            </a:r>
            <a:r>
              <a:rPr lang="es-419" sz="1700" b="1" i="1" dirty="0">
                <a:solidFill>
                  <a:srgbClr val="003A5D"/>
                </a:solidFill>
              </a:rPr>
              <a:t>H</a:t>
            </a:r>
            <a:r>
              <a:rPr lang="es-419" sz="1700" b="1" i="1" baseline="-25000" dirty="0">
                <a:solidFill>
                  <a:srgbClr val="003A5D"/>
                </a:solidFill>
              </a:rPr>
              <a:t>0</a:t>
            </a:r>
            <a:r>
              <a:rPr lang="es-ES" sz="1700" dirty="0"/>
              <a:t>, dependiendo de dónde cae el valor del estadístico y su respectivo </a:t>
            </a:r>
            <a:r>
              <a:rPr lang="es-ES" sz="1700" b="1" dirty="0">
                <a:solidFill>
                  <a:srgbClr val="003A5D"/>
                </a:solidFill>
              </a:rPr>
              <a:t>p-valor</a:t>
            </a:r>
            <a:r>
              <a:rPr lang="es-ES" sz="1700" dirty="0"/>
              <a:t>.</a:t>
            </a:r>
          </a:p>
          <a:p>
            <a:pPr marL="514350" indent="-514350">
              <a:lnSpc>
                <a:spcPct val="170000"/>
              </a:lnSpc>
              <a:buFont typeface="+mj-lt"/>
              <a:buAutoNum type="arabicPeriod"/>
            </a:pPr>
            <a:r>
              <a:rPr lang="es-ES" sz="1700" dirty="0"/>
              <a:t>Reportar esta decisión en términos del problema.</a:t>
            </a:r>
            <a:endParaRPr lang="es-419" sz="1700" dirty="0"/>
          </a:p>
        </p:txBody>
      </p:sp>
    </p:spTree>
    <p:extLst>
      <p:ext uri="{BB962C8B-B14F-4D97-AF65-F5344CB8AC3E}">
        <p14:creationId xmlns:p14="http://schemas.microsoft.com/office/powerpoint/2010/main" val="1332911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88FDA7-7F95-48AB-BA14-43466AAD17C7}"/>
              </a:ext>
            </a:extLst>
          </p:cNvPr>
          <p:cNvSpPr>
            <a:spLocks noGrp="1"/>
          </p:cNvSpPr>
          <p:nvPr>
            <p:ph type="title"/>
          </p:nvPr>
        </p:nvSpPr>
        <p:spPr/>
        <p:txBody>
          <a:bodyPr>
            <a:normAutofit/>
          </a:bodyPr>
          <a:lstStyle/>
          <a:p>
            <a:r>
              <a:rPr lang="es-419" sz="4800" dirty="0"/>
              <a:t>Contraste para la media de una población</a:t>
            </a:r>
          </a:p>
        </p:txBody>
      </p:sp>
      <p:sp>
        <p:nvSpPr>
          <p:cNvPr id="5" name="Text Placeholder 4">
            <a:extLst>
              <a:ext uri="{FF2B5EF4-FFF2-40B4-BE49-F238E27FC236}">
                <a16:creationId xmlns:a16="http://schemas.microsoft.com/office/drawing/2014/main" id="{F39C5933-CAFC-46D8-AC24-39A264C2D41F}"/>
              </a:ext>
            </a:extLst>
          </p:cNvPr>
          <p:cNvSpPr>
            <a:spLocks noGrp="1"/>
          </p:cNvSpPr>
          <p:nvPr>
            <p:ph type="body" idx="1"/>
          </p:nvPr>
        </p:nvSpPr>
        <p:spPr/>
        <p:txBody>
          <a:bodyPr/>
          <a:lstStyle/>
          <a:p>
            <a:r>
              <a:rPr lang="es-419" dirty="0"/>
              <a:t>Entrando en operaciones cuantitativas</a:t>
            </a:r>
          </a:p>
        </p:txBody>
      </p:sp>
    </p:spTree>
    <p:extLst>
      <p:ext uri="{BB962C8B-B14F-4D97-AF65-F5344CB8AC3E}">
        <p14:creationId xmlns:p14="http://schemas.microsoft.com/office/powerpoint/2010/main" val="3397285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media de una población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r>
                  <a:rPr lang="es-419" dirty="0"/>
                  <a:t>Se emplean estadísticos de prueba con distribuciones conocidas:</a:t>
                </a:r>
              </a:p>
              <a:p>
                <a:pPr marL="514350" indent="-514350">
                  <a:lnSpc>
                    <a:spcPct val="150000"/>
                  </a:lnSpc>
                  <a:buFont typeface="+mj-lt"/>
                  <a:buAutoNum type="alphaLcParenR"/>
                </a:pPr>
                <a:r>
                  <a:rPr lang="es-419" dirty="0"/>
                  <a:t>Con varianza poblacional conocida.</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𝑍</m:t>
                      </m:r>
                      <m:r>
                        <a:rPr lang="es-419" b="0" i="1" smtClean="0">
                          <a:latin typeface="Cambria Math" panose="02040503050406030204" pitchFamily="18" charset="0"/>
                        </a:rPr>
                        <m:t>=</m:t>
                      </m:r>
                      <m:f>
                        <m:fPr>
                          <m:ctrlPr>
                            <a:rPr lang="es-419" b="0" i="1" smtClean="0">
                              <a:latin typeface="Cambria Math" panose="02040503050406030204" pitchFamily="18" charset="0"/>
                            </a:rPr>
                          </m:ctrlPr>
                        </m:fPr>
                        <m:num>
                          <m:r>
                            <a:rPr lang="es-419" b="0" i="1" smtClean="0">
                              <a:latin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dirty="0" smtClean="0">
                              <a:latin typeface="Cambria Math" panose="02040503050406030204" pitchFamily="18" charset="0"/>
                              <a:ea typeface="Cambria Math" panose="02040503050406030204" pitchFamily="18" charset="0"/>
                            </a:rPr>
                            <m:t>−</m:t>
                          </m:r>
                          <m:sSub>
                            <m:sSubPr>
                              <m:ctrlPr>
                                <a:rPr lang="es-419" b="0" i="1" dirty="0" smtClean="0">
                                  <a:latin typeface="Cambria Math" panose="02040503050406030204" pitchFamily="18" charset="0"/>
                                  <a:ea typeface="Cambria Math" panose="02040503050406030204" pitchFamily="18" charset="0"/>
                                </a:rPr>
                              </m:ctrlPr>
                            </m:sSubPr>
                            <m:e>
                              <m:r>
                                <a:rPr lang="es-419" b="0" i="1" dirty="0" smtClean="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0</m:t>
                              </m:r>
                            </m:sub>
                          </m:sSub>
                          <m:r>
                            <a:rPr lang="es-419" b="0" i="1" dirty="0" smtClean="0">
                              <a:latin typeface="Cambria Math" panose="02040503050406030204" pitchFamily="18" charset="0"/>
                              <a:ea typeface="Cambria Math" panose="02040503050406030204" pitchFamily="18" charset="0"/>
                            </a:rPr>
                            <m:t>)</m:t>
                          </m:r>
                          <m:rad>
                            <m:radPr>
                              <m:degHide m:val="on"/>
                              <m:ctrlPr>
                                <a:rPr lang="es-419" b="0" i="1" dirty="0" smtClean="0">
                                  <a:latin typeface="Cambria Math" panose="02040503050406030204" pitchFamily="18" charset="0"/>
                                  <a:ea typeface="Cambria Math" panose="02040503050406030204" pitchFamily="18" charset="0"/>
                                </a:rPr>
                              </m:ctrlPr>
                            </m:radPr>
                            <m:deg/>
                            <m:e>
                              <m:r>
                                <a:rPr lang="es-419" b="0" i="1" dirty="0" smtClean="0">
                                  <a:latin typeface="Cambria Math" panose="02040503050406030204" pitchFamily="18" charset="0"/>
                                  <a:ea typeface="Cambria Math" panose="02040503050406030204" pitchFamily="18" charset="0"/>
                                </a:rPr>
                                <m:t>𝑛</m:t>
                              </m:r>
                            </m:e>
                          </m:rad>
                        </m:num>
                        <m:den>
                          <m:r>
                            <a:rPr lang="es-419" i="1">
                              <a:latin typeface="Cambria Math" panose="02040503050406030204" pitchFamily="18" charset="0"/>
                              <a:ea typeface="Cambria Math" panose="02040503050406030204" pitchFamily="18" charset="0"/>
                            </a:rPr>
                            <m:t>𝜎</m:t>
                          </m:r>
                        </m:den>
                      </m:f>
                      <m:r>
                        <a:rPr lang="es-419"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(0,1)</m:t>
                      </m:r>
                    </m:oMath>
                  </m:oMathPara>
                </a14:m>
                <a:endParaRPr lang="es-419" dirty="0"/>
              </a:p>
              <a:p>
                <a:pPr>
                  <a:lnSpc>
                    <a:spcPct val="150000"/>
                  </a:lnSpc>
                </a:pPr>
                <a:r>
                  <a:rPr lang="es-419" dirty="0"/>
                  <a:t>El estadístico de prueba se distribuye como una </a:t>
                </a:r>
                <a:r>
                  <a:rPr lang="es-419" b="1" dirty="0">
                    <a:solidFill>
                      <a:srgbClr val="003A5D"/>
                    </a:solidFill>
                  </a:rPr>
                  <a:t>normal estandarizada</a:t>
                </a:r>
                <a:r>
                  <a:rPr lang="es-419" dirty="0"/>
                  <a:t>.</a:t>
                </a:r>
              </a:p>
              <a:p>
                <a:pPr>
                  <a:lnSpc>
                    <a:spcPct val="150000"/>
                  </a:lnSpc>
                </a:pPr>
                <a:r>
                  <a:rPr lang="es-419" dirty="0"/>
                  <a:t>En </a:t>
                </a:r>
                <a:r>
                  <a:rPr lang="es-419" b="1" dirty="0">
                    <a:solidFill>
                      <a:srgbClr val="003A5D"/>
                    </a:solidFill>
                  </a:rPr>
                  <a:t>R</a:t>
                </a:r>
                <a:r>
                  <a:rPr lang="es-419" dirty="0"/>
                  <a:t> se emplea la función </a:t>
                </a:r>
                <a:r>
                  <a:rPr lang="es-419" dirty="0" err="1">
                    <a:solidFill>
                      <a:srgbClr val="003A5D"/>
                    </a:solidFill>
                    <a:latin typeface="Consolas" panose="020B0609020204030204" pitchFamily="49" charset="0"/>
                  </a:rPr>
                  <a:t>z.test</a:t>
                </a:r>
                <a:r>
                  <a:rPr lang="es-419" dirty="0">
                    <a:solidFill>
                      <a:srgbClr val="003A5D"/>
                    </a:solidFill>
                    <a:latin typeface="Consolas" panose="020B0609020204030204" pitchFamily="49" charset="0"/>
                  </a:rPr>
                  <a:t>() </a:t>
                </a:r>
                <a:r>
                  <a:rPr lang="es-419" dirty="0"/>
                  <a:t>del paquete </a:t>
                </a:r>
                <a:r>
                  <a:rPr lang="es-419" dirty="0">
                    <a:solidFill>
                      <a:srgbClr val="003A5D"/>
                    </a:solidFill>
                    <a:latin typeface="Consolas" panose="020B0609020204030204" pitchFamily="49" charset="0"/>
                  </a:rPr>
                  <a:t>BSDA</a:t>
                </a:r>
              </a:p>
              <a:p>
                <a:pPr>
                  <a:lnSpc>
                    <a:spcPct val="150000"/>
                  </a:lnSpc>
                </a:pPr>
                <a:endParaRPr lang="es-419" dirty="0"/>
              </a:p>
              <a:p>
                <a:pPr>
                  <a:lnSpc>
                    <a:spcPct val="150000"/>
                  </a:lnSpc>
                </a:pPr>
                <a:endParaRPr lang="es-419" dirty="0"/>
              </a:p>
              <a:p>
                <a:pPr marL="514350" indent="-514350">
                  <a:lnSpc>
                    <a:spcPct val="150000"/>
                  </a:lnSpc>
                  <a:buFont typeface="+mj-lt"/>
                  <a:buAutoNum type="alphaLcParenR"/>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101" r="-870"/>
                </a:stretch>
              </a:blipFill>
            </p:spPr>
            <p:txBody>
              <a:bodyPr/>
              <a:lstStyle/>
              <a:p>
                <a:r>
                  <a:rPr lang="en-US">
                    <a:noFill/>
                  </a:rPr>
                  <a:t> </a:t>
                </a:r>
              </a:p>
            </p:txBody>
          </p:sp>
        </mc:Fallback>
      </mc:AlternateContent>
    </p:spTree>
    <p:extLst>
      <p:ext uri="{BB962C8B-B14F-4D97-AF65-F5344CB8AC3E}">
        <p14:creationId xmlns:p14="http://schemas.microsoft.com/office/powerpoint/2010/main" val="1358194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normAutofit/>
              </a:bodyPr>
              <a:lstStyle/>
              <a:p>
                <a:r>
                  <a:rPr lang="es-419" dirty="0"/>
                  <a:t>Contraste para la media de una población (</a:t>
                </a:r>
                <a14:m>
                  <m:oMath xmlns:m="http://schemas.openxmlformats.org/officeDocument/2006/math">
                    <m:sSup>
                      <m:sSupPr>
                        <m:ctrlPr>
                          <a:rPr lang="es-419" i="1" smtClean="0">
                            <a:latin typeface="Cambria Math" panose="02040503050406030204" pitchFamily="18" charset="0"/>
                          </a:rPr>
                        </m:ctrlPr>
                      </m:sSupPr>
                      <m:e>
                        <m:r>
                          <a:rPr lang="es-419" i="1" smtClean="0">
                            <a:latin typeface="Cambria Math" panose="02040503050406030204" pitchFamily="18" charset="0"/>
                            <a:ea typeface="Cambria Math" panose="02040503050406030204" pitchFamily="18" charset="0"/>
                          </a:rPr>
                          <m:t>𝜎</m:t>
                        </m:r>
                      </m:e>
                      <m:sup>
                        <m:r>
                          <a:rPr lang="es-VE" b="0" i="1" smtClean="0">
                            <a:latin typeface="Cambria Math" panose="02040503050406030204" pitchFamily="18" charset="0"/>
                          </a:rPr>
                          <m:t>2</m:t>
                        </m:r>
                      </m:sup>
                    </m:sSup>
                  </m:oMath>
                </a14:m>
                <a:r>
                  <a:rPr lang="es-419" dirty="0"/>
                  <a:t> conocida)</a:t>
                </a:r>
              </a:p>
            </p:txBody>
          </p:sp>
        </mc:Choice>
        <mc:Fallback xmlns="">
          <p:sp>
            <p:nvSpPr>
              <p:cNvPr id="2" name="Title 1">
                <a:extLst>
                  <a:ext uri="{FF2B5EF4-FFF2-40B4-BE49-F238E27FC236}">
                    <a16:creationId xmlns:a16="http://schemas.microsoft.com/office/drawing/2014/main" id="{6BFFC5A1-DE84-43AE-A501-47E70BB9E1F7}"/>
                  </a:ext>
                </a:extLst>
              </p:cNvPr>
              <p:cNvSpPr>
                <a:spLocks noGrp="1" noRot="1" noChangeAspect="1" noMove="1" noResize="1" noEditPoints="1" noAdjustHandles="1" noChangeArrowheads="1" noChangeShapeType="1" noTextEdit="1"/>
              </p:cNvSpPr>
              <p:nvPr>
                <p:ph type="title"/>
              </p:nvPr>
            </p:nvSpPr>
            <p:spPr>
              <a:blipFill>
                <a:blip r:embed="rId2"/>
                <a:stretch>
                  <a:fillRect l="-1507" t="-8257" b="-21101"/>
                </a:stretch>
              </a:blipFill>
            </p:spPr>
            <p:txBody>
              <a:bodyPr/>
              <a:lstStyle/>
              <a:p>
                <a:r>
                  <a:rPr lang="es-VE">
                    <a:noFill/>
                  </a:rPr>
                  <a:t> </a:t>
                </a:r>
              </a:p>
            </p:txBody>
          </p:sp>
        </mc:Fallback>
      </mc:AlternateContent>
      <p:pic>
        <p:nvPicPr>
          <p:cNvPr id="3" name="Imagen 2">
            <a:extLst>
              <a:ext uri="{FF2B5EF4-FFF2-40B4-BE49-F238E27FC236}">
                <a16:creationId xmlns:a16="http://schemas.microsoft.com/office/drawing/2014/main" id="{EF955F05-E357-B46D-400D-B98790A99260}"/>
              </a:ext>
            </a:extLst>
          </p:cNvPr>
          <p:cNvPicPr>
            <a:picLocks noChangeAspect="1"/>
          </p:cNvPicPr>
          <p:nvPr/>
        </p:nvPicPr>
        <p:blipFill>
          <a:blip r:embed="rId3"/>
          <a:stretch>
            <a:fillRect/>
          </a:stretch>
        </p:blipFill>
        <p:spPr>
          <a:xfrm>
            <a:off x="2300410" y="1089000"/>
            <a:ext cx="7591181" cy="4680000"/>
          </a:xfrm>
          <a:prstGeom prst="rect">
            <a:avLst/>
          </a:prstGeom>
        </p:spPr>
      </p:pic>
    </p:spTree>
    <p:extLst>
      <p:ext uri="{BB962C8B-B14F-4D97-AF65-F5344CB8AC3E}">
        <p14:creationId xmlns:p14="http://schemas.microsoft.com/office/powerpoint/2010/main" val="1103260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media de una población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marL="514350" indent="-514350">
                  <a:lnSpc>
                    <a:spcPct val="150000"/>
                  </a:lnSpc>
                  <a:buFont typeface="+mj-lt"/>
                  <a:buAutoNum type="alphaLcParenR" startAt="2"/>
                </a:pPr>
                <a:r>
                  <a:rPr lang="es-419" dirty="0"/>
                  <a:t>Con varianza poblacional desconocida (aproximando vía varianza muestral insesgada).</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𝑡</m:t>
                      </m:r>
                      <m:r>
                        <a:rPr lang="es-419" b="0" i="1" smtClean="0">
                          <a:latin typeface="Cambria Math" panose="02040503050406030204" pitchFamily="18" charset="0"/>
                        </a:rPr>
                        <m:t>=</m:t>
                      </m:r>
                      <m:f>
                        <m:fPr>
                          <m:ctrlPr>
                            <a:rPr lang="es-419" b="0" i="1" smtClean="0">
                              <a:latin typeface="Cambria Math" panose="02040503050406030204" pitchFamily="18" charset="0"/>
                            </a:rPr>
                          </m:ctrlPr>
                        </m:fPr>
                        <m:num>
                          <m:r>
                            <a:rPr lang="es-419" b="0" i="1" smtClean="0">
                              <a:latin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dirty="0" smtClean="0">
                              <a:latin typeface="Cambria Math" panose="02040503050406030204" pitchFamily="18" charset="0"/>
                              <a:ea typeface="Cambria Math" panose="02040503050406030204" pitchFamily="18" charset="0"/>
                            </a:rPr>
                            <m:t>−</m:t>
                          </m:r>
                          <m:sSub>
                            <m:sSubPr>
                              <m:ctrlPr>
                                <a:rPr lang="es-419" b="0" i="1" dirty="0" smtClean="0">
                                  <a:latin typeface="Cambria Math" panose="02040503050406030204" pitchFamily="18" charset="0"/>
                                  <a:ea typeface="Cambria Math" panose="02040503050406030204" pitchFamily="18" charset="0"/>
                                </a:rPr>
                              </m:ctrlPr>
                            </m:sSubPr>
                            <m:e>
                              <m:r>
                                <a:rPr lang="es-419" b="0" i="1" dirty="0" smtClean="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0</m:t>
                              </m:r>
                            </m:sub>
                          </m:sSub>
                          <m:r>
                            <a:rPr lang="es-419" b="0" i="1" dirty="0" smtClean="0">
                              <a:latin typeface="Cambria Math" panose="02040503050406030204" pitchFamily="18" charset="0"/>
                              <a:ea typeface="Cambria Math" panose="02040503050406030204" pitchFamily="18" charset="0"/>
                            </a:rPr>
                            <m:t>)</m:t>
                          </m:r>
                          <m:rad>
                            <m:radPr>
                              <m:degHide m:val="on"/>
                              <m:ctrlPr>
                                <a:rPr lang="es-419" b="0" i="1" dirty="0" smtClean="0">
                                  <a:latin typeface="Cambria Math" panose="02040503050406030204" pitchFamily="18" charset="0"/>
                                  <a:ea typeface="Cambria Math" panose="02040503050406030204" pitchFamily="18" charset="0"/>
                                </a:rPr>
                              </m:ctrlPr>
                            </m:radPr>
                            <m:deg/>
                            <m:e>
                              <m:r>
                                <a:rPr lang="es-419" b="0" i="1" dirty="0" smtClean="0">
                                  <a:latin typeface="Cambria Math" panose="02040503050406030204" pitchFamily="18" charset="0"/>
                                  <a:ea typeface="Cambria Math" panose="02040503050406030204" pitchFamily="18" charset="0"/>
                                </a:rPr>
                                <m:t>𝑛</m:t>
                              </m:r>
                            </m:e>
                          </m:rad>
                        </m:num>
                        <m:den>
                          <m:r>
                            <a:rPr lang="es-419" b="0" i="1" dirty="0" smtClean="0">
                              <a:latin typeface="Cambria Math" panose="02040503050406030204" pitchFamily="18" charset="0"/>
                              <a:ea typeface="Cambria Math" panose="02040503050406030204" pitchFamily="18" charset="0"/>
                            </a:rPr>
                            <m:t>𝑆</m:t>
                          </m:r>
                        </m:den>
                      </m:f>
                      <m:r>
                        <a:rPr lang="es-419"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𝑡</m:t>
                      </m:r>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𝑛</m:t>
                      </m:r>
                      <m:r>
                        <a:rPr lang="es-419" b="0" i="1" smtClean="0">
                          <a:latin typeface="Cambria Math" panose="02040503050406030204" pitchFamily="18" charset="0"/>
                          <a:ea typeface="Cambria Math" panose="02040503050406030204" pitchFamily="18" charset="0"/>
                        </a:rPr>
                        <m:t>−1)</m:t>
                      </m:r>
                    </m:oMath>
                  </m:oMathPara>
                </a14:m>
                <a:endParaRPr lang="es-419" dirty="0"/>
              </a:p>
              <a:p>
                <a:pPr>
                  <a:lnSpc>
                    <a:spcPct val="150000"/>
                  </a:lnSpc>
                </a:pPr>
                <a:r>
                  <a:rPr lang="es-419" dirty="0"/>
                  <a:t>El estadístico de prueba se distribuye como una </a:t>
                </a:r>
                <a:r>
                  <a:rPr lang="es-419" b="1" dirty="0">
                    <a:solidFill>
                      <a:srgbClr val="003A5D"/>
                    </a:solidFill>
                  </a:rPr>
                  <a:t>T-</a:t>
                </a:r>
                <a:r>
                  <a:rPr lang="es-419" b="1" dirty="0" err="1">
                    <a:solidFill>
                      <a:srgbClr val="003A5D"/>
                    </a:solidFill>
                  </a:rPr>
                  <a:t>Student</a:t>
                </a:r>
                <a:r>
                  <a:rPr lang="es-419" b="1" dirty="0">
                    <a:solidFill>
                      <a:srgbClr val="003A5D"/>
                    </a:solidFill>
                  </a:rPr>
                  <a:t> </a:t>
                </a:r>
                <a:r>
                  <a:rPr lang="es-419" dirty="0"/>
                  <a:t>con n-1 grados de libertad</a:t>
                </a:r>
                <a:r>
                  <a:rPr lang="es-419" dirty="0">
                    <a:solidFill>
                      <a:srgbClr val="003A5D"/>
                    </a:solidFill>
                  </a:rPr>
                  <a:t>.</a:t>
                </a:r>
              </a:p>
              <a:p>
                <a:pPr>
                  <a:lnSpc>
                    <a:spcPct val="150000"/>
                  </a:lnSpc>
                </a:pPr>
                <a:r>
                  <a:rPr lang="es-419" dirty="0"/>
                  <a:t>En </a:t>
                </a:r>
                <a:r>
                  <a:rPr lang="es-419" b="1" dirty="0">
                    <a:solidFill>
                      <a:srgbClr val="003A5D"/>
                    </a:solidFill>
                  </a:rPr>
                  <a:t>R</a:t>
                </a:r>
                <a:r>
                  <a:rPr lang="es-419" dirty="0"/>
                  <a:t> se emplea la función </a:t>
                </a:r>
                <a:r>
                  <a:rPr lang="es-419" dirty="0" err="1">
                    <a:solidFill>
                      <a:srgbClr val="003A5D"/>
                    </a:solidFill>
                    <a:latin typeface="Consolas" panose="020B0609020204030204" pitchFamily="49" charset="0"/>
                  </a:rPr>
                  <a:t>t.test</a:t>
                </a:r>
                <a:r>
                  <a:rPr lang="es-419" dirty="0">
                    <a:solidFill>
                      <a:srgbClr val="003A5D"/>
                    </a:solidFill>
                    <a:latin typeface="Consolas" panose="020B0609020204030204" pitchFamily="49" charset="0"/>
                  </a:rPr>
                  <a:t>() </a:t>
                </a:r>
                <a:r>
                  <a:rPr lang="es-419" dirty="0"/>
                  <a:t>instalado por defecto.</a:t>
                </a:r>
              </a:p>
              <a:p>
                <a:pPr>
                  <a:lnSpc>
                    <a:spcPct val="150000"/>
                  </a:lnSpc>
                </a:pPr>
                <a:r>
                  <a:rPr lang="es-419" dirty="0"/>
                  <a:t>Si la varianza muestral fuese sesgada:</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𝑡</m:t>
                      </m:r>
                      <m:r>
                        <a:rPr lang="es-419" b="0" i="1" smtClean="0">
                          <a:latin typeface="Cambria Math" panose="02040503050406030204" pitchFamily="18" charset="0"/>
                        </a:rPr>
                        <m:t>=</m:t>
                      </m:r>
                      <m:f>
                        <m:fPr>
                          <m:ctrlPr>
                            <a:rPr lang="es-419" b="0" i="1" smtClean="0">
                              <a:latin typeface="Cambria Math" panose="02040503050406030204" pitchFamily="18" charset="0"/>
                            </a:rPr>
                          </m:ctrlPr>
                        </m:fPr>
                        <m:num>
                          <m:d>
                            <m:dPr>
                              <m:ctrlPr>
                                <a:rPr lang="es-419" b="0" i="1" smtClean="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dirty="0" smtClean="0">
                                  <a:latin typeface="Cambria Math" panose="02040503050406030204" pitchFamily="18" charset="0"/>
                                  <a:ea typeface="Cambria Math" panose="02040503050406030204" pitchFamily="18" charset="0"/>
                                </a:rPr>
                                <m:t>−</m:t>
                              </m:r>
                              <m:sSub>
                                <m:sSubPr>
                                  <m:ctrlPr>
                                    <a:rPr lang="es-419" b="0" i="1" dirty="0" smtClean="0">
                                      <a:latin typeface="Cambria Math" panose="02040503050406030204" pitchFamily="18" charset="0"/>
                                      <a:ea typeface="Cambria Math" panose="02040503050406030204" pitchFamily="18" charset="0"/>
                                    </a:rPr>
                                  </m:ctrlPr>
                                </m:sSubPr>
                                <m:e>
                                  <m:r>
                                    <a:rPr lang="es-419" b="0" i="1" dirty="0" smtClean="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0</m:t>
                                  </m:r>
                                </m:sub>
                              </m:sSub>
                            </m:e>
                          </m:d>
                          <m:rad>
                            <m:radPr>
                              <m:degHide m:val="on"/>
                              <m:ctrlPr>
                                <a:rPr lang="es-419" b="0" i="1" dirty="0" smtClean="0">
                                  <a:latin typeface="Cambria Math" panose="02040503050406030204" pitchFamily="18" charset="0"/>
                                  <a:ea typeface="Cambria Math" panose="02040503050406030204" pitchFamily="18" charset="0"/>
                                </a:rPr>
                              </m:ctrlPr>
                            </m:radPr>
                            <m:deg/>
                            <m:e>
                              <m:r>
                                <a:rPr lang="es-419" b="0" i="1" dirty="0" smtClean="0">
                                  <a:latin typeface="Cambria Math" panose="02040503050406030204" pitchFamily="18" charset="0"/>
                                  <a:ea typeface="Cambria Math" panose="02040503050406030204" pitchFamily="18" charset="0"/>
                                </a:rPr>
                                <m:t>𝑛</m:t>
                              </m:r>
                              <m:r>
                                <a:rPr lang="es-VE" b="0" i="1" dirty="0" smtClean="0">
                                  <a:latin typeface="Cambria Math" panose="02040503050406030204" pitchFamily="18" charset="0"/>
                                  <a:ea typeface="Cambria Math" panose="02040503050406030204" pitchFamily="18" charset="0"/>
                                </a:rPr>
                                <m:t>−1</m:t>
                              </m:r>
                            </m:e>
                          </m:rad>
                        </m:num>
                        <m:den>
                          <m:r>
                            <a:rPr lang="es-419" b="0" i="1" dirty="0" smtClean="0">
                              <a:latin typeface="Cambria Math" panose="02040503050406030204" pitchFamily="18" charset="0"/>
                              <a:ea typeface="Cambria Math" panose="02040503050406030204" pitchFamily="18" charset="0"/>
                            </a:rPr>
                            <m:t>𝑆</m:t>
                          </m:r>
                          <m:r>
                            <a:rPr lang="es-VE" b="0" i="1" dirty="0" smtClean="0">
                              <a:latin typeface="Cambria Math" panose="02040503050406030204" pitchFamily="18" charset="0"/>
                              <a:ea typeface="Cambria Math" panose="02040503050406030204" pitchFamily="18" charset="0"/>
                            </a:rPr>
                            <m:t>′</m:t>
                          </m:r>
                        </m:den>
                      </m:f>
                      <m:r>
                        <a:rPr lang="es-419"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𝑡</m:t>
                      </m:r>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𝑛</m:t>
                      </m:r>
                      <m:r>
                        <a:rPr lang="es-419" b="0" i="1" smtClean="0">
                          <a:latin typeface="Cambria Math" panose="02040503050406030204" pitchFamily="18" charset="0"/>
                          <a:ea typeface="Cambria Math" panose="02040503050406030204" pitchFamily="18" charset="0"/>
                        </a:rPr>
                        <m:t>−1)</m:t>
                      </m:r>
                    </m:oMath>
                  </m:oMathPara>
                </a14:m>
                <a:endParaRPr lang="es-419" dirty="0"/>
              </a:p>
              <a:p>
                <a:pPr>
                  <a:lnSpc>
                    <a:spcPct val="150000"/>
                  </a:lnSpc>
                </a:pPr>
                <a:endParaRPr lang="es-419" dirty="0"/>
              </a:p>
              <a:p>
                <a:pPr marL="514350" indent="-514350">
                  <a:lnSpc>
                    <a:spcPct val="150000"/>
                  </a:lnSpc>
                  <a:buFont typeface="+mj-lt"/>
                  <a:buAutoNum type="alphaLcParenR"/>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Tree>
    <p:extLst>
      <p:ext uri="{BB962C8B-B14F-4D97-AF65-F5344CB8AC3E}">
        <p14:creationId xmlns:p14="http://schemas.microsoft.com/office/powerpoint/2010/main" val="3702599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9E92E45-58B0-D990-0790-07667CE20787}"/>
              </a:ext>
            </a:extLst>
          </p:cNvPr>
          <p:cNvPicPr>
            <a:picLocks noChangeAspect="1"/>
          </p:cNvPicPr>
          <p:nvPr/>
        </p:nvPicPr>
        <p:blipFill>
          <a:blip r:embed="rId2"/>
          <a:stretch>
            <a:fillRect/>
          </a:stretch>
        </p:blipFill>
        <p:spPr>
          <a:xfrm>
            <a:off x="2276531" y="1089000"/>
            <a:ext cx="7638938" cy="4680000"/>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normAutofit fontScale="90000"/>
              </a:bodyPr>
              <a:lstStyle/>
              <a:p>
                <a:r>
                  <a:rPr lang="es-419" dirty="0"/>
                  <a:t>Contraste para la media de una población (</a:t>
                </a:r>
                <a14:m>
                  <m:oMath xmlns:m="http://schemas.openxmlformats.org/officeDocument/2006/math">
                    <m:sSup>
                      <m:sSupPr>
                        <m:ctrlPr>
                          <a:rPr lang="es-419" i="1" smtClean="0">
                            <a:latin typeface="Cambria Math" panose="02040503050406030204" pitchFamily="18" charset="0"/>
                          </a:rPr>
                        </m:ctrlPr>
                      </m:sSupPr>
                      <m:e>
                        <m:r>
                          <a:rPr lang="es-419" i="1" smtClean="0">
                            <a:latin typeface="Cambria Math" panose="02040503050406030204" pitchFamily="18" charset="0"/>
                            <a:ea typeface="Cambria Math" panose="02040503050406030204" pitchFamily="18" charset="0"/>
                          </a:rPr>
                          <m:t>𝜎</m:t>
                        </m:r>
                      </m:e>
                      <m:sup>
                        <m:r>
                          <a:rPr lang="es-VE" b="0" i="1" smtClean="0">
                            <a:latin typeface="Cambria Math" panose="02040503050406030204" pitchFamily="18" charset="0"/>
                          </a:rPr>
                          <m:t>2</m:t>
                        </m:r>
                      </m:sup>
                    </m:sSup>
                  </m:oMath>
                </a14:m>
                <a:r>
                  <a:rPr lang="es-419" dirty="0"/>
                  <a:t> desconocida)</a:t>
                </a:r>
              </a:p>
            </p:txBody>
          </p:sp>
        </mc:Choice>
        <mc:Fallback xmlns="">
          <p:sp>
            <p:nvSpPr>
              <p:cNvPr id="2" name="Title 1">
                <a:extLst>
                  <a:ext uri="{FF2B5EF4-FFF2-40B4-BE49-F238E27FC236}">
                    <a16:creationId xmlns:a16="http://schemas.microsoft.com/office/drawing/2014/main" id="{6BFFC5A1-DE84-43AE-A501-47E70BB9E1F7}"/>
                  </a:ext>
                </a:extLst>
              </p:cNvPr>
              <p:cNvSpPr>
                <a:spLocks noGrp="1" noRot="1" noChangeAspect="1" noMove="1" noResize="1" noEditPoints="1" noAdjustHandles="1" noChangeArrowheads="1" noChangeShapeType="1" noTextEdit="1"/>
              </p:cNvSpPr>
              <p:nvPr>
                <p:ph type="title"/>
              </p:nvPr>
            </p:nvSpPr>
            <p:spPr>
              <a:blipFill>
                <a:blip r:embed="rId3"/>
                <a:stretch>
                  <a:fillRect l="-1275" t="-3670" b="-12844"/>
                </a:stretch>
              </a:blipFill>
            </p:spPr>
            <p:txBody>
              <a:bodyPr/>
              <a:lstStyle/>
              <a:p>
                <a:r>
                  <a:rPr lang="es-VE">
                    <a:noFill/>
                  </a:rPr>
                  <a:t> </a:t>
                </a:r>
              </a:p>
            </p:txBody>
          </p:sp>
        </mc:Fallback>
      </mc:AlternateContent>
    </p:spTree>
    <p:extLst>
      <p:ext uri="{BB962C8B-B14F-4D97-AF65-F5344CB8AC3E}">
        <p14:creationId xmlns:p14="http://schemas.microsoft.com/office/powerpoint/2010/main" val="3864528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Ejemplo 11.1</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normAutofit fontScale="92500" lnSpcReduction="10000"/>
          </a:bodyPr>
          <a:lstStyle/>
          <a:p>
            <a:pPr marL="0" indent="0">
              <a:lnSpc>
                <a:spcPct val="150000"/>
              </a:lnSpc>
              <a:buNone/>
            </a:pPr>
            <a:r>
              <a:rPr lang="es-419" i="1" dirty="0"/>
              <a:t>La empresa mencionada en el ejemplo 10.1 decide tomar una muestra aleatoria de las ventas a 100 clientes después de un período de prueba del nuevo sistema de propaganda. Se sabe que la desviación típica de las ventas por cliente es de Bs. 40. Usando un nivel de significación del 5 %. ¿Adoptaría Ud. El nuevo sistema de propaganda, si la media de la muestra fue de Bs. 210?</a:t>
            </a:r>
          </a:p>
          <a:p>
            <a:pPr marL="0" indent="0">
              <a:lnSpc>
                <a:spcPct val="150000"/>
              </a:lnSpc>
              <a:buNone/>
            </a:pPr>
            <a:r>
              <a:rPr lang="es-419" i="1" dirty="0"/>
              <a:t>Responda por los tres métodos: primero vía valores críticos del </a:t>
            </a:r>
            <a:r>
              <a:rPr lang="es-419" i="1" dirty="0" err="1"/>
              <a:t>Casuso</a:t>
            </a:r>
            <a:r>
              <a:rPr lang="es-419" i="1" dirty="0"/>
              <a:t>. Luego usando el estadístico de prueba, y por último, empleando el p-valor.</a:t>
            </a:r>
          </a:p>
          <a:p>
            <a:pPr marL="0" indent="0">
              <a:lnSpc>
                <a:spcPct val="150000"/>
              </a:lnSpc>
              <a:buNone/>
            </a:pPr>
            <a:endParaRPr lang="es-419" i="1" dirty="0"/>
          </a:p>
        </p:txBody>
      </p:sp>
    </p:spTree>
    <p:extLst>
      <p:ext uri="{BB962C8B-B14F-4D97-AF65-F5344CB8AC3E}">
        <p14:creationId xmlns:p14="http://schemas.microsoft.com/office/powerpoint/2010/main" val="151945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Ejemplo 11.1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62500" lnSpcReduction="20000"/>
          </a:bodyPr>
          <a:lstStyle/>
          <a:p>
            <a:pPr marL="0" indent="0">
              <a:buNone/>
            </a:pPr>
            <a:r>
              <a:rPr lang="pt-BR" dirty="0">
                <a:latin typeface="Consolas" panose="020B0609020204030204" pitchFamily="49" charset="0"/>
              </a:rPr>
              <a:t>&gt; n &lt;- 100</a:t>
            </a:r>
          </a:p>
          <a:p>
            <a:pPr marL="0" indent="0">
              <a:buNone/>
            </a:pPr>
            <a:r>
              <a:rPr lang="pt-BR" dirty="0">
                <a:latin typeface="Consolas" panose="020B0609020204030204" pitchFamily="49" charset="0"/>
              </a:rPr>
              <a:t>&gt; o &lt;- 40</a:t>
            </a:r>
          </a:p>
          <a:p>
            <a:pPr marL="0" indent="0">
              <a:buNone/>
            </a:pPr>
            <a:r>
              <a:rPr lang="pt-BR" dirty="0">
                <a:latin typeface="Consolas" panose="020B0609020204030204" pitchFamily="49" charset="0"/>
              </a:rPr>
              <a:t>&gt; a &lt;- 0.05</a:t>
            </a:r>
          </a:p>
          <a:p>
            <a:pPr marL="0" indent="0">
              <a:buNone/>
            </a:pPr>
            <a:r>
              <a:rPr lang="pt-BR" dirty="0">
                <a:latin typeface="Consolas" panose="020B0609020204030204" pitchFamily="49" charset="0"/>
              </a:rPr>
              <a:t>&gt; </a:t>
            </a:r>
            <a:r>
              <a:rPr lang="pt-BR" dirty="0" err="1">
                <a:latin typeface="Consolas" panose="020B0609020204030204" pitchFamily="49" charset="0"/>
              </a:rPr>
              <a:t>x_hat</a:t>
            </a:r>
            <a:r>
              <a:rPr lang="pt-BR" dirty="0">
                <a:latin typeface="Consolas" panose="020B0609020204030204" pitchFamily="49" charset="0"/>
              </a:rPr>
              <a:t> &lt;- 210</a:t>
            </a:r>
          </a:p>
          <a:p>
            <a:pPr marL="0" indent="0">
              <a:buNone/>
            </a:pPr>
            <a:r>
              <a:rPr lang="pt-BR" dirty="0">
                <a:latin typeface="Consolas" panose="020B0609020204030204" pitchFamily="49" charset="0"/>
              </a:rPr>
              <a:t>&gt; mu_0 &lt;- 200</a:t>
            </a:r>
          </a:p>
          <a:p>
            <a:pPr marL="0" indent="0">
              <a:buNone/>
            </a:pPr>
            <a:r>
              <a:rPr lang="pt-BR" dirty="0">
                <a:latin typeface="Consolas" panose="020B0609020204030204" pitchFamily="49" charset="0"/>
              </a:rPr>
              <a:t>&gt;#H0: mu = 200 | H1: mu &gt; 200</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#Area de </a:t>
            </a:r>
            <a:r>
              <a:rPr lang="pt-BR" dirty="0" err="1">
                <a:latin typeface="Consolas" panose="020B0609020204030204" pitchFamily="49" charset="0"/>
              </a:rPr>
              <a:t>rechazo:valores</a:t>
            </a:r>
            <a:r>
              <a:rPr lang="pt-BR" dirty="0">
                <a:latin typeface="Consolas" panose="020B0609020204030204" pitchFamily="49" charset="0"/>
              </a:rPr>
              <a:t> </a:t>
            </a:r>
            <a:r>
              <a:rPr lang="pt-BR" dirty="0" err="1">
                <a:latin typeface="Consolas" panose="020B0609020204030204" pitchFamily="49" charset="0"/>
              </a:rPr>
              <a:t>crticos</a:t>
            </a:r>
            <a:r>
              <a:rPr lang="pt-BR" dirty="0">
                <a:latin typeface="Consolas" panose="020B0609020204030204" pitchFamily="49" charset="0"/>
              </a:rPr>
              <a:t> (</a:t>
            </a:r>
            <a:r>
              <a:rPr lang="pt-BR" dirty="0" err="1">
                <a:latin typeface="Consolas" panose="020B0609020204030204" pitchFamily="49" charset="0"/>
              </a:rPr>
              <a:t>Metodo</a:t>
            </a:r>
            <a:r>
              <a:rPr lang="pt-BR" dirty="0">
                <a:latin typeface="Consolas" panose="020B0609020204030204" pitchFamily="49" charset="0"/>
              </a:rPr>
              <a:t> </a:t>
            </a:r>
            <a:r>
              <a:rPr lang="pt-BR" dirty="0" err="1">
                <a:latin typeface="Consolas" panose="020B0609020204030204" pitchFamily="49" charset="0"/>
              </a:rPr>
              <a:t>Casuso</a:t>
            </a:r>
            <a:r>
              <a:rPr lang="pt-BR" dirty="0">
                <a:latin typeface="Consolas" panose="020B0609020204030204" pitchFamily="49" charset="0"/>
              </a:rPr>
              <a:t>)</a:t>
            </a:r>
          </a:p>
          <a:p>
            <a:pPr marL="0" indent="0">
              <a:buNone/>
            </a:pPr>
            <a:r>
              <a:rPr lang="pt-BR" dirty="0">
                <a:latin typeface="Consolas" panose="020B0609020204030204" pitchFamily="49" charset="0"/>
              </a:rPr>
              <a:t>&gt; h &lt;- mu_0 + </a:t>
            </a:r>
            <a:r>
              <a:rPr lang="pt-BR" dirty="0" err="1">
                <a:latin typeface="Consolas" panose="020B0609020204030204" pitchFamily="49" charset="0"/>
              </a:rPr>
              <a:t>qnorm</a:t>
            </a:r>
            <a:r>
              <a:rPr lang="pt-BR" dirty="0">
                <a:latin typeface="Consolas" panose="020B0609020204030204" pitchFamily="49" charset="0"/>
              </a:rPr>
              <a:t>(a, </a:t>
            </a:r>
            <a:r>
              <a:rPr lang="pt-BR" dirty="0" err="1">
                <a:latin typeface="Consolas" panose="020B0609020204030204" pitchFamily="49" charset="0"/>
              </a:rPr>
              <a:t>lower.tail</a:t>
            </a:r>
            <a:r>
              <a:rPr lang="pt-BR" dirty="0">
                <a:latin typeface="Consolas" panose="020B0609020204030204" pitchFamily="49" charset="0"/>
              </a:rPr>
              <a:t> = FALSE)*o/</a:t>
            </a:r>
            <a:r>
              <a:rPr lang="pt-BR" dirty="0" err="1">
                <a:latin typeface="Consolas" panose="020B0609020204030204" pitchFamily="49" charset="0"/>
              </a:rPr>
              <a:t>sqrt</a:t>
            </a:r>
            <a:r>
              <a:rPr lang="pt-BR" dirty="0">
                <a:latin typeface="Consolas" panose="020B0609020204030204" pitchFamily="49" charset="0"/>
              </a:rPr>
              <a:t>(n)</a:t>
            </a:r>
          </a:p>
          <a:p>
            <a:pPr marL="0" indent="0">
              <a:buNone/>
            </a:pPr>
            <a:r>
              <a:rPr lang="pt-BR" dirty="0">
                <a:latin typeface="Consolas" panose="020B0609020204030204" pitchFamily="49" charset="0"/>
              </a:rPr>
              <a:t>&gt; h</a:t>
            </a:r>
          </a:p>
          <a:p>
            <a:pPr marL="0" indent="0">
              <a:buNone/>
            </a:pPr>
            <a:r>
              <a:rPr lang="pt-BR" dirty="0">
                <a:highlight>
                  <a:srgbClr val="FFFF00"/>
                </a:highlight>
                <a:latin typeface="Consolas" panose="020B0609020204030204" pitchFamily="49" charset="0"/>
              </a:rPr>
              <a:t>[1] 206.5794</a:t>
            </a:r>
          </a:p>
          <a:p>
            <a:pPr marL="0" indent="0">
              <a:buNone/>
            </a:pPr>
            <a:endParaRPr lang="pt-BR" dirty="0">
              <a:highlight>
                <a:srgbClr val="FFFF00"/>
              </a:highlight>
              <a:latin typeface="Consolas" panose="020B0609020204030204" pitchFamily="49" charset="0"/>
            </a:endParaRPr>
          </a:p>
          <a:p>
            <a:pPr marL="0" indent="0">
              <a:buNone/>
            </a:pPr>
            <a:r>
              <a:rPr lang="pt-BR" dirty="0">
                <a:latin typeface="Consolas" panose="020B0609020204030204" pitchFamily="49" charset="0"/>
              </a:rPr>
              <a:t>&gt; </a:t>
            </a:r>
            <a:r>
              <a:rPr lang="pt-BR" dirty="0" err="1">
                <a:latin typeface="Consolas" panose="020B0609020204030204" pitchFamily="49" charset="0"/>
              </a:rPr>
              <a:t>x_hat</a:t>
            </a:r>
            <a:endParaRPr lang="pt-BR" dirty="0">
              <a:latin typeface="Consolas" panose="020B0609020204030204" pitchFamily="49" charset="0"/>
            </a:endParaRPr>
          </a:p>
          <a:p>
            <a:pPr marL="0" indent="0">
              <a:buNone/>
            </a:pPr>
            <a:r>
              <a:rPr lang="pt-BR" dirty="0">
                <a:highlight>
                  <a:srgbClr val="FFFF00"/>
                </a:highlight>
                <a:latin typeface="Consolas" panose="020B0609020204030204" pitchFamily="49" charset="0"/>
              </a:rPr>
              <a:t>[1] 210</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a:t>
            </a:r>
            <a:r>
              <a:rPr lang="pt-BR" dirty="0" err="1">
                <a:latin typeface="Consolas" panose="020B0609020204030204" pitchFamily="49" charset="0"/>
              </a:rPr>
              <a:t>x_hat</a:t>
            </a:r>
            <a:r>
              <a:rPr lang="pt-BR" dirty="0">
                <a:latin typeface="Consolas" panose="020B0609020204030204" pitchFamily="49" charset="0"/>
              </a:rPr>
              <a:t> &gt; h</a:t>
            </a:r>
          </a:p>
          <a:p>
            <a:pPr marL="0" indent="0">
              <a:buNone/>
            </a:pPr>
            <a:r>
              <a:rPr lang="pt-BR" dirty="0">
                <a:highlight>
                  <a:srgbClr val="FFFF00"/>
                </a:highlight>
                <a:latin typeface="Consolas" panose="020B0609020204030204" pitchFamily="49" charset="0"/>
              </a:rPr>
              <a:t>[1] TRUE</a:t>
            </a:r>
            <a:endParaRPr lang="es-ES"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320232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Ejemplo 11.1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lnSpcReduction="10000"/>
          </a:bodyPr>
          <a:lstStyle/>
          <a:p>
            <a:pPr marL="0" indent="0">
              <a:buNone/>
            </a:pPr>
            <a:r>
              <a:rPr lang="es-ES" dirty="0">
                <a:latin typeface="Consolas" panose="020B0609020204030204" pitchFamily="49" charset="0"/>
              </a:rPr>
              <a:t>&gt; #Area de rechazo: </a:t>
            </a:r>
            <a:r>
              <a:rPr lang="es-ES" dirty="0" err="1">
                <a:latin typeface="Consolas" panose="020B0609020204030204" pitchFamily="49" charset="0"/>
              </a:rPr>
              <a:t>Metodo</a:t>
            </a:r>
            <a:r>
              <a:rPr lang="es-ES" dirty="0">
                <a:latin typeface="Consolas" panose="020B0609020204030204" pitchFamily="49" charset="0"/>
              </a:rPr>
              <a:t> </a:t>
            </a:r>
            <a:r>
              <a:rPr lang="es-ES" dirty="0" err="1">
                <a:latin typeface="Consolas" panose="020B0609020204030204" pitchFamily="49" charset="0"/>
              </a:rPr>
              <a:t>Estadistico</a:t>
            </a:r>
            <a:endParaRPr lang="es-ES" dirty="0">
              <a:latin typeface="Consolas" panose="020B0609020204030204" pitchFamily="49" charset="0"/>
            </a:endParaRPr>
          </a:p>
          <a:p>
            <a:pPr marL="0" indent="0">
              <a:buNone/>
            </a:pPr>
            <a:r>
              <a:rPr lang="es-ES" dirty="0">
                <a:latin typeface="Consolas" panose="020B0609020204030204" pitchFamily="49" charset="0"/>
              </a:rPr>
              <a:t>&gt; z &lt;- (</a:t>
            </a:r>
            <a:r>
              <a:rPr lang="es-ES" dirty="0" err="1">
                <a:latin typeface="Consolas" panose="020B0609020204030204" pitchFamily="49" charset="0"/>
              </a:rPr>
              <a:t>x_hat</a:t>
            </a:r>
            <a:r>
              <a:rPr lang="es-ES" dirty="0">
                <a:latin typeface="Consolas" panose="020B0609020204030204" pitchFamily="49" charset="0"/>
              </a:rPr>
              <a:t> - mu_0)*</a:t>
            </a:r>
            <a:r>
              <a:rPr lang="es-ES" dirty="0" err="1">
                <a:latin typeface="Consolas" panose="020B0609020204030204" pitchFamily="49" charset="0"/>
              </a:rPr>
              <a:t>sqrt</a:t>
            </a:r>
            <a:r>
              <a:rPr lang="es-ES" dirty="0">
                <a:latin typeface="Consolas" panose="020B0609020204030204" pitchFamily="49" charset="0"/>
              </a:rPr>
              <a:t>(n)/o</a:t>
            </a:r>
          </a:p>
          <a:p>
            <a:pPr marL="0" indent="0">
              <a:buNone/>
            </a:pPr>
            <a:r>
              <a:rPr lang="es-ES" dirty="0">
                <a:latin typeface="Consolas" panose="020B0609020204030204" pitchFamily="49" charset="0"/>
              </a:rPr>
              <a:t>&gt; z</a:t>
            </a:r>
          </a:p>
          <a:p>
            <a:pPr marL="0" indent="0">
              <a:buNone/>
            </a:pPr>
            <a:r>
              <a:rPr lang="es-ES" dirty="0">
                <a:highlight>
                  <a:srgbClr val="FFFF00"/>
                </a:highlight>
                <a:latin typeface="Consolas" panose="020B0609020204030204" pitchFamily="49" charset="0"/>
              </a:rPr>
              <a:t>[1] 2.5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za</a:t>
            </a:r>
            <a:r>
              <a:rPr lang="es-ES" dirty="0">
                <a:latin typeface="Consolas" panose="020B0609020204030204" pitchFamily="49" charset="0"/>
              </a:rPr>
              <a:t> &lt;- </a:t>
            </a:r>
            <a:r>
              <a:rPr lang="es-ES" dirty="0" err="1">
                <a:latin typeface="Consolas" panose="020B0609020204030204" pitchFamily="49" charset="0"/>
              </a:rPr>
              <a:t>qnorm</a:t>
            </a:r>
            <a:r>
              <a:rPr lang="es-ES" dirty="0">
                <a:latin typeface="Consolas" panose="020B0609020204030204" pitchFamily="49" charset="0"/>
              </a:rPr>
              <a:t>(a, </a:t>
            </a:r>
            <a:r>
              <a:rPr lang="es-ES" dirty="0" err="1">
                <a:latin typeface="Consolas" panose="020B0609020204030204" pitchFamily="49" charset="0"/>
              </a:rPr>
              <a:t>lower.tail</a:t>
            </a:r>
            <a:r>
              <a:rPr lang="es-ES" dirty="0">
                <a:latin typeface="Consolas" panose="020B0609020204030204" pitchFamily="49" charset="0"/>
              </a:rPr>
              <a:t> = FALSE)</a:t>
            </a:r>
          </a:p>
          <a:p>
            <a:pPr marL="0" indent="0">
              <a:buNone/>
            </a:pPr>
            <a:r>
              <a:rPr lang="es-ES" dirty="0">
                <a:latin typeface="Consolas" panose="020B0609020204030204" pitchFamily="49" charset="0"/>
              </a:rPr>
              <a:t>&gt; </a:t>
            </a:r>
            <a:r>
              <a:rPr lang="es-ES" dirty="0" err="1">
                <a:latin typeface="Consolas" panose="020B0609020204030204" pitchFamily="49" charset="0"/>
              </a:rPr>
              <a:t>za</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1.644854</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z &gt; </a:t>
            </a:r>
            <a:r>
              <a:rPr lang="es-ES" dirty="0" err="1">
                <a:latin typeface="Consolas" panose="020B0609020204030204" pitchFamily="49" charset="0"/>
              </a:rPr>
              <a:t>za</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TRUE</a:t>
            </a:r>
          </a:p>
        </p:txBody>
      </p:sp>
    </p:spTree>
    <p:extLst>
      <p:ext uri="{BB962C8B-B14F-4D97-AF65-F5344CB8AC3E}">
        <p14:creationId xmlns:p14="http://schemas.microsoft.com/office/powerpoint/2010/main" val="1766460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Ejemplo 11.1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lnSpcReduction="10000"/>
          </a:bodyPr>
          <a:lstStyle/>
          <a:p>
            <a:pPr marL="0" indent="0">
              <a:buNone/>
            </a:pPr>
            <a:r>
              <a:rPr lang="es-ES" dirty="0">
                <a:latin typeface="Consolas" panose="020B0609020204030204" pitchFamily="49" charset="0"/>
              </a:rPr>
              <a:t>&gt; #Metodo p-valor</a:t>
            </a:r>
          </a:p>
          <a:p>
            <a:pPr marL="0" indent="0">
              <a:buNone/>
            </a:pPr>
            <a:r>
              <a:rPr lang="es-ES" dirty="0">
                <a:latin typeface="Consolas" panose="020B0609020204030204" pitchFamily="49" charset="0"/>
              </a:rPr>
              <a:t>&gt; z &lt;- (</a:t>
            </a:r>
            <a:r>
              <a:rPr lang="es-ES" dirty="0" err="1">
                <a:latin typeface="Consolas" panose="020B0609020204030204" pitchFamily="49" charset="0"/>
              </a:rPr>
              <a:t>x_hat</a:t>
            </a:r>
            <a:r>
              <a:rPr lang="es-ES" dirty="0">
                <a:latin typeface="Consolas" panose="020B0609020204030204" pitchFamily="49" charset="0"/>
              </a:rPr>
              <a:t> - mu_0)*</a:t>
            </a:r>
            <a:r>
              <a:rPr lang="es-ES" dirty="0" err="1">
                <a:latin typeface="Consolas" panose="020B0609020204030204" pitchFamily="49" charset="0"/>
              </a:rPr>
              <a:t>sqrt</a:t>
            </a:r>
            <a:r>
              <a:rPr lang="es-ES" dirty="0">
                <a:latin typeface="Consolas" panose="020B0609020204030204" pitchFamily="49" charset="0"/>
              </a:rPr>
              <a:t>(n)/o</a:t>
            </a:r>
          </a:p>
          <a:p>
            <a:pPr marL="0" indent="0">
              <a:buNone/>
            </a:pPr>
            <a:r>
              <a:rPr lang="es-ES" dirty="0">
                <a:latin typeface="Consolas" panose="020B0609020204030204" pitchFamily="49" charset="0"/>
              </a:rPr>
              <a:t>&gt; z</a:t>
            </a:r>
          </a:p>
          <a:p>
            <a:pPr marL="0" indent="0">
              <a:buNone/>
            </a:pPr>
            <a:r>
              <a:rPr lang="es-ES" dirty="0">
                <a:highlight>
                  <a:srgbClr val="FFFF00"/>
                </a:highlight>
                <a:latin typeface="Consolas" panose="020B0609020204030204" pitchFamily="49" charset="0"/>
              </a:rPr>
              <a:t>[1] 2.5</a:t>
            </a:r>
          </a:p>
          <a:p>
            <a:pPr marL="0" indent="0">
              <a:buNone/>
            </a:pPr>
            <a:r>
              <a:rPr lang="es-ES" dirty="0">
                <a:latin typeface="Consolas" panose="020B0609020204030204" pitchFamily="49" charset="0"/>
              </a:rPr>
              <a:t> </a:t>
            </a: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a:t>
            </a:r>
            <a:r>
              <a:rPr lang="es-ES" dirty="0" err="1">
                <a:latin typeface="Consolas" panose="020B0609020204030204" pitchFamily="49" charset="0"/>
              </a:rPr>
              <a:t>pnorm</a:t>
            </a:r>
            <a:r>
              <a:rPr lang="es-ES" dirty="0">
                <a:latin typeface="Consolas" panose="020B0609020204030204" pitchFamily="49" charset="0"/>
              </a:rPr>
              <a:t>(z, </a:t>
            </a:r>
            <a:r>
              <a:rPr lang="es-ES" dirty="0" err="1">
                <a:latin typeface="Consolas" panose="020B0609020204030204" pitchFamily="49" charset="0"/>
              </a:rPr>
              <a:t>lower.tail</a:t>
            </a:r>
            <a:r>
              <a:rPr lang="es-ES" dirty="0">
                <a:latin typeface="Consolas" panose="020B0609020204030204" pitchFamily="49" charset="0"/>
              </a:rPr>
              <a:t> = FALSE)</a:t>
            </a:r>
          </a:p>
          <a:p>
            <a:pPr marL="0" indent="0">
              <a:buNone/>
            </a:pPr>
            <a:r>
              <a:rPr lang="es-ES" dirty="0">
                <a:latin typeface="Consolas" panose="020B0609020204030204" pitchFamily="49" charset="0"/>
              </a:rPr>
              <a:t>&gt; </a:t>
            </a:r>
            <a:r>
              <a:rPr lang="es-ES" dirty="0" err="1">
                <a:latin typeface="Consolas" panose="020B0609020204030204" pitchFamily="49" charset="0"/>
              </a:rPr>
              <a:t>p_valor</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0.006209665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a </a:t>
            </a:r>
          </a:p>
          <a:p>
            <a:pPr marL="0" indent="0">
              <a:buNone/>
            </a:pPr>
            <a:r>
              <a:rPr lang="es-ES" dirty="0">
                <a:highlight>
                  <a:srgbClr val="FFFF00"/>
                </a:highlight>
                <a:latin typeface="Consolas" panose="020B0609020204030204" pitchFamily="49" charset="0"/>
              </a:rPr>
              <a:t>[1] TRUE</a:t>
            </a:r>
          </a:p>
        </p:txBody>
      </p:sp>
    </p:spTree>
    <p:extLst>
      <p:ext uri="{BB962C8B-B14F-4D97-AF65-F5344CB8AC3E}">
        <p14:creationId xmlns:p14="http://schemas.microsoft.com/office/powerpoint/2010/main" val="2380226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Resuelto 11.4</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lstStyle/>
          <a:p>
            <a:pPr marL="0" indent="0" algn="just">
              <a:lnSpc>
                <a:spcPct val="150000"/>
              </a:lnSpc>
              <a:buNone/>
            </a:pPr>
            <a:r>
              <a:rPr lang="es-VE" i="1" dirty="0"/>
              <a:t>Un fabricante de lámparas fluorescentes afirma que sus lámparas duran en promedio por lo menos 1.750 horas. </a:t>
            </a:r>
          </a:p>
          <a:p>
            <a:pPr marL="0" indent="0" algn="just">
              <a:lnSpc>
                <a:spcPct val="150000"/>
              </a:lnSpc>
              <a:buNone/>
            </a:pPr>
            <a:r>
              <a:rPr lang="es-VE" i="1" dirty="0"/>
              <a:t>Si en una muestra de 101 lámparas, la duración media fue de 1.618 horas con una desviación típica sesgada de 400 horas. ¿Es razonable la afirmación del productor? Use un nivel de significación del 1%.</a:t>
            </a:r>
          </a:p>
          <a:p>
            <a:pPr marL="0" indent="0" algn="just">
              <a:lnSpc>
                <a:spcPct val="150000"/>
              </a:lnSpc>
              <a:buNone/>
            </a:pPr>
            <a:r>
              <a:rPr lang="es-VE" i="1" dirty="0"/>
              <a:t>Resuelva solamente empleando el método del p-valor. Luego pruebe para otras significancias de 5% y 10%.</a:t>
            </a:r>
          </a:p>
        </p:txBody>
      </p:sp>
    </p:spTree>
    <p:extLst>
      <p:ext uri="{BB962C8B-B14F-4D97-AF65-F5344CB8AC3E}">
        <p14:creationId xmlns:p14="http://schemas.microsoft.com/office/powerpoint/2010/main" val="1547686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11.4</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47500" lnSpcReduction="20000"/>
          </a:bodyPr>
          <a:lstStyle/>
          <a:p>
            <a:pPr marL="0" indent="0">
              <a:buNone/>
            </a:pPr>
            <a:r>
              <a:rPr lang="es-ES" dirty="0">
                <a:latin typeface="Consolas" panose="020B0609020204030204" pitchFamily="49" charset="0"/>
              </a:rPr>
              <a:t>&gt; mu_0 &lt;- 1750</a:t>
            </a:r>
          </a:p>
          <a:p>
            <a:pPr marL="0" indent="0">
              <a:buNone/>
            </a:pPr>
            <a:r>
              <a:rPr lang="es-ES" dirty="0">
                <a:latin typeface="Consolas" panose="020B0609020204030204" pitchFamily="49" charset="0"/>
              </a:rPr>
              <a:t>&gt; </a:t>
            </a:r>
            <a:r>
              <a:rPr lang="es-ES" dirty="0" err="1">
                <a:latin typeface="Consolas" panose="020B0609020204030204" pitchFamily="49" charset="0"/>
              </a:rPr>
              <a:t>mu_hat</a:t>
            </a:r>
            <a:r>
              <a:rPr lang="es-ES" dirty="0">
                <a:latin typeface="Consolas" panose="020B0609020204030204" pitchFamily="49" charset="0"/>
              </a:rPr>
              <a:t> &lt;- 1618</a:t>
            </a:r>
          </a:p>
          <a:p>
            <a:pPr marL="0" indent="0">
              <a:buNone/>
            </a:pPr>
            <a:r>
              <a:rPr lang="es-ES" dirty="0">
                <a:latin typeface="Consolas" panose="020B0609020204030204" pitchFamily="49" charset="0"/>
              </a:rPr>
              <a:t>&gt; n &lt;- 101</a:t>
            </a:r>
          </a:p>
          <a:p>
            <a:pPr marL="0" indent="0">
              <a:buNone/>
            </a:pPr>
            <a:r>
              <a:rPr lang="es-ES" dirty="0">
                <a:latin typeface="Consolas" panose="020B0609020204030204" pitchFamily="49" charset="0"/>
              </a:rPr>
              <a:t>&gt; s &lt;- 400</a:t>
            </a:r>
          </a:p>
          <a:p>
            <a:pPr marL="0" indent="0">
              <a:buNone/>
            </a:pPr>
            <a:r>
              <a:rPr lang="es-ES" dirty="0">
                <a:latin typeface="Consolas" panose="020B0609020204030204" pitchFamily="49" charset="0"/>
              </a:rPr>
              <a:t>&gt; </a:t>
            </a:r>
            <a:r>
              <a:rPr lang="es-ES" dirty="0" err="1">
                <a:latin typeface="Consolas" panose="020B0609020204030204" pitchFamily="49" charset="0"/>
              </a:rPr>
              <a:t>s_i</a:t>
            </a:r>
            <a:r>
              <a:rPr lang="es-ES" dirty="0">
                <a:latin typeface="Consolas" panose="020B0609020204030204" pitchFamily="49" charset="0"/>
              </a:rPr>
              <a:t> &lt;- </a:t>
            </a:r>
            <a:r>
              <a:rPr lang="es-ES" dirty="0" err="1">
                <a:latin typeface="Consolas" panose="020B0609020204030204" pitchFamily="49" charset="0"/>
              </a:rPr>
              <a:t>sqrt</a:t>
            </a:r>
            <a:r>
              <a:rPr lang="es-ES" dirty="0">
                <a:latin typeface="Consolas" panose="020B0609020204030204" pitchFamily="49" charset="0"/>
              </a:rPr>
              <a:t>((s^2)*(n)/(n-1))</a:t>
            </a:r>
          </a:p>
          <a:p>
            <a:pPr marL="0" indent="0">
              <a:buNone/>
            </a:pPr>
            <a:r>
              <a:rPr lang="es-ES" dirty="0">
                <a:latin typeface="Consolas" panose="020B0609020204030204" pitchFamily="49" charset="0"/>
              </a:rPr>
              <a:t>&gt; a &lt;- 0.01</a:t>
            </a:r>
          </a:p>
          <a:p>
            <a:pPr marL="0" indent="0">
              <a:buNone/>
            </a:pPr>
            <a:r>
              <a:rPr lang="es-ES" dirty="0">
                <a:latin typeface="Consolas" panose="020B0609020204030204" pitchFamily="49" charset="0"/>
              </a:rPr>
              <a:t> </a:t>
            </a:r>
          </a:p>
          <a:p>
            <a:pPr marL="0" indent="0">
              <a:buNone/>
            </a:pPr>
            <a:r>
              <a:rPr lang="es-ES" dirty="0">
                <a:latin typeface="Consolas" panose="020B0609020204030204" pitchFamily="49" charset="0"/>
              </a:rPr>
              <a:t>&gt; #H0: mu &gt;= 1750 | H1 mu &lt; 1750</a:t>
            </a:r>
          </a:p>
          <a:p>
            <a:pPr marL="0" indent="0">
              <a:buNone/>
            </a:pPr>
            <a:r>
              <a:rPr lang="es-ES" dirty="0">
                <a:latin typeface="Consolas" panose="020B0609020204030204" pitchFamily="49" charset="0"/>
              </a:rPr>
              <a:t>  </a:t>
            </a:r>
          </a:p>
          <a:p>
            <a:pPr marL="0" indent="0">
              <a:buNone/>
            </a:pPr>
            <a:r>
              <a:rPr lang="es-ES" dirty="0">
                <a:latin typeface="Consolas" panose="020B0609020204030204" pitchFamily="49" charset="0"/>
              </a:rPr>
              <a:t>&gt; #</a:t>
            </a:r>
            <a:r>
              <a:rPr lang="es-ES" dirty="0" err="1">
                <a:latin typeface="Consolas" panose="020B0609020204030204" pitchFamily="49" charset="0"/>
              </a:rPr>
              <a:t>Metodo</a:t>
            </a:r>
            <a:r>
              <a:rPr lang="es-ES" dirty="0">
                <a:latin typeface="Consolas" panose="020B0609020204030204" pitchFamily="49" charset="0"/>
              </a:rPr>
              <a:t> del </a:t>
            </a:r>
            <a:r>
              <a:rPr lang="es-ES" dirty="0" err="1">
                <a:latin typeface="Consolas" panose="020B0609020204030204" pitchFamily="49" charset="0"/>
              </a:rPr>
              <a:t>p_valor</a:t>
            </a:r>
            <a:endParaRPr lang="es-ES" dirty="0">
              <a:latin typeface="Consolas" panose="020B0609020204030204" pitchFamily="49" charset="0"/>
            </a:endParaRPr>
          </a:p>
          <a:p>
            <a:pPr marL="0" indent="0">
              <a:buNone/>
            </a:pPr>
            <a:r>
              <a:rPr lang="es-ES" dirty="0">
                <a:latin typeface="Consolas" panose="020B0609020204030204" pitchFamily="49" charset="0"/>
              </a:rPr>
              <a:t>&gt; t &lt;- (</a:t>
            </a:r>
            <a:r>
              <a:rPr lang="es-ES" dirty="0" err="1">
                <a:latin typeface="Consolas" panose="020B0609020204030204" pitchFamily="49" charset="0"/>
              </a:rPr>
              <a:t>mu_hat</a:t>
            </a:r>
            <a:r>
              <a:rPr lang="es-ES" dirty="0">
                <a:latin typeface="Consolas" panose="020B0609020204030204" pitchFamily="49" charset="0"/>
              </a:rPr>
              <a:t> - mu_0)*</a:t>
            </a:r>
            <a:r>
              <a:rPr lang="es-ES" dirty="0" err="1">
                <a:latin typeface="Consolas" panose="020B0609020204030204" pitchFamily="49" charset="0"/>
              </a:rPr>
              <a:t>sqrt</a:t>
            </a:r>
            <a:r>
              <a:rPr lang="es-ES" dirty="0">
                <a:latin typeface="Consolas" panose="020B0609020204030204" pitchFamily="49" charset="0"/>
              </a:rPr>
              <a:t>(n)/</a:t>
            </a:r>
            <a:r>
              <a:rPr lang="es-ES" dirty="0" err="1">
                <a:latin typeface="Consolas" panose="020B0609020204030204" pitchFamily="49" charset="0"/>
              </a:rPr>
              <a:t>s_i</a:t>
            </a:r>
            <a:endParaRPr lang="es-ES" dirty="0">
              <a:latin typeface="Consolas" panose="020B0609020204030204" pitchFamily="49" charset="0"/>
            </a:endParaRPr>
          </a:p>
          <a:p>
            <a:pPr marL="0" indent="0">
              <a:buNone/>
            </a:pPr>
            <a:r>
              <a:rPr lang="es-ES" dirty="0">
                <a:latin typeface="Consolas" panose="020B0609020204030204" pitchFamily="49" charset="0"/>
              </a:rPr>
              <a:t>&gt; t</a:t>
            </a:r>
          </a:p>
          <a:p>
            <a:pPr marL="0" indent="0">
              <a:buNone/>
            </a:pPr>
            <a:r>
              <a:rPr lang="es-ES" dirty="0">
                <a:latin typeface="Consolas" panose="020B0609020204030204" pitchFamily="49" charset="0"/>
              </a:rPr>
              <a:t>[1] -3.3</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p_value</a:t>
            </a:r>
            <a:r>
              <a:rPr lang="es-ES" dirty="0">
                <a:latin typeface="Consolas" panose="020B0609020204030204" pitchFamily="49" charset="0"/>
              </a:rPr>
              <a:t> &lt;- pt(t, </a:t>
            </a:r>
            <a:r>
              <a:rPr lang="es-ES" dirty="0" err="1">
                <a:latin typeface="Consolas" panose="020B0609020204030204" pitchFamily="49" charset="0"/>
              </a:rPr>
              <a:t>df</a:t>
            </a:r>
            <a:r>
              <a:rPr lang="es-ES" dirty="0">
                <a:latin typeface="Consolas" panose="020B0609020204030204" pitchFamily="49" charset="0"/>
              </a:rPr>
              <a:t> = n - 1, </a:t>
            </a:r>
            <a:r>
              <a:rPr lang="es-ES" dirty="0" err="1">
                <a:latin typeface="Consolas" panose="020B0609020204030204" pitchFamily="49" charset="0"/>
              </a:rPr>
              <a:t>lower.tail</a:t>
            </a:r>
            <a:r>
              <a:rPr lang="es-ES" dirty="0">
                <a:latin typeface="Consolas" panose="020B0609020204030204" pitchFamily="49" charset="0"/>
              </a:rPr>
              <a:t> = TRUE)</a:t>
            </a:r>
          </a:p>
          <a:p>
            <a:pPr marL="0" indent="0">
              <a:buNone/>
            </a:pPr>
            <a:r>
              <a:rPr lang="es-ES" dirty="0">
                <a:latin typeface="Consolas" panose="020B0609020204030204" pitchFamily="49" charset="0"/>
              </a:rPr>
              <a:t>&gt; </a:t>
            </a:r>
            <a:r>
              <a:rPr lang="es-ES" dirty="0" err="1">
                <a:latin typeface="Consolas" panose="020B0609020204030204" pitchFamily="49" charset="0"/>
              </a:rPr>
              <a:t>p_value</a:t>
            </a:r>
            <a:endParaRPr lang="es-ES" dirty="0">
              <a:latin typeface="Consolas" panose="020B0609020204030204" pitchFamily="49" charset="0"/>
            </a:endParaRPr>
          </a:p>
          <a:p>
            <a:pPr marL="0" indent="0">
              <a:buNone/>
            </a:pPr>
            <a:r>
              <a:rPr lang="es-ES" dirty="0">
                <a:latin typeface="Consolas" panose="020B0609020204030204" pitchFamily="49" charset="0"/>
              </a:rPr>
              <a:t>[1] 0.0006703098</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p_value</a:t>
            </a:r>
            <a:r>
              <a:rPr lang="es-ES" dirty="0">
                <a:latin typeface="Consolas" panose="020B0609020204030204" pitchFamily="49" charset="0"/>
              </a:rPr>
              <a:t> &lt; a</a:t>
            </a:r>
          </a:p>
          <a:p>
            <a:pPr marL="0" indent="0">
              <a:buNone/>
            </a:pPr>
            <a:r>
              <a:rPr lang="es-ES" dirty="0">
                <a:latin typeface="Consolas" panose="020B0609020204030204" pitchFamily="49" charset="0"/>
              </a:rPr>
              <a:t>[1] TRUE</a:t>
            </a:r>
            <a:endParaRPr lang="es-ES"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1594343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11.4</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es-ES" dirty="0">
                <a:latin typeface="Consolas" panose="020B0609020204030204" pitchFamily="49" charset="0"/>
              </a:rPr>
              <a:t>&gt; </a:t>
            </a:r>
            <a:r>
              <a:rPr lang="es-ES" dirty="0" err="1">
                <a:latin typeface="Consolas" panose="020B0609020204030204" pitchFamily="49" charset="0"/>
              </a:rPr>
              <a:t>p_value</a:t>
            </a:r>
            <a:endParaRPr lang="es-ES" dirty="0">
              <a:latin typeface="Consolas" panose="020B0609020204030204" pitchFamily="49" charset="0"/>
            </a:endParaRPr>
          </a:p>
          <a:p>
            <a:pPr marL="0" indent="0">
              <a:buNone/>
            </a:pPr>
            <a:r>
              <a:rPr lang="es-ES" sz="2700" dirty="0">
                <a:highlight>
                  <a:srgbClr val="FFFF00"/>
                </a:highlight>
                <a:latin typeface="Consolas" panose="020B0609020204030204" pitchFamily="49" charset="0"/>
              </a:rPr>
              <a:t>[1] 0.0006703098</a:t>
            </a:r>
          </a:p>
          <a:p>
            <a:pPr marL="0" indent="0">
              <a:buNone/>
            </a:pPr>
            <a:endParaRPr lang="es-ES" dirty="0">
              <a:latin typeface="Consolas" panose="020B0609020204030204" pitchFamily="49" charset="0"/>
            </a:endParaRPr>
          </a:p>
          <a:p>
            <a:pPr marL="0" indent="0">
              <a:buNone/>
            </a:pPr>
            <a:r>
              <a:rPr lang="es-VE" dirty="0">
                <a:latin typeface="Consolas" panose="020B0609020204030204" pitchFamily="49" charset="0"/>
              </a:rPr>
              <a:t>&gt; #Varios niveles de significancias</a:t>
            </a:r>
          </a:p>
          <a:p>
            <a:pPr marL="0" indent="0">
              <a:buNone/>
            </a:pPr>
            <a:r>
              <a:rPr lang="es-VE" dirty="0">
                <a:latin typeface="Consolas" panose="020B0609020204030204" pitchFamily="49" charset="0"/>
              </a:rPr>
              <a:t>&gt; </a:t>
            </a:r>
            <a:r>
              <a:rPr lang="es-VE" dirty="0" err="1">
                <a:latin typeface="Consolas" panose="020B0609020204030204" pitchFamily="49" charset="0"/>
              </a:rPr>
              <a:t>p_value</a:t>
            </a:r>
            <a:r>
              <a:rPr lang="es-VE" dirty="0">
                <a:latin typeface="Consolas" panose="020B0609020204030204" pitchFamily="49" charset="0"/>
              </a:rPr>
              <a:t> &lt; 0.01</a:t>
            </a:r>
          </a:p>
          <a:p>
            <a:pPr marL="0" indent="0">
              <a:buNone/>
            </a:pPr>
            <a:r>
              <a:rPr lang="es-VE" dirty="0">
                <a:highlight>
                  <a:srgbClr val="FFFF00"/>
                </a:highlight>
                <a:latin typeface="Consolas" panose="020B0609020204030204" pitchFamily="49" charset="0"/>
              </a:rPr>
              <a:t>[1] TRUE</a:t>
            </a:r>
          </a:p>
          <a:p>
            <a:pPr marL="0" indent="0">
              <a:buNone/>
            </a:pPr>
            <a:r>
              <a:rPr lang="es-VE" dirty="0">
                <a:latin typeface="Consolas" panose="020B0609020204030204" pitchFamily="49" charset="0"/>
              </a:rPr>
              <a:t>&gt; </a:t>
            </a:r>
            <a:r>
              <a:rPr lang="es-VE" dirty="0" err="1">
                <a:latin typeface="Consolas" panose="020B0609020204030204" pitchFamily="49" charset="0"/>
              </a:rPr>
              <a:t>p_value</a:t>
            </a:r>
            <a:r>
              <a:rPr lang="es-VE" dirty="0">
                <a:latin typeface="Consolas" panose="020B0609020204030204" pitchFamily="49" charset="0"/>
              </a:rPr>
              <a:t> &lt; 0.05</a:t>
            </a:r>
          </a:p>
          <a:p>
            <a:pPr marL="0" indent="0">
              <a:buNone/>
            </a:pPr>
            <a:r>
              <a:rPr lang="es-VE" dirty="0">
                <a:highlight>
                  <a:srgbClr val="FFFF00"/>
                </a:highlight>
                <a:latin typeface="Consolas" panose="020B0609020204030204" pitchFamily="49" charset="0"/>
              </a:rPr>
              <a:t>[1] TRUE</a:t>
            </a:r>
          </a:p>
          <a:p>
            <a:pPr marL="0" indent="0">
              <a:buNone/>
            </a:pPr>
            <a:r>
              <a:rPr lang="es-VE" dirty="0">
                <a:latin typeface="Consolas" panose="020B0609020204030204" pitchFamily="49" charset="0"/>
              </a:rPr>
              <a:t>&gt; </a:t>
            </a:r>
            <a:r>
              <a:rPr lang="es-VE" dirty="0" err="1">
                <a:latin typeface="Consolas" panose="020B0609020204030204" pitchFamily="49" charset="0"/>
              </a:rPr>
              <a:t>p_value</a:t>
            </a:r>
            <a:r>
              <a:rPr lang="es-VE" dirty="0">
                <a:latin typeface="Consolas" panose="020B0609020204030204" pitchFamily="49" charset="0"/>
              </a:rPr>
              <a:t> &lt; 0.10</a:t>
            </a:r>
          </a:p>
          <a:p>
            <a:pPr marL="0" indent="0">
              <a:buNone/>
            </a:pPr>
            <a:r>
              <a:rPr lang="es-VE" dirty="0">
                <a:highlight>
                  <a:srgbClr val="FFFF00"/>
                </a:highlight>
                <a:latin typeface="Consolas" panose="020B0609020204030204" pitchFamily="49" charset="0"/>
              </a:rPr>
              <a:t>[1] TRUE</a:t>
            </a:r>
            <a:endParaRPr lang="es-ES" sz="27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1427661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VE" dirty="0"/>
              <a:t>Determinar tamaño de muestra</a:t>
            </a:r>
            <a:endParaRPr lang="en-U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lnSpcReduction="10000"/>
              </a:bodyPr>
              <a:lstStyle/>
              <a:p>
                <a:pPr>
                  <a:lnSpc>
                    <a:spcPct val="150000"/>
                  </a:lnSpc>
                </a:pPr>
                <a:r>
                  <a:rPr lang="es-VE" dirty="0"/>
                  <a:t>Usualmente se asume tener a la mano el tamaño de muestra al momento de realizar contrastes.</a:t>
                </a:r>
              </a:p>
              <a:p>
                <a:pPr>
                  <a:lnSpc>
                    <a:spcPct val="150000"/>
                  </a:lnSpc>
                </a:pPr>
                <a:r>
                  <a:rPr lang="es-VE" dirty="0"/>
                  <a:t>Se puede replantear el tamaño de muestra como una incógnita para un valor determinado de Errores </a:t>
                </a:r>
                <a:r>
                  <a:rPr lang="es-VE" b="1" dirty="0">
                    <a:solidFill>
                      <a:srgbClr val="003A5D"/>
                    </a:solidFill>
                  </a:rPr>
                  <a:t>Tipo I (</a:t>
                </a:r>
                <a14:m>
                  <m:oMath xmlns:m="http://schemas.openxmlformats.org/officeDocument/2006/math">
                    <m:r>
                      <a:rPr lang="es-VE" b="1" i="1" smtClean="0">
                        <a:solidFill>
                          <a:srgbClr val="003A5D"/>
                        </a:solidFill>
                        <a:latin typeface="Cambria Math" panose="02040503050406030204" pitchFamily="18" charset="0"/>
                        <a:ea typeface="Cambria Math" panose="02040503050406030204" pitchFamily="18" charset="0"/>
                      </a:rPr>
                      <m:t>𝜶</m:t>
                    </m:r>
                  </m:oMath>
                </a14:m>
                <a:r>
                  <a:rPr lang="es-VE" b="1" dirty="0">
                    <a:solidFill>
                      <a:srgbClr val="003A5D"/>
                    </a:solidFill>
                  </a:rPr>
                  <a:t>) </a:t>
                </a:r>
                <a:r>
                  <a:rPr lang="es-VE" dirty="0"/>
                  <a:t>y </a:t>
                </a:r>
                <a:r>
                  <a:rPr lang="es-VE" b="1" dirty="0">
                    <a:solidFill>
                      <a:srgbClr val="003A5D"/>
                    </a:solidFill>
                  </a:rPr>
                  <a:t>II (</a:t>
                </a:r>
                <a14:m>
                  <m:oMath xmlns:m="http://schemas.openxmlformats.org/officeDocument/2006/math">
                    <m:r>
                      <a:rPr lang="es-VE" b="1" i="1" smtClean="0">
                        <a:solidFill>
                          <a:srgbClr val="003A5D"/>
                        </a:solidFill>
                        <a:latin typeface="Cambria Math" panose="02040503050406030204" pitchFamily="18" charset="0"/>
                        <a:ea typeface="Cambria Math" panose="02040503050406030204" pitchFamily="18" charset="0"/>
                      </a:rPr>
                      <m:t>𝜷</m:t>
                    </m:r>
                  </m:oMath>
                </a14:m>
                <a:r>
                  <a:rPr lang="es-VE" b="1" dirty="0">
                    <a:solidFill>
                      <a:srgbClr val="003A5D"/>
                    </a:solidFill>
                  </a:rPr>
                  <a:t>)</a:t>
                </a:r>
                <a:r>
                  <a:rPr lang="es-VE" dirty="0"/>
                  <a:t>.</a:t>
                </a:r>
              </a:p>
              <a:p>
                <a:pPr>
                  <a:lnSpc>
                    <a:spcPct val="150000"/>
                  </a:lnSpc>
                </a:pPr>
                <a:r>
                  <a:rPr lang="es-VE" dirty="0"/>
                  <a:t>Recordamos que cuando es fijo </a:t>
                </a:r>
                <a14:m>
                  <m:oMath xmlns:m="http://schemas.openxmlformats.org/officeDocument/2006/math">
                    <m:r>
                      <a:rPr lang="es-VE" b="1" i="1" smtClean="0">
                        <a:solidFill>
                          <a:srgbClr val="003A5D"/>
                        </a:solidFill>
                        <a:latin typeface="Cambria Math" panose="02040503050406030204" pitchFamily="18" charset="0"/>
                        <a:ea typeface="Cambria Math" panose="02040503050406030204" pitchFamily="18" charset="0"/>
                      </a:rPr>
                      <m:t>𝜶</m:t>
                    </m:r>
                  </m:oMath>
                </a14:m>
                <a:r>
                  <a:rPr lang="es-VE" dirty="0"/>
                  <a:t>, un aumento en el tamaño de muestra reducirá </a:t>
                </a:r>
                <a14:m>
                  <m:oMath xmlns:m="http://schemas.openxmlformats.org/officeDocument/2006/math">
                    <m:r>
                      <a:rPr lang="es-VE" b="1" i="1">
                        <a:solidFill>
                          <a:srgbClr val="003A5D"/>
                        </a:solidFill>
                        <a:latin typeface="Cambria Math" panose="02040503050406030204" pitchFamily="18" charset="0"/>
                        <a:ea typeface="Cambria Math" panose="02040503050406030204" pitchFamily="18" charset="0"/>
                      </a:rPr>
                      <m:t>𝜷</m:t>
                    </m:r>
                  </m:oMath>
                </a14:m>
                <a:r>
                  <a:rPr lang="en-US" dirty="0"/>
                  <a:t>.</a:t>
                </a:r>
              </a:p>
              <a:p>
                <a:pPr>
                  <a:lnSpc>
                    <a:spcPct val="150000"/>
                  </a:lnSpc>
                </a:pPr>
                <a:r>
                  <a:rPr lang="es-VE" dirty="0"/>
                  <a:t>Podemos despejar el tamaño de n para determinados contrastes y errores.</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1043" r="-1159"/>
                </a:stretch>
              </a:blipFill>
            </p:spPr>
            <p:txBody>
              <a:bodyPr/>
              <a:lstStyle/>
              <a:p>
                <a:r>
                  <a:rPr lang="es-419">
                    <a:noFill/>
                  </a:rPr>
                  <a:t> </a:t>
                </a:r>
              </a:p>
            </p:txBody>
          </p:sp>
        </mc:Fallback>
      </mc:AlternateContent>
    </p:spTree>
    <p:extLst>
      <p:ext uri="{BB962C8B-B14F-4D97-AF65-F5344CB8AC3E}">
        <p14:creationId xmlns:p14="http://schemas.microsoft.com/office/powerpoint/2010/main" val="962098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VE" dirty="0"/>
              <a:t>Determinar tamaño de muestra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a:lnSpc>
                    <a:spcPct val="150000"/>
                  </a:lnSpc>
                </a:pPr>
                <a:r>
                  <a:rPr lang="es-419" dirty="0"/>
                  <a:t>Suponiendo:</a:t>
                </a:r>
              </a:p>
              <a:p>
                <a:pPr marL="457200" lvl="1" indent="0" algn="ctr">
                  <a:lnSpc>
                    <a:spcPct val="150000"/>
                  </a:lnSpc>
                  <a:buNone/>
                </a:pPr>
                <a14:m>
                  <m:oMath xmlns:m="http://schemas.openxmlformats.org/officeDocument/2006/math">
                    <m:sSub>
                      <m:sSubPr>
                        <m:ctrlPr>
                          <a:rPr lang="es-419" i="1" smtClean="0">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0</m:t>
                        </m:r>
                      </m:sub>
                    </m:sSub>
                    <m:r>
                      <a:rPr lang="es-419" i="1">
                        <a:latin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1</m:t>
                        </m:r>
                      </m:sub>
                    </m:sSub>
                    <m:r>
                      <a:rPr lang="es-419" i="1">
                        <a:latin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b="0" i="1" smtClean="0">
                        <a:latin typeface="Cambria Math" panose="02040503050406030204" pitchFamily="18" charset="0"/>
                        <a:ea typeface="Cambria Math" panose="02040503050406030204" pitchFamily="18" charset="0"/>
                      </a:rPr>
                      <m:t>&gt;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0</m:t>
                        </m:r>
                      </m:sub>
                    </m:sSub>
                  </m:oMath>
                </a14:m>
                <a:r>
                  <a:rPr lang="es-419" dirty="0"/>
                  <a:t> </a:t>
                </a:r>
              </a:p>
              <a:p>
                <a:pPr>
                  <a:lnSpc>
                    <a:spcPct val="150000"/>
                  </a:lnSpc>
                </a:pPr>
                <a:r>
                  <a:rPr lang="es-419" dirty="0"/>
                  <a:t>Con un nivel de significancia </a:t>
                </a:r>
                <a14:m>
                  <m:oMath xmlns:m="http://schemas.openxmlformats.org/officeDocument/2006/math">
                    <m:r>
                      <a:rPr lang="es-VE" b="1" i="1" smtClean="0">
                        <a:solidFill>
                          <a:srgbClr val="003A5D"/>
                        </a:solidFill>
                        <a:latin typeface="Cambria Math" panose="02040503050406030204" pitchFamily="18" charset="0"/>
                        <a:ea typeface="Cambria Math" panose="02040503050406030204" pitchFamily="18" charset="0"/>
                      </a:rPr>
                      <m:t>𝜶</m:t>
                    </m:r>
                  </m:oMath>
                </a14:m>
                <a:r>
                  <a:rPr lang="es-419" dirty="0"/>
                  <a:t>, establecemos que para valores alternativos de </a:t>
                </a:r>
                <a14:m>
                  <m:oMath xmlns:m="http://schemas.openxmlformats.org/officeDocument/2006/math">
                    <m:r>
                      <a:rPr lang="es-419" b="1" i="1" smtClean="0">
                        <a:solidFill>
                          <a:srgbClr val="003A5D"/>
                        </a:solidFill>
                        <a:latin typeface="Cambria Math" panose="02040503050406030204" pitchFamily="18" charset="0"/>
                        <a:ea typeface="Cambria Math" panose="02040503050406030204" pitchFamily="18" charset="0"/>
                      </a:rPr>
                      <m:t>𝝁</m:t>
                    </m:r>
                  </m:oMath>
                </a14:m>
                <a:r>
                  <a:rPr lang="es-419" b="1" dirty="0"/>
                  <a:t> </a:t>
                </a:r>
                <a:r>
                  <a:rPr lang="es-419" dirty="0"/>
                  <a:t>(como </a:t>
                </a:r>
                <a14:m>
                  <m:oMath xmlns:m="http://schemas.openxmlformats.org/officeDocument/2006/math">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&gt;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m:t>
                    </m:r>
                  </m:oMath>
                </a14:m>
                <a:r>
                  <a:rPr lang="es-419" dirty="0"/>
                  <a:t> es aceptable cometer un error Tipo II con probabilidad </a:t>
                </a:r>
                <a14:m>
                  <m:oMath xmlns:m="http://schemas.openxmlformats.org/officeDocument/2006/math">
                    <m:r>
                      <a:rPr lang="es-VE" b="1" i="1">
                        <a:solidFill>
                          <a:srgbClr val="003A5D"/>
                        </a:solidFill>
                        <a:latin typeface="Cambria Math" panose="02040503050406030204" pitchFamily="18" charset="0"/>
                        <a:ea typeface="Cambria Math" panose="02040503050406030204" pitchFamily="18" charset="0"/>
                      </a:rPr>
                      <m:t>𝜷</m:t>
                    </m:r>
                  </m:oMath>
                </a14:m>
                <a:r>
                  <a:rPr lang="es-419" dirty="0"/>
                  <a:t>.</a:t>
                </a:r>
              </a:p>
              <a:p>
                <a:pPr>
                  <a:lnSpc>
                    <a:spcPct val="150000"/>
                  </a:lnSpc>
                </a:pPr>
                <a:r>
                  <a:rPr lang="es-419" dirty="0"/>
                  <a:t>Sabemos que para tal contraste el valor crítico que delimita el área de rechazo es:</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h</m:t>
                      </m:r>
                      <m:r>
                        <a:rPr lang="es-419" b="0" i="1" smtClean="0">
                          <a:latin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m:t>
                      </m:r>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r>
                            <a:rPr lang="es-419" b="0" i="1" smtClean="0">
                              <a:latin typeface="Cambria Math" panose="02040503050406030204" pitchFamily="18" charset="0"/>
                              <a:ea typeface="Cambria Math" panose="02040503050406030204" pitchFamily="18" charset="0"/>
                            </a:rPr>
                            <m:t>𝛼</m:t>
                          </m:r>
                        </m:sub>
                      </m:sSub>
                      <m:f>
                        <m:fPr>
                          <m:ctrlPr>
                            <a:rPr lang="es-419" b="0" i="1" smtClean="0">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𝜎</m:t>
                          </m:r>
                        </m:num>
                        <m:den>
                          <m:rad>
                            <m:radPr>
                              <m:degHide m:val="on"/>
                              <m:ctrlPr>
                                <a:rPr lang="es-419" b="0" i="1" smtClean="0">
                                  <a:latin typeface="Cambria Math" panose="02040503050406030204" pitchFamily="18" charset="0"/>
                                  <a:ea typeface="Cambria Math" panose="02040503050406030204" pitchFamily="18" charset="0"/>
                                </a:rPr>
                              </m:ctrlPr>
                            </m:radPr>
                            <m:deg/>
                            <m:e>
                              <m:r>
                                <a:rPr lang="es-419" b="0" i="1" smtClean="0">
                                  <a:latin typeface="Cambria Math" panose="02040503050406030204" pitchFamily="18" charset="0"/>
                                  <a:ea typeface="Cambria Math" panose="02040503050406030204" pitchFamily="18" charset="0"/>
                                </a:rPr>
                                <m:t>𝑛</m:t>
                              </m:r>
                            </m:e>
                          </m:rad>
                        </m:den>
                      </m:f>
                    </m:oMath>
                  </m:oMathPara>
                </a14:m>
                <a:endParaRPr lang="es-419" dirty="0"/>
              </a:p>
              <a:p>
                <a:pPr>
                  <a:lnSpc>
                    <a:spcPct val="150000"/>
                  </a:lnSpc>
                </a:pPr>
                <a:r>
                  <a:rPr lang="es-419" dirty="0"/>
                  <a:t>Similarmente, si </a:t>
                </a:r>
                <a14:m>
                  <m:oMath xmlns:m="http://schemas.openxmlformats.org/officeDocument/2006/math">
                    <m:r>
                      <a:rPr lang="es-419" i="1" smtClean="0">
                        <a:latin typeface="Cambria Math" panose="02040503050406030204" pitchFamily="18" charset="0"/>
                        <a:ea typeface="Cambria Math" panose="02040503050406030204" pitchFamily="18" charset="0"/>
                      </a:rPr>
                      <m:t>𝜇</m:t>
                    </m:r>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1</m:t>
                        </m:r>
                      </m:sub>
                    </m:sSub>
                  </m:oMath>
                </a14:m>
                <a:r>
                  <a:rPr lang="es-419" dirty="0"/>
                  <a:t> (</a:t>
                </a:r>
                <a14:m>
                  <m:oMath xmlns:m="http://schemas.openxmlformats.org/officeDocument/2006/math">
                    <m:sSub>
                      <m:sSubPr>
                        <m:ctrlPr>
                          <a:rPr lang="es-419" i="1">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1</m:t>
                        </m:r>
                      </m:sub>
                    </m:sSub>
                  </m:oMath>
                </a14:m>
                <a:r>
                  <a:rPr lang="es-419" dirty="0"/>
                  <a:t> es verdadera):</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𝛽</m:t>
                      </m:r>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rPr>
                        <m:t>𝑃</m:t>
                      </m:r>
                      <m:d>
                        <m:dPr>
                          <m:begChr m:val="["/>
                          <m:endChr m:val="]"/>
                          <m:ctrlPr>
                            <a:rPr lang="es-419" i="1">
                              <a:latin typeface="Cambria Math" panose="02040503050406030204" pitchFamily="18" charset="0"/>
                            </a:rPr>
                          </m:ctrlPr>
                        </m:dPr>
                        <m:e>
                          <m:acc>
                            <m:accPr>
                              <m:chr m:val="̅"/>
                              <m:ctrlPr>
                                <a:rPr lang="es-419" i="1">
                                  <a:latin typeface="Cambria Math" panose="02040503050406030204" pitchFamily="18" charset="0"/>
                                </a:rPr>
                              </m:ctrlPr>
                            </m:accPr>
                            <m:e>
                              <m:r>
                                <a:rPr lang="es-419" i="1">
                                  <a:latin typeface="Cambria Math" panose="02040503050406030204" pitchFamily="18" charset="0"/>
                                </a:rPr>
                                <m:t>𝑋</m:t>
                              </m:r>
                            </m:e>
                          </m:acc>
                          <m:r>
                            <a:rPr lang="es-419" i="1">
                              <a:latin typeface="Cambria Math" panose="02040503050406030204" pitchFamily="18" charset="0"/>
                            </a:rPr>
                            <m:t>&lt;</m:t>
                          </m:r>
                          <m:r>
                            <a:rPr lang="es-419" b="0" i="1" smtClean="0">
                              <a:latin typeface="Cambria Math" panose="02040503050406030204" pitchFamily="18" charset="0"/>
                            </a:rPr>
                            <m:t>h</m:t>
                          </m:r>
                        </m:e>
                        <m:e>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e>
                      </m:d>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𝑃</m:t>
                      </m:r>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1</m:t>
                                  </m:r>
                                </m:sub>
                              </m:sSub>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i="1">
                              <a:latin typeface="Cambria Math" panose="02040503050406030204" pitchFamily="18" charset="0"/>
                              <a:ea typeface="Cambria Math" panose="02040503050406030204" pitchFamily="18" charset="0"/>
                            </a:rPr>
                            <m:t>𝜎</m:t>
                          </m:r>
                        </m:den>
                      </m:f>
                      <m:r>
                        <a:rPr lang="es-419" b="0" i="1" smtClean="0">
                          <a:latin typeface="Cambria Math" panose="02040503050406030204" pitchFamily="18" charset="0"/>
                          <a:ea typeface="Cambria Math" panose="02040503050406030204" pitchFamily="18" charset="0"/>
                        </a:rPr>
                        <m:t>&lt;</m:t>
                      </m:r>
                      <m:f>
                        <m:fPr>
                          <m:ctrlPr>
                            <a:rPr lang="es-419" i="1">
                              <a:latin typeface="Cambria Math" panose="02040503050406030204" pitchFamily="18" charset="0"/>
                            </a:rPr>
                          </m:ctrlPr>
                        </m:fPr>
                        <m:num>
                          <m:r>
                            <a:rPr lang="es-419" i="1">
                              <a:latin typeface="Cambria Math" panose="02040503050406030204" pitchFamily="18" charset="0"/>
                            </a:rPr>
                            <m:t>(</m:t>
                          </m:r>
                          <m:r>
                            <a:rPr lang="es-419" b="0" i="1" smtClean="0">
                              <a:latin typeface="Cambria Math" panose="02040503050406030204" pitchFamily="18" charset="0"/>
                            </a:rPr>
                            <m:t>h</m:t>
                          </m:r>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1</m:t>
                              </m:r>
                            </m:sub>
                          </m:sSub>
                          <m:r>
                            <a:rPr lang="es-419" i="1" dirty="0">
                              <a:latin typeface="Cambria Math" panose="02040503050406030204" pitchFamily="18" charset="0"/>
                              <a:ea typeface="Cambria Math" panose="02040503050406030204" pitchFamily="18" charset="0"/>
                            </a:rPr>
                            <m:t>)</m:t>
                          </m:r>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i="1">
                              <a:latin typeface="Cambria Math" panose="02040503050406030204" pitchFamily="18" charset="0"/>
                              <a:ea typeface="Cambria Math" panose="02040503050406030204" pitchFamily="18" charset="0"/>
                            </a:rPr>
                            <m:t>𝜎</m:t>
                          </m:r>
                        </m:den>
                      </m:f>
                      <m:r>
                        <a:rPr lang="es-419" b="0" i="1" smtClean="0">
                          <a:latin typeface="Cambria Math" panose="02040503050406030204" pitchFamily="18" charset="0"/>
                          <a:ea typeface="Cambria Math" panose="02040503050406030204" pitchFamily="18" charset="0"/>
                        </a:rPr>
                        <m:t>]</m:t>
                      </m:r>
                    </m:oMath>
                  </m:oMathPara>
                </a14:m>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s-419">
                    <a:noFill/>
                  </a:rPr>
                  <a:t> </a:t>
                </a:r>
              </a:p>
            </p:txBody>
          </p:sp>
        </mc:Fallback>
      </mc:AlternateContent>
    </p:spTree>
    <p:extLst>
      <p:ext uri="{BB962C8B-B14F-4D97-AF65-F5344CB8AC3E}">
        <p14:creationId xmlns:p14="http://schemas.microsoft.com/office/powerpoint/2010/main" val="332892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VE" dirty="0"/>
              <a:t>Determinar tamaño de muestra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𝛽</m:t>
                      </m:r>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rPr>
                        <m:t>𝑃</m:t>
                      </m:r>
                      <m:d>
                        <m:dPr>
                          <m:begChr m:val="["/>
                          <m:endChr m:val="]"/>
                          <m:ctrlPr>
                            <a:rPr lang="es-419" i="1">
                              <a:latin typeface="Cambria Math" panose="02040503050406030204" pitchFamily="18" charset="0"/>
                            </a:rPr>
                          </m:ctrlPr>
                        </m:dPr>
                        <m:e>
                          <m:acc>
                            <m:accPr>
                              <m:chr m:val="̅"/>
                              <m:ctrlPr>
                                <a:rPr lang="es-419" i="1">
                                  <a:latin typeface="Cambria Math" panose="02040503050406030204" pitchFamily="18" charset="0"/>
                                </a:rPr>
                              </m:ctrlPr>
                            </m:accPr>
                            <m:e>
                              <m:r>
                                <a:rPr lang="es-419" i="1">
                                  <a:latin typeface="Cambria Math" panose="02040503050406030204" pitchFamily="18" charset="0"/>
                                </a:rPr>
                                <m:t>𝑋</m:t>
                              </m:r>
                            </m:e>
                          </m:acc>
                          <m:r>
                            <a:rPr lang="es-419" i="1">
                              <a:latin typeface="Cambria Math" panose="02040503050406030204" pitchFamily="18" charset="0"/>
                            </a:rPr>
                            <m:t>&lt;</m:t>
                          </m:r>
                          <m:r>
                            <a:rPr lang="es-419" b="0" i="1" smtClean="0">
                              <a:latin typeface="Cambria Math" panose="02040503050406030204" pitchFamily="18" charset="0"/>
                            </a:rPr>
                            <m:t>h</m:t>
                          </m:r>
                        </m:e>
                        <m:e>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e>
                      </m:d>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𝑃</m:t>
                      </m:r>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1</m:t>
                                  </m:r>
                                </m:sub>
                              </m:sSub>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i="1">
                              <a:latin typeface="Cambria Math" panose="02040503050406030204" pitchFamily="18" charset="0"/>
                              <a:ea typeface="Cambria Math" panose="02040503050406030204" pitchFamily="18" charset="0"/>
                            </a:rPr>
                            <m:t>𝜎</m:t>
                          </m:r>
                        </m:den>
                      </m:f>
                      <m:r>
                        <a:rPr lang="es-419" b="0" i="1" smtClean="0">
                          <a:latin typeface="Cambria Math" panose="02040503050406030204" pitchFamily="18" charset="0"/>
                          <a:ea typeface="Cambria Math" panose="02040503050406030204" pitchFamily="18" charset="0"/>
                        </a:rPr>
                        <m:t>&lt;</m:t>
                      </m:r>
                      <m:f>
                        <m:fPr>
                          <m:ctrlPr>
                            <a:rPr lang="es-419" i="1">
                              <a:latin typeface="Cambria Math" panose="02040503050406030204" pitchFamily="18" charset="0"/>
                            </a:rPr>
                          </m:ctrlPr>
                        </m:fPr>
                        <m:num>
                          <m:r>
                            <a:rPr lang="es-419" i="1">
                              <a:latin typeface="Cambria Math" panose="02040503050406030204" pitchFamily="18" charset="0"/>
                            </a:rPr>
                            <m:t>(</m:t>
                          </m:r>
                          <m:r>
                            <a:rPr lang="es-419" b="0" i="1" smtClean="0">
                              <a:latin typeface="Cambria Math" panose="02040503050406030204" pitchFamily="18" charset="0"/>
                            </a:rPr>
                            <m:t>h</m:t>
                          </m:r>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1</m:t>
                              </m:r>
                            </m:sub>
                          </m:sSub>
                          <m:r>
                            <a:rPr lang="es-419" i="1" dirty="0">
                              <a:latin typeface="Cambria Math" panose="02040503050406030204" pitchFamily="18" charset="0"/>
                              <a:ea typeface="Cambria Math" panose="02040503050406030204" pitchFamily="18" charset="0"/>
                            </a:rPr>
                            <m:t>)</m:t>
                          </m:r>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i="1">
                              <a:latin typeface="Cambria Math" panose="02040503050406030204" pitchFamily="18" charset="0"/>
                              <a:ea typeface="Cambria Math" panose="02040503050406030204" pitchFamily="18" charset="0"/>
                            </a:rPr>
                            <m:t>𝜎</m:t>
                          </m:r>
                        </m:den>
                      </m:f>
                      <m:r>
                        <a:rPr lang="es-419" b="0" i="1" smtClean="0">
                          <a:latin typeface="Cambria Math" panose="02040503050406030204" pitchFamily="18" charset="0"/>
                          <a:ea typeface="Cambria Math" panose="02040503050406030204" pitchFamily="18" charset="0"/>
                        </a:rPr>
                        <m:t>]</m:t>
                      </m:r>
                    </m:oMath>
                  </m:oMathPara>
                </a14:m>
                <a:endParaRPr lang="es-419" dirty="0"/>
              </a:p>
              <a:p>
                <a:pPr>
                  <a:lnSpc>
                    <a:spcPct val="150000"/>
                  </a:lnSpc>
                </a:pPr>
                <a:r>
                  <a:rPr lang="es-419" dirty="0"/>
                  <a:t>Siendo:</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s-419" b="0" i="1" smtClean="0">
                              <a:latin typeface="Cambria Math" panose="02040503050406030204" pitchFamily="18" charset="0"/>
                            </a:rPr>
                          </m:ctrlPr>
                        </m:sSubPr>
                        <m:e>
                          <m:r>
                            <a:rPr lang="es-419" b="0" i="1" smtClean="0">
                              <a:latin typeface="Cambria Math" panose="02040503050406030204" pitchFamily="18" charset="0"/>
                            </a:rPr>
                            <m:t>𝑧</m:t>
                          </m:r>
                        </m:e>
                        <m:sub>
                          <m:r>
                            <a:rPr lang="es-419" b="0" i="1" smtClean="0">
                              <a:latin typeface="Cambria Math" panose="02040503050406030204" pitchFamily="18" charset="0"/>
                            </a:rPr>
                            <m:t>1−</m:t>
                          </m:r>
                          <m:r>
                            <a:rPr lang="es-419" b="0" i="1" smtClean="0">
                              <a:latin typeface="Cambria Math" panose="02040503050406030204" pitchFamily="18" charset="0"/>
                              <a:ea typeface="Cambria Math" panose="02040503050406030204" pitchFamily="18" charset="0"/>
                            </a:rPr>
                            <m:t>𝛽</m:t>
                          </m:r>
                        </m:sub>
                      </m:sSub>
                      <m:r>
                        <a:rPr lang="es-419" b="0" i="1" smtClean="0">
                          <a:latin typeface="Cambria Math" panose="02040503050406030204" pitchFamily="18" charset="0"/>
                        </a:rPr>
                        <m:t>=</m:t>
                      </m:r>
                      <m:f>
                        <m:fPr>
                          <m:ctrlPr>
                            <a:rPr lang="es-419" i="1" smtClean="0">
                              <a:latin typeface="Cambria Math" panose="02040503050406030204" pitchFamily="18" charset="0"/>
                            </a:rPr>
                          </m:ctrlPr>
                        </m:fPr>
                        <m:num>
                          <m:r>
                            <a:rPr lang="es-419" i="1">
                              <a:latin typeface="Cambria Math" panose="02040503050406030204" pitchFamily="18" charset="0"/>
                            </a:rPr>
                            <m:t>(</m:t>
                          </m:r>
                          <m:r>
                            <a:rPr lang="es-419" b="0" i="1" smtClean="0">
                              <a:latin typeface="Cambria Math" panose="02040503050406030204" pitchFamily="18" charset="0"/>
                            </a:rPr>
                            <m:t>h</m:t>
                          </m:r>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𝜇</m:t>
                              </m:r>
                            </m:e>
                            <m:sub>
                              <m:r>
                                <a:rPr lang="es-419" b="0" i="1" dirty="0" smtClean="0">
                                  <a:latin typeface="Cambria Math" panose="02040503050406030204" pitchFamily="18" charset="0"/>
                                  <a:ea typeface="Cambria Math" panose="02040503050406030204" pitchFamily="18" charset="0"/>
                                </a:rPr>
                                <m:t>1</m:t>
                              </m:r>
                            </m:sub>
                          </m:sSub>
                          <m:r>
                            <a:rPr lang="es-419" i="1" dirty="0">
                              <a:latin typeface="Cambria Math" panose="02040503050406030204" pitchFamily="18" charset="0"/>
                              <a:ea typeface="Cambria Math" panose="02040503050406030204" pitchFamily="18" charset="0"/>
                            </a:rPr>
                            <m:t>)</m:t>
                          </m:r>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i="1">
                              <a:latin typeface="Cambria Math" panose="02040503050406030204" pitchFamily="18" charset="0"/>
                              <a:ea typeface="Cambria Math" panose="02040503050406030204" pitchFamily="18" charset="0"/>
                            </a:rPr>
                            <m:t>𝜎</m:t>
                          </m:r>
                        </m:den>
                      </m:f>
                    </m:oMath>
                  </m:oMathPara>
                </a14:m>
                <a:endParaRPr lang="es-419" dirty="0">
                  <a:ea typeface="Cambria Math" panose="02040503050406030204" pitchFamily="18" charset="0"/>
                </a:endParaRPr>
              </a:p>
              <a:p>
                <a:pPr>
                  <a:lnSpc>
                    <a:spcPct val="150000"/>
                  </a:lnSpc>
                </a:pPr>
                <a:r>
                  <a:rPr lang="es-419" dirty="0"/>
                  <a:t>Un cuantil que tiene a su derecha el poder del contraste y por ende a su izquierda el error tipo II.</a:t>
                </a:r>
              </a:p>
              <a:p>
                <a:pPr>
                  <a:lnSpc>
                    <a:spcPct val="150000"/>
                  </a:lnSpc>
                </a:pPr>
                <a:r>
                  <a:rPr lang="es-419" dirty="0"/>
                  <a:t>Lo que hace:</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rPr>
                        <m:t>h</m:t>
                      </m:r>
                      <m:r>
                        <a:rPr lang="es-419" i="1">
                          <a:latin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𝜎</m:t>
                          </m:r>
                        </m:num>
                        <m:den>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den>
                      </m:f>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Ahora tenemos un valor crítico con cuantiles para ambos tipos de error.</a:t>
                </a: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s-419">
                    <a:noFill/>
                  </a:rPr>
                  <a:t> </a:t>
                </a:r>
              </a:p>
            </p:txBody>
          </p:sp>
        </mc:Fallback>
      </mc:AlternateContent>
    </p:spTree>
    <p:extLst>
      <p:ext uri="{BB962C8B-B14F-4D97-AF65-F5344CB8AC3E}">
        <p14:creationId xmlns:p14="http://schemas.microsoft.com/office/powerpoint/2010/main" val="4115794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VE" dirty="0"/>
              <a:t>Determinar tamaño de muestra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a:bodyPr>
              <a:lstStyle/>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𝜎</m:t>
                          </m:r>
                        </m:num>
                        <m:den>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den>
                      </m:f>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𝜎</m:t>
                          </m:r>
                        </m:num>
                        <m:den>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den>
                      </m:f>
                    </m:oMath>
                  </m:oMathPara>
                </a14:m>
                <a:endParaRPr lang="es-419" dirty="0">
                  <a:ea typeface="Cambria Math" panose="02040503050406030204" pitchFamily="18" charset="0"/>
                </a:endParaRPr>
              </a:p>
              <a:p>
                <a:pPr>
                  <a:lnSpc>
                    <a:spcPct val="150000"/>
                  </a:lnSpc>
                </a:pPr>
                <a:r>
                  <a:rPr lang="es-419" dirty="0"/>
                  <a:t>Del cual despejamos </a:t>
                </a:r>
                <a:r>
                  <a:rPr lang="es-419" b="1" i="1" dirty="0">
                    <a:solidFill>
                      <a:srgbClr val="003A5D"/>
                    </a:solidFill>
                  </a:rPr>
                  <a:t>n</a:t>
                </a:r>
                <a:r>
                  <a:rPr lang="es-419" dirty="0"/>
                  <a:t>:</a:t>
                </a:r>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1</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𝜎</m:t>
                        </m:r>
                      </m:num>
                      <m:den>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den>
                    </m:f>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𝜎</m:t>
                        </m:r>
                      </m:num>
                      <m:den>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den>
                    </m:f>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r>
                          <a:rPr lang="es-419" i="1">
                            <a:latin typeface="Cambria Math" panose="02040503050406030204" pitchFamily="18" charset="0"/>
                            <a:ea typeface="Cambria Math" panose="02040503050406030204" pitchFamily="18" charset="0"/>
                          </a:rPr>
                          <m:t>𝜎</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r>
                          <a:rPr lang="es-419" i="1">
                            <a:latin typeface="Cambria Math" panose="02040503050406030204" pitchFamily="18" charset="0"/>
                            <a:ea typeface="Cambria Math" panose="02040503050406030204" pitchFamily="18" charset="0"/>
                          </a:rPr>
                          <m:t>𝜎</m:t>
                        </m:r>
                      </m:num>
                      <m:den>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den>
                    </m:f>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𝜎</m:t>
                        </m:r>
                      </m:num>
                      <m:den>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den>
                    </m:f>
                    <m:r>
                      <a:rPr lang="es-419" i="1" smtClean="0">
                        <a:latin typeface="Cambria Math" panose="02040503050406030204" pitchFamily="18" charset="0"/>
                        <a:ea typeface="Cambria Math" panose="02040503050406030204" pitchFamily="18" charset="0"/>
                      </a:rPr>
                      <m:t>→</m:t>
                    </m:r>
                    <m:rad>
                      <m:radPr>
                        <m:degHide m:val="on"/>
                        <m:ctrlPr>
                          <a:rPr lang="es-419" i="1">
                            <a:latin typeface="Cambria Math" panose="02040503050406030204" pitchFamily="18" charset="0"/>
                            <a:ea typeface="Cambria Math" panose="02040503050406030204" pitchFamily="18" charset="0"/>
                          </a:rPr>
                        </m:ctrlPr>
                      </m:radPr>
                      <m:deg/>
                      <m:e>
                        <m:r>
                          <a:rPr lang="es-419" i="1">
                            <a:latin typeface="Cambria Math" panose="02040503050406030204" pitchFamily="18" charset="0"/>
                            <a:ea typeface="Cambria Math" panose="02040503050406030204" pitchFamily="18" charset="0"/>
                          </a:rPr>
                          <m:t>𝑛</m:t>
                        </m:r>
                      </m:e>
                    </m:rad>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𝜎</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den>
                    </m:f>
                  </m:oMath>
                </a14:m>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𝑛</m:t>
                      </m:r>
                      <m:r>
                        <a:rPr lang="es-419" i="1">
                          <a:latin typeface="Cambria Math" panose="02040503050406030204" pitchFamily="18" charset="0"/>
                          <a:ea typeface="Cambria Math" panose="02040503050406030204" pitchFamily="18" charset="0"/>
                        </a:rPr>
                        <m:t>=</m:t>
                      </m:r>
                      <m:sSup>
                        <m:sSupPr>
                          <m:ctrlPr>
                            <a:rPr lang="es-419" i="1" smtClean="0">
                              <a:latin typeface="Cambria Math" panose="02040503050406030204" pitchFamily="18" charset="0"/>
                              <a:ea typeface="Cambria Math" panose="02040503050406030204" pitchFamily="18" charset="0"/>
                            </a:rPr>
                          </m:ctrlPr>
                        </m:sSupPr>
                        <m:e>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𝜎</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den>
                          </m:f>
                          <m:r>
                            <a:rPr lang="es-419" b="0" i="1" smtClean="0">
                              <a:latin typeface="Cambria Math" panose="02040503050406030204" pitchFamily="18" charset="0"/>
                              <a:ea typeface="Cambria Math" panose="02040503050406030204" pitchFamily="18" charset="0"/>
                            </a:rPr>
                            <m:t>]</m:t>
                          </m:r>
                        </m:e>
                        <m:sup>
                          <m:r>
                            <a:rPr lang="es-419" b="0" i="1" smtClean="0">
                              <a:latin typeface="Cambria Math" panose="02040503050406030204" pitchFamily="18" charset="0"/>
                              <a:ea typeface="Cambria Math" panose="02040503050406030204" pitchFamily="18" charset="0"/>
                            </a:rPr>
                            <m:t>2</m:t>
                          </m:r>
                        </m:sup>
                      </m:sSup>
                    </m:oMath>
                  </m:oMathPara>
                </a14:m>
                <a:endParaRPr lang="es-419"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es-419">
                    <a:noFill/>
                  </a:rPr>
                  <a:t> </a:t>
                </a:r>
              </a:p>
            </p:txBody>
          </p:sp>
        </mc:Fallback>
      </mc:AlternateContent>
    </p:spTree>
    <p:extLst>
      <p:ext uri="{BB962C8B-B14F-4D97-AF65-F5344CB8AC3E}">
        <p14:creationId xmlns:p14="http://schemas.microsoft.com/office/powerpoint/2010/main" val="185960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VE" dirty="0"/>
              <a:t>Determinar tamaño de muestra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𝑛</m:t>
                      </m:r>
                      <m:r>
                        <a:rPr lang="es-419" i="1">
                          <a:latin typeface="Cambria Math" panose="02040503050406030204" pitchFamily="18" charset="0"/>
                          <a:ea typeface="Cambria Math" panose="02040503050406030204" pitchFamily="18" charset="0"/>
                        </a:rPr>
                        <m:t>=</m:t>
                      </m:r>
                      <m:sSup>
                        <m:sSupPr>
                          <m:ctrlPr>
                            <a:rPr lang="es-419" i="1" smtClean="0">
                              <a:latin typeface="Cambria Math" panose="02040503050406030204" pitchFamily="18" charset="0"/>
                              <a:ea typeface="Cambria Math" panose="02040503050406030204" pitchFamily="18" charset="0"/>
                            </a:rPr>
                          </m:ctrlPr>
                        </m:sSupPr>
                        <m:e>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𝜎</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den>
                          </m:f>
                          <m:r>
                            <a:rPr lang="es-419" b="0" i="1" smtClean="0">
                              <a:latin typeface="Cambria Math" panose="02040503050406030204" pitchFamily="18" charset="0"/>
                              <a:ea typeface="Cambria Math" panose="02040503050406030204" pitchFamily="18" charset="0"/>
                            </a:rPr>
                            <m:t>]</m:t>
                          </m:r>
                        </m:e>
                        <m:sup>
                          <m:r>
                            <a:rPr lang="es-419" b="0" i="1" smtClean="0">
                              <a:latin typeface="Cambria Math" panose="02040503050406030204" pitchFamily="18" charset="0"/>
                              <a:ea typeface="Cambria Math" panose="02040503050406030204" pitchFamily="18" charset="0"/>
                            </a:rPr>
                            <m:t>2</m:t>
                          </m:r>
                        </m:sup>
                      </m:sSup>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Para contraste de una cola en otro sentido.</a:t>
                </a:r>
              </a:p>
              <a:p>
                <a:pPr>
                  <a:lnSpc>
                    <a:spcPct val="150000"/>
                  </a:lnSpc>
                </a:pPr>
                <a14:m>
                  <m:oMath xmlns:m="http://schemas.openxmlformats.org/officeDocument/2006/math">
                    <m:sSub>
                      <m:sSubPr>
                        <m:ctrlPr>
                          <a:rPr lang="es-419" i="1" smtClean="0">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0</m:t>
                        </m:r>
                      </m:sub>
                    </m:sSub>
                    <m:r>
                      <a:rPr lang="es-419" i="1">
                        <a:latin typeface="Cambria Math" panose="02040503050406030204" pitchFamily="18" charset="0"/>
                      </a:rPr>
                      <m:t>:</m:t>
                    </m:r>
                    <m:r>
                      <a:rPr lang="es-419" i="1" smtClean="0">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1</m:t>
                        </m:r>
                      </m:sub>
                    </m:sSub>
                    <m:r>
                      <a:rPr lang="es-419" i="1">
                        <a:latin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b="0" i="1" smtClean="0">
                        <a:latin typeface="Cambria Math" panose="02040503050406030204" pitchFamily="18" charset="0"/>
                        <a:ea typeface="Cambria Math" panose="02040503050406030204" pitchFamily="18" charset="0"/>
                      </a:rPr>
                      <m:t>&lt;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0</m:t>
                        </m:r>
                      </m:sub>
                    </m:sSub>
                  </m:oMath>
                </a14:m>
                <a:endParaRPr lang="es-419" dirty="0"/>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𝑛</m:t>
                      </m:r>
                      <m:r>
                        <a:rPr lang="es-419" i="1">
                          <a:latin typeface="Cambria Math" panose="02040503050406030204" pitchFamily="18" charset="0"/>
                          <a:ea typeface="Cambria Math" panose="02040503050406030204" pitchFamily="18" charset="0"/>
                        </a:rPr>
                        <m:t>=</m:t>
                      </m:r>
                      <m:sSup>
                        <m:sSupPr>
                          <m:ctrlPr>
                            <a:rPr lang="es-419" i="1" smtClean="0">
                              <a:latin typeface="Cambria Math" panose="02040503050406030204" pitchFamily="18" charset="0"/>
                              <a:ea typeface="Cambria Math" panose="02040503050406030204" pitchFamily="18" charset="0"/>
                            </a:rPr>
                          </m:ctrlPr>
                        </m:sSupPr>
                        <m:e>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𝛽</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𝜎</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den>
                          </m:f>
                          <m:r>
                            <a:rPr lang="es-419" b="0" i="1" smtClean="0">
                              <a:latin typeface="Cambria Math" panose="02040503050406030204" pitchFamily="18" charset="0"/>
                              <a:ea typeface="Cambria Math" panose="02040503050406030204" pitchFamily="18" charset="0"/>
                            </a:rPr>
                            <m:t>]</m:t>
                          </m:r>
                        </m:e>
                        <m:sup>
                          <m:r>
                            <a:rPr lang="es-419" b="0" i="1" smtClean="0">
                              <a:latin typeface="Cambria Math" panose="02040503050406030204" pitchFamily="18" charset="0"/>
                              <a:ea typeface="Cambria Math" panose="02040503050406030204" pitchFamily="18" charset="0"/>
                            </a:rPr>
                            <m:t>2</m:t>
                          </m:r>
                        </m:sup>
                      </m:sSup>
                      <m:r>
                        <a:rPr lang="es-419" b="0" i="1" smtClean="0">
                          <a:latin typeface="Cambria Math" panose="02040503050406030204" pitchFamily="18" charset="0"/>
                          <a:ea typeface="Cambria Math" panose="02040503050406030204" pitchFamily="18" charset="0"/>
                        </a:rPr>
                        <m:t>=</m:t>
                      </m:r>
                      <m:sSup>
                        <m:sSupPr>
                          <m:ctrlPr>
                            <a:rPr lang="es-419" i="1">
                              <a:latin typeface="Cambria Math" panose="02040503050406030204" pitchFamily="18" charset="0"/>
                              <a:ea typeface="Cambria Math" panose="02040503050406030204" pitchFamily="18" charset="0"/>
                            </a:rPr>
                          </m:ctrlPr>
                        </m:sSupPr>
                        <m:e>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i="1">
                                      <a:latin typeface="Cambria Math" panose="02040503050406030204" pitchFamily="18" charset="0"/>
                                      <a:ea typeface="Cambria Math" panose="02040503050406030204" pitchFamily="18" charset="0"/>
                                    </a:rPr>
                                    <m:t>𝛼</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𝑧</m:t>
                                  </m:r>
                                </m:e>
                                <m:sub>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𝛽</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𝜎</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0</m:t>
                                  </m:r>
                                </m:sub>
                              </m:sSub>
                            </m:den>
                          </m:f>
                          <m:r>
                            <a:rPr lang="es-419" i="1">
                              <a:latin typeface="Cambria Math" panose="02040503050406030204" pitchFamily="18" charset="0"/>
                              <a:ea typeface="Cambria Math" panose="02040503050406030204" pitchFamily="18" charset="0"/>
                            </a:rPr>
                            <m:t>]</m:t>
                          </m:r>
                        </m:e>
                        <m:sup>
                          <m:r>
                            <a:rPr lang="es-419" i="1">
                              <a:latin typeface="Cambria Math" panose="02040503050406030204" pitchFamily="18" charset="0"/>
                              <a:ea typeface="Cambria Math" panose="02040503050406030204" pitchFamily="18" charset="0"/>
                            </a:rPr>
                            <m:t>2</m:t>
                          </m:r>
                        </m:sup>
                      </m:sSup>
                    </m:oMath>
                  </m:oMathPara>
                </a14:m>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s-419">
                    <a:noFill/>
                  </a:rPr>
                  <a:t> </a:t>
                </a:r>
              </a:p>
            </p:txBody>
          </p:sp>
        </mc:Fallback>
      </mc:AlternateContent>
    </p:spTree>
    <p:extLst>
      <p:ext uri="{BB962C8B-B14F-4D97-AF65-F5344CB8AC3E}">
        <p14:creationId xmlns:p14="http://schemas.microsoft.com/office/powerpoint/2010/main" val="959913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VE" dirty="0"/>
              <a:t>Determinar tamaño de muestra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Autofit/>
              </a:bodyPr>
              <a:lstStyle/>
              <a:p>
                <a:pPr>
                  <a:lnSpc>
                    <a:spcPct val="170000"/>
                  </a:lnSpc>
                </a:pPr>
                <a14:m>
                  <m:oMath xmlns:m="http://schemas.openxmlformats.org/officeDocument/2006/math">
                    <m:sSub>
                      <m:sSubPr>
                        <m:ctrlPr>
                          <a:rPr lang="es-419" sz="1800" i="1" smtClean="0">
                            <a:latin typeface="Cambria Math" panose="02040503050406030204" pitchFamily="18" charset="0"/>
                          </a:rPr>
                        </m:ctrlPr>
                      </m:sSubPr>
                      <m:e>
                        <m:r>
                          <a:rPr lang="es-419" sz="1800" i="1">
                            <a:latin typeface="Cambria Math" panose="02040503050406030204" pitchFamily="18" charset="0"/>
                          </a:rPr>
                          <m:t>𝐻</m:t>
                        </m:r>
                      </m:e>
                      <m:sub>
                        <m:r>
                          <a:rPr lang="es-419" sz="1800" i="1">
                            <a:latin typeface="Cambria Math" panose="02040503050406030204" pitchFamily="18" charset="0"/>
                          </a:rPr>
                          <m:t>0</m:t>
                        </m:r>
                      </m:sub>
                    </m:sSub>
                    <m:r>
                      <a:rPr lang="es-419" sz="1800" i="1">
                        <a:latin typeface="Cambria Math" panose="02040503050406030204" pitchFamily="18" charset="0"/>
                      </a:rPr>
                      <m:t>:</m:t>
                    </m:r>
                    <m:r>
                      <a:rPr lang="es-419" sz="1800" i="1">
                        <a:latin typeface="Cambria Math" panose="02040503050406030204" pitchFamily="18" charset="0"/>
                        <a:ea typeface="Cambria Math" panose="02040503050406030204" pitchFamily="18" charset="0"/>
                      </a:rPr>
                      <m:t>𝜇</m:t>
                    </m:r>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0</m:t>
                        </m:r>
                      </m:sub>
                    </m:sSub>
                    <m:r>
                      <a:rPr lang="es-419" sz="1800" b="0" i="1" smtClean="0">
                        <a:latin typeface="Cambria Math" panose="02040503050406030204" pitchFamily="18" charset="0"/>
                        <a:ea typeface="Cambria Math" panose="02040503050406030204" pitchFamily="18" charset="0"/>
                      </a:rPr>
                      <m:t>| </m:t>
                    </m:r>
                    <m:sSub>
                      <m:sSubPr>
                        <m:ctrlPr>
                          <a:rPr lang="es-419" sz="1800" i="1">
                            <a:latin typeface="Cambria Math" panose="02040503050406030204" pitchFamily="18" charset="0"/>
                          </a:rPr>
                        </m:ctrlPr>
                      </m:sSubPr>
                      <m:e>
                        <m:r>
                          <a:rPr lang="es-419" sz="1800" i="1">
                            <a:latin typeface="Cambria Math" panose="02040503050406030204" pitchFamily="18" charset="0"/>
                          </a:rPr>
                          <m:t>𝐻</m:t>
                        </m:r>
                      </m:e>
                      <m:sub>
                        <m:r>
                          <a:rPr lang="es-419" sz="1800" i="1">
                            <a:latin typeface="Cambria Math" panose="02040503050406030204" pitchFamily="18" charset="0"/>
                          </a:rPr>
                          <m:t>1</m:t>
                        </m:r>
                      </m:sub>
                    </m:sSub>
                    <m:r>
                      <a:rPr lang="es-419" sz="1800" i="1">
                        <a:latin typeface="Cambria Math" panose="02040503050406030204" pitchFamily="18" charset="0"/>
                      </a:rPr>
                      <m:t>:</m:t>
                    </m:r>
                    <m:r>
                      <a:rPr lang="es-419" sz="1800" i="1">
                        <a:latin typeface="Cambria Math" panose="02040503050406030204" pitchFamily="18" charset="0"/>
                        <a:ea typeface="Cambria Math" panose="02040503050406030204" pitchFamily="18" charset="0"/>
                      </a:rPr>
                      <m:t>𝜇</m:t>
                    </m:r>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0</m:t>
                        </m:r>
                      </m:sub>
                    </m:sSub>
                  </m:oMath>
                </a14:m>
                <a:endParaRPr lang="es-419" sz="1800" dirty="0"/>
              </a:p>
              <a:p>
                <a:pPr>
                  <a:lnSpc>
                    <a:spcPct val="170000"/>
                  </a:lnSpc>
                </a:pPr>
                <a:r>
                  <a:rPr lang="es-419" sz="1800" dirty="0"/>
                  <a:t>Se establecen valores alternativos de </a:t>
                </a:r>
                <a14:m>
                  <m:oMath xmlns:m="http://schemas.openxmlformats.org/officeDocument/2006/math">
                    <m:r>
                      <a:rPr lang="es-419" sz="1800" i="1" smtClean="0">
                        <a:latin typeface="Cambria Math" panose="02040503050406030204" pitchFamily="18" charset="0"/>
                        <a:ea typeface="Cambria Math" panose="02040503050406030204" pitchFamily="18" charset="0"/>
                      </a:rPr>
                      <m:t>𝜇</m:t>
                    </m:r>
                  </m:oMath>
                </a14:m>
                <a:r>
                  <a:rPr lang="es-419" sz="1800" dirty="0"/>
                  <a:t> (</a:t>
                </a:r>
                <a14:m>
                  <m:oMath xmlns:m="http://schemas.openxmlformats.org/officeDocument/2006/math">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1</m:t>
                        </m:r>
                      </m:sub>
                    </m:sSub>
                  </m:oMath>
                </a14:m>
                <a:r>
                  <a:rPr lang="es-419" sz="1800" dirty="0"/>
                  <a:t> y </a:t>
                </a:r>
                <a14:m>
                  <m:oMath xmlns:m="http://schemas.openxmlformats.org/officeDocument/2006/math">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2</m:t>
                        </m:r>
                      </m:sub>
                    </m:sSub>
                    <m:r>
                      <a:rPr lang="es-419" sz="1800" b="0" i="1" smtClean="0">
                        <a:latin typeface="Cambria Math" panose="02040503050406030204" pitchFamily="18" charset="0"/>
                        <a:ea typeface="Cambria Math" panose="02040503050406030204" pitchFamily="18" charset="0"/>
                      </a:rPr>
                      <m:t>)</m:t>
                    </m:r>
                  </m:oMath>
                </a14:m>
                <a:r>
                  <a:rPr lang="es-419" sz="1800" dirty="0"/>
                  <a:t> de forma tal que la desviación de cualquiera respecto a </a:t>
                </a:r>
                <a14:m>
                  <m:oMath xmlns:m="http://schemas.openxmlformats.org/officeDocument/2006/math">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0</m:t>
                        </m:r>
                      </m:sub>
                    </m:sSub>
                  </m:oMath>
                </a14:m>
                <a:r>
                  <a:rPr lang="es-419" sz="1800" dirty="0">
                    <a:ea typeface="Cambria Math" panose="02040503050406030204" pitchFamily="18" charset="0"/>
                  </a:rPr>
                  <a:t> sea la misma.</a:t>
                </a:r>
              </a:p>
              <a:p>
                <a:pPr marL="0" indent="0">
                  <a:lnSpc>
                    <a:spcPct val="170000"/>
                  </a:lnSpc>
                  <a:buNone/>
                </a:pPr>
                <a14:m>
                  <m:oMathPara xmlns:m="http://schemas.openxmlformats.org/officeDocument/2006/math">
                    <m:oMathParaPr>
                      <m:jc m:val="centerGroup"/>
                    </m:oMathParaPr>
                    <m:oMath xmlns:m="http://schemas.openxmlformats.org/officeDocument/2006/math">
                      <m:sSub>
                        <m:sSubPr>
                          <m:ctrlPr>
                            <a:rPr lang="es-419" sz="1800" i="1" smtClean="0">
                              <a:latin typeface="Cambria Math" panose="02040503050406030204" pitchFamily="18" charset="0"/>
                              <a:ea typeface="Cambria Math" panose="02040503050406030204" pitchFamily="18" charset="0"/>
                            </a:rPr>
                          </m:ctrlPr>
                        </m:sSubPr>
                        <m:e>
                          <m:r>
                            <a:rPr lang="es-419" sz="1800" b="0" i="1" smtClean="0">
                              <a:latin typeface="Cambria Math" panose="02040503050406030204" pitchFamily="18" charset="0"/>
                              <a:ea typeface="Cambria Math" panose="02040503050406030204" pitchFamily="18" charset="0"/>
                            </a:rPr>
                            <m:t>h</m:t>
                          </m:r>
                        </m:e>
                        <m:sub>
                          <m:r>
                            <a:rPr lang="es-419" sz="1800" b="0" i="1" smtClean="0">
                              <a:latin typeface="Cambria Math" panose="02040503050406030204" pitchFamily="18" charset="0"/>
                              <a:ea typeface="Cambria Math" panose="02040503050406030204" pitchFamily="18" charset="0"/>
                            </a:rPr>
                            <m:t>1</m:t>
                          </m:r>
                        </m:sub>
                      </m:sSub>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0</m:t>
                          </m:r>
                        </m:sub>
                      </m:sSub>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𝑧</m:t>
                          </m:r>
                        </m:e>
                        <m:sub>
                          <m:r>
                            <a:rPr lang="es-419" sz="1800" i="1">
                              <a:latin typeface="Cambria Math" panose="02040503050406030204" pitchFamily="18" charset="0"/>
                              <a:ea typeface="Cambria Math" panose="02040503050406030204" pitchFamily="18" charset="0"/>
                            </a:rPr>
                            <m:t>𝛼</m:t>
                          </m:r>
                          <m:r>
                            <a:rPr lang="es-419" sz="1800" b="0" i="1" smtClean="0">
                              <a:latin typeface="Cambria Math" panose="02040503050406030204" pitchFamily="18" charset="0"/>
                              <a:ea typeface="Cambria Math" panose="02040503050406030204" pitchFamily="18" charset="0"/>
                            </a:rPr>
                            <m:t>/2</m:t>
                          </m:r>
                        </m:sub>
                      </m:sSub>
                      <m:f>
                        <m:fPr>
                          <m:ctrlPr>
                            <a:rPr lang="es-419" sz="1800" i="1">
                              <a:latin typeface="Cambria Math" panose="02040503050406030204" pitchFamily="18" charset="0"/>
                              <a:ea typeface="Cambria Math" panose="02040503050406030204" pitchFamily="18" charset="0"/>
                            </a:rPr>
                          </m:ctrlPr>
                        </m:fPr>
                        <m:num>
                          <m:r>
                            <a:rPr lang="es-419" sz="1800" i="1">
                              <a:latin typeface="Cambria Math" panose="02040503050406030204" pitchFamily="18" charset="0"/>
                              <a:ea typeface="Cambria Math" panose="02040503050406030204" pitchFamily="18" charset="0"/>
                            </a:rPr>
                            <m:t>𝜎</m:t>
                          </m:r>
                        </m:num>
                        <m:den>
                          <m:rad>
                            <m:radPr>
                              <m:degHide m:val="on"/>
                              <m:ctrlPr>
                                <a:rPr lang="es-419" sz="1800" i="1">
                                  <a:latin typeface="Cambria Math" panose="02040503050406030204" pitchFamily="18" charset="0"/>
                                  <a:ea typeface="Cambria Math" panose="02040503050406030204" pitchFamily="18" charset="0"/>
                                </a:rPr>
                              </m:ctrlPr>
                            </m:radPr>
                            <m:deg/>
                            <m:e>
                              <m:r>
                                <a:rPr lang="es-419" sz="1800" i="1">
                                  <a:latin typeface="Cambria Math" panose="02040503050406030204" pitchFamily="18" charset="0"/>
                                  <a:ea typeface="Cambria Math" panose="02040503050406030204" pitchFamily="18" charset="0"/>
                                </a:rPr>
                                <m:t>𝑛</m:t>
                              </m:r>
                            </m:e>
                          </m:rad>
                        </m:den>
                      </m:f>
                      <m:r>
                        <a:rPr lang="es-419" sz="1800" b="0" i="0"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h</m:t>
                          </m:r>
                        </m:e>
                        <m:sub>
                          <m:r>
                            <a:rPr lang="es-419" sz="1800" b="0" i="1" smtClean="0">
                              <a:latin typeface="Cambria Math" panose="02040503050406030204" pitchFamily="18" charset="0"/>
                              <a:ea typeface="Cambria Math" panose="02040503050406030204" pitchFamily="18" charset="0"/>
                            </a:rPr>
                            <m:t>2</m:t>
                          </m:r>
                        </m:sub>
                      </m:sSub>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0</m:t>
                          </m:r>
                        </m:sub>
                      </m:sSub>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𝑧</m:t>
                          </m:r>
                        </m:e>
                        <m:sub>
                          <m:r>
                            <a:rPr lang="es-419" sz="1800" i="1">
                              <a:latin typeface="Cambria Math" panose="02040503050406030204" pitchFamily="18" charset="0"/>
                              <a:ea typeface="Cambria Math" panose="02040503050406030204" pitchFamily="18" charset="0"/>
                            </a:rPr>
                            <m:t>𝛼</m:t>
                          </m:r>
                          <m:r>
                            <a:rPr lang="es-419" sz="1800" b="0" i="1" smtClean="0">
                              <a:latin typeface="Cambria Math" panose="02040503050406030204" pitchFamily="18" charset="0"/>
                              <a:ea typeface="Cambria Math" panose="02040503050406030204" pitchFamily="18" charset="0"/>
                            </a:rPr>
                            <m:t>/2</m:t>
                          </m:r>
                        </m:sub>
                      </m:sSub>
                      <m:f>
                        <m:fPr>
                          <m:ctrlPr>
                            <a:rPr lang="es-419" sz="1800" i="1">
                              <a:latin typeface="Cambria Math" panose="02040503050406030204" pitchFamily="18" charset="0"/>
                              <a:ea typeface="Cambria Math" panose="02040503050406030204" pitchFamily="18" charset="0"/>
                            </a:rPr>
                          </m:ctrlPr>
                        </m:fPr>
                        <m:num>
                          <m:r>
                            <a:rPr lang="es-419" sz="1800" i="1">
                              <a:latin typeface="Cambria Math" panose="02040503050406030204" pitchFamily="18" charset="0"/>
                              <a:ea typeface="Cambria Math" panose="02040503050406030204" pitchFamily="18" charset="0"/>
                            </a:rPr>
                            <m:t>𝜎</m:t>
                          </m:r>
                        </m:num>
                        <m:den>
                          <m:rad>
                            <m:radPr>
                              <m:degHide m:val="on"/>
                              <m:ctrlPr>
                                <a:rPr lang="es-419" sz="1800" i="1">
                                  <a:latin typeface="Cambria Math" panose="02040503050406030204" pitchFamily="18" charset="0"/>
                                  <a:ea typeface="Cambria Math" panose="02040503050406030204" pitchFamily="18" charset="0"/>
                                </a:rPr>
                              </m:ctrlPr>
                            </m:radPr>
                            <m:deg/>
                            <m:e>
                              <m:r>
                                <a:rPr lang="es-419" sz="1800" i="1">
                                  <a:latin typeface="Cambria Math" panose="02040503050406030204" pitchFamily="18" charset="0"/>
                                  <a:ea typeface="Cambria Math" panose="02040503050406030204" pitchFamily="18" charset="0"/>
                                </a:rPr>
                                <m:t>𝑛</m:t>
                              </m:r>
                            </m:e>
                          </m:rad>
                        </m:den>
                      </m:f>
                    </m:oMath>
                  </m:oMathPara>
                </a14:m>
                <a:endParaRPr lang="es-419" sz="1800" dirty="0">
                  <a:ea typeface="Cambria Math" panose="02040503050406030204" pitchFamily="18" charset="0"/>
                </a:endParaRPr>
              </a:p>
              <a:p>
                <a:pPr>
                  <a:lnSpc>
                    <a:spcPct val="170000"/>
                  </a:lnSpc>
                </a:pPr>
                <a:r>
                  <a:rPr lang="es-419" sz="1800" dirty="0">
                    <a:ea typeface="Cambria Math" panose="02040503050406030204" pitchFamily="18" charset="0"/>
                  </a:rPr>
                  <a:t>Si </a:t>
                </a:r>
                <a14:m>
                  <m:oMath xmlns:m="http://schemas.openxmlformats.org/officeDocument/2006/math">
                    <m:sSub>
                      <m:sSubPr>
                        <m:ctrlPr>
                          <a:rPr lang="es-419" sz="1800" i="1" smtClean="0">
                            <a:latin typeface="Cambria Math" panose="02040503050406030204" pitchFamily="18" charset="0"/>
                          </a:rPr>
                        </m:ctrlPr>
                      </m:sSubPr>
                      <m:e>
                        <m:r>
                          <a:rPr lang="es-419" sz="1800" i="1">
                            <a:latin typeface="Cambria Math" panose="02040503050406030204" pitchFamily="18" charset="0"/>
                          </a:rPr>
                          <m:t>𝐻</m:t>
                        </m:r>
                      </m:e>
                      <m:sub>
                        <m:r>
                          <a:rPr lang="es-419" sz="1800" i="1">
                            <a:latin typeface="Cambria Math" panose="02040503050406030204" pitchFamily="18" charset="0"/>
                          </a:rPr>
                          <m:t>1</m:t>
                        </m:r>
                      </m:sub>
                    </m:sSub>
                  </m:oMath>
                </a14:m>
                <a:r>
                  <a:rPr lang="es-419" sz="1800" dirty="0">
                    <a:ea typeface="Cambria Math" panose="02040503050406030204" pitchFamily="18" charset="0"/>
                  </a:rPr>
                  <a:t> es verdadera:</a:t>
                </a:r>
              </a:p>
              <a:p>
                <a:pPr marL="0" indent="0">
                  <a:lnSpc>
                    <a:spcPct val="170000"/>
                  </a:lnSpc>
                  <a:buNone/>
                </a:pPr>
                <a14:m>
                  <m:oMathPara xmlns:m="http://schemas.openxmlformats.org/officeDocument/2006/math">
                    <m:oMathParaPr>
                      <m:jc m:val="centerGroup"/>
                    </m:oMathParaPr>
                    <m:oMath xmlns:m="http://schemas.openxmlformats.org/officeDocument/2006/math">
                      <m:r>
                        <a:rPr lang="es-419" sz="1800" i="1" smtClean="0">
                          <a:latin typeface="Cambria Math" panose="02040503050406030204" pitchFamily="18" charset="0"/>
                          <a:ea typeface="Cambria Math" panose="02040503050406030204" pitchFamily="18" charset="0"/>
                        </a:rPr>
                        <m:t>𝛽</m:t>
                      </m:r>
                      <m:r>
                        <a:rPr lang="es-419" sz="1800" b="0" i="1" smtClean="0">
                          <a:latin typeface="Cambria Math" panose="02040503050406030204" pitchFamily="18" charset="0"/>
                          <a:ea typeface="Cambria Math" panose="02040503050406030204" pitchFamily="18" charset="0"/>
                        </a:rPr>
                        <m:t>=</m:t>
                      </m:r>
                      <m:r>
                        <a:rPr lang="es-419" sz="1800" b="0" i="1" smtClean="0">
                          <a:latin typeface="Cambria Math" panose="02040503050406030204" pitchFamily="18" charset="0"/>
                          <a:ea typeface="Cambria Math" panose="02040503050406030204" pitchFamily="18" charset="0"/>
                        </a:rPr>
                        <m:t>𝑃</m:t>
                      </m:r>
                      <m:d>
                        <m:dPr>
                          <m:begChr m:val="["/>
                          <m:endChr m:val="]"/>
                          <m:ctrlPr>
                            <a:rPr lang="es-419" sz="1800" b="0" i="1" smtClean="0">
                              <a:latin typeface="Cambria Math" panose="02040503050406030204" pitchFamily="18" charset="0"/>
                              <a:ea typeface="Cambria Math" panose="02040503050406030204" pitchFamily="18" charset="0"/>
                            </a:rPr>
                          </m:ctrlPr>
                        </m:dPr>
                        <m:e>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h</m:t>
                              </m:r>
                            </m:e>
                            <m:sub>
                              <m:r>
                                <a:rPr lang="es-419" sz="1800" i="1">
                                  <a:latin typeface="Cambria Math" panose="02040503050406030204" pitchFamily="18" charset="0"/>
                                  <a:ea typeface="Cambria Math" panose="02040503050406030204" pitchFamily="18" charset="0"/>
                                </a:rPr>
                                <m:t>1</m:t>
                              </m:r>
                            </m:sub>
                          </m:sSub>
                          <m:r>
                            <a:rPr lang="es-419" sz="1800" i="1" smtClean="0">
                              <a:latin typeface="Cambria Math" panose="02040503050406030204" pitchFamily="18" charset="0"/>
                              <a:ea typeface="Cambria Math" panose="02040503050406030204" pitchFamily="18" charset="0"/>
                            </a:rPr>
                            <m:t>≤</m:t>
                          </m:r>
                          <m:acc>
                            <m:accPr>
                              <m:chr m:val="̅"/>
                              <m:ctrlPr>
                                <a:rPr lang="es-419" sz="1800" i="1" smtClean="0">
                                  <a:latin typeface="Cambria Math" panose="02040503050406030204" pitchFamily="18" charset="0"/>
                                  <a:ea typeface="Cambria Math" panose="02040503050406030204" pitchFamily="18" charset="0"/>
                                </a:rPr>
                              </m:ctrlPr>
                            </m:accPr>
                            <m:e>
                              <m:r>
                                <a:rPr lang="es-419" sz="1800" b="0" i="1" smtClean="0">
                                  <a:latin typeface="Cambria Math" panose="02040503050406030204" pitchFamily="18" charset="0"/>
                                  <a:ea typeface="Cambria Math" panose="02040503050406030204" pitchFamily="18" charset="0"/>
                                </a:rPr>
                                <m:t>𝑋</m:t>
                              </m:r>
                            </m:e>
                          </m:acc>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h</m:t>
                              </m:r>
                            </m:e>
                            <m:sub>
                              <m:r>
                                <a:rPr lang="es-419" sz="1800" i="1">
                                  <a:latin typeface="Cambria Math" panose="02040503050406030204" pitchFamily="18" charset="0"/>
                                  <a:ea typeface="Cambria Math" panose="02040503050406030204" pitchFamily="18" charset="0"/>
                                </a:rPr>
                                <m:t>2</m:t>
                              </m:r>
                            </m:sub>
                          </m:sSub>
                        </m:e>
                        <m:e>
                          <m:r>
                            <a:rPr lang="es-419" sz="1800" i="1">
                              <a:latin typeface="Cambria Math" panose="02040503050406030204" pitchFamily="18" charset="0"/>
                              <a:ea typeface="Cambria Math" panose="02040503050406030204" pitchFamily="18" charset="0"/>
                            </a:rPr>
                            <m:t>𝜇</m:t>
                          </m:r>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2</m:t>
                              </m:r>
                            </m:sub>
                          </m:sSub>
                        </m:e>
                      </m:d>
                    </m:oMath>
                  </m:oMathPara>
                </a14:m>
                <a:endParaRPr lang="es-419" sz="1800" b="0" i="1" dirty="0">
                  <a:latin typeface="Cambria Math" panose="02040503050406030204" pitchFamily="18" charset="0"/>
                  <a:ea typeface="Cambria Math" panose="02040503050406030204" pitchFamily="18" charset="0"/>
                </a:endParaRPr>
              </a:p>
              <a:p>
                <a:pPr>
                  <a:lnSpc>
                    <a:spcPct val="170000"/>
                  </a:lnSpc>
                </a:pPr>
                <a:r>
                  <a:rPr lang="es-419" sz="1800" dirty="0">
                    <a:ea typeface="Cambria Math" panose="02040503050406030204" pitchFamily="18" charset="0"/>
                  </a:rPr>
                  <a:t>La probabilidad de que </a:t>
                </a:r>
                <a14:m>
                  <m:oMath xmlns:m="http://schemas.openxmlformats.org/officeDocument/2006/math">
                    <m:acc>
                      <m:accPr>
                        <m:chr m:val="̅"/>
                        <m:ctrlPr>
                          <a:rPr lang="es-419" sz="1800" i="1" smtClean="0">
                            <a:latin typeface="Cambria Math" panose="02040503050406030204" pitchFamily="18" charset="0"/>
                            <a:ea typeface="Cambria Math" panose="02040503050406030204" pitchFamily="18" charset="0"/>
                          </a:rPr>
                        </m:ctrlPr>
                      </m:accPr>
                      <m:e>
                        <m:r>
                          <a:rPr lang="es-419" sz="1800" b="0" i="1" smtClean="0">
                            <a:latin typeface="Cambria Math" panose="02040503050406030204" pitchFamily="18" charset="0"/>
                            <a:ea typeface="Cambria Math" panose="02040503050406030204" pitchFamily="18" charset="0"/>
                          </a:rPr>
                          <m:t>𝑋</m:t>
                        </m:r>
                      </m:e>
                    </m:acc>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h</m:t>
                        </m:r>
                      </m:e>
                      <m:sub>
                        <m:r>
                          <a:rPr lang="es-419" sz="1800" b="0" i="1" smtClean="0">
                            <a:latin typeface="Cambria Math" panose="02040503050406030204" pitchFamily="18" charset="0"/>
                            <a:ea typeface="Cambria Math" panose="02040503050406030204" pitchFamily="18" charset="0"/>
                          </a:rPr>
                          <m:t>1</m:t>
                        </m:r>
                      </m:sub>
                    </m:sSub>
                    <m:r>
                      <a:rPr lang="es-419" sz="1800" i="1">
                        <a:latin typeface="Cambria Math" panose="02040503050406030204" pitchFamily="18" charset="0"/>
                        <a:ea typeface="Cambria Math" panose="02040503050406030204" pitchFamily="18" charset="0"/>
                      </a:rPr>
                      <m:t> </m:t>
                    </m:r>
                  </m:oMath>
                </a14:m>
                <a:r>
                  <a:rPr lang="es-419" sz="1800" dirty="0">
                    <a:ea typeface="Cambria Math" panose="02040503050406030204" pitchFamily="18" charset="0"/>
                  </a:rPr>
                  <a:t>cuando </a:t>
                </a:r>
                <a14:m>
                  <m:oMath xmlns:m="http://schemas.openxmlformats.org/officeDocument/2006/math">
                    <m:r>
                      <a:rPr lang="es-419" sz="1800" i="1">
                        <a:latin typeface="Cambria Math" panose="02040503050406030204" pitchFamily="18" charset="0"/>
                        <a:ea typeface="Cambria Math" panose="02040503050406030204" pitchFamily="18" charset="0"/>
                      </a:rPr>
                      <m:t>𝜇</m:t>
                    </m:r>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2</m:t>
                        </m:r>
                      </m:sub>
                    </m:sSub>
                    <m:r>
                      <a:rPr lang="es-419" sz="1800" i="1">
                        <a:latin typeface="Cambria Math" panose="02040503050406030204" pitchFamily="18" charset="0"/>
                        <a:ea typeface="Cambria Math" panose="02040503050406030204" pitchFamily="18" charset="0"/>
                      </a:rPr>
                      <m:t> </m:t>
                    </m:r>
                  </m:oMath>
                </a14:m>
                <a:r>
                  <a:rPr lang="es-419" sz="1800" dirty="0">
                    <a:ea typeface="Cambria Math" panose="02040503050406030204" pitchFamily="18" charset="0"/>
                  </a:rPr>
                  <a:t>es esencialmente cero, por lo que </a:t>
                </a:r>
                <a14:m>
                  <m:oMath xmlns:m="http://schemas.openxmlformats.org/officeDocument/2006/math">
                    <m:r>
                      <a:rPr lang="es-419" sz="1800" i="1">
                        <a:latin typeface="Cambria Math" panose="02040503050406030204" pitchFamily="18" charset="0"/>
                        <a:ea typeface="Cambria Math" panose="02040503050406030204" pitchFamily="18" charset="0"/>
                      </a:rPr>
                      <m:t>𝛽</m:t>
                    </m:r>
                  </m:oMath>
                </a14:m>
                <a:r>
                  <a:rPr lang="es-419" sz="1800" b="0" i="1" dirty="0">
                    <a:latin typeface="Cambria Math" panose="02040503050406030204" pitchFamily="18" charset="0"/>
                    <a:ea typeface="Cambria Math" panose="02040503050406030204" pitchFamily="18" charset="0"/>
                  </a:rPr>
                  <a:t> </a:t>
                </a:r>
                <a:r>
                  <a:rPr lang="es-419" sz="1800" dirty="0">
                    <a:ea typeface="Cambria Math" panose="02040503050406030204" pitchFamily="18" charset="0"/>
                  </a:rPr>
                  <a:t>se puede aproximar por:</a:t>
                </a:r>
              </a:p>
              <a:p>
                <a:pPr marL="0" indent="0">
                  <a:lnSpc>
                    <a:spcPct val="170000"/>
                  </a:lnSpc>
                  <a:buNone/>
                </a:pPr>
                <a14:m>
                  <m:oMathPara xmlns:m="http://schemas.openxmlformats.org/officeDocument/2006/math">
                    <m:oMathParaPr>
                      <m:jc m:val="centerGroup"/>
                    </m:oMathParaPr>
                    <m:oMath xmlns:m="http://schemas.openxmlformats.org/officeDocument/2006/math">
                      <m:r>
                        <a:rPr lang="es-419" sz="1800" i="1" smtClean="0">
                          <a:latin typeface="Cambria Math" panose="02040503050406030204" pitchFamily="18" charset="0"/>
                          <a:ea typeface="Cambria Math" panose="02040503050406030204" pitchFamily="18" charset="0"/>
                        </a:rPr>
                        <m:t>𝛽</m:t>
                      </m:r>
                      <m:r>
                        <a:rPr lang="es-419" sz="1800" b="0" i="1" smtClean="0">
                          <a:latin typeface="Cambria Math" panose="02040503050406030204" pitchFamily="18" charset="0"/>
                          <a:ea typeface="Cambria Math" panose="02040503050406030204" pitchFamily="18" charset="0"/>
                        </a:rPr>
                        <m:t>=</m:t>
                      </m:r>
                      <m:r>
                        <a:rPr lang="es-419" sz="1800" b="0" i="1" smtClean="0">
                          <a:latin typeface="Cambria Math" panose="02040503050406030204" pitchFamily="18" charset="0"/>
                          <a:ea typeface="Cambria Math" panose="02040503050406030204" pitchFamily="18" charset="0"/>
                        </a:rPr>
                        <m:t>𝑃</m:t>
                      </m:r>
                      <m:d>
                        <m:dPr>
                          <m:begChr m:val="["/>
                          <m:endChr m:val="]"/>
                          <m:ctrlPr>
                            <a:rPr lang="es-419" sz="1800" b="0" i="1" smtClean="0">
                              <a:latin typeface="Cambria Math" panose="02040503050406030204" pitchFamily="18" charset="0"/>
                              <a:ea typeface="Cambria Math" panose="02040503050406030204" pitchFamily="18" charset="0"/>
                            </a:rPr>
                          </m:ctrlPr>
                        </m:dPr>
                        <m:e>
                          <m:acc>
                            <m:accPr>
                              <m:chr m:val="̅"/>
                              <m:ctrlPr>
                                <a:rPr lang="es-419" sz="1800" i="1" smtClean="0">
                                  <a:latin typeface="Cambria Math" panose="02040503050406030204" pitchFamily="18" charset="0"/>
                                  <a:ea typeface="Cambria Math" panose="02040503050406030204" pitchFamily="18" charset="0"/>
                                </a:rPr>
                              </m:ctrlPr>
                            </m:accPr>
                            <m:e>
                              <m:r>
                                <a:rPr lang="es-419" sz="1800" b="0" i="1" smtClean="0">
                                  <a:latin typeface="Cambria Math" panose="02040503050406030204" pitchFamily="18" charset="0"/>
                                  <a:ea typeface="Cambria Math" panose="02040503050406030204" pitchFamily="18" charset="0"/>
                                </a:rPr>
                                <m:t>𝑋</m:t>
                              </m:r>
                            </m:e>
                          </m:acc>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h</m:t>
                              </m:r>
                            </m:e>
                            <m:sub>
                              <m:r>
                                <a:rPr lang="es-419" sz="1800" i="1">
                                  <a:latin typeface="Cambria Math" panose="02040503050406030204" pitchFamily="18" charset="0"/>
                                  <a:ea typeface="Cambria Math" panose="02040503050406030204" pitchFamily="18" charset="0"/>
                                </a:rPr>
                                <m:t>2</m:t>
                              </m:r>
                            </m:sub>
                          </m:sSub>
                        </m:e>
                        <m:e>
                          <m:r>
                            <a:rPr lang="es-419" sz="1800" i="1">
                              <a:latin typeface="Cambria Math" panose="02040503050406030204" pitchFamily="18" charset="0"/>
                              <a:ea typeface="Cambria Math" panose="02040503050406030204" pitchFamily="18" charset="0"/>
                            </a:rPr>
                            <m:t>𝜇</m:t>
                          </m:r>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2</m:t>
                              </m:r>
                            </m:sub>
                          </m:sSub>
                        </m:e>
                      </m:d>
                      <m:r>
                        <a:rPr lang="es-419" sz="1800" i="1">
                          <a:latin typeface="Cambria Math" panose="02040503050406030204" pitchFamily="18" charset="0"/>
                          <a:ea typeface="Cambria Math" panose="02040503050406030204" pitchFamily="18" charset="0"/>
                        </a:rPr>
                        <m:t>=</m:t>
                      </m:r>
                      <m:r>
                        <a:rPr lang="es-419" sz="1800" i="1">
                          <a:latin typeface="Cambria Math" panose="02040503050406030204" pitchFamily="18" charset="0"/>
                          <a:ea typeface="Cambria Math" panose="02040503050406030204" pitchFamily="18" charset="0"/>
                        </a:rPr>
                        <m:t>𝑃</m:t>
                      </m:r>
                      <m:r>
                        <a:rPr lang="es-419" sz="1800" i="1">
                          <a:latin typeface="Cambria Math" panose="02040503050406030204" pitchFamily="18" charset="0"/>
                          <a:ea typeface="Cambria Math" panose="02040503050406030204" pitchFamily="18" charset="0"/>
                        </a:rPr>
                        <m:t>[</m:t>
                      </m:r>
                      <m:f>
                        <m:fPr>
                          <m:ctrlPr>
                            <a:rPr lang="es-419" sz="1800" i="1">
                              <a:latin typeface="Cambria Math" panose="02040503050406030204" pitchFamily="18" charset="0"/>
                            </a:rPr>
                          </m:ctrlPr>
                        </m:fPr>
                        <m:num>
                          <m:d>
                            <m:dPr>
                              <m:ctrlPr>
                                <a:rPr lang="es-419" sz="1800" i="1" dirty="0">
                                  <a:latin typeface="Cambria Math" panose="02040503050406030204" pitchFamily="18" charset="0"/>
                                  <a:ea typeface="Cambria Math" panose="02040503050406030204" pitchFamily="18" charset="0"/>
                                </a:rPr>
                              </m:ctrlPr>
                            </m:dPr>
                            <m:e>
                              <m:acc>
                                <m:accPr>
                                  <m:chr m:val="̅"/>
                                  <m:ctrlPr>
                                    <a:rPr lang="es-419" sz="1800" i="1" dirty="0">
                                      <a:latin typeface="Cambria Math" panose="02040503050406030204" pitchFamily="18" charset="0"/>
                                      <a:ea typeface="Cambria Math" panose="02040503050406030204" pitchFamily="18" charset="0"/>
                                    </a:rPr>
                                  </m:ctrlPr>
                                </m:accPr>
                                <m:e>
                                  <m:r>
                                    <a:rPr lang="es-419" sz="1800" i="1" dirty="0">
                                      <a:latin typeface="Cambria Math" panose="02040503050406030204" pitchFamily="18" charset="0"/>
                                      <a:ea typeface="Cambria Math" panose="02040503050406030204" pitchFamily="18" charset="0"/>
                                    </a:rPr>
                                    <m:t>𝑋</m:t>
                                  </m:r>
                                </m:e>
                              </m:acc>
                              <m:r>
                                <a:rPr lang="es-419" sz="1800" i="1" dirty="0">
                                  <a:latin typeface="Cambria Math" panose="02040503050406030204" pitchFamily="18" charset="0"/>
                                  <a:ea typeface="Cambria Math" panose="02040503050406030204" pitchFamily="18" charset="0"/>
                                </a:rPr>
                                <m:t>−</m:t>
                              </m:r>
                              <m:sSub>
                                <m:sSubPr>
                                  <m:ctrlPr>
                                    <a:rPr lang="es-419" sz="1800" i="1" dirty="0">
                                      <a:latin typeface="Cambria Math" panose="02040503050406030204" pitchFamily="18" charset="0"/>
                                      <a:ea typeface="Cambria Math" panose="02040503050406030204" pitchFamily="18" charset="0"/>
                                    </a:rPr>
                                  </m:ctrlPr>
                                </m:sSubPr>
                                <m:e>
                                  <m:r>
                                    <a:rPr lang="es-419" sz="1800" i="1" dirty="0">
                                      <a:latin typeface="Cambria Math" panose="02040503050406030204" pitchFamily="18" charset="0"/>
                                      <a:ea typeface="Cambria Math" panose="02040503050406030204" pitchFamily="18" charset="0"/>
                                    </a:rPr>
                                    <m:t>𝜇</m:t>
                                  </m:r>
                                </m:e>
                                <m:sub>
                                  <m:r>
                                    <a:rPr lang="es-419" sz="1800" b="0" i="1" dirty="0" smtClean="0">
                                      <a:latin typeface="Cambria Math" panose="02040503050406030204" pitchFamily="18" charset="0"/>
                                      <a:ea typeface="Cambria Math" panose="02040503050406030204" pitchFamily="18" charset="0"/>
                                    </a:rPr>
                                    <m:t>2</m:t>
                                  </m:r>
                                </m:sub>
                              </m:sSub>
                            </m:e>
                          </m:d>
                          <m:rad>
                            <m:radPr>
                              <m:degHide m:val="on"/>
                              <m:ctrlPr>
                                <a:rPr lang="es-419" sz="1800" i="1" dirty="0">
                                  <a:latin typeface="Cambria Math" panose="02040503050406030204" pitchFamily="18" charset="0"/>
                                  <a:ea typeface="Cambria Math" panose="02040503050406030204" pitchFamily="18" charset="0"/>
                                </a:rPr>
                              </m:ctrlPr>
                            </m:radPr>
                            <m:deg/>
                            <m:e>
                              <m:r>
                                <a:rPr lang="es-419" sz="1800" i="1" dirty="0">
                                  <a:latin typeface="Cambria Math" panose="02040503050406030204" pitchFamily="18" charset="0"/>
                                  <a:ea typeface="Cambria Math" panose="02040503050406030204" pitchFamily="18" charset="0"/>
                                </a:rPr>
                                <m:t>𝑛</m:t>
                              </m:r>
                            </m:e>
                          </m:rad>
                        </m:num>
                        <m:den>
                          <m:r>
                            <a:rPr lang="es-419" sz="1800" i="1">
                              <a:latin typeface="Cambria Math" panose="02040503050406030204" pitchFamily="18" charset="0"/>
                              <a:ea typeface="Cambria Math" panose="02040503050406030204" pitchFamily="18" charset="0"/>
                            </a:rPr>
                            <m:t>𝜎</m:t>
                          </m:r>
                        </m:den>
                      </m:f>
                      <m:r>
                        <a:rPr lang="es-419" sz="1800" i="1">
                          <a:latin typeface="Cambria Math" panose="02040503050406030204" pitchFamily="18" charset="0"/>
                          <a:ea typeface="Cambria Math" panose="02040503050406030204" pitchFamily="18" charset="0"/>
                        </a:rPr>
                        <m:t>&lt;</m:t>
                      </m:r>
                      <m:f>
                        <m:fPr>
                          <m:ctrlPr>
                            <a:rPr lang="es-419" sz="1800" i="1">
                              <a:latin typeface="Cambria Math" panose="02040503050406030204" pitchFamily="18" charset="0"/>
                            </a:rPr>
                          </m:ctrlPr>
                        </m:fPr>
                        <m:num>
                          <m:r>
                            <a:rPr lang="es-419" sz="1800" i="1">
                              <a:latin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h</m:t>
                              </m:r>
                            </m:e>
                            <m:sub>
                              <m:r>
                                <a:rPr lang="es-419" sz="1800" i="1">
                                  <a:latin typeface="Cambria Math" panose="02040503050406030204" pitchFamily="18" charset="0"/>
                                  <a:ea typeface="Cambria Math" panose="02040503050406030204" pitchFamily="18" charset="0"/>
                                </a:rPr>
                                <m:t>2</m:t>
                              </m:r>
                            </m:sub>
                          </m:sSub>
                          <m:r>
                            <a:rPr lang="es-419" sz="1800" i="1" dirty="0">
                              <a:latin typeface="Cambria Math" panose="02040503050406030204" pitchFamily="18" charset="0"/>
                              <a:ea typeface="Cambria Math" panose="02040503050406030204" pitchFamily="18" charset="0"/>
                            </a:rPr>
                            <m:t>−</m:t>
                          </m:r>
                          <m:sSub>
                            <m:sSubPr>
                              <m:ctrlPr>
                                <a:rPr lang="es-419" sz="1800" i="1" dirty="0">
                                  <a:latin typeface="Cambria Math" panose="02040503050406030204" pitchFamily="18" charset="0"/>
                                  <a:ea typeface="Cambria Math" panose="02040503050406030204" pitchFamily="18" charset="0"/>
                                </a:rPr>
                              </m:ctrlPr>
                            </m:sSubPr>
                            <m:e>
                              <m:r>
                                <a:rPr lang="es-419" sz="1800" i="1" dirty="0">
                                  <a:latin typeface="Cambria Math" panose="02040503050406030204" pitchFamily="18" charset="0"/>
                                  <a:ea typeface="Cambria Math" panose="02040503050406030204" pitchFamily="18" charset="0"/>
                                </a:rPr>
                                <m:t>𝜇</m:t>
                              </m:r>
                            </m:e>
                            <m:sub>
                              <m:r>
                                <a:rPr lang="es-419" sz="1800" b="0" i="1" dirty="0" smtClean="0">
                                  <a:latin typeface="Cambria Math" panose="02040503050406030204" pitchFamily="18" charset="0"/>
                                  <a:ea typeface="Cambria Math" panose="02040503050406030204" pitchFamily="18" charset="0"/>
                                </a:rPr>
                                <m:t>2</m:t>
                              </m:r>
                            </m:sub>
                          </m:sSub>
                          <m:r>
                            <a:rPr lang="es-419" sz="1800" i="1" dirty="0">
                              <a:latin typeface="Cambria Math" panose="02040503050406030204" pitchFamily="18" charset="0"/>
                              <a:ea typeface="Cambria Math" panose="02040503050406030204" pitchFamily="18" charset="0"/>
                            </a:rPr>
                            <m:t>)</m:t>
                          </m:r>
                          <m:rad>
                            <m:radPr>
                              <m:degHide m:val="on"/>
                              <m:ctrlPr>
                                <a:rPr lang="es-419" sz="1800" i="1" dirty="0">
                                  <a:latin typeface="Cambria Math" panose="02040503050406030204" pitchFamily="18" charset="0"/>
                                  <a:ea typeface="Cambria Math" panose="02040503050406030204" pitchFamily="18" charset="0"/>
                                </a:rPr>
                              </m:ctrlPr>
                            </m:radPr>
                            <m:deg/>
                            <m:e>
                              <m:r>
                                <a:rPr lang="es-419" sz="1800" i="1" dirty="0">
                                  <a:latin typeface="Cambria Math" panose="02040503050406030204" pitchFamily="18" charset="0"/>
                                  <a:ea typeface="Cambria Math" panose="02040503050406030204" pitchFamily="18" charset="0"/>
                                </a:rPr>
                                <m:t>𝑛</m:t>
                              </m:r>
                            </m:e>
                          </m:rad>
                        </m:num>
                        <m:den>
                          <m:r>
                            <a:rPr lang="es-419" sz="1800" i="1">
                              <a:latin typeface="Cambria Math" panose="02040503050406030204" pitchFamily="18" charset="0"/>
                              <a:ea typeface="Cambria Math" panose="02040503050406030204" pitchFamily="18" charset="0"/>
                            </a:rPr>
                            <m:t>𝜎</m:t>
                          </m:r>
                        </m:den>
                      </m:f>
                    </m:oMath>
                  </m:oMathPara>
                </a14:m>
                <a:endParaRPr lang="es-419" sz="1800"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s-419">
                    <a:noFill/>
                  </a:rPr>
                  <a:t> </a:t>
                </a:r>
              </a:p>
            </p:txBody>
          </p:sp>
        </mc:Fallback>
      </mc:AlternateContent>
    </p:spTree>
    <p:extLst>
      <p:ext uri="{BB962C8B-B14F-4D97-AF65-F5344CB8AC3E}">
        <p14:creationId xmlns:p14="http://schemas.microsoft.com/office/powerpoint/2010/main" val="2030970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VE" dirty="0"/>
              <a:t>Determinar tamaño de muestra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10000"/>
                  </a:lnSpc>
                </a:pPr>
                <a:r>
                  <a:rPr lang="es-419" sz="2400" dirty="0"/>
                  <a:t>Siendo </a:t>
                </a:r>
              </a:p>
              <a:p>
                <a:pPr marL="0" indent="0">
                  <a:lnSpc>
                    <a:spcPct val="110000"/>
                  </a:lnSpc>
                  <a:buNone/>
                </a:pPr>
                <a14:m>
                  <m:oMathPara xmlns:m="http://schemas.openxmlformats.org/officeDocument/2006/math">
                    <m:oMathParaPr>
                      <m:jc m:val="centerGroup"/>
                    </m:oMathParaPr>
                    <m:oMath xmlns:m="http://schemas.openxmlformats.org/officeDocument/2006/math">
                      <m:f>
                        <m:fPr>
                          <m:ctrlPr>
                            <a:rPr lang="es-419" sz="2400" i="1" smtClean="0">
                              <a:latin typeface="Cambria Math" panose="02040503050406030204" pitchFamily="18" charset="0"/>
                            </a:rPr>
                          </m:ctrlPr>
                        </m:fPr>
                        <m:num>
                          <m:r>
                            <a:rPr lang="es-419" sz="2400" i="1">
                              <a:latin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h</m:t>
                              </m:r>
                            </m:e>
                            <m:sub>
                              <m:r>
                                <a:rPr lang="es-419" sz="2400" i="1">
                                  <a:latin typeface="Cambria Math" panose="02040503050406030204" pitchFamily="18" charset="0"/>
                                  <a:ea typeface="Cambria Math" panose="02040503050406030204" pitchFamily="18" charset="0"/>
                                </a:rPr>
                                <m:t>2</m:t>
                              </m:r>
                            </m:sub>
                          </m:sSub>
                          <m:r>
                            <a:rPr lang="es-419" sz="2400" i="1" dirty="0">
                              <a:latin typeface="Cambria Math" panose="02040503050406030204" pitchFamily="18" charset="0"/>
                              <a:ea typeface="Cambria Math" panose="02040503050406030204" pitchFamily="18" charset="0"/>
                            </a:rPr>
                            <m:t>−</m:t>
                          </m:r>
                          <m:sSub>
                            <m:sSubPr>
                              <m:ctrlPr>
                                <a:rPr lang="es-419" sz="2400" i="1" dirty="0">
                                  <a:latin typeface="Cambria Math" panose="02040503050406030204" pitchFamily="18" charset="0"/>
                                  <a:ea typeface="Cambria Math" panose="02040503050406030204" pitchFamily="18" charset="0"/>
                                </a:rPr>
                              </m:ctrlPr>
                            </m:sSubPr>
                            <m:e>
                              <m:r>
                                <a:rPr lang="es-419" sz="2400" i="1" dirty="0">
                                  <a:latin typeface="Cambria Math" panose="02040503050406030204" pitchFamily="18" charset="0"/>
                                  <a:ea typeface="Cambria Math" panose="02040503050406030204" pitchFamily="18" charset="0"/>
                                </a:rPr>
                                <m:t>𝜇</m:t>
                              </m:r>
                            </m:e>
                            <m:sub>
                              <m:r>
                                <a:rPr lang="es-419" sz="2400" b="0" i="1" dirty="0" smtClean="0">
                                  <a:latin typeface="Cambria Math" panose="02040503050406030204" pitchFamily="18" charset="0"/>
                                  <a:ea typeface="Cambria Math" panose="02040503050406030204" pitchFamily="18" charset="0"/>
                                </a:rPr>
                                <m:t>2</m:t>
                              </m:r>
                            </m:sub>
                          </m:sSub>
                          <m:r>
                            <a:rPr lang="es-419" sz="2400" i="1" dirty="0">
                              <a:latin typeface="Cambria Math" panose="02040503050406030204" pitchFamily="18" charset="0"/>
                              <a:ea typeface="Cambria Math" panose="02040503050406030204" pitchFamily="18" charset="0"/>
                            </a:rPr>
                            <m:t>)</m:t>
                          </m:r>
                          <m:rad>
                            <m:radPr>
                              <m:degHide m:val="on"/>
                              <m:ctrlPr>
                                <a:rPr lang="es-419" sz="2400" i="1" dirty="0">
                                  <a:latin typeface="Cambria Math" panose="02040503050406030204" pitchFamily="18" charset="0"/>
                                  <a:ea typeface="Cambria Math" panose="02040503050406030204" pitchFamily="18" charset="0"/>
                                </a:rPr>
                              </m:ctrlPr>
                            </m:radPr>
                            <m:deg/>
                            <m:e>
                              <m:r>
                                <a:rPr lang="es-419" sz="2400" i="1" dirty="0">
                                  <a:latin typeface="Cambria Math" panose="02040503050406030204" pitchFamily="18" charset="0"/>
                                  <a:ea typeface="Cambria Math" panose="02040503050406030204" pitchFamily="18" charset="0"/>
                                </a:rPr>
                                <m:t>𝑛</m:t>
                              </m:r>
                            </m:e>
                          </m:rad>
                        </m:num>
                        <m:den>
                          <m:r>
                            <a:rPr lang="es-419" sz="2400" i="1">
                              <a:latin typeface="Cambria Math" panose="02040503050406030204" pitchFamily="18" charset="0"/>
                              <a:ea typeface="Cambria Math" panose="02040503050406030204" pitchFamily="18" charset="0"/>
                            </a:rPr>
                            <m:t>𝜎</m:t>
                          </m:r>
                        </m:den>
                      </m:f>
                      <m:r>
                        <a:rPr lang="es-419" sz="2400" b="0" i="0" smtClean="0">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rPr>
                          </m:ctrlPr>
                        </m:sSubPr>
                        <m:e>
                          <m:r>
                            <a:rPr lang="es-419" sz="2400" i="1">
                              <a:latin typeface="Cambria Math" panose="02040503050406030204" pitchFamily="18" charset="0"/>
                            </a:rPr>
                            <m:t>𝑧</m:t>
                          </m:r>
                        </m:e>
                        <m:sub>
                          <m:r>
                            <a:rPr lang="es-419" sz="2400" i="1">
                              <a:latin typeface="Cambria Math" panose="02040503050406030204" pitchFamily="18" charset="0"/>
                            </a:rPr>
                            <m:t>1−</m:t>
                          </m:r>
                          <m:r>
                            <a:rPr lang="es-419" sz="2400" i="1">
                              <a:latin typeface="Cambria Math" panose="02040503050406030204" pitchFamily="18" charset="0"/>
                              <a:ea typeface="Cambria Math" panose="02040503050406030204" pitchFamily="18" charset="0"/>
                            </a:rPr>
                            <m:t>𝛽</m:t>
                          </m:r>
                        </m:sub>
                      </m:sSub>
                      <m:r>
                        <a:rPr lang="es-419" sz="2400" i="1" smtClean="0">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h</m:t>
                          </m:r>
                        </m:e>
                        <m:sub>
                          <m:r>
                            <a:rPr lang="es-419" sz="2400" i="1">
                              <a:latin typeface="Cambria Math" panose="02040503050406030204" pitchFamily="18" charset="0"/>
                              <a:ea typeface="Cambria Math" panose="02040503050406030204" pitchFamily="18" charset="0"/>
                            </a:rPr>
                            <m:t>2</m:t>
                          </m:r>
                        </m:sub>
                      </m:sSub>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b="0" i="1" smtClean="0">
                              <a:latin typeface="Cambria Math" panose="02040503050406030204" pitchFamily="18" charset="0"/>
                              <a:ea typeface="Cambria Math" panose="02040503050406030204" pitchFamily="18" charset="0"/>
                            </a:rPr>
                            <m:t>2</m:t>
                          </m:r>
                        </m:sub>
                      </m:sSub>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rPr>
                          </m:ctrlPr>
                        </m:sSubPr>
                        <m:e>
                          <m:r>
                            <a:rPr lang="es-419" sz="2400" i="1">
                              <a:latin typeface="Cambria Math" panose="02040503050406030204" pitchFamily="18" charset="0"/>
                            </a:rPr>
                            <m:t>𝑧</m:t>
                          </m:r>
                        </m:e>
                        <m:sub>
                          <m:r>
                            <a:rPr lang="es-419" sz="2400" i="1">
                              <a:latin typeface="Cambria Math" panose="02040503050406030204" pitchFamily="18" charset="0"/>
                            </a:rPr>
                            <m:t>1−</m:t>
                          </m:r>
                          <m:r>
                            <a:rPr lang="es-419" sz="2400" i="1">
                              <a:latin typeface="Cambria Math" panose="02040503050406030204" pitchFamily="18" charset="0"/>
                              <a:ea typeface="Cambria Math" panose="02040503050406030204" pitchFamily="18" charset="0"/>
                            </a:rPr>
                            <m:t>𝛽</m:t>
                          </m:r>
                        </m:sub>
                      </m:sSub>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𝜎</m:t>
                          </m:r>
                        </m:num>
                        <m:den>
                          <m:rad>
                            <m:radPr>
                              <m:degHide m:val="on"/>
                              <m:ctrlPr>
                                <a:rPr lang="es-419" sz="2400" i="1">
                                  <a:latin typeface="Cambria Math" panose="02040503050406030204" pitchFamily="18" charset="0"/>
                                  <a:ea typeface="Cambria Math" panose="02040503050406030204" pitchFamily="18" charset="0"/>
                                </a:rPr>
                              </m:ctrlPr>
                            </m:radPr>
                            <m:deg/>
                            <m:e>
                              <m:r>
                                <a:rPr lang="es-419" sz="2400" i="1">
                                  <a:latin typeface="Cambria Math" panose="02040503050406030204" pitchFamily="18" charset="0"/>
                                  <a:ea typeface="Cambria Math" panose="02040503050406030204" pitchFamily="18" charset="0"/>
                                </a:rPr>
                                <m:t>𝑛</m:t>
                              </m:r>
                            </m:e>
                          </m:rad>
                        </m:den>
                      </m:f>
                    </m:oMath>
                  </m:oMathPara>
                </a14:m>
                <a:endParaRPr lang="es-419" sz="2400" dirty="0">
                  <a:ea typeface="Cambria Math" panose="02040503050406030204" pitchFamily="18" charset="0"/>
                </a:endParaRPr>
              </a:p>
              <a:p>
                <a:pPr>
                  <a:lnSpc>
                    <a:spcPct val="110000"/>
                  </a:lnSpc>
                </a:pPr>
                <a:r>
                  <a:rPr lang="es-419" sz="2400" dirty="0"/>
                  <a:t>Con lo que tenemos que:</a:t>
                </a:r>
                <a:endParaRPr lang="es-419" sz="2400" dirty="0">
                  <a:ea typeface="Cambria Math" panose="02040503050406030204" pitchFamily="18" charset="0"/>
                </a:endParaRPr>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es-419" sz="2400" i="1" smtClean="0">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b="0" i="1" smtClean="0">
                              <a:latin typeface="Cambria Math" panose="02040503050406030204" pitchFamily="18" charset="0"/>
                              <a:ea typeface="Cambria Math" panose="02040503050406030204" pitchFamily="18" charset="0"/>
                            </a:rPr>
                            <m:t>2</m:t>
                          </m:r>
                        </m:sub>
                      </m:sSub>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rPr>
                          </m:ctrlPr>
                        </m:sSubPr>
                        <m:e>
                          <m:r>
                            <a:rPr lang="es-419" sz="2400" i="1">
                              <a:latin typeface="Cambria Math" panose="02040503050406030204" pitchFamily="18" charset="0"/>
                            </a:rPr>
                            <m:t>𝑧</m:t>
                          </m:r>
                        </m:e>
                        <m:sub>
                          <m:r>
                            <a:rPr lang="es-419" sz="2400" i="1">
                              <a:latin typeface="Cambria Math" panose="02040503050406030204" pitchFamily="18" charset="0"/>
                              <a:ea typeface="Cambria Math" panose="02040503050406030204" pitchFamily="18" charset="0"/>
                            </a:rPr>
                            <m:t>𝛼</m:t>
                          </m:r>
                          <m:r>
                            <a:rPr lang="es-419" sz="2400" i="1">
                              <a:latin typeface="Cambria Math" panose="02040503050406030204" pitchFamily="18" charset="0"/>
                              <a:ea typeface="Cambria Math" panose="02040503050406030204" pitchFamily="18" charset="0"/>
                            </a:rPr>
                            <m:t>/2</m:t>
                          </m:r>
                        </m:sub>
                      </m:sSub>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𝜎</m:t>
                          </m:r>
                        </m:num>
                        <m:den>
                          <m:rad>
                            <m:radPr>
                              <m:degHide m:val="on"/>
                              <m:ctrlPr>
                                <a:rPr lang="es-419" sz="2400" i="1">
                                  <a:latin typeface="Cambria Math" panose="02040503050406030204" pitchFamily="18" charset="0"/>
                                  <a:ea typeface="Cambria Math" panose="02040503050406030204" pitchFamily="18" charset="0"/>
                                </a:rPr>
                              </m:ctrlPr>
                            </m:radPr>
                            <m:deg/>
                            <m:e>
                              <m:r>
                                <a:rPr lang="es-419" sz="2400" i="1">
                                  <a:latin typeface="Cambria Math" panose="02040503050406030204" pitchFamily="18" charset="0"/>
                                  <a:ea typeface="Cambria Math" panose="02040503050406030204" pitchFamily="18" charset="0"/>
                                </a:rPr>
                                <m:t>𝑛</m:t>
                              </m:r>
                            </m:e>
                          </m:rad>
                        </m:den>
                      </m:f>
                      <m:r>
                        <a:rPr lang="es-419" sz="2400" b="0" i="1" smtClean="0">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i="1">
                              <a:latin typeface="Cambria Math" panose="02040503050406030204" pitchFamily="18" charset="0"/>
                              <a:ea typeface="Cambria Math" panose="02040503050406030204" pitchFamily="18" charset="0"/>
                            </a:rPr>
                            <m:t>2</m:t>
                          </m:r>
                        </m:sub>
                      </m:sSub>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rPr>
                          </m:ctrlPr>
                        </m:sSubPr>
                        <m:e>
                          <m:r>
                            <a:rPr lang="es-419" sz="2400" i="1">
                              <a:latin typeface="Cambria Math" panose="02040503050406030204" pitchFamily="18" charset="0"/>
                            </a:rPr>
                            <m:t>𝑧</m:t>
                          </m:r>
                        </m:e>
                        <m:sub>
                          <m:r>
                            <a:rPr lang="es-419" sz="2400" i="1">
                              <a:latin typeface="Cambria Math" panose="02040503050406030204" pitchFamily="18" charset="0"/>
                            </a:rPr>
                            <m:t>1−</m:t>
                          </m:r>
                          <m:r>
                            <a:rPr lang="es-419" sz="2400" i="1">
                              <a:latin typeface="Cambria Math" panose="02040503050406030204" pitchFamily="18" charset="0"/>
                              <a:ea typeface="Cambria Math" panose="02040503050406030204" pitchFamily="18" charset="0"/>
                            </a:rPr>
                            <m:t>𝛽</m:t>
                          </m:r>
                        </m:sub>
                      </m:sSub>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𝜎</m:t>
                          </m:r>
                        </m:num>
                        <m:den>
                          <m:rad>
                            <m:radPr>
                              <m:degHide m:val="on"/>
                              <m:ctrlPr>
                                <a:rPr lang="es-419" sz="2400" i="1">
                                  <a:latin typeface="Cambria Math" panose="02040503050406030204" pitchFamily="18" charset="0"/>
                                  <a:ea typeface="Cambria Math" panose="02040503050406030204" pitchFamily="18" charset="0"/>
                                </a:rPr>
                              </m:ctrlPr>
                            </m:radPr>
                            <m:deg/>
                            <m:e>
                              <m:r>
                                <a:rPr lang="es-419" sz="2400" i="1">
                                  <a:latin typeface="Cambria Math" panose="02040503050406030204" pitchFamily="18" charset="0"/>
                                  <a:ea typeface="Cambria Math" panose="02040503050406030204" pitchFamily="18" charset="0"/>
                                </a:rPr>
                                <m:t>𝑛</m:t>
                              </m:r>
                            </m:e>
                          </m:rad>
                        </m:den>
                      </m:f>
                    </m:oMath>
                  </m:oMathPara>
                </a14:m>
                <a:endParaRPr lang="es-419" sz="2400" dirty="0">
                  <a:ea typeface="Cambria Math" panose="02040503050406030204" pitchFamily="18" charset="0"/>
                </a:endParaRPr>
              </a:p>
              <a:p>
                <a:pPr>
                  <a:lnSpc>
                    <a:spcPct val="110000"/>
                  </a:lnSpc>
                </a:pPr>
                <a:r>
                  <a:rPr lang="es-419" sz="2400" dirty="0"/>
                  <a:t>Despejando </a:t>
                </a:r>
                <a:r>
                  <a:rPr lang="es-419" sz="2400" b="1" i="1" dirty="0">
                    <a:solidFill>
                      <a:srgbClr val="003A5D"/>
                    </a:solidFill>
                  </a:rPr>
                  <a:t>n</a:t>
                </a:r>
              </a:p>
              <a:p>
                <a:pPr marL="0" indent="0">
                  <a:lnSpc>
                    <a:spcPct val="110000"/>
                  </a:lnSpc>
                  <a:buNone/>
                </a:pPr>
                <a14:m>
                  <m:oMathPara xmlns:m="http://schemas.openxmlformats.org/officeDocument/2006/math">
                    <m:oMathParaPr>
                      <m:jc m:val="centerGroup"/>
                    </m:oMathParaPr>
                    <m:oMath xmlns:m="http://schemas.openxmlformats.org/officeDocument/2006/math">
                      <m:r>
                        <a:rPr lang="es-419" sz="2400" b="0" i="1" smtClean="0">
                          <a:solidFill>
                            <a:schemeClr val="tx1"/>
                          </a:solidFill>
                          <a:latin typeface="Cambria Math" panose="02040503050406030204" pitchFamily="18" charset="0"/>
                        </a:rPr>
                        <m:t>𝑛</m:t>
                      </m:r>
                      <m:r>
                        <a:rPr lang="es-419" sz="2400" b="0" i="1" smtClean="0">
                          <a:solidFill>
                            <a:schemeClr val="tx1"/>
                          </a:solidFill>
                          <a:latin typeface="Cambria Math" panose="02040503050406030204" pitchFamily="18" charset="0"/>
                        </a:rPr>
                        <m:t>=</m:t>
                      </m:r>
                      <m:sSup>
                        <m:sSupPr>
                          <m:ctrlPr>
                            <a:rPr lang="es-419" sz="2400" i="1">
                              <a:latin typeface="Cambria Math" panose="02040503050406030204" pitchFamily="18" charset="0"/>
                              <a:ea typeface="Cambria Math" panose="02040503050406030204" pitchFamily="18" charset="0"/>
                            </a:rPr>
                          </m:ctrlPr>
                        </m:sSupPr>
                        <m:e>
                          <m:r>
                            <a:rPr lang="es-419" sz="2400" i="1">
                              <a:latin typeface="Cambria Math" panose="02040503050406030204" pitchFamily="18" charset="0"/>
                              <a:ea typeface="Cambria Math" panose="02040503050406030204" pitchFamily="18" charset="0"/>
                            </a:rPr>
                            <m:t>[</m:t>
                          </m:r>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𝑧</m:t>
                                  </m:r>
                                </m:e>
                                <m:sub>
                                  <m:f>
                                    <m:fPr>
                                      <m:type m:val="lin"/>
                                      <m:ctrlPr>
                                        <a:rPr lang="es-419" sz="2400" i="1" smtClean="0">
                                          <a:latin typeface="Cambria Math" panose="02040503050406030204" pitchFamily="18" charset="0"/>
                                          <a:ea typeface="Cambria Math" panose="02040503050406030204" pitchFamily="18" charset="0"/>
                                        </a:rPr>
                                      </m:ctrlPr>
                                    </m:fPr>
                                    <m:num>
                                      <m:r>
                                        <a:rPr lang="es-419" sz="2400" i="1" smtClean="0">
                                          <a:latin typeface="Cambria Math" panose="02040503050406030204" pitchFamily="18" charset="0"/>
                                          <a:ea typeface="Cambria Math" panose="02040503050406030204" pitchFamily="18" charset="0"/>
                                        </a:rPr>
                                        <m:t>𝛼</m:t>
                                      </m:r>
                                    </m:num>
                                    <m:den>
                                      <m:r>
                                        <a:rPr lang="es-419" sz="2400" b="0" i="1" smtClean="0">
                                          <a:latin typeface="Cambria Math" panose="02040503050406030204" pitchFamily="18" charset="0"/>
                                          <a:ea typeface="Cambria Math" panose="02040503050406030204" pitchFamily="18" charset="0"/>
                                        </a:rPr>
                                        <m:t>2</m:t>
                                      </m:r>
                                    </m:den>
                                  </m:f>
                                </m:sub>
                              </m:sSub>
                              <m:r>
                                <a:rPr lang="es-419" sz="2400" b="0" i="1" smtClean="0">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rPr>
                                  </m:ctrlPr>
                                </m:sSubPr>
                                <m:e>
                                  <m:r>
                                    <a:rPr lang="es-419" sz="2400" i="1">
                                      <a:latin typeface="Cambria Math" panose="02040503050406030204" pitchFamily="18" charset="0"/>
                                    </a:rPr>
                                    <m:t>𝑧</m:t>
                                  </m:r>
                                </m:e>
                                <m:sub>
                                  <m:r>
                                    <a:rPr lang="es-419" sz="2400" i="1">
                                      <a:latin typeface="Cambria Math" panose="02040503050406030204" pitchFamily="18" charset="0"/>
                                    </a:rPr>
                                    <m:t>1−</m:t>
                                  </m:r>
                                  <m:r>
                                    <a:rPr lang="es-419" sz="2400" i="1">
                                      <a:latin typeface="Cambria Math" panose="02040503050406030204" pitchFamily="18" charset="0"/>
                                      <a:ea typeface="Cambria Math" panose="02040503050406030204" pitchFamily="18" charset="0"/>
                                    </a:rPr>
                                    <m:t>𝛽</m:t>
                                  </m:r>
                                </m:sub>
                              </m:sSub>
                              <m:r>
                                <a:rPr lang="es-419" sz="2400" i="1">
                                  <a:latin typeface="Cambria Math" panose="02040503050406030204" pitchFamily="18" charset="0"/>
                                  <a:ea typeface="Cambria Math" panose="02040503050406030204" pitchFamily="18" charset="0"/>
                                </a:rPr>
                                <m:t>)</m:t>
                              </m:r>
                              <m:r>
                                <a:rPr lang="es-419" sz="2400" i="1">
                                  <a:latin typeface="Cambria Math" panose="02040503050406030204" pitchFamily="18" charset="0"/>
                                  <a:ea typeface="Cambria Math" panose="02040503050406030204" pitchFamily="18" charset="0"/>
                                </a:rPr>
                                <m:t>𝜎</m:t>
                              </m:r>
                            </m:num>
                            <m:den>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b="0" i="1" smtClean="0">
                                      <a:latin typeface="Cambria Math" panose="02040503050406030204" pitchFamily="18" charset="0"/>
                                      <a:ea typeface="Cambria Math" panose="02040503050406030204" pitchFamily="18" charset="0"/>
                                    </a:rPr>
                                    <m:t>2</m:t>
                                  </m:r>
                                </m:sub>
                              </m:sSub>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i="1">
                                      <a:latin typeface="Cambria Math" panose="02040503050406030204" pitchFamily="18" charset="0"/>
                                      <a:ea typeface="Cambria Math" panose="02040503050406030204" pitchFamily="18" charset="0"/>
                                    </a:rPr>
                                    <m:t>0</m:t>
                                  </m:r>
                                </m:sub>
                              </m:sSub>
                            </m:den>
                          </m:f>
                          <m:r>
                            <a:rPr lang="es-419" sz="2400" i="1">
                              <a:latin typeface="Cambria Math" panose="02040503050406030204" pitchFamily="18" charset="0"/>
                              <a:ea typeface="Cambria Math" panose="02040503050406030204" pitchFamily="18" charset="0"/>
                            </a:rPr>
                            <m:t>]</m:t>
                          </m:r>
                        </m:e>
                        <m:sup>
                          <m:r>
                            <a:rPr lang="es-419" sz="2400" i="1">
                              <a:latin typeface="Cambria Math" panose="02040503050406030204" pitchFamily="18" charset="0"/>
                              <a:ea typeface="Cambria Math" panose="02040503050406030204" pitchFamily="18" charset="0"/>
                            </a:rPr>
                            <m:t>2</m:t>
                          </m:r>
                        </m:sup>
                      </m:sSup>
                    </m:oMath>
                  </m:oMathPara>
                </a14:m>
                <a:endParaRPr lang="es-419" sz="2400" i="1" dirty="0">
                  <a:solidFill>
                    <a:schemeClr val="tx1"/>
                  </a:solidFill>
                </a:endParaRPr>
              </a:p>
              <a:p>
                <a:pPr>
                  <a:lnSpc>
                    <a:spcPct val="110000"/>
                  </a:lnSpc>
                </a:pPr>
                <a:r>
                  <a:rPr lang="es-419" sz="2400" dirty="0">
                    <a:solidFill>
                      <a:schemeClr val="tx1"/>
                    </a:solidFill>
                  </a:rPr>
                  <a:t>Para </a:t>
                </a:r>
                <a:r>
                  <a:rPr lang="es-419" sz="2400" dirty="0">
                    <a:ea typeface="Cambria Math" panose="02040503050406030204" pitchFamily="18" charset="0"/>
                  </a:rPr>
                  <a:t>cuando </a:t>
                </a:r>
                <a14:m>
                  <m:oMath xmlns:m="http://schemas.openxmlformats.org/officeDocument/2006/math">
                    <m:r>
                      <a:rPr lang="es-419" sz="2400" i="1">
                        <a:latin typeface="Cambria Math" panose="02040503050406030204" pitchFamily="18" charset="0"/>
                        <a:ea typeface="Cambria Math" panose="02040503050406030204" pitchFamily="18" charset="0"/>
                      </a:rPr>
                      <m:t>𝜇</m:t>
                    </m:r>
                    <m:r>
                      <a:rPr lang="es-419" sz="2400" b="0" i="1" smtClean="0">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b="0" i="1" smtClean="0">
                            <a:latin typeface="Cambria Math" panose="02040503050406030204" pitchFamily="18" charset="0"/>
                            <a:ea typeface="Cambria Math" panose="02040503050406030204" pitchFamily="18" charset="0"/>
                          </a:rPr>
                          <m:t>1</m:t>
                        </m:r>
                      </m:sub>
                    </m:sSub>
                  </m:oMath>
                </a14:m>
                <a:endParaRPr lang="es-419" sz="2400" dirty="0">
                  <a:solidFill>
                    <a:schemeClr val="tx1"/>
                  </a:solidFill>
                </a:endParaRPr>
              </a:p>
              <a:p>
                <a:pPr marL="0" indent="0">
                  <a:lnSpc>
                    <a:spcPct val="110000"/>
                  </a:lnSpc>
                  <a:buNone/>
                </a:pPr>
                <a14:m>
                  <m:oMathPara xmlns:m="http://schemas.openxmlformats.org/officeDocument/2006/math">
                    <m:oMathParaPr>
                      <m:jc m:val="centerGroup"/>
                    </m:oMathParaPr>
                    <m:oMath xmlns:m="http://schemas.openxmlformats.org/officeDocument/2006/math">
                      <m:r>
                        <a:rPr lang="es-419" sz="2400" b="0" i="1" smtClean="0">
                          <a:solidFill>
                            <a:schemeClr val="tx1"/>
                          </a:solidFill>
                          <a:latin typeface="Cambria Math" panose="02040503050406030204" pitchFamily="18" charset="0"/>
                        </a:rPr>
                        <m:t>𝑛</m:t>
                      </m:r>
                      <m:r>
                        <a:rPr lang="es-419" sz="2400" b="0" i="1" smtClean="0">
                          <a:solidFill>
                            <a:schemeClr val="tx1"/>
                          </a:solidFill>
                          <a:latin typeface="Cambria Math" panose="02040503050406030204" pitchFamily="18" charset="0"/>
                        </a:rPr>
                        <m:t>=</m:t>
                      </m:r>
                      <m:sSup>
                        <m:sSupPr>
                          <m:ctrlPr>
                            <a:rPr lang="es-419" sz="2400" i="1">
                              <a:latin typeface="Cambria Math" panose="02040503050406030204" pitchFamily="18" charset="0"/>
                              <a:ea typeface="Cambria Math" panose="02040503050406030204" pitchFamily="18" charset="0"/>
                            </a:rPr>
                          </m:ctrlPr>
                        </m:sSupPr>
                        <m:e>
                          <m:r>
                            <a:rPr lang="es-419" sz="2400" i="1">
                              <a:latin typeface="Cambria Math" panose="02040503050406030204" pitchFamily="18" charset="0"/>
                              <a:ea typeface="Cambria Math" panose="02040503050406030204" pitchFamily="18" charset="0"/>
                            </a:rPr>
                            <m:t>[</m:t>
                          </m:r>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𝑧</m:t>
                                  </m:r>
                                </m:e>
                                <m:sub>
                                  <m:f>
                                    <m:fPr>
                                      <m:type m:val="lin"/>
                                      <m:ctrlPr>
                                        <a:rPr lang="es-419" sz="2400" i="1" smtClean="0">
                                          <a:latin typeface="Cambria Math" panose="02040503050406030204" pitchFamily="18" charset="0"/>
                                          <a:ea typeface="Cambria Math" panose="02040503050406030204" pitchFamily="18" charset="0"/>
                                        </a:rPr>
                                      </m:ctrlPr>
                                    </m:fPr>
                                    <m:num>
                                      <m:r>
                                        <a:rPr lang="es-419" sz="2400" i="1" smtClean="0">
                                          <a:latin typeface="Cambria Math" panose="02040503050406030204" pitchFamily="18" charset="0"/>
                                          <a:ea typeface="Cambria Math" panose="02040503050406030204" pitchFamily="18" charset="0"/>
                                        </a:rPr>
                                        <m:t>𝛼</m:t>
                                      </m:r>
                                    </m:num>
                                    <m:den>
                                      <m:r>
                                        <a:rPr lang="es-419" sz="2400" b="0" i="1" smtClean="0">
                                          <a:latin typeface="Cambria Math" panose="02040503050406030204" pitchFamily="18" charset="0"/>
                                          <a:ea typeface="Cambria Math" panose="02040503050406030204" pitchFamily="18" charset="0"/>
                                        </a:rPr>
                                        <m:t>2</m:t>
                                      </m:r>
                                    </m:den>
                                  </m:f>
                                </m:sub>
                              </m:sSub>
                              <m:r>
                                <a:rPr lang="es-419" sz="2400" b="0" i="1" smtClean="0">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rPr>
                                  </m:ctrlPr>
                                </m:sSubPr>
                                <m:e>
                                  <m:r>
                                    <a:rPr lang="es-419" sz="2400" i="1">
                                      <a:latin typeface="Cambria Math" panose="02040503050406030204" pitchFamily="18" charset="0"/>
                                    </a:rPr>
                                    <m:t>𝑧</m:t>
                                  </m:r>
                                </m:e>
                                <m:sub>
                                  <m:r>
                                    <a:rPr lang="es-419" sz="2400" i="1">
                                      <a:latin typeface="Cambria Math" panose="02040503050406030204" pitchFamily="18" charset="0"/>
                                      <a:ea typeface="Cambria Math" panose="02040503050406030204" pitchFamily="18" charset="0"/>
                                    </a:rPr>
                                    <m:t>𝛽</m:t>
                                  </m:r>
                                </m:sub>
                              </m:sSub>
                              <m:r>
                                <a:rPr lang="es-419" sz="2400" i="1">
                                  <a:latin typeface="Cambria Math" panose="02040503050406030204" pitchFamily="18" charset="0"/>
                                  <a:ea typeface="Cambria Math" panose="02040503050406030204" pitchFamily="18" charset="0"/>
                                </a:rPr>
                                <m:t>)</m:t>
                              </m:r>
                              <m:r>
                                <a:rPr lang="es-419" sz="2400" i="1">
                                  <a:latin typeface="Cambria Math" panose="02040503050406030204" pitchFamily="18" charset="0"/>
                                  <a:ea typeface="Cambria Math" panose="02040503050406030204" pitchFamily="18" charset="0"/>
                                </a:rPr>
                                <m:t>𝜎</m:t>
                              </m:r>
                            </m:num>
                            <m:den>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b="0" i="1" smtClean="0">
                                      <a:latin typeface="Cambria Math" panose="02040503050406030204" pitchFamily="18" charset="0"/>
                                      <a:ea typeface="Cambria Math" panose="02040503050406030204" pitchFamily="18" charset="0"/>
                                    </a:rPr>
                                    <m:t>1</m:t>
                                  </m:r>
                                </m:sub>
                              </m:sSub>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𝜇</m:t>
                                  </m:r>
                                </m:e>
                                <m:sub>
                                  <m:r>
                                    <a:rPr lang="es-419" sz="2400" i="1">
                                      <a:latin typeface="Cambria Math" panose="02040503050406030204" pitchFamily="18" charset="0"/>
                                      <a:ea typeface="Cambria Math" panose="02040503050406030204" pitchFamily="18" charset="0"/>
                                    </a:rPr>
                                    <m:t>0</m:t>
                                  </m:r>
                                </m:sub>
                              </m:sSub>
                            </m:den>
                          </m:f>
                          <m:r>
                            <a:rPr lang="es-419" sz="2400" i="1">
                              <a:latin typeface="Cambria Math" panose="02040503050406030204" pitchFamily="18" charset="0"/>
                              <a:ea typeface="Cambria Math" panose="02040503050406030204" pitchFamily="18" charset="0"/>
                            </a:rPr>
                            <m:t>]</m:t>
                          </m:r>
                        </m:e>
                        <m:sup>
                          <m:r>
                            <a:rPr lang="es-419" sz="2400" i="1">
                              <a:latin typeface="Cambria Math" panose="02040503050406030204" pitchFamily="18" charset="0"/>
                              <a:ea typeface="Cambria Math" panose="02040503050406030204" pitchFamily="18" charset="0"/>
                            </a:rPr>
                            <m:t>2</m:t>
                          </m:r>
                        </m:sup>
                      </m:sSup>
                    </m:oMath>
                  </m:oMathPara>
                </a14:m>
                <a:endParaRPr lang="es-419" sz="2400" dirty="0">
                  <a:solidFill>
                    <a:schemeClr val="tx1"/>
                  </a:solidFill>
                </a:endParaRP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t="-667"/>
                </a:stretch>
              </a:blipFill>
            </p:spPr>
            <p:txBody>
              <a:bodyPr/>
              <a:lstStyle/>
              <a:p>
                <a:r>
                  <a:rPr lang="es-419">
                    <a:noFill/>
                  </a:rPr>
                  <a:t> </a:t>
                </a:r>
              </a:p>
            </p:txBody>
          </p:sp>
        </mc:Fallback>
      </mc:AlternateContent>
    </p:spTree>
    <p:extLst>
      <p:ext uri="{BB962C8B-B14F-4D97-AF65-F5344CB8AC3E}">
        <p14:creationId xmlns:p14="http://schemas.microsoft.com/office/powerpoint/2010/main" val="3650257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88FDA7-7F95-48AB-BA14-43466AAD17C7}"/>
              </a:ext>
            </a:extLst>
          </p:cNvPr>
          <p:cNvSpPr>
            <a:spLocks noGrp="1"/>
          </p:cNvSpPr>
          <p:nvPr>
            <p:ph type="title"/>
          </p:nvPr>
        </p:nvSpPr>
        <p:spPr/>
        <p:txBody>
          <a:bodyPr>
            <a:normAutofit/>
          </a:bodyPr>
          <a:lstStyle/>
          <a:p>
            <a:r>
              <a:rPr lang="es-419" sz="4800" dirty="0"/>
              <a:t>Contraste para diferencia de medias poblacionales</a:t>
            </a:r>
          </a:p>
        </p:txBody>
      </p:sp>
      <p:sp>
        <p:nvSpPr>
          <p:cNvPr id="5" name="Text Placeholder 4">
            <a:extLst>
              <a:ext uri="{FF2B5EF4-FFF2-40B4-BE49-F238E27FC236}">
                <a16:creationId xmlns:a16="http://schemas.microsoft.com/office/drawing/2014/main" id="{F39C5933-CAFC-46D8-AC24-39A264C2D41F}"/>
              </a:ext>
            </a:extLst>
          </p:cNvPr>
          <p:cNvSpPr>
            <a:spLocks noGrp="1"/>
          </p:cNvSpPr>
          <p:nvPr>
            <p:ph type="body" idx="1"/>
          </p:nvPr>
        </p:nvSpPr>
        <p:spPr/>
        <p:txBody>
          <a:bodyPr/>
          <a:lstStyle/>
          <a:p>
            <a:r>
              <a:rPr lang="es-419" dirty="0"/>
              <a:t>Fórmulas y variantes</a:t>
            </a:r>
          </a:p>
        </p:txBody>
      </p:sp>
    </p:spTree>
    <p:extLst>
      <p:ext uri="{BB962C8B-B14F-4D97-AF65-F5344CB8AC3E}">
        <p14:creationId xmlns:p14="http://schemas.microsoft.com/office/powerpoint/2010/main" val="3409436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diferencia de medias poblacionales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20000"/>
              </a:bodyPr>
              <a:lstStyle/>
              <a:p>
                <a:pPr marL="514350" indent="-514350">
                  <a:lnSpc>
                    <a:spcPct val="150000"/>
                  </a:lnSpc>
                  <a:buFont typeface="+mj-lt"/>
                  <a:buAutoNum type="alphaLcParenR"/>
                </a:pPr>
                <a:r>
                  <a:rPr lang="es-419" sz="1800" dirty="0"/>
                  <a:t>Con varianzas poblacionales </a:t>
                </a:r>
                <a:r>
                  <a:rPr lang="es-419" sz="1800" b="1" dirty="0">
                    <a:solidFill>
                      <a:srgbClr val="003A5D"/>
                    </a:solidFill>
                  </a:rPr>
                  <a:t>conocidas</a:t>
                </a:r>
                <a:r>
                  <a:rPr lang="es-419" sz="1800" dirty="0"/>
                  <a:t>.</a:t>
                </a:r>
              </a:p>
              <a:p>
                <a:pPr marL="0" indent="0" algn="ctr">
                  <a:lnSpc>
                    <a:spcPct val="100000"/>
                  </a:lnSpc>
                  <a:buNone/>
                </a:pPr>
                <a14:m>
                  <m:oMath xmlns:m="http://schemas.openxmlformats.org/officeDocument/2006/math">
                    <m:acc>
                      <m:accPr>
                        <m:chr m:val="̅"/>
                        <m:ctrlPr>
                          <a:rPr lang="es-419" sz="1800" i="1" smtClean="0">
                            <a:latin typeface="Cambria Math" panose="02040503050406030204" pitchFamily="18" charset="0"/>
                          </a:rPr>
                        </m:ctrlPr>
                      </m:accPr>
                      <m:e>
                        <m:r>
                          <a:rPr lang="es-419" sz="1800" i="1">
                            <a:latin typeface="Cambria Math" panose="02040503050406030204" pitchFamily="18" charset="0"/>
                          </a:rPr>
                          <m:t>𝑋</m:t>
                        </m:r>
                      </m:e>
                    </m:acc>
                    <m:r>
                      <a:rPr lang="es-419" sz="1800" i="1">
                        <a:latin typeface="Cambria Math" panose="02040503050406030204" pitchFamily="18" charset="0"/>
                      </a:rPr>
                      <m:t>−</m:t>
                    </m:r>
                    <m:acc>
                      <m:accPr>
                        <m:chr m:val="̅"/>
                        <m:ctrlPr>
                          <a:rPr lang="es-419" sz="1800" i="1">
                            <a:latin typeface="Cambria Math" panose="02040503050406030204" pitchFamily="18" charset="0"/>
                          </a:rPr>
                        </m:ctrlPr>
                      </m:accPr>
                      <m:e>
                        <m:r>
                          <a:rPr lang="es-419" sz="1800" i="1">
                            <a:latin typeface="Cambria Math" panose="02040503050406030204" pitchFamily="18" charset="0"/>
                          </a:rPr>
                          <m:t>𝑌</m:t>
                        </m:r>
                      </m:e>
                    </m:acc>
                    <m:r>
                      <a:rPr lang="es-419" sz="1800" i="1">
                        <a:latin typeface="Cambria Math" panose="02040503050406030204" pitchFamily="18" charset="0"/>
                      </a:rPr>
                      <m:t>~</m:t>
                    </m:r>
                    <m:r>
                      <a:rPr lang="es-419" sz="1800" i="1">
                        <a:latin typeface="Cambria Math" panose="02040503050406030204" pitchFamily="18" charset="0"/>
                      </a:rPr>
                      <m:t>𝑁</m:t>
                    </m:r>
                    <m:r>
                      <a:rPr lang="es-419" sz="1800" i="1">
                        <a:latin typeface="Cambria Math" panose="02040503050406030204" pitchFamily="18" charset="0"/>
                      </a:rPr>
                      <m:t>(</m:t>
                    </m:r>
                    <m:sSub>
                      <m:sSubPr>
                        <m:ctrlPr>
                          <a:rPr lang="es-419" sz="1800" i="1">
                            <a:latin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rPr>
                          <m:t>𝑥</m:t>
                        </m:r>
                      </m:sub>
                    </m:sSub>
                    <m:r>
                      <m:rPr>
                        <m:nor/>
                      </m:rPr>
                      <a:rPr lang="es-419" sz="1800" dirty="0"/>
                      <m:t>− </m:t>
                    </m:r>
                    <m:sSub>
                      <m:sSubPr>
                        <m:ctrlPr>
                          <a:rPr lang="es-419" sz="1800" i="1">
                            <a:latin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i="1">
                        <a:latin typeface="Cambria Math" panose="02040503050406030204" pitchFamily="18" charset="0"/>
                      </a:rPr>
                      <m:t>,</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ea typeface="Cambria Math" panose="02040503050406030204" pitchFamily="18" charset="0"/>
                              </a:rPr>
                              <m:t>𝜎</m:t>
                            </m:r>
                          </m:e>
                          <m:sub>
                            <m:r>
                              <a:rPr lang="es-419" sz="1800" i="1">
                                <a:latin typeface="Cambria Math" panose="02040503050406030204" pitchFamily="18" charset="0"/>
                              </a:rPr>
                              <m:t>𝑥</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den>
                    </m:f>
                    <m:r>
                      <m:rPr>
                        <m:nor/>
                      </m:rPr>
                      <a:rPr lang="es-419" sz="1800" dirty="0"/>
                      <m:t>+ </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ea typeface="Cambria Math" panose="02040503050406030204" pitchFamily="18" charset="0"/>
                              </a:rPr>
                              <m:t>𝜎</m:t>
                            </m:r>
                          </m:e>
                          <m:sub>
                            <m:r>
                              <a:rPr lang="es-419" sz="1800" i="1">
                                <a:latin typeface="Cambria Math" panose="02040503050406030204" pitchFamily="18" charset="0"/>
                                <a:ea typeface="Cambria Math" panose="02040503050406030204" pitchFamily="18" charset="0"/>
                              </a:rPr>
                              <m:t>𝑦</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den>
                    </m:f>
                  </m:oMath>
                </a14:m>
                <a:r>
                  <a:rPr lang="es-419" sz="1800" dirty="0"/>
                  <a:t>)</a:t>
                </a:r>
              </a:p>
              <a:p>
                <a:pPr>
                  <a:lnSpc>
                    <a:spcPct val="100000"/>
                  </a:lnSpc>
                </a:pPr>
                <a:r>
                  <a:rPr lang="es-419" sz="1800" dirty="0"/>
                  <a:t>Planteamos una hipótesis nula genérica:</a:t>
                </a:r>
              </a:p>
              <a:p>
                <a:pPr>
                  <a:lnSpc>
                    <a:spcPct val="150000"/>
                  </a:lnSpc>
                </a:pPr>
                <a14:m>
                  <m:oMath xmlns:m="http://schemas.openxmlformats.org/officeDocument/2006/math">
                    <m:sSub>
                      <m:sSubPr>
                        <m:ctrlPr>
                          <a:rPr lang="es-419" sz="1800" i="1" smtClean="0">
                            <a:latin typeface="Cambria Math" panose="02040503050406030204" pitchFamily="18" charset="0"/>
                          </a:rPr>
                        </m:ctrlPr>
                      </m:sSubPr>
                      <m:e>
                        <m:r>
                          <a:rPr lang="es-419" sz="1800" i="1">
                            <a:latin typeface="Cambria Math" panose="02040503050406030204" pitchFamily="18" charset="0"/>
                          </a:rPr>
                          <m:t>𝐻</m:t>
                        </m:r>
                      </m:e>
                      <m:sub>
                        <m:r>
                          <a:rPr lang="es-419" sz="1800" i="1">
                            <a:latin typeface="Cambria Math" panose="02040503050406030204" pitchFamily="18" charset="0"/>
                          </a:rPr>
                          <m:t>0</m:t>
                        </m:r>
                      </m:sub>
                    </m:sSub>
                    <m:r>
                      <a:rPr lang="es-419" sz="1800" i="1">
                        <a:latin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𝑥</m:t>
                        </m:r>
                      </m:sub>
                    </m:sSub>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𝑦</m:t>
                        </m:r>
                      </m:sub>
                    </m:sSub>
                    <m:r>
                      <a:rPr lang="es-419" sz="180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𝑥</m:t>
                        </m:r>
                      </m:sub>
                    </m:sSub>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b="0" i="1" smtClean="0">
                        <a:latin typeface="Cambria Math" panose="02040503050406030204" pitchFamily="18" charset="0"/>
                        <a:ea typeface="Cambria Math" panose="02040503050406030204" pitchFamily="18" charset="0"/>
                      </a:rPr>
                      <m:t>=0</m:t>
                    </m:r>
                  </m:oMath>
                </a14:m>
                <a:endParaRPr lang="es-419" sz="1800" i="1" dirty="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sSub>
                      <m:sSubPr>
                        <m:ctrlPr>
                          <a:rPr lang="es-419" sz="1800" i="1">
                            <a:latin typeface="Cambria Math" panose="02040503050406030204" pitchFamily="18" charset="0"/>
                          </a:rPr>
                        </m:ctrlPr>
                      </m:sSubPr>
                      <m:e>
                        <m:r>
                          <a:rPr lang="es-419" sz="1800" i="1">
                            <a:latin typeface="Cambria Math" panose="02040503050406030204" pitchFamily="18" charset="0"/>
                          </a:rPr>
                          <m:t>𝐻</m:t>
                        </m:r>
                      </m:e>
                      <m:sub>
                        <m:r>
                          <a:rPr lang="es-419" sz="1800" i="1">
                            <a:latin typeface="Cambria Math" panose="02040503050406030204" pitchFamily="18" charset="0"/>
                          </a:rPr>
                          <m:t>1</m:t>
                        </m:r>
                      </m:sub>
                    </m:sSub>
                    <m:r>
                      <a:rPr lang="es-419" sz="1800" i="1">
                        <a:latin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𝑥</m:t>
                        </m:r>
                      </m:sub>
                    </m:sSub>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𝑥</m:t>
                        </m:r>
                      </m:sub>
                    </m:sSub>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i="1">
                        <a:latin typeface="Cambria Math" panose="02040503050406030204" pitchFamily="18" charset="0"/>
                        <a:ea typeface="Cambria Math" panose="02040503050406030204" pitchFamily="18" charset="0"/>
                      </a:rPr>
                      <m:t>≠0</m:t>
                    </m:r>
                  </m:oMath>
                </a14:m>
                <a:endParaRPr lang="es-419" sz="1800" i="1" dirty="0">
                  <a:latin typeface="Cambria Math" panose="02040503050406030204" pitchFamily="18" charset="0"/>
                  <a:ea typeface="Cambria Math" panose="02040503050406030204" pitchFamily="18" charset="0"/>
                </a:endParaRPr>
              </a:p>
              <a:p>
                <a:pPr>
                  <a:lnSpc>
                    <a:spcPct val="150000"/>
                  </a:lnSpc>
                </a:pPr>
                <a:r>
                  <a:rPr lang="es-419" sz="1800" dirty="0"/>
                  <a:t>Construimos el estadístico de prueba:</a:t>
                </a:r>
                <a:endParaRPr lang="es-419" sz="1800" i="1" dirty="0">
                  <a:latin typeface="Cambria Math" panose="02040503050406030204" pitchFamily="18" charset="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sz="1800" i="1" smtClean="0">
                              <a:latin typeface="Cambria Math" panose="02040503050406030204" pitchFamily="18" charset="0"/>
                            </a:rPr>
                          </m:ctrlPr>
                        </m:accPr>
                        <m:e>
                          <m:r>
                            <a:rPr lang="es-419" sz="1800" b="0" i="1" smtClean="0">
                              <a:latin typeface="Cambria Math" panose="02040503050406030204" pitchFamily="18" charset="0"/>
                            </a:rPr>
                            <m:t>𝑍</m:t>
                          </m:r>
                        </m:e>
                      </m:acc>
                      <m:r>
                        <a:rPr lang="es-419" sz="1800" b="0" i="1" smtClean="0">
                          <a:latin typeface="Cambria Math" panose="02040503050406030204" pitchFamily="18" charset="0"/>
                        </a:rPr>
                        <m:t>=</m:t>
                      </m:r>
                      <m:f>
                        <m:fPr>
                          <m:ctrlPr>
                            <a:rPr lang="es-419" sz="1800" b="0" i="1" smtClean="0">
                              <a:latin typeface="Cambria Math" panose="02040503050406030204" pitchFamily="18" charset="0"/>
                            </a:rPr>
                          </m:ctrlPr>
                        </m:fPr>
                        <m:num>
                          <m:r>
                            <a:rPr lang="es-419" sz="1800" b="0" i="1" smtClean="0">
                              <a:latin typeface="Cambria Math" panose="02040503050406030204" pitchFamily="18" charset="0"/>
                            </a:rPr>
                            <m:t>(</m:t>
                          </m:r>
                          <m:acc>
                            <m:accPr>
                              <m:chr m:val="̅"/>
                              <m:ctrlPr>
                                <a:rPr lang="es-419" sz="1800" i="1">
                                  <a:latin typeface="Cambria Math" panose="02040503050406030204" pitchFamily="18" charset="0"/>
                                </a:rPr>
                              </m:ctrlPr>
                            </m:accPr>
                            <m:e>
                              <m:r>
                                <a:rPr lang="es-419" sz="1800" i="1">
                                  <a:latin typeface="Cambria Math" panose="02040503050406030204" pitchFamily="18" charset="0"/>
                                </a:rPr>
                                <m:t>𝑋</m:t>
                              </m:r>
                            </m:e>
                          </m:acc>
                          <m:r>
                            <a:rPr lang="es-419" sz="1800" i="1">
                              <a:latin typeface="Cambria Math" panose="02040503050406030204" pitchFamily="18" charset="0"/>
                            </a:rPr>
                            <m:t>−</m:t>
                          </m:r>
                          <m:acc>
                            <m:accPr>
                              <m:chr m:val="̅"/>
                              <m:ctrlPr>
                                <a:rPr lang="es-419" sz="1800" i="1">
                                  <a:latin typeface="Cambria Math" panose="02040503050406030204" pitchFamily="18" charset="0"/>
                                </a:rPr>
                              </m:ctrlPr>
                            </m:accPr>
                            <m:e>
                              <m:r>
                                <a:rPr lang="es-419" sz="1800" i="1">
                                  <a:latin typeface="Cambria Math" panose="02040503050406030204" pitchFamily="18" charset="0"/>
                                </a:rPr>
                                <m:t>𝑌</m:t>
                              </m:r>
                            </m:e>
                          </m:acc>
                          <m:r>
                            <a:rPr lang="es-419" sz="1800" b="0" i="1" smtClean="0">
                              <a:latin typeface="Cambria Math" panose="02040503050406030204" pitchFamily="18" charset="0"/>
                            </a:rPr>
                            <m:t>)−</m:t>
                          </m:r>
                          <m:r>
                            <a:rPr lang="es-419" sz="1800" b="0" i="1" smtClean="0">
                              <a:solidFill>
                                <a:srgbClr val="003A5D"/>
                              </a:solidFill>
                              <a:latin typeface="Cambria Math" panose="02040503050406030204" pitchFamily="18" charset="0"/>
                            </a:rPr>
                            <m:t>(</m:t>
                          </m:r>
                          <m:sSub>
                            <m:sSubPr>
                              <m:ctrlPr>
                                <a:rPr lang="es-419" sz="1800" i="1">
                                  <a:solidFill>
                                    <a:srgbClr val="003A5D"/>
                                  </a:solidFill>
                                  <a:latin typeface="Cambria Math" panose="02040503050406030204" pitchFamily="18" charset="0"/>
                                </a:rPr>
                              </m:ctrlPr>
                            </m:sSubPr>
                            <m:e>
                              <m:r>
                                <a:rPr lang="es-419" sz="1800" i="1">
                                  <a:solidFill>
                                    <a:srgbClr val="003A5D"/>
                                  </a:solidFill>
                                  <a:latin typeface="Cambria Math" panose="02040503050406030204" pitchFamily="18" charset="0"/>
                                  <a:ea typeface="Cambria Math" panose="02040503050406030204" pitchFamily="18" charset="0"/>
                                </a:rPr>
                                <m:t>𝜇</m:t>
                              </m:r>
                            </m:e>
                            <m:sub>
                              <m:r>
                                <a:rPr lang="es-419" sz="1800" i="1">
                                  <a:solidFill>
                                    <a:srgbClr val="003A5D"/>
                                  </a:solidFill>
                                  <a:latin typeface="Cambria Math" panose="02040503050406030204" pitchFamily="18" charset="0"/>
                                </a:rPr>
                                <m:t>𝑥</m:t>
                              </m:r>
                            </m:sub>
                          </m:sSub>
                          <m:r>
                            <m:rPr>
                              <m:nor/>
                            </m:rPr>
                            <a:rPr lang="es-419" sz="1800" dirty="0">
                              <a:solidFill>
                                <a:srgbClr val="003A5D"/>
                              </a:solidFill>
                            </a:rPr>
                            <m:t>− </m:t>
                          </m:r>
                          <m:sSub>
                            <m:sSubPr>
                              <m:ctrlPr>
                                <a:rPr lang="es-419" sz="1800" i="1">
                                  <a:solidFill>
                                    <a:srgbClr val="003A5D"/>
                                  </a:solidFill>
                                  <a:latin typeface="Cambria Math" panose="02040503050406030204" pitchFamily="18" charset="0"/>
                                </a:rPr>
                              </m:ctrlPr>
                            </m:sSubPr>
                            <m:e>
                              <m:r>
                                <a:rPr lang="es-419" sz="1800" i="1">
                                  <a:solidFill>
                                    <a:srgbClr val="003A5D"/>
                                  </a:solidFill>
                                  <a:latin typeface="Cambria Math" panose="02040503050406030204" pitchFamily="18" charset="0"/>
                                  <a:ea typeface="Cambria Math" panose="02040503050406030204" pitchFamily="18" charset="0"/>
                                </a:rPr>
                                <m:t>𝜇</m:t>
                              </m:r>
                            </m:e>
                            <m:sub>
                              <m:r>
                                <a:rPr lang="es-419" sz="1800" i="1">
                                  <a:solidFill>
                                    <a:srgbClr val="003A5D"/>
                                  </a:solidFill>
                                  <a:latin typeface="Cambria Math" panose="02040503050406030204" pitchFamily="18" charset="0"/>
                                  <a:ea typeface="Cambria Math" panose="02040503050406030204" pitchFamily="18" charset="0"/>
                                </a:rPr>
                                <m:t>𝑦</m:t>
                              </m:r>
                            </m:sub>
                          </m:sSub>
                          <m:r>
                            <a:rPr lang="es-419" sz="1800" b="0" i="1" smtClean="0">
                              <a:solidFill>
                                <a:srgbClr val="003A5D"/>
                              </a:solidFill>
                              <a:latin typeface="Cambria Math" panose="02040503050406030204" pitchFamily="18" charset="0"/>
                              <a:ea typeface="Cambria Math" panose="02040503050406030204" pitchFamily="18" charset="0"/>
                            </a:rPr>
                            <m:t>)</m:t>
                          </m:r>
                        </m:num>
                        <m:den>
                          <m:rad>
                            <m:radPr>
                              <m:degHide m:val="on"/>
                              <m:ctrlPr>
                                <a:rPr lang="es-419" sz="1800" b="0" i="1" smtClean="0">
                                  <a:latin typeface="Cambria Math" panose="02040503050406030204" pitchFamily="18" charset="0"/>
                                </a:rPr>
                              </m:ctrlPr>
                            </m:radPr>
                            <m:deg/>
                            <m:e>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ea typeface="Cambria Math" panose="02040503050406030204" pitchFamily="18" charset="0"/>
                                        </a:rPr>
                                        <m:t>𝜎</m:t>
                                      </m:r>
                                    </m:e>
                                    <m:sub>
                                      <m:r>
                                        <a:rPr lang="es-419" sz="1800" i="1">
                                          <a:latin typeface="Cambria Math" panose="02040503050406030204" pitchFamily="18" charset="0"/>
                                        </a:rPr>
                                        <m:t>𝑥</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den>
                              </m:f>
                              <m:r>
                                <m:rPr>
                                  <m:nor/>
                                </m:rPr>
                                <a:rPr lang="es-419" sz="1800" dirty="0"/>
                                <m:t>+ </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ea typeface="Cambria Math" panose="02040503050406030204" pitchFamily="18" charset="0"/>
                                        </a:rPr>
                                        <m:t>𝜎</m:t>
                                      </m:r>
                                    </m:e>
                                    <m:sub>
                                      <m:r>
                                        <a:rPr lang="es-419" sz="1800" i="1">
                                          <a:latin typeface="Cambria Math" panose="02040503050406030204" pitchFamily="18" charset="0"/>
                                          <a:ea typeface="Cambria Math" panose="02040503050406030204" pitchFamily="18" charset="0"/>
                                        </a:rPr>
                                        <m:t>𝑦</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den>
                              </m:f>
                            </m:e>
                          </m:rad>
                        </m:den>
                      </m:f>
                      <m:r>
                        <a:rPr lang="es-419" sz="1800" b="0" i="1" smtClean="0">
                          <a:latin typeface="Cambria Math" panose="02040503050406030204" pitchFamily="18" charset="0"/>
                        </a:rPr>
                        <m:t>=</m:t>
                      </m:r>
                      <m:f>
                        <m:fPr>
                          <m:ctrlPr>
                            <a:rPr lang="es-419" sz="1800" i="1">
                              <a:latin typeface="Cambria Math" panose="02040503050406030204" pitchFamily="18" charset="0"/>
                            </a:rPr>
                          </m:ctrlPr>
                        </m:fPr>
                        <m:num>
                          <m:r>
                            <a:rPr lang="es-419" sz="1800" b="0" i="1" smtClean="0">
                              <a:latin typeface="Cambria Math" panose="02040503050406030204" pitchFamily="18" charset="0"/>
                            </a:rPr>
                            <m:t>(</m:t>
                          </m:r>
                          <m:acc>
                            <m:accPr>
                              <m:chr m:val="̅"/>
                              <m:ctrlPr>
                                <a:rPr lang="es-419" sz="1800" i="1">
                                  <a:latin typeface="Cambria Math" panose="02040503050406030204" pitchFamily="18" charset="0"/>
                                </a:rPr>
                              </m:ctrlPr>
                            </m:accPr>
                            <m:e>
                              <m:r>
                                <a:rPr lang="es-419" sz="1800" i="1">
                                  <a:latin typeface="Cambria Math" panose="02040503050406030204" pitchFamily="18" charset="0"/>
                                </a:rPr>
                                <m:t>𝑋</m:t>
                              </m:r>
                            </m:e>
                          </m:acc>
                          <m:r>
                            <a:rPr lang="es-419" sz="1800" i="1">
                              <a:latin typeface="Cambria Math" panose="02040503050406030204" pitchFamily="18" charset="0"/>
                            </a:rPr>
                            <m:t>−</m:t>
                          </m:r>
                          <m:acc>
                            <m:accPr>
                              <m:chr m:val="̅"/>
                              <m:ctrlPr>
                                <a:rPr lang="es-419" sz="1800" i="1">
                                  <a:latin typeface="Cambria Math" panose="02040503050406030204" pitchFamily="18" charset="0"/>
                                </a:rPr>
                              </m:ctrlPr>
                            </m:accPr>
                            <m:e>
                              <m:r>
                                <a:rPr lang="es-419" sz="1800" i="1">
                                  <a:latin typeface="Cambria Math" panose="02040503050406030204" pitchFamily="18" charset="0"/>
                                </a:rPr>
                                <m:t>𝑌</m:t>
                              </m:r>
                            </m:e>
                          </m:acc>
                          <m:r>
                            <a:rPr lang="es-419" sz="1800" b="0" i="1" smtClean="0">
                              <a:latin typeface="Cambria Math" panose="02040503050406030204" pitchFamily="18" charset="0"/>
                            </a:rPr>
                            <m:t>)</m:t>
                          </m:r>
                        </m:num>
                        <m:den>
                          <m:rad>
                            <m:radPr>
                              <m:degHide m:val="on"/>
                              <m:ctrlPr>
                                <a:rPr lang="es-419" sz="1800" i="1">
                                  <a:latin typeface="Cambria Math" panose="02040503050406030204" pitchFamily="18" charset="0"/>
                                </a:rPr>
                              </m:ctrlPr>
                            </m:radPr>
                            <m:deg/>
                            <m:e>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ea typeface="Cambria Math" panose="02040503050406030204" pitchFamily="18" charset="0"/>
                                        </a:rPr>
                                        <m:t>𝜎</m:t>
                                      </m:r>
                                    </m:e>
                                    <m:sub>
                                      <m:r>
                                        <a:rPr lang="es-419" sz="1800" i="1">
                                          <a:latin typeface="Cambria Math" panose="02040503050406030204" pitchFamily="18" charset="0"/>
                                        </a:rPr>
                                        <m:t>𝑥</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den>
                              </m:f>
                              <m:r>
                                <m:rPr>
                                  <m:nor/>
                                </m:rPr>
                                <a:rPr lang="es-419" sz="1800" dirty="0"/>
                                <m:t>+ </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ea typeface="Cambria Math" panose="02040503050406030204" pitchFamily="18" charset="0"/>
                                        </a:rPr>
                                        <m:t>𝜎</m:t>
                                      </m:r>
                                    </m:e>
                                    <m:sub>
                                      <m:r>
                                        <a:rPr lang="es-419" sz="1800" i="1">
                                          <a:latin typeface="Cambria Math" panose="02040503050406030204" pitchFamily="18" charset="0"/>
                                          <a:ea typeface="Cambria Math" panose="02040503050406030204" pitchFamily="18" charset="0"/>
                                        </a:rPr>
                                        <m:t>𝑦</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den>
                              </m:f>
                            </m:e>
                          </m:rad>
                        </m:den>
                      </m:f>
                      <m:r>
                        <a:rPr lang="es-419" sz="1800" b="0" i="1" smtClean="0">
                          <a:latin typeface="Cambria Math" panose="02040503050406030204" pitchFamily="18" charset="0"/>
                        </a:rPr>
                        <m:t>~</m:t>
                      </m:r>
                      <m:r>
                        <a:rPr lang="es-419" sz="1800" b="0" i="1" smtClean="0">
                          <a:latin typeface="Cambria Math" panose="02040503050406030204" pitchFamily="18" charset="0"/>
                        </a:rPr>
                        <m:t>𝑁</m:t>
                      </m:r>
                      <m:r>
                        <a:rPr lang="es-419" sz="1800" b="0" i="1" smtClean="0">
                          <a:latin typeface="Cambria Math" panose="02040503050406030204" pitchFamily="18" charset="0"/>
                        </a:rPr>
                        <m:t>(0,1)</m:t>
                      </m:r>
                    </m:oMath>
                  </m:oMathPara>
                </a14:m>
                <a:endParaRPr lang="es-419" sz="1800" i="1" dirty="0">
                  <a:latin typeface="Cambria Math" panose="02040503050406030204" pitchFamily="18" charset="0"/>
                  <a:ea typeface="Cambria Math" panose="02040503050406030204" pitchFamily="18" charset="0"/>
                </a:endParaRPr>
              </a:p>
              <a:p>
                <a:pPr>
                  <a:lnSpc>
                    <a:spcPct val="150000"/>
                  </a:lnSpc>
                </a:pPr>
                <a:r>
                  <a:rPr lang="es-419" sz="1800" dirty="0"/>
                  <a:t>Se distribuye como una </a:t>
                </a:r>
                <a:r>
                  <a:rPr lang="es-419" sz="1800" b="1" dirty="0">
                    <a:solidFill>
                      <a:srgbClr val="003A5D"/>
                    </a:solidFill>
                  </a:rPr>
                  <a:t>normal estandarizada.</a:t>
                </a:r>
              </a:p>
              <a:p>
                <a:pPr>
                  <a:lnSpc>
                    <a:spcPct val="150000"/>
                  </a:lnSpc>
                </a:pPr>
                <a:r>
                  <a:rPr lang="es-419" sz="1800" dirty="0"/>
                  <a:t>En </a:t>
                </a:r>
                <a:r>
                  <a:rPr lang="es-419" sz="1800" b="1" dirty="0">
                    <a:solidFill>
                      <a:srgbClr val="003A5D"/>
                    </a:solidFill>
                  </a:rPr>
                  <a:t>R</a:t>
                </a:r>
                <a:r>
                  <a:rPr lang="es-419" sz="1800" dirty="0"/>
                  <a:t> se emplea la función </a:t>
                </a:r>
                <a:r>
                  <a:rPr lang="es-419" sz="1800" dirty="0" err="1">
                    <a:solidFill>
                      <a:srgbClr val="003A5D"/>
                    </a:solidFill>
                    <a:latin typeface="Consolas" panose="020B0609020204030204" pitchFamily="49" charset="0"/>
                  </a:rPr>
                  <a:t>z.test</a:t>
                </a:r>
                <a:r>
                  <a:rPr lang="es-419" sz="1800" dirty="0">
                    <a:solidFill>
                      <a:srgbClr val="003A5D"/>
                    </a:solidFill>
                    <a:latin typeface="Consolas" panose="020B0609020204030204" pitchFamily="49" charset="0"/>
                  </a:rPr>
                  <a:t>() </a:t>
                </a:r>
                <a:r>
                  <a:rPr lang="es-419" sz="1800" dirty="0"/>
                  <a:t>del paquete </a:t>
                </a:r>
                <a:r>
                  <a:rPr lang="es-419" sz="1800" dirty="0">
                    <a:solidFill>
                      <a:srgbClr val="003A5D"/>
                    </a:solidFill>
                    <a:latin typeface="Consolas" panose="020B0609020204030204" pitchFamily="49" charset="0"/>
                  </a:rPr>
                  <a:t>BSDA.</a:t>
                </a: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348"/>
                </a:stretch>
              </a:blipFill>
            </p:spPr>
            <p:txBody>
              <a:bodyPr/>
              <a:lstStyle/>
              <a:p>
                <a:r>
                  <a:rPr lang="es-VE">
                    <a:noFill/>
                  </a:rPr>
                  <a:t> </a:t>
                </a:r>
              </a:p>
            </p:txBody>
          </p:sp>
        </mc:Fallback>
      </mc:AlternateContent>
    </p:spTree>
    <p:extLst>
      <p:ext uri="{BB962C8B-B14F-4D97-AF65-F5344CB8AC3E}">
        <p14:creationId xmlns:p14="http://schemas.microsoft.com/office/powerpoint/2010/main" val="2319290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lstStyle/>
          <a:p>
            <a:r>
              <a:rPr lang="es-419" dirty="0"/>
              <a:t>Contraste para la diferencia de medias poblacionales</a:t>
            </a:r>
          </a:p>
        </p:txBody>
      </p:sp>
      <p:pic>
        <p:nvPicPr>
          <p:cNvPr id="4" name="Imagen 3">
            <a:extLst>
              <a:ext uri="{FF2B5EF4-FFF2-40B4-BE49-F238E27FC236}">
                <a16:creationId xmlns:a16="http://schemas.microsoft.com/office/drawing/2014/main" id="{EF955F05-E357-B46D-400D-B98790A99260}"/>
              </a:ext>
            </a:extLst>
          </p:cNvPr>
          <p:cNvPicPr>
            <a:picLocks noChangeAspect="1"/>
          </p:cNvPicPr>
          <p:nvPr/>
        </p:nvPicPr>
        <p:blipFill>
          <a:blip r:embed="rId2"/>
          <a:stretch>
            <a:fillRect/>
          </a:stretch>
        </p:blipFill>
        <p:spPr>
          <a:xfrm>
            <a:off x="2300410" y="1089000"/>
            <a:ext cx="7591181" cy="4680000"/>
          </a:xfrm>
          <a:prstGeom prst="rect">
            <a:avLst/>
          </a:prstGeom>
        </p:spPr>
      </p:pic>
      <mc:AlternateContent xmlns:mc="http://schemas.openxmlformats.org/markup-compatibility/2006" xmlns:a14="http://schemas.microsoft.com/office/drawing/2010/main">
        <mc:Choice Requires="a14">
          <p:sp>
            <p:nvSpPr>
              <p:cNvPr id="6" name="TextBox 3">
                <a:extLst>
                  <a:ext uri="{FF2B5EF4-FFF2-40B4-BE49-F238E27FC236}">
                    <a16:creationId xmlns:a16="http://schemas.microsoft.com/office/drawing/2014/main" id="{27507DFE-8649-4A7A-93BD-45EBA8959A52}"/>
                  </a:ext>
                </a:extLst>
              </p:cNvPr>
              <p:cNvSpPr txBox="1"/>
              <p:nvPr/>
            </p:nvSpPr>
            <p:spPr>
              <a:xfrm>
                <a:off x="3356103" y="1089000"/>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smtClean="0">
                              <a:latin typeface="Cambria Math" panose="02040503050406030204" pitchFamily="18" charset="0"/>
                            </a:rPr>
                          </m:ctrlPr>
                        </m:sSubPr>
                        <m:e>
                          <m:r>
                            <a:rPr lang="es-419" sz="1400" i="1" smtClean="0">
                              <a:latin typeface="Cambria Math" panose="02040503050406030204" pitchFamily="18" charset="0"/>
                              <a:ea typeface="Cambria Math" panose="02040503050406030204" pitchFamily="18" charset="0"/>
                            </a:rPr>
                            <m:t>𝜇</m:t>
                          </m:r>
                        </m:e>
                        <m:sub>
                          <m:r>
                            <a:rPr lang="es-VE" sz="1400" b="0" i="1" smtClean="0">
                              <a:latin typeface="Cambria Math" panose="02040503050406030204" pitchFamily="18" charset="0"/>
                            </a:rPr>
                            <m:t>𝑥</m:t>
                          </m:r>
                        </m:sub>
                      </m:sSub>
                      <m:r>
                        <a:rPr lang="es-VE" sz="1400" b="0" i="1" smtClean="0">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b="0" i="1" smtClean="0">
                              <a:latin typeface="Cambria Math" panose="02040503050406030204" pitchFamily="18" charset="0"/>
                              <a:ea typeface="Cambria Math" panose="02040503050406030204" pitchFamily="18" charset="0"/>
                            </a:rPr>
                            <m:t>𝑦</m:t>
                          </m:r>
                        </m:sub>
                      </m:sSub>
                      <m:r>
                        <a:rPr lang="es-VE" sz="1400" b="0" i="0" smtClean="0">
                          <a:latin typeface="Cambria Math" panose="02040503050406030204" pitchFamily="18" charset="0"/>
                        </a:rPr>
                        <m:t>&lt;0</m:t>
                      </m:r>
                    </m:oMath>
                  </m:oMathPara>
                </a14:m>
                <a:endParaRPr lang="es-419" sz="1400" dirty="0"/>
              </a:p>
            </p:txBody>
          </p:sp>
        </mc:Choice>
        <mc:Fallback xmlns="">
          <p:sp>
            <p:nvSpPr>
              <p:cNvPr id="6"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3356103" y="1089000"/>
                <a:ext cx="1428019" cy="3247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3">
                <a:extLst>
                  <a:ext uri="{FF2B5EF4-FFF2-40B4-BE49-F238E27FC236}">
                    <a16:creationId xmlns:a16="http://schemas.microsoft.com/office/drawing/2014/main" id="{27507DFE-8649-4A7A-93BD-45EBA8959A52}"/>
                  </a:ext>
                </a:extLst>
              </p:cNvPr>
              <p:cNvSpPr txBox="1"/>
              <p:nvPr/>
            </p:nvSpPr>
            <p:spPr>
              <a:xfrm>
                <a:off x="7246314" y="1088999"/>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b="0" i="0" smtClean="0">
                          <a:latin typeface="Cambria Math" panose="02040503050406030204" pitchFamily="18" charset="0"/>
                        </a:rPr>
                        <m:t>&gt;0</m:t>
                      </m:r>
                    </m:oMath>
                  </m:oMathPara>
                </a14:m>
                <a:endParaRPr lang="es-419" sz="1400" dirty="0"/>
              </a:p>
            </p:txBody>
          </p:sp>
        </mc:Choice>
        <mc:Fallback xmlns="">
          <p:sp>
            <p:nvSpPr>
              <p:cNvPr id="7"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7246314" y="1088999"/>
                <a:ext cx="1428019" cy="32476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3">
                <a:extLst>
                  <a:ext uri="{FF2B5EF4-FFF2-40B4-BE49-F238E27FC236}">
                    <a16:creationId xmlns:a16="http://schemas.microsoft.com/office/drawing/2014/main" id="{27507DFE-8649-4A7A-93BD-45EBA8959A52}"/>
                  </a:ext>
                </a:extLst>
              </p:cNvPr>
              <p:cNvSpPr txBox="1"/>
              <p:nvPr/>
            </p:nvSpPr>
            <p:spPr>
              <a:xfrm>
                <a:off x="5272741" y="3615631"/>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a:latin typeface="Cambria Math" panose="02040503050406030204" pitchFamily="18" charset="0"/>
                          <a:ea typeface="Cambria Math" panose="02040503050406030204" pitchFamily="18" charset="0"/>
                        </a:rPr>
                        <m:t>≠</m:t>
                      </m:r>
                      <m:r>
                        <a:rPr lang="es-VE" sz="1400" b="0" i="0" smtClean="0">
                          <a:latin typeface="Cambria Math" panose="02040503050406030204" pitchFamily="18" charset="0"/>
                        </a:rPr>
                        <m:t>0</m:t>
                      </m:r>
                    </m:oMath>
                  </m:oMathPara>
                </a14:m>
                <a:endParaRPr lang="es-419" sz="1400" dirty="0"/>
              </a:p>
            </p:txBody>
          </p:sp>
        </mc:Choice>
        <mc:Fallback xmlns="">
          <p:sp>
            <p:nvSpPr>
              <p:cNvPr id="8"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5272741" y="3615631"/>
                <a:ext cx="1428019" cy="32476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19038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Resuelto 11.10</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normAutofit fontScale="92500" lnSpcReduction="10000"/>
          </a:bodyPr>
          <a:lstStyle/>
          <a:p>
            <a:pPr marL="0" indent="0">
              <a:lnSpc>
                <a:spcPct val="150000"/>
              </a:lnSpc>
              <a:buNone/>
            </a:pPr>
            <a:r>
              <a:rPr lang="es-VE" i="1" dirty="0"/>
              <a:t>Se desea conocer si existe diferencia en el diámetro medio de las </a:t>
            </a:r>
            <a:r>
              <a:rPr lang="es-VE" i="1" dirty="0" err="1"/>
              <a:t>rolineras</a:t>
            </a:r>
            <a:r>
              <a:rPr lang="es-VE" i="1" dirty="0"/>
              <a:t> producidas por una máquina, y en el de las producidas por otra máquina. Se sabe que las varianzas en los diámetros son 1 y 0,8 respectivamente. </a:t>
            </a:r>
          </a:p>
          <a:p>
            <a:pPr marL="0" indent="0">
              <a:lnSpc>
                <a:spcPct val="150000"/>
              </a:lnSpc>
              <a:buNone/>
            </a:pPr>
            <a:r>
              <a:rPr lang="es-VE" i="1" dirty="0"/>
              <a:t>Una muestra de 20 elementos de la primera máquina dio un diámetro medio de 15 mm, y una muestra de 10 elementos de la segunda máquina dio un diámetro medio de 13,5 </a:t>
            </a:r>
            <a:r>
              <a:rPr lang="es-VE" i="1" dirty="0" err="1"/>
              <a:t>mm.</a:t>
            </a:r>
            <a:r>
              <a:rPr lang="es-VE" i="1" dirty="0"/>
              <a:t> Use un nivel de significancia del 5%.</a:t>
            </a:r>
            <a:endParaRPr lang="en-US" i="1" dirty="0"/>
          </a:p>
          <a:p>
            <a:pPr marL="0" indent="0">
              <a:lnSpc>
                <a:spcPct val="150000"/>
              </a:lnSpc>
              <a:buNone/>
            </a:pPr>
            <a:r>
              <a:rPr lang="es-VE" i="1" dirty="0"/>
              <a:t>Emplee solamente el método de p-valor.</a:t>
            </a:r>
          </a:p>
        </p:txBody>
      </p:sp>
    </p:spTree>
    <p:extLst>
      <p:ext uri="{BB962C8B-B14F-4D97-AF65-F5344CB8AC3E}">
        <p14:creationId xmlns:p14="http://schemas.microsoft.com/office/powerpoint/2010/main" val="3626548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11.10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92500" lnSpcReduction="10000"/>
          </a:bodyPr>
          <a:lstStyle/>
          <a:p>
            <a:pPr marL="0" indent="0">
              <a:buNone/>
            </a:pPr>
            <a:r>
              <a:rPr lang="es-VE" dirty="0">
                <a:latin typeface="Consolas" panose="020B0609020204030204" pitchFamily="49" charset="0"/>
              </a:rPr>
              <a:t>&gt; o2_x &lt;- 1</a:t>
            </a:r>
          </a:p>
          <a:p>
            <a:pPr marL="0" indent="0">
              <a:buNone/>
            </a:pPr>
            <a:r>
              <a:rPr lang="es-VE" dirty="0">
                <a:latin typeface="Consolas" panose="020B0609020204030204" pitchFamily="49" charset="0"/>
              </a:rPr>
              <a:t>&gt; o2_y &lt;- 0.8</a:t>
            </a:r>
          </a:p>
          <a:p>
            <a:pPr marL="0" indent="0">
              <a:buNone/>
            </a:pPr>
            <a:r>
              <a:rPr lang="es-VE" dirty="0">
                <a:latin typeface="Consolas" panose="020B0609020204030204" pitchFamily="49" charset="0"/>
              </a:rPr>
              <a:t>&gt; </a:t>
            </a:r>
            <a:r>
              <a:rPr lang="es-VE" dirty="0" err="1">
                <a:latin typeface="Consolas" panose="020B0609020204030204" pitchFamily="49" charset="0"/>
              </a:rPr>
              <a:t>n_x</a:t>
            </a:r>
            <a:r>
              <a:rPr lang="es-VE" dirty="0">
                <a:latin typeface="Consolas" panose="020B0609020204030204" pitchFamily="49" charset="0"/>
              </a:rPr>
              <a:t> &lt;- 20</a:t>
            </a:r>
          </a:p>
          <a:p>
            <a:pPr marL="0" indent="0">
              <a:buNone/>
            </a:pPr>
            <a:r>
              <a:rPr lang="es-VE" dirty="0">
                <a:latin typeface="Consolas" panose="020B0609020204030204" pitchFamily="49" charset="0"/>
              </a:rPr>
              <a:t>&gt; </a:t>
            </a:r>
            <a:r>
              <a:rPr lang="es-VE" dirty="0" err="1">
                <a:latin typeface="Consolas" panose="020B0609020204030204" pitchFamily="49" charset="0"/>
              </a:rPr>
              <a:t>x_hat</a:t>
            </a:r>
            <a:r>
              <a:rPr lang="es-VE" dirty="0">
                <a:latin typeface="Consolas" panose="020B0609020204030204" pitchFamily="49" charset="0"/>
              </a:rPr>
              <a:t> &lt;- 15</a:t>
            </a:r>
          </a:p>
          <a:p>
            <a:pPr marL="0" indent="0">
              <a:buNone/>
            </a:pPr>
            <a:r>
              <a:rPr lang="es-VE" dirty="0">
                <a:latin typeface="Consolas" panose="020B0609020204030204" pitchFamily="49" charset="0"/>
              </a:rPr>
              <a:t>&gt; </a:t>
            </a:r>
            <a:r>
              <a:rPr lang="es-VE" dirty="0" err="1">
                <a:latin typeface="Consolas" panose="020B0609020204030204" pitchFamily="49" charset="0"/>
              </a:rPr>
              <a:t>n_y</a:t>
            </a:r>
            <a:r>
              <a:rPr lang="es-VE" dirty="0">
                <a:latin typeface="Consolas" panose="020B0609020204030204" pitchFamily="49" charset="0"/>
              </a:rPr>
              <a:t> &lt;- 10</a:t>
            </a:r>
          </a:p>
          <a:p>
            <a:pPr marL="0" indent="0">
              <a:buNone/>
            </a:pPr>
            <a:r>
              <a:rPr lang="es-VE" dirty="0">
                <a:latin typeface="Consolas" panose="020B0609020204030204" pitchFamily="49" charset="0"/>
              </a:rPr>
              <a:t>&gt; </a:t>
            </a:r>
            <a:r>
              <a:rPr lang="es-VE" dirty="0" err="1">
                <a:latin typeface="Consolas" panose="020B0609020204030204" pitchFamily="49" charset="0"/>
              </a:rPr>
              <a:t>y_hat</a:t>
            </a:r>
            <a:r>
              <a:rPr lang="es-VE" dirty="0">
                <a:latin typeface="Consolas" panose="020B0609020204030204" pitchFamily="49" charset="0"/>
              </a:rPr>
              <a:t> &lt;- 13.5</a:t>
            </a:r>
          </a:p>
          <a:p>
            <a:pPr marL="0" indent="0">
              <a:buNone/>
            </a:pPr>
            <a:r>
              <a:rPr lang="es-VE" dirty="0">
                <a:latin typeface="Consolas" panose="020B0609020204030204" pitchFamily="49" charset="0"/>
              </a:rPr>
              <a:t>&gt; a &lt;- 0.05</a:t>
            </a:r>
          </a:p>
          <a:p>
            <a:pPr marL="0" indent="0">
              <a:buNone/>
            </a:pPr>
            <a:r>
              <a:rPr lang="es-VE" dirty="0">
                <a:latin typeface="Consolas" panose="020B0609020204030204" pitchFamily="49" charset="0"/>
              </a:rPr>
              <a:t>&gt; #H0: </a:t>
            </a:r>
            <a:r>
              <a:rPr lang="es-VE" dirty="0" err="1">
                <a:latin typeface="Consolas" panose="020B0609020204030204" pitchFamily="49" charset="0"/>
              </a:rPr>
              <a:t>mu_x</a:t>
            </a:r>
            <a:r>
              <a:rPr lang="es-VE" dirty="0">
                <a:latin typeface="Consolas" panose="020B0609020204030204" pitchFamily="49" charset="0"/>
              </a:rPr>
              <a:t> = </a:t>
            </a:r>
            <a:r>
              <a:rPr lang="es-VE" dirty="0" err="1">
                <a:latin typeface="Consolas" panose="020B0609020204030204" pitchFamily="49" charset="0"/>
              </a:rPr>
              <a:t>mu_y</a:t>
            </a:r>
            <a:r>
              <a:rPr lang="es-VE" dirty="0">
                <a:latin typeface="Consolas" panose="020B0609020204030204" pitchFamily="49" charset="0"/>
              </a:rPr>
              <a:t> | </a:t>
            </a:r>
            <a:r>
              <a:rPr lang="es-VE" dirty="0" err="1">
                <a:latin typeface="Consolas" panose="020B0609020204030204" pitchFamily="49" charset="0"/>
              </a:rPr>
              <a:t>mu_x</a:t>
            </a:r>
            <a:r>
              <a:rPr lang="es-VE" dirty="0">
                <a:latin typeface="Consolas" panose="020B0609020204030204" pitchFamily="49" charset="0"/>
              </a:rPr>
              <a:t> =/= </a:t>
            </a:r>
            <a:r>
              <a:rPr lang="es-VE" dirty="0" err="1">
                <a:latin typeface="Consolas" panose="020B0609020204030204" pitchFamily="49" charset="0"/>
              </a:rPr>
              <a:t>mu_y</a:t>
            </a:r>
            <a:endParaRPr lang="es-VE" dirty="0">
              <a:latin typeface="Consolas" panose="020B0609020204030204" pitchFamily="49" charset="0"/>
            </a:endParaRPr>
          </a:p>
          <a:p>
            <a:pPr marL="0" indent="0">
              <a:buNone/>
            </a:pPr>
            <a:r>
              <a:rPr lang="es-VE" dirty="0">
                <a:latin typeface="Consolas" panose="020B0609020204030204" pitchFamily="49" charset="0"/>
              </a:rPr>
              <a:t>  </a:t>
            </a:r>
          </a:p>
          <a:p>
            <a:pPr marL="0" indent="0">
              <a:buNone/>
            </a:pPr>
            <a:r>
              <a:rPr lang="es-VE" dirty="0">
                <a:latin typeface="Consolas" panose="020B0609020204030204" pitchFamily="49" charset="0"/>
              </a:rPr>
              <a:t>&gt; </a:t>
            </a:r>
            <a:r>
              <a:rPr lang="es-VE" dirty="0" err="1">
                <a:latin typeface="Consolas" panose="020B0609020204030204" pitchFamily="49" charset="0"/>
              </a:rPr>
              <a:t>z_diff</a:t>
            </a:r>
            <a:r>
              <a:rPr lang="es-VE" dirty="0">
                <a:latin typeface="Consolas" panose="020B0609020204030204" pitchFamily="49" charset="0"/>
              </a:rPr>
              <a:t> &lt;- (</a:t>
            </a:r>
            <a:r>
              <a:rPr lang="es-VE" dirty="0" err="1">
                <a:latin typeface="Consolas" panose="020B0609020204030204" pitchFamily="49" charset="0"/>
              </a:rPr>
              <a:t>x_hat</a:t>
            </a:r>
            <a:r>
              <a:rPr lang="es-VE" dirty="0">
                <a:latin typeface="Consolas" panose="020B0609020204030204" pitchFamily="49" charset="0"/>
              </a:rPr>
              <a:t> - </a:t>
            </a:r>
            <a:r>
              <a:rPr lang="es-VE" dirty="0" err="1">
                <a:latin typeface="Consolas" panose="020B0609020204030204" pitchFamily="49" charset="0"/>
              </a:rPr>
              <a:t>y_hat</a:t>
            </a:r>
            <a:r>
              <a:rPr lang="es-VE" dirty="0">
                <a:latin typeface="Consolas" panose="020B0609020204030204" pitchFamily="49" charset="0"/>
              </a:rPr>
              <a:t>)/</a:t>
            </a:r>
            <a:r>
              <a:rPr lang="es-VE" dirty="0" err="1">
                <a:latin typeface="Consolas" panose="020B0609020204030204" pitchFamily="49" charset="0"/>
              </a:rPr>
              <a:t>sqrt</a:t>
            </a:r>
            <a:r>
              <a:rPr lang="es-VE" dirty="0">
                <a:latin typeface="Consolas" panose="020B0609020204030204" pitchFamily="49" charset="0"/>
              </a:rPr>
              <a:t>((o2_x/</a:t>
            </a:r>
            <a:r>
              <a:rPr lang="es-VE" dirty="0" err="1">
                <a:latin typeface="Consolas" panose="020B0609020204030204" pitchFamily="49" charset="0"/>
              </a:rPr>
              <a:t>n_x</a:t>
            </a:r>
            <a:r>
              <a:rPr lang="es-VE" dirty="0">
                <a:latin typeface="Consolas" panose="020B0609020204030204" pitchFamily="49" charset="0"/>
              </a:rPr>
              <a:t>)+(o2_y/</a:t>
            </a:r>
            <a:r>
              <a:rPr lang="es-VE" dirty="0" err="1">
                <a:latin typeface="Consolas" panose="020B0609020204030204" pitchFamily="49" charset="0"/>
              </a:rPr>
              <a:t>n_y</a:t>
            </a:r>
            <a:r>
              <a:rPr lang="es-VE" dirty="0">
                <a:latin typeface="Consolas" panose="020B0609020204030204" pitchFamily="49" charset="0"/>
              </a:rPr>
              <a:t>))</a:t>
            </a:r>
          </a:p>
          <a:p>
            <a:pPr marL="0" indent="0">
              <a:buNone/>
            </a:pPr>
            <a:r>
              <a:rPr lang="es-VE" dirty="0">
                <a:latin typeface="Consolas" panose="020B0609020204030204" pitchFamily="49" charset="0"/>
              </a:rPr>
              <a:t>&gt; </a:t>
            </a:r>
            <a:r>
              <a:rPr lang="es-VE" dirty="0" err="1">
                <a:latin typeface="Consolas" panose="020B0609020204030204" pitchFamily="49" charset="0"/>
              </a:rPr>
              <a:t>z_diff</a:t>
            </a:r>
            <a:endParaRPr lang="es-VE" dirty="0">
              <a:latin typeface="Consolas" panose="020B0609020204030204" pitchFamily="49" charset="0"/>
            </a:endParaRPr>
          </a:p>
          <a:p>
            <a:pPr marL="0" indent="0">
              <a:buNone/>
            </a:pPr>
            <a:r>
              <a:rPr lang="es-VE" dirty="0">
                <a:latin typeface="Consolas" panose="020B0609020204030204" pitchFamily="49" charset="0"/>
              </a:rPr>
              <a:t>[1] 4.160251</a:t>
            </a:r>
          </a:p>
          <a:p>
            <a:pPr marL="0" indent="0">
              <a:buNone/>
            </a:pPr>
            <a:endParaRPr lang="es-ES" dirty="0">
              <a:latin typeface="Consolas" panose="020B0609020204030204" pitchFamily="49" charset="0"/>
            </a:endParaRPr>
          </a:p>
        </p:txBody>
      </p:sp>
    </p:spTree>
    <p:extLst>
      <p:ext uri="{BB962C8B-B14F-4D97-AF65-F5344CB8AC3E}">
        <p14:creationId xmlns:p14="http://schemas.microsoft.com/office/powerpoint/2010/main" val="3938053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11.10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lnSpcReduction="10000"/>
          </a:bodyPr>
          <a:lstStyle/>
          <a:p>
            <a:pPr marL="0" indent="0">
              <a:buNone/>
            </a:pPr>
            <a:r>
              <a:rPr lang="es-VE" dirty="0">
                <a:latin typeface="Consolas" panose="020B0609020204030204" pitchFamily="49" charset="0"/>
              </a:rPr>
              <a:t>&gt; </a:t>
            </a:r>
            <a:r>
              <a:rPr lang="es-VE" dirty="0" err="1">
                <a:latin typeface="Consolas" panose="020B0609020204030204" pitchFamily="49" charset="0"/>
              </a:rPr>
              <a:t>pnorm</a:t>
            </a:r>
            <a:r>
              <a:rPr lang="es-VE" dirty="0">
                <a:latin typeface="Consolas" panose="020B0609020204030204" pitchFamily="49" charset="0"/>
              </a:rPr>
              <a:t>(</a:t>
            </a:r>
            <a:r>
              <a:rPr lang="es-VE" dirty="0" err="1">
                <a:latin typeface="Consolas" panose="020B0609020204030204" pitchFamily="49" charset="0"/>
              </a:rPr>
              <a:t>z_diff</a:t>
            </a:r>
            <a:r>
              <a:rPr lang="es-VE" dirty="0">
                <a:latin typeface="Consolas" panose="020B0609020204030204" pitchFamily="49" charset="0"/>
              </a:rPr>
              <a:t>, </a:t>
            </a:r>
            <a:r>
              <a:rPr lang="es-VE" dirty="0" err="1">
                <a:latin typeface="Consolas" panose="020B0609020204030204" pitchFamily="49" charset="0"/>
              </a:rPr>
              <a:t>lower.tail</a:t>
            </a:r>
            <a:r>
              <a:rPr lang="es-VE" dirty="0">
                <a:latin typeface="Consolas" panose="020B0609020204030204" pitchFamily="49" charset="0"/>
              </a:rPr>
              <a:t> = FALSE)</a:t>
            </a:r>
          </a:p>
          <a:p>
            <a:pPr marL="0" indent="0">
              <a:buNone/>
            </a:pPr>
            <a:r>
              <a:rPr lang="es-VE" dirty="0">
                <a:latin typeface="Consolas" panose="020B0609020204030204" pitchFamily="49" charset="0"/>
              </a:rPr>
              <a:t>[1] 1.589487e-05</a:t>
            </a:r>
          </a:p>
          <a:p>
            <a:pPr marL="0" indent="0">
              <a:buNone/>
            </a:pPr>
            <a:r>
              <a:rPr lang="es-VE" dirty="0">
                <a:latin typeface="Consolas" panose="020B0609020204030204" pitchFamily="49" charset="0"/>
              </a:rPr>
              <a:t>&gt; </a:t>
            </a:r>
            <a:r>
              <a:rPr lang="es-VE" dirty="0" err="1">
                <a:latin typeface="Consolas" panose="020B0609020204030204" pitchFamily="49" charset="0"/>
              </a:rPr>
              <a:t>pnorm</a:t>
            </a:r>
            <a:r>
              <a:rPr lang="es-VE" dirty="0">
                <a:latin typeface="Consolas" panose="020B0609020204030204" pitchFamily="49" charset="0"/>
              </a:rPr>
              <a:t>(</a:t>
            </a:r>
            <a:r>
              <a:rPr lang="es-VE" dirty="0" err="1">
                <a:latin typeface="Consolas" panose="020B0609020204030204" pitchFamily="49" charset="0"/>
              </a:rPr>
              <a:t>z_diff</a:t>
            </a:r>
            <a:r>
              <a:rPr lang="es-VE" dirty="0">
                <a:latin typeface="Consolas" panose="020B0609020204030204" pitchFamily="49" charset="0"/>
              </a:rPr>
              <a:t>, </a:t>
            </a:r>
            <a:r>
              <a:rPr lang="es-VE" dirty="0" err="1">
                <a:latin typeface="Consolas" panose="020B0609020204030204" pitchFamily="49" charset="0"/>
              </a:rPr>
              <a:t>lower.tail</a:t>
            </a:r>
            <a:r>
              <a:rPr lang="es-VE" dirty="0">
                <a:latin typeface="Consolas" panose="020B0609020204030204" pitchFamily="49" charset="0"/>
              </a:rPr>
              <a:t> = TRUE)</a:t>
            </a:r>
          </a:p>
          <a:p>
            <a:pPr marL="0" indent="0">
              <a:buNone/>
            </a:pPr>
            <a:r>
              <a:rPr lang="es-VE" dirty="0">
                <a:latin typeface="Consolas" panose="020B0609020204030204" pitchFamily="49" charset="0"/>
              </a:rPr>
              <a:t>[1] 0.9999841</a:t>
            </a:r>
          </a:p>
          <a:p>
            <a:pPr marL="0" indent="0">
              <a:buNone/>
            </a:pPr>
            <a:endParaRPr lang="es-VE" dirty="0">
              <a:latin typeface="Consolas" panose="020B0609020204030204" pitchFamily="49" charset="0"/>
            </a:endParaRPr>
          </a:p>
          <a:p>
            <a:pPr marL="0" indent="0">
              <a:buNone/>
            </a:pPr>
            <a:r>
              <a:rPr lang="es-VE" dirty="0">
                <a:latin typeface="Consolas" panose="020B0609020204030204" pitchFamily="49" charset="0"/>
              </a:rPr>
              <a:t>&gt; </a:t>
            </a:r>
            <a:r>
              <a:rPr lang="es-VE" dirty="0" err="1">
                <a:latin typeface="Consolas" panose="020B0609020204030204" pitchFamily="49" charset="0"/>
              </a:rPr>
              <a:t>p_value</a:t>
            </a:r>
            <a:r>
              <a:rPr lang="es-VE" dirty="0">
                <a:latin typeface="Consolas" panose="020B0609020204030204" pitchFamily="49" charset="0"/>
              </a:rPr>
              <a:t> &lt;- </a:t>
            </a:r>
            <a:r>
              <a:rPr lang="es-VE" dirty="0" err="1">
                <a:latin typeface="Consolas" panose="020B0609020204030204" pitchFamily="49" charset="0"/>
              </a:rPr>
              <a:t>pnorm</a:t>
            </a:r>
            <a:r>
              <a:rPr lang="es-VE" dirty="0">
                <a:latin typeface="Consolas" panose="020B0609020204030204" pitchFamily="49" charset="0"/>
              </a:rPr>
              <a:t>(</a:t>
            </a:r>
            <a:r>
              <a:rPr lang="es-VE" dirty="0" err="1">
                <a:latin typeface="Consolas" panose="020B0609020204030204" pitchFamily="49" charset="0"/>
              </a:rPr>
              <a:t>z_diff</a:t>
            </a:r>
            <a:r>
              <a:rPr lang="es-VE" dirty="0">
                <a:latin typeface="Consolas" panose="020B0609020204030204" pitchFamily="49" charset="0"/>
              </a:rPr>
              <a:t>, </a:t>
            </a:r>
            <a:r>
              <a:rPr lang="es-VE" dirty="0" err="1">
                <a:latin typeface="Consolas" panose="020B0609020204030204" pitchFamily="49" charset="0"/>
              </a:rPr>
              <a:t>lower.tail</a:t>
            </a:r>
            <a:r>
              <a:rPr lang="es-VE" dirty="0">
                <a:latin typeface="Consolas" panose="020B0609020204030204" pitchFamily="49" charset="0"/>
              </a:rPr>
              <a:t> = FALSE)*2</a:t>
            </a:r>
          </a:p>
          <a:p>
            <a:pPr marL="0" indent="0">
              <a:buNone/>
            </a:pPr>
            <a:r>
              <a:rPr lang="es-VE" dirty="0">
                <a:latin typeface="Consolas" panose="020B0609020204030204" pitchFamily="49" charset="0"/>
              </a:rPr>
              <a:t>&gt; </a:t>
            </a:r>
            <a:r>
              <a:rPr lang="es-VE" dirty="0" err="1">
                <a:latin typeface="Consolas" panose="020B0609020204030204" pitchFamily="49" charset="0"/>
              </a:rPr>
              <a:t>p_value</a:t>
            </a:r>
            <a:endParaRPr lang="es-VE" dirty="0">
              <a:latin typeface="Consolas" panose="020B0609020204030204" pitchFamily="49" charset="0"/>
            </a:endParaRPr>
          </a:p>
          <a:p>
            <a:pPr marL="0" indent="0">
              <a:buNone/>
            </a:pPr>
            <a:r>
              <a:rPr lang="es-VE" dirty="0">
                <a:highlight>
                  <a:srgbClr val="FFFF00"/>
                </a:highlight>
                <a:latin typeface="Consolas" panose="020B0609020204030204" pitchFamily="49" charset="0"/>
              </a:rPr>
              <a:t>[1] 3.178974e-05</a:t>
            </a:r>
          </a:p>
          <a:p>
            <a:pPr marL="0" indent="0">
              <a:buNone/>
            </a:pPr>
            <a:endParaRPr lang="es-VE" dirty="0">
              <a:highlight>
                <a:srgbClr val="FFFF00"/>
              </a:highlight>
              <a:latin typeface="Consolas" panose="020B0609020204030204" pitchFamily="49" charset="0"/>
            </a:endParaRPr>
          </a:p>
          <a:p>
            <a:pPr marL="0" indent="0">
              <a:buNone/>
            </a:pPr>
            <a:r>
              <a:rPr lang="es-VE" dirty="0">
                <a:latin typeface="Consolas" panose="020B0609020204030204" pitchFamily="49" charset="0"/>
              </a:rPr>
              <a:t>&gt; </a:t>
            </a:r>
            <a:r>
              <a:rPr lang="es-VE" dirty="0" err="1">
                <a:latin typeface="Consolas" panose="020B0609020204030204" pitchFamily="49" charset="0"/>
              </a:rPr>
              <a:t>p_value</a:t>
            </a:r>
            <a:r>
              <a:rPr lang="es-VE" dirty="0">
                <a:latin typeface="Consolas" panose="020B0609020204030204" pitchFamily="49" charset="0"/>
              </a:rPr>
              <a:t> &lt; a</a:t>
            </a:r>
          </a:p>
          <a:p>
            <a:pPr marL="0" indent="0">
              <a:buNone/>
            </a:pPr>
            <a:r>
              <a:rPr lang="es-VE" dirty="0">
                <a:highlight>
                  <a:srgbClr val="FFFF00"/>
                </a:highlight>
                <a:latin typeface="Consolas" panose="020B0609020204030204" pitchFamily="49" charset="0"/>
              </a:rPr>
              <a:t>[1] TRUE</a:t>
            </a:r>
            <a:endParaRPr lang="es-ES" dirty="0">
              <a:latin typeface="Consolas" panose="020B0609020204030204" pitchFamily="49" charset="0"/>
            </a:endParaRPr>
          </a:p>
          <a:p>
            <a:pPr marL="0" indent="0">
              <a:buNone/>
            </a:pPr>
            <a:endParaRPr lang="es-ES" dirty="0">
              <a:latin typeface="Consolas" panose="020B0609020204030204" pitchFamily="49" charset="0"/>
            </a:endParaRPr>
          </a:p>
        </p:txBody>
      </p:sp>
    </p:spTree>
    <p:extLst>
      <p:ext uri="{BB962C8B-B14F-4D97-AF65-F5344CB8AC3E}">
        <p14:creationId xmlns:p14="http://schemas.microsoft.com/office/powerpoint/2010/main" val="900013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diferencia de medias poblacionales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32500" lnSpcReduction="20000"/>
              </a:bodyPr>
              <a:lstStyle/>
              <a:p>
                <a:pPr marL="514350" indent="-514350">
                  <a:lnSpc>
                    <a:spcPct val="150000"/>
                  </a:lnSpc>
                  <a:buFont typeface="+mj-lt"/>
                  <a:buAutoNum type="alphaLcParenR" startAt="2"/>
                </a:pPr>
                <a:r>
                  <a:rPr lang="es-419" sz="3700" dirty="0"/>
                  <a:t>Con varianzas poblacionales </a:t>
                </a:r>
                <a:r>
                  <a:rPr lang="es-419" sz="3700" b="1" dirty="0">
                    <a:solidFill>
                      <a:srgbClr val="003A5D"/>
                    </a:solidFill>
                  </a:rPr>
                  <a:t>desconocidas </a:t>
                </a:r>
                <a:r>
                  <a:rPr lang="es-419" sz="3700" dirty="0"/>
                  <a:t>e</a:t>
                </a:r>
                <a:r>
                  <a:rPr lang="es-419" sz="3700" b="1" dirty="0">
                    <a:solidFill>
                      <a:srgbClr val="003A5D"/>
                    </a:solidFill>
                  </a:rPr>
                  <a:t> iguales</a:t>
                </a:r>
                <a:r>
                  <a:rPr lang="es-419" sz="3700" dirty="0"/>
                  <a:t>.</a:t>
                </a:r>
              </a:p>
              <a:p>
                <a:pPr>
                  <a:lnSpc>
                    <a:spcPct val="150000"/>
                  </a:lnSpc>
                </a:pPr>
                <a:r>
                  <a:rPr lang="es-419" sz="3700" dirty="0"/>
                  <a:t>Se hace uso de la varianza muestral amalgamada:</a:t>
                </a:r>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s-419" sz="3700" i="1" smtClean="0">
                              <a:latin typeface="Cambria Math" panose="02040503050406030204" pitchFamily="18" charset="0"/>
                            </a:rPr>
                          </m:ctrlPr>
                        </m:sSubSupPr>
                        <m:e>
                          <m:r>
                            <a:rPr lang="es-419" sz="3700" b="0" i="1" smtClean="0">
                              <a:latin typeface="Cambria Math" panose="02040503050406030204" pitchFamily="18" charset="0"/>
                            </a:rPr>
                            <m:t>𝑆</m:t>
                          </m:r>
                        </m:e>
                        <m:sub>
                          <m:r>
                            <a:rPr lang="es-419" sz="3700" b="0" i="1" smtClean="0">
                              <a:latin typeface="Cambria Math" panose="02040503050406030204" pitchFamily="18" charset="0"/>
                            </a:rPr>
                            <m:t>𝑎</m:t>
                          </m:r>
                        </m:sub>
                        <m:sup>
                          <m:r>
                            <a:rPr lang="es-419" sz="3700" b="0" i="1" smtClean="0">
                              <a:latin typeface="Cambria Math" panose="02040503050406030204" pitchFamily="18" charset="0"/>
                            </a:rPr>
                            <m:t>2</m:t>
                          </m:r>
                        </m:sup>
                      </m:sSubSup>
                      <m:r>
                        <a:rPr lang="es-419" sz="3700" b="0" i="1" smtClean="0">
                          <a:latin typeface="Cambria Math" panose="02040503050406030204" pitchFamily="18" charset="0"/>
                        </a:rPr>
                        <m:t>=</m:t>
                      </m:r>
                      <m:f>
                        <m:fPr>
                          <m:ctrlPr>
                            <a:rPr lang="es-419" sz="3700" b="0" i="1" smtClean="0">
                              <a:latin typeface="Cambria Math" panose="02040503050406030204" pitchFamily="18" charset="0"/>
                            </a:rPr>
                          </m:ctrlPr>
                        </m:fPr>
                        <m:num>
                          <m:d>
                            <m:dPr>
                              <m:ctrlPr>
                                <a:rPr lang="es-419" sz="3700" b="0" i="1" smtClean="0">
                                  <a:latin typeface="Cambria Math" panose="02040503050406030204" pitchFamily="18" charset="0"/>
                                </a:rPr>
                              </m:ctrlPr>
                            </m:dPr>
                            <m:e>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𝑥</m:t>
                                  </m:r>
                                </m:sub>
                              </m:sSub>
                              <m:r>
                                <a:rPr lang="es-419" sz="3700" b="0" i="1" smtClean="0">
                                  <a:latin typeface="Cambria Math" panose="02040503050406030204" pitchFamily="18" charset="0"/>
                                </a:rPr>
                                <m:t>−1</m:t>
                              </m:r>
                            </m:e>
                          </m:d>
                          <m:sSubSup>
                            <m:sSubSupPr>
                              <m:ctrlPr>
                                <a:rPr lang="es-419" sz="3700" i="1">
                                  <a:latin typeface="Cambria Math" panose="02040503050406030204" pitchFamily="18" charset="0"/>
                                </a:rPr>
                              </m:ctrlPr>
                            </m:sSubSupPr>
                            <m:e>
                              <m:r>
                                <a:rPr lang="es-419" sz="3700" i="1">
                                  <a:latin typeface="Cambria Math" panose="02040503050406030204" pitchFamily="18" charset="0"/>
                                </a:rPr>
                                <m:t>𝑆</m:t>
                              </m:r>
                            </m:e>
                            <m:sub>
                              <m:r>
                                <a:rPr lang="es-419" sz="3700" i="1">
                                  <a:latin typeface="Cambria Math" panose="02040503050406030204" pitchFamily="18" charset="0"/>
                                </a:rPr>
                                <m:t>𝑥</m:t>
                              </m:r>
                            </m:sub>
                            <m:sup>
                              <m:r>
                                <a:rPr lang="es-419" sz="3700" i="1">
                                  <a:latin typeface="Cambria Math" panose="02040503050406030204" pitchFamily="18" charset="0"/>
                                </a:rPr>
                                <m:t>2</m:t>
                              </m:r>
                            </m:sup>
                          </m:sSubSup>
                          <m:r>
                            <a:rPr lang="es-419" sz="3700" b="0" i="1" smtClean="0">
                              <a:latin typeface="Cambria Math" panose="02040503050406030204" pitchFamily="18" charset="0"/>
                            </a:rPr>
                            <m:t>+(</m:t>
                          </m:r>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𝑦</m:t>
                              </m:r>
                            </m:sub>
                          </m:sSub>
                          <m:r>
                            <a:rPr lang="es-419" sz="3700" b="0" i="1" smtClean="0">
                              <a:latin typeface="Cambria Math" panose="02040503050406030204" pitchFamily="18" charset="0"/>
                            </a:rPr>
                            <m:t>−1)</m:t>
                          </m:r>
                          <m:sSubSup>
                            <m:sSubSupPr>
                              <m:ctrlPr>
                                <a:rPr lang="es-419" sz="3700" i="1">
                                  <a:latin typeface="Cambria Math" panose="02040503050406030204" pitchFamily="18" charset="0"/>
                                </a:rPr>
                              </m:ctrlPr>
                            </m:sSubSupPr>
                            <m:e>
                              <m:r>
                                <a:rPr lang="es-419" sz="3700" i="1">
                                  <a:latin typeface="Cambria Math" panose="02040503050406030204" pitchFamily="18" charset="0"/>
                                </a:rPr>
                                <m:t>𝑆</m:t>
                              </m:r>
                            </m:e>
                            <m:sub>
                              <m:r>
                                <a:rPr lang="es-419" sz="3700" i="1">
                                  <a:latin typeface="Cambria Math" panose="02040503050406030204" pitchFamily="18" charset="0"/>
                                  <a:ea typeface="Cambria Math" panose="02040503050406030204" pitchFamily="18" charset="0"/>
                                </a:rPr>
                                <m:t>𝑦</m:t>
                              </m:r>
                            </m:sub>
                            <m:sup>
                              <m:r>
                                <a:rPr lang="es-419" sz="3700" i="1">
                                  <a:latin typeface="Cambria Math" panose="02040503050406030204" pitchFamily="18" charset="0"/>
                                </a:rPr>
                                <m:t>2</m:t>
                              </m:r>
                            </m:sup>
                          </m:sSubSup>
                        </m:num>
                        <m:den>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𝑥</m:t>
                              </m:r>
                            </m:sub>
                          </m:sSub>
                          <m:r>
                            <a:rPr lang="es-419" sz="3700" b="0" i="1" smtClean="0">
                              <a:latin typeface="Cambria Math" panose="02040503050406030204" pitchFamily="18" charset="0"/>
                            </a:rPr>
                            <m:t>+</m:t>
                          </m:r>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𝑦</m:t>
                              </m:r>
                            </m:sub>
                          </m:sSub>
                          <m:r>
                            <a:rPr lang="es-419" sz="3700" b="0" i="1" smtClean="0">
                              <a:latin typeface="Cambria Math" panose="02040503050406030204" pitchFamily="18" charset="0"/>
                            </a:rPr>
                            <m:t>−2</m:t>
                          </m:r>
                        </m:den>
                      </m:f>
                    </m:oMath>
                  </m:oMathPara>
                </a14:m>
                <a:endParaRPr lang="es-419" sz="3700" dirty="0"/>
              </a:p>
              <a:p>
                <a:pPr>
                  <a:lnSpc>
                    <a:spcPct val="150000"/>
                  </a:lnSpc>
                </a:pPr>
                <a:r>
                  <a:rPr lang="es-419" sz="3700" dirty="0"/>
                  <a:t>Lo que nos da un valor esperado y varianza del estimador de:</a:t>
                </a:r>
              </a:p>
              <a:p>
                <a:pPr marL="0" indent="0">
                  <a:lnSpc>
                    <a:spcPct val="120000"/>
                  </a:lnSpc>
                  <a:buNone/>
                </a:pPr>
                <a14:m>
                  <m:oMathPara xmlns:m="http://schemas.openxmlformats.org/officeDocument/2006/math">
                    <m:oMathParaPr>
                      <m:jc m:val="centerGroup"/>
                    </m:oMathParaPr>
                    <m:oMath xmlns:m="http://schemas.openxmlformats.org/officeDocument/2006/math">
                      <m:r>
                        <a:rPr lang="es-419" sz="3700" i="1" smtClean="0">
                          <a:latin typeface="Cambria Math" panose="02040503050406030204" pitchFamily="18" charset="0"/>
                        </a:rPr>
                        <m:t>𝐸</m:t>
                      </m:r>
                      <m:d>
                        <m:dPr>
                          <m:ctrlPr>
                            <a:rPr lang="es-419" sz="3700" i="1">
                              <a:latin typeface="Cambria Math" panose="02040503050406030204" pitchFamily="18" charset="0"/>
                            </a:rPr>
                          </m:ctrlPr>
                        </m:dPr>
                        <m:e>
                          <m:acc>
                            <m:accPr>
                              <m:chr m:val="̅"/>
                              <m:ctrlPr>
                                <a:rPr lang="es-419" sz="3700" i="1">
                                  <a:latin typeface="Cambria Math" panose="02040503050406030204" pitchFamily="18" charset="0"/>
                                </a:rPr>
                              </m:ctrlPr>
                            </m:accPr>
                            <m:e>
                              <m:r>
                                <a:rPr lang="es-419" sz="3700" i="1">
                                  <a:latin typeface="Cambria Math" panose="02040503050406030204" pitchFamily="18" charset="0"/>
                                </a:rPr>
                                <m:t>𝑋</m:t>
                              </m:r>
                            </m:e>
                          </m:acc>
                          <m:r>
                            <a:rPr lang="es-419" sz="3700" i="1">
                              <a:latin typeface="Cambria Math" panose="02040503050406030204" pitchFamily="18" charset="0"/>
                            </a:rPr>
                            <m:t>−</m:t>
                          </m:r>
                          <m:acc>
                            <m:accPr>
                              <m:chr m:val="̅"/>
                              <m:ctrlPr>
                                <a:rPr lang="es-419" sz="3700" i="1">
                                  <a:latin typeface="Cambria Math" panose="02040503050406030204" pitchFamily="18" charset="0"/>
                                </a:rPr>
                              </m:ctrlPr>
                            </m:accPr>
                            <m:e>
                              <m:r>
                                <a:rPr lang="es-419" sz="3700" i="1">
                                  <a:latin typeface="Cambria Math" panose="02040503050406030204" pitchFamily="18" charset="0"/>
                                </a:rPr>
                                <m:t>𝑌</m:t>
                              </m:r>
                            </m:e>
                          </m:acc>
                        </m:e>
                      </m:d>
                      <m:r>
                        <a:rPr lang="es-419" sz="3700" b="0" i="1" smtClean="0">
                          <a:latin typeface="Cambria Math" panose="02040503050406030204" pitchFamily="18" charset="0"/>
                        </a:rPr>
                        <m:t>=</m:t>
                      </m:r>
                      <m:sSub>
                        <m:sSubPr>
                          <m:ctrlPr>
                            <a:rPr lang="es-419" sz="3700" i="1">
                              <a:latin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rPr>
                            <m:t>𝑥</m:t>
                          </m:r>
                        </m:sub>
                      </m:sSub>
                      <m:r>
                        <a:rPr lang="es-419" sz="3700" b="0" i="0" smtClean="0">
                          <a:latin typeface="Cambria Math" panose="02040503050406030204" pitchFamily="18" charset="0"/>
                        </a:rPr>
                        <m:t>−</m:t>
                      </m:r>
                      <m:sSub>
                        <m:sSubPr>
                          <m:ctrlPr>
                            <a:rPr lang="es-419" sz="3700" i="1">
                              <a:latin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ea typeface="Cambria Math" panose="02040503050406030204" pitchFamily="18" charset="0"/>
                            </a:rPr>
                            <m:t>𝑦</m:t>
                          </m:r>
                        </m:sub>
                      </m:sSub>
                      <m:r>
                        <a:rPr lang="es-419" sz="3700" b="0" i="1" smtClean="0">
                          <a:latin typeface="Cambria Math" panose="02040503050406030204" pitchFamily="18" charset="0"/>
                          <a:ea typeface="Cambria Math" panose="02040503050406030204" pitchFamily="18" charset="0"/>
                        </a:rPr>
                        <m:t>; </m:t>
                      </m:r>
                      <m:r>
                        <a:rPr lang="es-419" sz="3700" i="1">
                          <a:latin typeface="Cambria Math" panose="02040503050406030204" pitchFamily="18" charset="0"/>
                        </a:rPr>
                        <m:t>𝑉𝑎𝑟</m:t>
                      </m:r>
                      <m:d>
                        <m:dPr>
                          <m:ctrlPr>
                            <a:rPr lang="es-419" sz="3700" i="1">
                              <a:latin typeface="Cambria Math" panose="02040503050406030204" pitchFamily="18" charset="0"/>
                            </a:rPr>
                          </m:ctrlPr>
                        </m:dPr>
                        <m:e>
                          <m:acc>
                            <m:accPr>
                              <m:chr m:val="̅"/>
                              <m:ctrlPr>
                                <a:rPr lang="es-419" sz="3700" i="1">
                                  <a:latin typeface="Cambria Math" panose="02040503050406030204" pitchFamily="18" charset="0"/>
                                </a:rPr>
                              </m:ctrlPr>
                            </m:accPr>
                            <m:e>
                              <m:r>
                                <a:rPr lang="es-419" sz="3700" i="1">
                                  <a:latin typeface="Cambria Math" panose="02040503050406030204" pitchFamily="18" charset="0"/>
                                </a:rPr>
                                <m:t>𝑋</m:t>
                              </m:r>
                            </m:e>
                          </m:acc>
                          <m:r>
                            <a:rPr lang="es-419" sz="3700" i="1">
                              <a:latin typeface="Cambria Math" panose="02040503050406030204" pitchFamily="18" charset="0"/>
                            </a:rPr>
                            <m:t>−</m:t>
                          </m:r>
                          <m:acc>
                            <m:accPr>
                              <m:chr m:val="̅"/>
                              <m:ctrlPr>
                                <a:rPr lang="es-419" sz="3700" i="1">
                                  <a:latin typeface="Cambria Math" panose="02040503050406030204" pitchFamily="18" charset="0"/>
                                </a:rPr>
                              </m:ctrlPr>
                            </m:accPr>
                            <m:e>
                              <m:r>
                                <a:rPr lang="es-419" sz="3700" i="1">
                                  <a:latin typeface="Cambria Math" panose="02040503050406030204" pitchFamily="18" charset="0"/>
                                </a:rPr>
                                <m:t>𝑌</m:t>
                              </m:r>
                            </m:e>
                          </m:acc>
                        </m:e>
                      </m:d>
                      <m:r>
                        <a:rPr lang="es-419" sz="3700" i="1">
                          <a:latin typeface="Cambria Math" panose="02040503050406030204" pitchFamily="18" charset="0"/>
                        </a:rPr>
                        <m:t>=</m:t>
                      </m:r>
                      <m:sSubSup>
                        <m:sSubSupPr>
                          <m:ctrlPr>
                            <a:rPr lang="es-419" sz="3700" i="1">
                              <a:latin typeface="Cambria Math" panose="02040503050406030204" pitchFamily="18" charset="0"/>
                            </a:rPr>
                          </m:ctrlPr>
                        </m:sSubSupPr>
                        <m:e>
                          <m:r>
                            <a:rPr lang="es-419" sz="3700" i="1">
                              <a:latin typeface="Cambria Math" panose="02040503050406030204" pitchFamily="18" charset="0"/>
                            </a:rPr>
                            <m:t>𝑆</m:t>
                          </m:r>
                        </m:e>
                        <m:sub>
                          <m:r>
                            <a:rPr lang="es-419" sz="3700" i="1">
                              <a:latin typeface="Cambria Math" panose="02040503050406030204" pitchFamily="18" charset="0"/>
                            </a:rPr>
                            <m:t>𝑎</m:t>
                          </m:r>
                        </m:sub>
                        <m:sup>
                          <m:r>
                            <a:rPr lang="es-419" sz="3700" i="1">
                              <a:latin typeface="Cambria Math" panose="02040503050406030204" pitchFamily="18" charset="0"/>
                            </a:rPr>
                            <m:t>2</m:t>
                          </m:r>
                        </m:sup>
                      </m:sSubSup>
                      <m:r>
                        <a:rPr lang="es-419" sz="3700" i="1">
                          <a:latin typeface="Cambria Math" panose="02040503050406030204" pitchFamily="18" charset="0"/>
                        </a:rPr>
                        <m:t>(</m:t>
                      </m:r>
                      <m:f>
                        <m:fPr>
                          <m:ctrlPr>
                            <a:rPr lang="es-419" sz="3700" i="1">
                              <a:latin typeface="Cambria Math" panose="02040503050406030204" pitchFamily="18" charset="0"/>
                            </a:rPr>
                          </m:ctrlPr>
                        </m:fPr>
                        <m:num>
                          <m:r>
                            <a:rPr lang="es-419" sz="3700" i="1">
                              <a:latin typeface="Cambria Math" panose="02040503050406030204" pitchFamily="18" charset="0"/>
                            </a:rPr>
                            <m:t>1</m:t>
                          </m:r>
                        </m:num>
                        <m:den>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𝑥</m:t>
                              </m:r>
                            </m:sub>
                          </m:sSub>
                        </m:den>
                      </m:f>
                      <m:r>
                        <m:rPr>
                          <m:nor/>
                        </m:rPr>
                        <a:rPr lang="es-419" sz="3700" dirty="0"/>
                        <m:t>+ </m:t>
                      </m:r>
                      <m:f>
                        <m:fPr>
                          <m:ctrlPr>
                            <a:rPr lang="es-419" sz="3700" i="1">
                              <a:latin typeface="Cambria Math" panose="02040503050406030204" pitchFamily="18" charset="0"/>
                            </a:rPr>
                          </m:ctrlPr>
                        </m:fPr>
                        <m:num>
                          <m:r>
                            <a:rPr lang="es-419" sz="3700" i="1">
                              <a:latin typeface="Cambria Math" panose="02040503050406030204" pitchFamily="18" charset="0"/>
                            </a:rPr>
                            <m:t>1</m:t>
                          </m:r>
                        </m:num>
                        <m:den>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𝑦</m:t>
                              </m:r>
                            </m:sub>
                          </m:sSub>
                        </m:den>
                      </m:f>
                      <m:r>
                        <a:rPr lang="es-419" sz="3700" i="1">
                          <a:latin typeface="Cambria Math" panose="02040503050406030204" pitchFamily="18" charset="0"/>
                        </a:rPr>
                        <m:t>)</m:t>
                      </m:r>
                    </m:oMath>
                  </m:oMathPara>
                </a14:m>
                <a:endParaRPr lang="es-419" sz="3700" dirty="0">
                  <a:ea typeface="Cambria Math" panose="02040503050406030204" pitchFamily="18" charset="0"/>
                </a:endParaRPr>
              </a:p>
              <a:p>
                <a:pPr>
                  <a:lnSpc>
                    <a:spcPct val="150000"/>
                  </a:lnSpc>
                </a:pPr>
                <a:r>
                  <a:rPr lang="es-419" sz="3700" dirty="0"/>
                  <a:t>Planteamos un contraste de hipótesis genérico:</a:t>
                </a:r>
              </a:p>
              <a:p>
                <a:pPr>
                  <a:lnSpc>
                    <a:spcPct val="150000"/>
                  </a:lnSpc>
                </a:pPr>
                <a14:m>
                  <m:oMath xmlns:m="http://schemas.openxmlformats.org/officeDocument/2006/math">
                    <m:sSub>
                      <m:sSubPr>
                        <m:ctrlPr>
                          <a:rPr lang="es-419" sz="3700" i="1" smtClean="0">
                            <a:latin typeface="Cambria Math" panose="02040503050406030204" pitchFamily="18" charset="0"/>
                          </a:rPr>
                        </m:ctrlPr>
                      </m:sSubPr>
                      <m:e>
                        <m:r>
                          <a:rPr lang="es-419" sz="3700" i="1">
                            <a:latin typeface="Cambria Math" panose="02040503050406030204" pitchFamily="18" charset="0"/>
                          </a:rPr>
                          <m:t>𝐻</m:t>
                        </m:r>
                      </m:e>
                      <m:sub>
                        <m:r>
                          <a:rPr lang="es-419" sz="3700" i="1">
                            <a:latin typeface="Cambria Math" panose="02040503050406030204" pitchFamily="18" charset="0"/>
                          </a:rPr>
                          <m:t>0</m:t>
                        </m:r>
                      </m:sub>
                    </m:sSub>
                    <m:r>
                      <a:rPr lang="es-419" sz="3700" i="1">
                        <a:latin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b="0" i="1" smtClean="0">
                            <a:latin typeface="Cambria Math" panose="02040503050406030204" pitchFamily="18" charset="0"/>
                            <a:ea typeface="Cambria Math" panose="02040503050406030204" pitchFamily="18" charset="0"/>
                          </a:rPr>
                          <m:t>𝑥</m:t>
                        </m:r>
                      </m:sub>
                    </m:sSub>
                    <m:r>
                      <a:rPr lang="es-419" sz="3700" i="1">
                        <a:latin typeface="Cambria Math" panose="02040503050406030204" pitchFamily="18" charset="0"/>
                        <a:ea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b="0" i="1" smtClean="0">
                            <a:latin typeface="Cambria Math" panose="02040503050406030204" pitchFamily="18" charset="0"/>
                            <a:ea typeface="Cambria Math" panose="02040503050406030204" pitchFamily="18" charset="0"/>
                          </a:rPr>
                          <m:t>𝑦</m:t>
                        </m:r>
                      </m:sub>
                    </m:sSub>
                    <m:r>
                      <a:rPr lang="es-419" sz="3700" i="1" smtClean="0">
                        <a:latin typeface="Cambria Math" panose="02040503050406030204" pitchFamily="18" charset="0"/>
                        <a:ea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ea typeface="Cambria Math" panose="02040503050406030204" pitchFamily="18" charset="0"/>
                          </a:rPr>
                          <m:t>𝑥</m:t>
                        </m:r>
                      </m:sub>
                    </m:sSub>
                    <m:r>
                      <a:rPr lang="es-419" sz="3700" b="0" i="1" smtClean="0">
                        <a:latin typeface="Cambria Math" panose="02040503050406030204" pitchFamily="18" charset="0"/>
                        <a:ea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ea typeface="Cambria Math" panose="02040503050406030204" pitchFamily="18" charset="0"/>
                          </a:rPr>
                          <m:t>𝑦</m:t>
                        </m:r>
                      </m:sub>
                    </m:sSub>
                    <m:r>
                      <a:rPr lang="es-419" sz="3700" b="0" i="1" smtClean="0">
                        <a:latin typeface="Cambria Math" panose="02040503050406030204" pitchFamily="18" charset="0"/>
                        <a:ea typeface="Cambria Math" panose="02040503050406030204" pitchFamily="18" charset="0"/>
                      </a:rPr>
                      <m:t>=0</m:t>
                    </m:r>
                  </m:oMath>
                </a14:m>
                <a:endParaRPr lang="es-419" sz="3700" i="1" dirty="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sSub>
                      <m:sSubPr>
                        <m:ctrlPr>
                          <a:rPr lang="es-419" sz="3700" i="1">
                            <a:latin typeface="Cambria Math" panose="02040503050406030204" pitchFamily="18" charset="0"/>
                          </a:rPr>
                        </m:ctrlPr>
                      </m:sSubPr>
                      <m:e>
                        <m:r>
                          <a:rPr lang="es-419" sz="3700" i="1">
                            <a:latin typeface="Cambria Math" panose="02040503050406030204" pitchFamily="18" charset="0"/>
                          </a:rPr>
                          <m:t>𝐻</m:t>
                        </m:r>
                      </m:e>
                      <m:sub>
                        <m:r>
                          <a:rPr lang="es-419" sz="3700" i="1">
                            <a:latin typeface="Cambria Math" panose="02040503050406030204" pitchFamily="18" charset="0"/>
                          </a:rPr>
                          <m:t>1</m:t>
                        </m:r>
                      </m:sub>
                    </m:sSub>
                    <m:r>
                      <a:rPr lang="es-419" sz="3700" i="1">
                        <a:latin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ea typeface="Cambria Math" panose="02040503050406030204" pitchFamily="18" charset="0"/>
                          </a:rPr>
                          <m:t>𝑥</m:t>
                        </m:r>
                      </m:sub>
                    </m:sSub>
                    <m:r>
                      <a:rPr lang="es-419" sz="3700" i="1">
                        <a:latin typeface="Cambria Math" panose="02040503050406030204" pitchFamily="18" charset="0"/>
                        <a:ea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ea typeface="Cambria Math" panose="02040503050406030204" pitchFamily="18" charset="0"/>
                          </a:rPr>
                          <m:t>𝑦</m:t>
                        </m:r>
                      </m:sub>
                    </m:sSub>
                    <m:r>
                      <a:rPr lang="es-419" sz="3700" i="1" smtClean="0">
                        <a:latin typeface="Cambria Math" panose="02040503050406030204" pitchFamily="18" charset="0"/>
                        <a:ea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ea typeface="Cambria Math" panose="02040503050406030204" pitchFamily="18" charset="0"/>
                          </a:rPr>
                          <m:t>𝑥</m:t>
                        </m:r>
                      </m:sub>
                    </m:sSub>
                    <m:r>
                      <a:rPr lang="es-419" sz="3700" i="1">
                        <a:latin typeface="Cambria Math" panose="02040503050406030204" pitchFamily="18" charset="0"/>
                        <a:ea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𝜇</m:t>
                        </m:r>
                      </m:e>
                      <m:sub>
                        <m:r>
                          <a:rPr lang="es-419" sz="3700" i="1">
                            <a:latin typeface="Cambria Math" panose="02040503050406030204" pitchFamily="18" charset="0"/>
                            <a:ea typeface="Cambria Math" panose="02040503050406030204" pitchFamily="18" charset="0"/>
                          </a:rPr>
                          <m:t>𝑦</m:t>
                        </m:r>
                      </m:sub>
                    </m:sSub>
                    <m:r>
                      <a:rPr lang="es-419" sz="3700" i="1">
                        <a:latin typeface="Cambria Math" panose="02040503050406030204" pitchFamily="18" charset="0"/>
                        <a:ea typeface="Cambria Math" panose="02040503050406030204" pitchFamily="18" charset="0"/>
                      </a:rPr>
                      <m:t>≠0</m:t>
                    </m:r>
                  </m:oMath>
                </a14:m>
                <a:endParaRPr lang="es-419" sz="3700" dirty="0"/>
              </a:p>
              <a:p>
                <a:pPr>
                  <a:lnSpc>
                    <a:spcPct val="120000"/>
                  </a:lnSpc>
                </a:pPr>
                <a:r>
                  <a:rPr lang="es-419" sz="3700" dirty="0"/>
                  <a:t>Construimos el estadístico:</a:t>
                </a:r>
              </a:p>
              <a:p>
                <a:pPr marL="0" indent="0">
                  <a:lnSpc>
                    <a:spcPct val="120000"/>
                  </a:lnSpc>
                  <a:buNone/>
                </a:pPr>
                <a14:m>
                  <m:oMathPara xmlns:m="http://schemas.openxmlformats.org/officeDocument/2006/math">
                    <m:oMathParaPr>
                      <m:jc m:val="centerGroup"/>
                    </m:oMathParaPr>
                    <m:oMath xmlns:m="http://schemas.openxmlformats.org/officeDocument/2006/math">
                      <m:r>
                        <a:rPr lang="es-419" sz="3700" b="0" i="1" smtClean="0">
                          <a:latin typeface="Cambria Math" panose="02040503050406030204" pitchFamily="18" charset="0"/>
                          <a:ea typeface="Cambria Math" panose="02040503050406030204" pitchFamily="18" charset="0"/>
                        </a:rPr>
                        <m:t>𝑡</m:t>
                      </m:r>
                      <m:r>
                        <a:rPr lang="es-419" sz="3700" b="0" i="1" smtClean="0">
                          <a:latin typeface="Cambria Math" panose="02040503050406030204" pitchFamily="18" charset="0"/>
                          <a:ea typeface="Cambria Math" panose="02040503050406030204" pitchFamily="18" charset="0"/>
                        </a:rPr>
                        <m:t>=</m:t>
                      </m:r>
                      <m:f>
                        <m:fPr>
                          <m:ctrlPr>
                            <a:rPr lang="es-419" sz="3700" i="1">
                              <a:latin typeface="Cambria Math" panose="02040503050406030204" pitchFamily="18" charset="0"/>
                            </a:rPr>
                          </m:ctrlPr>
                        </m:fPr>
                        <m:num>
                          <m:d>
                            <m:dPr>
                              <m:ctrlPr>
                                <a:rPr lang="es-419" sz="3700" i="1">
                                  <a:latin typeface="Cambria Math" panose="02040503050406030204" pitchFamily="18" charset="0"/>
                                </a:rPr>
                              </m:ctrlPr>
                            </m:dPr>
                            <m:e>
                              <m:acc>
                                <m:accPr>
                                  <m:chr m:val="̅"/>
                                  <m:ctrlPr>
                                    <a:rPr lang="es-419" sz="3700" i="1">
                                      <a:latin typeface="Cambria Math" panose="02040503050406030204" pitchFamily="18" charset="0"/>
                                    </a:rPr>
                                  </m:ctrlPr>
                                </m:accPr>
                                <m:e>
                                  <m:r>
                                    <a:rPr lang="es-419" sz="3700" i="1">
                                      <a:latin typeface="Cambria Math" panose="02040503050406030204" pitchFamily="18" charset="0"/>
                                    </a:rPr>
                                    <m:t>𝑋</m:t>
                                  </m:r>
                                </m:e>
                              </m:acc>
                              <m:r>
                                <a:rPr lang="es-419" sz="3700" i="1">
                                  <a:latin typeface="Cambria Math" panose="02040503050406030204" pitchFamily="18" charset="0"/>
                                </a:rPr>
                                <m:t>−</m:t>
                              </m:r>
                              <m:acc>
                                <m:accPr>
                                  <m:chr m:val="̅"/>
                                  <m:ctrlPr>
                                    <a:rPr lang="es-419" sz="3700" i="1">
                                      <a:latin typeface="Cambria Math" panose="02040503050406030204" pitchFamily="18" charset="0"/>
                                    </a:rPr>
                                  </m:ctrlPr>
                                </m:accPr>
                                <m:e>
                                  <m:r>
                                    <a:rPr lang="es-419" sz="3700" i="1">
                                      <a:latin typeface="Cambria Math" panose="02040503050406030204" pitchFamily="18" charset="0"/>
                                    </a:rPr>
                                    <m:t>𝑌</m:t>
                                  </m:r>
                                </m:e>
                              </m:acc>
                            </m:e>
                          </m:d>
                          <m:r>
                            <a:rPr lang="es-419" sz="3700" i="1">
                              <a:latin typeface="Cambria Math" panose="02040503050406030204" pitchFamily="18" charset="0"/>
                            </a:rPr>
                            <m:t>−</m:t>
                          </m:r>
                          <m:r>
                            <a:rPr lang="es-419" sz="3700" i="1" smtClean="0">
                              <a:solidFill>
                                <a:srgbClr val="003A5D"/>
                              </a:solidFill>
                              <a:latin typeface="Cambria Math" panose="02040503050406030204" pitchFamily="18" charset="0"/>
                            </a:rPr>
                            <m:t>(</m:t>
                          </m:r>
                          <m:sSub>
                            <m:sSubPr>
                              <m:ctrlPr>
                                <a:rPr lang="es-419" sz="3700" i="1">
                                  <a:solidFill>
                                    <a:srgbClr val="003A5D"/>
                                  </a:solidFill>
                                  <a:latin typeface="Cambria Math" panose="02040503050406030204" pitchFamily="18" charset="0"/>
                                </a:rPr>
                              </m:ctrlPr>
                            </m:sSubPr>
                            <m:e>
                              <m:r>
                                <a:rPr lang="es-419" sz="3700" i="1">
                                  <a:solidFill>
                                    <a:srgbClr val="003A5D"/>
                                  </a:solidFill>
                                  <a:latin typeface="Cambria Math" panose="02040503050406030204" pitchFamily="18" charset="0"/>
                                  <a:ea typeface="Cambria Math" panose="02040503050406030204" pitchFamily="18" charset="0"/>
                                </a:rPr>
                                <m:t>𝜇</m:t>
                              </m:r>
                            </m:e>
                            <m:sub>
                              <m:r>
                                <a:rPr lang="es-419" sz="3700" i="1">
                                  <a:solidFill>
                                    <a:srgbClr val="003A5D"/>
                                  </a:solidFill>
                                  <a:latin typeface="Cambria Math" panose="02040503050406030204" pitchFamily="18" charset="0"/>
                                </a:rPr>
                                <m:t>𝑥</m:t>
                              </m:r>
                            </m:sub>
                          </m:sSub>
                          <m:r>
                            <a:rPr lang="es-419" sz="3700">
                              <a:solidFill>
                                <a:srgbClr val="003A5D"/>
                              </a:solidFill>
                              <a:latin typeface="Cambria Math" panose="02040503050406030204" pitchFamily="18" charset="0"/>
                            </a:rPr>
                            <m:t>−</m:t>
                          </m:r>
                          <m:sSub>
                            <m:sSubPr>
                              <m:ctrlPr>
                                <a:rPr lang="es-419" sz="3700" i="1">
                                  <a:solidFill>
                                    <a:srgbClr val="003A5D"/>
                                  </a:solidFill>
                                  <a:latin typeface="Cambria Math" panose="02040503050406030204" pitchFamily="18" charset="0"/>
                                </a:rPr>
                              </m:ctrlPr>
                            </m:sSubPr>
                            <m:e>
                              <m:r>
                                <a:rPr lang="es-419" sz="3700" i="1">
                                  <a:solidFill>
                                    <a:srgbClr val="003A5D"/>
                                  </a:solidFill>
                                  <a:latin typeface="Cambria Math" panose="02040503050406030204" pitchFamily="18" charset="0"/>
                                  <a:ea typeface="Cambria Math" panose="02040503050406030204" pitchFamily="18" charset="0"/>
                                </a:rPr>
                                <m:t>𝜇</m:t>
                              </m:r>
                            </m:e>
                            <m:sub>
                              <m:r>
                                <a:rPr lang="es-419" sz="3700" i="1">
                                  <a:solidFill>
                                    <a:srgbClr val="003A5D"/>
                                  </a:solidFill>
                                  <a:latin typeface="Cambria Math" panose="02040503050406030204" pitchFamily="18" charset="0"/>
                                  <a:ea typeface="Cambria Math" panose="02040503050406030204" pitchFamily="18" charset="0"/>
                                </a:rPr>
                                <m:t>𝑦</m:t>
                              </m:r>
                            </m:sub>
                          </m:sSub>
                          <m:r>
                            <a:rPr lang="es-419" sz="3700" i="1">
                              <a:solidFill>
                                <a:srgbClr val="003A5D"/>
                              </a:solidFill>
                              <a:latin typeface="Cambria Math" panose="02040503050406030204" pitchFamily="18" charset="0"/>
                            </a:rPr>
                            <m:t>)</m:t>
                          </m:r>
                        </m:num>
                        <m:den>
                          <m:sSub>
                            <m:sSubPr>
                              <m:ctrlPr>
                                <a:rPr lang="es-419" sz="3700" i="1" smtClean="0">
                                  <a:latin typeface="Cambria Math" panose="02040503050406030204" pitchFamily="18" charset="0"/>
                                </a:rPr>
                              </m:ctrlPr>
                            </m:sSubPr>
                            <m:e>
                              <m:r>
                                <a:rPr lang="es-419" sz="3700" b="0" i="1" smtClean="0">
                                  <a:latin typeface="Cambria Math" panose="02040503050406030204" pitchFamily="18" charset="0"/>
                                </a:rPr>
                                <m:t>𝑆</m:t>
                              </m:r>
                            </m:e>
                            <m:sub>
                              <m:r>
                                <a:rPr lang="es-419" sz="3700" b="0" i="1" smtClean="0">
                                  <a:latin typeface="Cambria Math" panose="02040503050406030204" pitchFamily="18" charset="0"/>
                                </a:rPr>
                                <m:t>𝑎</m:t>
                              </m:r>
                            </m:sub>
                          </m:sSub>
                          <m:rad>
                            <m:radPr>
                              <m:degHide m:val="on"/>
                              <m:ctrlPr>
                                <a:rPr lang="es-419" sz="3700" i="1" smtClean="0">
                                  <a:latin typeface="Cambria Math" panose="02040503050406030204" pitchFamily="18" charset="0"/>
                                </a:rPr>
                              </m:ctrlPr>
                            </m:radPr>
                            <m:deg/>
                            <m:e>
                              <m:f>
                                <m:fPr>
                                  <m:ctrlPr>
                                    <a:rPr lang="es-419" sz="3700" i="1">
                                      <a:latin typeface="Cambria Math" panose="02040503050406030204" pitchFamily="18" charset="0"/>
                                    </a:rPr>
                                  </m:ctrlPr>
                                </m:fPr>
                                <m:num>
                                  <m:r>
                                    <a:rPr lang="es-419" sz="3700" i="1">
                                      <a:latin typeface="Cambria Math" panose="02040503050406030204" pitchFamily="18" charset="0"/>
                                    </a:rPr>
                                    <m:t>1</m:t>
                                  </m:r>
                                </m:num>
                                <m:den>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𝑥</m:t>
                                      </m:r>
                                    </m:sub>
                                  </m:sSub>
                                </m:den>
                              </m:f>
                              <m:r>
                                <m:rPr>
                                  <m:nor/>
                                </m:rPr>
                                <a:rPr lang="es-419" sz="3700" dirty="0"/>
                                <m:t>+ </m:t>
                              </m:r>
                              <m:f>
                                <m:fPr>
                                  <m:ctrlPr>
                                    <a:rPr lang="es-419" sz="3700" i="1">
                                      <a:latin typeface="Cambria Math" panose="02040503050406030204" pitchFamily="18" charset="0"/>
                                    </a:rPr>
                                  </m:ctrlPr>
                                </m:fPr>
                                <m:num>
                                  <m:r>
                                    <a:rPr lang="es-419" sz="3700" i="1">
                                      <a:latin typeface="Cambria Math" panose="02040503050406030204" pitchFamily="18" charset="0"/>
                                    </a:rPr>
                                    <m:t>1</m:t>
                                  </m:r>
                                </m:num>
                                <m:den>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𝑦</m:t>
                                      </m:r>
                                    </m:sub>
                                  </m:sSub>
                                </m:den>
                              </m:f>
                            </m:e>
                          </m:rad>
                        </m:den>
                      </m:f>
                      <m:r>
                        <a:rPr lang="es-VE" sz="3700" b="0" i="1" smtClean="0">
                          <a:latin typeface="Cambria Math" panose="02040503050406030204" pitchFamily="18" charset="0"/>
                        </a:rPr>
                        <m:t>=</m:t>
                      </m:r>
                      <m:f>
                        <m:fPr>
                          <m:ctrlPr>
                            <a:rPr lang="es-419" sz="3700" i="1">
                              <a:latin typeface="Cambria Math" panose="02040503050406030204" pitchFamily="18" charset="0"/>
                            </a:rPr>
                          </m:ctrlPr>
                        </m:fPr>
                        <m:num>
                          <m:d>
                            <m:dPr>
                              <m:ctrlPr>
                                <a:rPr lang="es-419" sz="3700" i="1">
                                  <a:latin typeface="Cambria Math" panose="02040503050406030204" pitchFamily="18" charset="0"/>
                                </a:rPr>
                              </m:ctrlPr>
                            </m:dPr>
                            <m:e>
                              <m:acc>
                                <m:accPr>
                                  <m:chr m:val="̅"/>
                                  <m:ctrlPr>
                                    <a:rPr lang="es-419" sz="3700" i="1">
                                      <a:latin typeface="Cambria Math" panose="02040503050406030204" pitchFamily="18" charset="0"/>
                                    </a:rPr>
                                  </m:ctrlPr>
                                </m:accPr>
                                <m:e>
                                  <m:r>
                                    <a:rPr lang="es-419" sz="3700" i="1">
                                      <a:latin typeface="Cambria Math" panose="02040503050406030204" pitchFamily="18" charset="0"/>
                                    </a:rPr>
                                    <m:t>𝑋</m:t>
                                  </m:r>
                                </m:e>
                              </m:acc>
                              <m:r>
                                <a:rPr lang="es-419" sz="3700" i="1">
                                  <a:latin typeface="Cambria Math" panose="02040503050406030204" pitchFamily="18" charset="0"/>
                                </a:rPr>
                                <m:t>−</m:t>
                              </m:r>
                              <m:acc>
                                <m:accPr>
                                  <m:chr m:val="̅"/>
                                  <m:ctrlPr>
                                    <a:rPr lang="es-419" sz="3700" i="1">
                                      <a:latin typeface="Cambria Math" panose="02040503050406030204" pitchFamily="18" charset="0"/>
                                    </a:rPr>
                                  </m:ctrlPr>
                                </m:accPr>
                                <m:e>
                                  <m:r>
                                    <a:rPr lang="es-419" sz="3700" i="1">
                                      <a:latin typeface="Cambria Math" panose="02040503050406030204" pitchFamily="18" charset="0"/>
                                    </a:rPr>
                                    <m:t>𝑌</m:t>
                                  </m:r>
                                </m:e>
                              </m:acc>
                            </m:e>
                          </m:d>
                        </m:num>
                        <m:den>
                          <m:sSub>
                            <m:sSubPr>
                              <m:ctrlPr>
                                <a:rPr lang="es-419" sz="3700" i="1">
                                  <a:latin typeface="Cambria Math" panose="02040503050406030204" pitchFamily="18" charset="0"/>
                                </a:rPr>
                              </m:ctrlPr>
                            </m:sSubPr>
                            <m:e>
                              <m:r>
                                <a:rPr lang="es-419" sz="3700" i="1">
                                  <a:latin typeface="Cambria Math" panose="02040503050406030204" pitchFamily="18" charset="0"/>
                                </a:rPr>
                                <m:t>𝑆</m:t>
                              </m:r>
                            </m:e>
                            <m:sub>
                              <m:r>
                                <a:rPr lang="es-419" sz="3700" i="1">
                                  <a:latin typeface="Cambria Math" panose="02040503050406030204" pitchFamily="18" charset="0"/>
                                </a:rPr>
                                <m:t>𝑎</m:t>
                              </m:r>
                            </m:sub>
                          </m:sSub>
                          <m:rad>
                            <m:radPr>
                              <m:degHide m:val="on"/>
                              <m:ctrlPr>
                                <a:rPr lang="es-419" sz="3700" i="1">
                                  <a:latin typeface="Cambria Math" panose="02040503050406030204" pitchFamily="18" charset="0"/>
                                </a:rPr>
                              </m:ctrlPr>
                            </m:radPr>
                            <m:deg/>
                            <m:e>
                              <m:f>
                                <m:fPr>
                                  <m:ctrlPr>
                                    <a:rPr lang="es-419" sz="3700" i="1">
                                      <a:latin typeface="Cambria Math" panose="02040503050406030204" pitchFamily="18" charset="0"/>
                                    </a:rPr>
                                  </m:ctrlPr>
                                </m:fPr>
                                <m:num>
                                  <m:r>
                                    <a:rPr lang="es-419" sz="3700" i="1">
                                      <a:latin typeface="Cambria Math" panose="02040503050406030204" pitchFamily="18" charset="0"/>
                                    </a:rPr>
                                    <m:t>1</m:t>
                                  </m:r>
                                </m:num>
                                <m:den>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𝑥</m:t>
                                      </m:r>
                                    </m:sub>
                                  </m:sSub>
                                </m:den>
                              </m:f>
                              <m:r>
                                <m:rPr>
                                  <m:nor/>
                                </m:rPr>
                                <a:rPr lang="es-419" sz="3700" dirty="0"/>
                                <m:t>+ </m:t>
                              </m:r>
                              <m:f>
                                <m:fPr>
                                  <m:ctrlPr>
                                    <a:rPr lang="es-419" sz="3700" i="1">
                                      <a:latin typeface="Cambria Math" panose="02040503050406030204" pitchFamily="18" charset="0"/>
                                    </a:rPr>
                                  </m:ctrlPr>
                                </m:fPr>
                                <m:num>
                                  <m:r>
                                    <a:rPr lang="es-419" sz="3700" i="1">
                                      <a:latin typeface="Cambria Math" panose="02040503050406030204" pitchFamily="18" charset="0"/>
                                    </a:rPr>
                                    <m:t>1</m:t>
                                  </m:r>
                                </m:num>
                                <m:den>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𝑦</m:t>
                                      </m:r>
                                    </m:sub>
                                  </m:sSub>
                                </m:den>
                              </m:f>
                            </m:e>
                          </m:rad>
                        </m:den>
                      </m:f>
                      <m:r>
                        <a:rPr lang="es-419" sz="3700" i="1">
                          <a:latin typeface="Cambria Math" panose="02040503050406030204" pitchFamily="18" charset="0"/>
                          <a:ea typeface="Cambria Math" panose="02040503050406030204" pitchFamily="18" charset="0"/>
                        </a:rPr>
                        <m:t>~</m:t>
                      </m:r>
                      <m:sSub>
                        <m:sSubPr>
                          <m:ctrlPr>
                            <a:rPr lang="es-419" sz="3700" i="1">
                              <a:latin typeface="Cambria Math" panose="02040503050406030204" pitchFamily="18" charset="0"/>
                              <a:ea typeface="Cambria Math" panose="02040503050406030204" pitchFamily="18" charset="0"/>
                            </a:rPr>
                          </m:ctrlPr>
                        </m:sSubPr>
                        <m:e>
                          <m:r>
                            <a:rPr lang="es-419" sz="3700" i="1">
                              <a:latin typeface="Cambria Math" panose="02040503050406030204" pitchFamily="18" charset="0"/>
                              <a:ea typeface="Cambria Math" panose="02040503050406030204" pitchFamily="18" charset="0"/>
                            </a:rPr>
                            <m:t>𝑡</m:t>
                          </m:r>
                        </m:e>
                        <m:sub>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𝑥</m:t>
                              </m:r>
                            </m:sub>
                          </m:sSub>
                          <m:r>
                            <a:rPr lang="es-419" sz="3700" i="1">
                              <a:latin typeface="Cambria Math" panose="02040503050406030204" pitchFamily="18" charset="0"/>
                            </a:rPr>
                            <m:t>+</m:t>
                          </m:r>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𝑦</m:t>
                              </m:r>
                            </m:sub>
                          </m:sSub>
                          <m:r>
                            <a:rPr lang="es-419" sz="3700" i="1">
                              <a:latin typeface="Cambria Math" panose="02040503050406030204" pitchFamily="18" charset="0"/>
                            </a:rPr>
                            <m:t>−</m:t>
                          </m:r>
                          <m:r>
                            <a:rPr lang="es-419" sz="3700" b="0" i="1" smtClean="0">
                              <a:latin typeface="Cambria Math" panose="02040503050406030204" pitchFamily="18" charset="0"/>
                            </a:rPr>
                            <m:t>2</m:t>
                          </m:r>
                        </m:sub>
                      </m:sSub>
                    </m:oMath>
                  </m:oMathPara>
                </a14:m>
                <a:endParaRPr lang="es-419" sz="3700" dirty="0">
                  <a:ea typeface="Cambria Math" panose="02040503050406030204" pitchFamily="18" charset="0"/>
                </a:endParaRPr>
              </a:p>
              <a:p>
                <a:pPr>
                  <a:lnSpc>
                    <a:spcPct val="120000"/>
                  </a:lnSpc>
                </a:pPr>
                <a:r>
                  <a:rPr lang="es-419" sz="3700" dirty="0"/>
                  <a:t>Se distribuye como una </a:t>
                </a:r>
                <a:r>
                  <a:rPr lang="es-419" sz="3700" b="1" dirty="0">
                    <a:solidFill>
                      <a:srgbClr val="003A5D"/>
                    </a:solidFill>
                  </a:rPr>
                  <a:t>T-</a:t>
                </a:r>
                <a:r>
                  <a:rPr lang="es-419" sz="3700" b="1" dirty="0" err="1">
                    <a:solidFill>
                      <a:srgbClr val="003A5D"/>
                    </a:solidFill>
                  </a:rPr>
                  <a:t>Student</a:t>
                </a:r>
                <a:r>
                  <a:rPr lang="es-419" sz="3700" dirty="0"/>
                  <a:t> con </a:t>
                </a:r>
                <a14:m>
                  <m:oMath xmlns:m="http://schemas.openxmlformats.org/officeDocument/2006/math">
                    <m:sSub>
                      <m:sSubPr>
                        <m:ctrlPr>
                          <a:rPr lang="es-419" sz="3700" i="1" smtClean="0">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𝑥</m:t>
                        </m:r>
                      </m:sub>
                    </m:sSub>
                    <m:r>
                      <a:rPr lang="es-419" sz="3700" i="1">
                        <a:latin typeface="Cambria Math" panose="02040503050406030204" pitchFamily="18" charset="0"/>
                      </a:rPr>
                      <m:t>+</m:t>
                    </m:r>
                    <m:sSub>
                      <m:sSubPr>
                        <m:ctrlPr>
                          <a:rPr lang="es-419" sz="3700" i="1">
                            <a:latin typeface="Cambria Math" panose="02040503050406030204" pitchFamily="18" charset="0"/>
                          </a:rPr>
                        </m:ctrlPr>
                      </m:sSubPr>
                      <m:e>
                        <m:r>
                          <a:rPr lang="es-419" sz="3700" i="1">
                            <a:latin typeface="Cambria Math" panose="02040503050406030204" pitchFamily="18" charset="0"/>
                          </a:rPr>
                          <m:t>𝑛</m:t>
                        </m:r>
                      </m:e>
                      <m:sub>
                        <m:r>
                          <a:rPr lang="es-419" sz="3700" i="1">
                            <a:latin typeface="Cambria Math" panose="02040503050406030204" pitchFamily="18" charset="0"/>
                          </a:rPr>
                          <m:t>𝑦</m:t>
                        </m:r>
                      </m:sub>
                    </m:sSub>
                    <m:r>
                      <a:rPr lang="es-419" sz="3700" i="1">
                        <a:latin typeface="Cambria Math" panose="02040503050406030204" pitchFamily="18" charset="0"/>
                      </a:rPr>
                      <m:t>−</m:t>
                    </m:r>
                    <m:r>
                      <a:rPr lang="es-VE" sz="3700" b="0" i="0" smtClean="0">
                        <a:latin typeface="Cambria Math" panose="02040503050406030204" pitchFamily="18" charset="0"/>
                      </a:rPr>
                      <m:t>2</m:t>
                    </m:r>
                  </m:oMath>
                </a14:m>
                <a:r>
                  <a:rPr lang="es-419" sz="3700" dirty="0"/>
                  <a:t> </a:t>
                </a:r>
                <a:r>
                  <a:rPr lang="es-419" sz="3700" b="1" dirty="0">
                    <a:solidFill>
                      <a:srgbClr val="003A5D"/>
                    </a:solidFill>
                  </a:rPr>
                  <a:t>grados de libertad</a:t>
                </a:r>
                <a:r>
                  <a:rPr lang="es-419" sz="3700" dirty="0"/>
                  <a:t>.</a:t>
                </a:r>
              </a:p>
              <a:p>
                <a:pPr>
                  <a:lnSpc>
                    <a:spcPct val="120000"/>
                  </a:lnSpc>
                </a:pPr>
                <a:r>
                  <a:rPr lang="es-419" sz="3700" dirty="0"/>
                  <a:t>En </a:t>
                </a:r>
                <a:r>
                  <a:rPr lang="es-419" sz="3700" b="1" dirty="0">
                    <a:solidFill>
                      <a:srgbClr val="003A5D"/>
                    </a:solidFill>
                  </a:rPr>
                  <a:t>R</a:t>
                </a:r>
                <a:r>
                  <a:rPr lang="es-419" sz="3700" dirty="0"/>
                  <a:t> se emplea la función </a:t>
                </a:r>
                <a:r>
                  <a:rPr lang="es-419" sz="3700" dirty="0" err="1">
                    <a:solidFill>
                      <a:srgbClr val="003A5D"/>
                    </a:solidFill>
                    <a:latin typeface="Consolas" panose="020B0609020204030204" pitchFamily="49" charset="0"/>
                  </a:rPr>
                  <a:t>t.test</a:t>
                </a:r>
                <a:r>
                  <a:rPr lang="es-419" sz="3700" dirty="0">
                    <a:solidFill>
                      <a:srgbClr val="003A5D"/>
                    </a:solidFill>
                    <a:latin typeface="Consolas" panose="020B0609020204030204" pitchFamily="49" charset="0"/>
                  </a:rPr>
                  <a:t>()</a:t>
                </a:r>
                <a:endParaRPr lang="es-419" sz="3700" dirty="0"/>
              </a:p>
              <a:p>
                <a:pPr lvl="1">
                  <a:lnSpc>
                    <a:spcPct val="150000"/>
                  </a:lnSpc>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s-VE">
                    <a:noFill/>
                  </a:rPr>
                  <a:t> </a:t>
                </a:r>
              </a:p>
            </p:txBody>
          </p:sp>
        </mc:Fallback>
      </mc:AlternateContent>
    </p:spTree>
    <p:extLst>
      <p:ext uri="{BB962C8B-B14F-4D97-AF65-F5344CB8AC3E}">
        <p14:creationId xmlns:p14="http://schemas.microsoft.com/office/powerpoint/2010/main" val="1516523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9E92E45-58B0-D990-0790-07667CE20787}"/>
              </a:ext>
            </a:extLst>
          </p:cNvPr>
          <p:cNvPicPr>
            <a:picLocks noChangeAspect="1"/>
          </p:cNvPicPr>
          <p:nvPr/>
        </p:nvPicPr>
        <p:blipFill>
          <a:blip r:embed="rId2"/>
          <a:stretch>
            <a:fillRect/>
          </a:stretch>
        </p:blipFill>
        <p:spPr>
          <a:xfrm>
            <a:off x="2276531" y="1089000"/>
            <a:ext cx="7638938" cy="4680000"/>
          </a:xfrm>
          <a:prstGeom prst="rect">
            <a:avLst/>
          </a:prstGeom>
        </p:spPr>
      </p:pic>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lstStyle/>
          <a:p>
            <a:r>
              <a:rPr lang="es-419" dirty="0"/>
              <a:t>Contraste para la diferencia de medias poblacionales</a:t>
            </a:r>
          </a:p>
        </p:txBody>
      </p:sp>
      <mc:AlternateContent xmlns:mc="http://schemas.openxmlformats.org/markup-compatibility/2006" xmlns:a14="http://schemas.microsoft.com/office/drawing/2010/main">
        <mc:Choice Requires="a14">
          <p:sp>
            <p:nvSpPr>
              <p:cNvPr id="6" name="TextBox 3">
                <a:extLst>
                  <a:ext uri="{FF2B5EF4-FFF2-40B4-BE49-F238E27FC236}">
                    <a16:creationId xmlns:a16="http://schemas.microsoft.com/office/drawing/2014/main" id="{27507DFE-8649-4A7A-93BD-45EBA8959A52}"/>
                  </a:ext>
                </a:extLst>
              </p:cNvPr>
              <p:cNvSpPr txBox="1"/>
              <p:nvPr/>
            </p:nvSpPr>
            <p:spPr>
              <a:xfrm>
                <a:off x="3356103" y="1089000"/>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b="0" i="0" smtClean="0">
                          <a:latin typeface="Cambria Math" panose="02040503050406030204" pitchFamily="18" charset="0"/>
                        </a:rPr>
                        <m:t>&lt;0</m:t>
                      </m:r>
                    </m:oMath>
                  </m:oMathPara>
                </a14:m>
                <a:endParaRPr lang="es-419" sz="1400" dirty="0"/>
              </a:p>
            </p:txBody>
          </p:sp>
        </mc:Choice>
        <mc:Fallback xmlns="">
          <p:sp>
            <p:nvSpPr>
              <p:cNvPr id="6"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3356103" y="1089000"/>
                <a:ext cx="1428019" cy="3247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3">
                <a:extLst>
                  <a:ext uri="{FF2B5EF4-FFF2-40B4-BE49-F238E27FC236}">
                    <a16:creationId xmlns:a16="http://schemas.microsoft.com/office/drawing/2014/main" id="{27507DFE-8649-4A7A-93BD-45EBA8959A52}"/>
                  </a:ext>
                </a:extLst>
              </p:cNvPr>
              <p:cNvSpPr txBox="1"/>
              <p:nvPr/>
            </p:nvSpPr>
            <p:spPr>
              <a:xfrm>
                <a:off x="7246314" y="1088999"/>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b="0" i="0" smtClean="0">
                          <a:latin typeface="Cambria Math" panose="02040503050406030204" pitchFamily="18" charset="0"/>
                        </a:rPr>
                        <m:t>&gt;0</m:t>
                      </m:r>
                    </m:oMath>
                  </m:oMathPara>
                </a14:m>
                <a:endParaRPr lang="es-419" sz="1400" dirty="0"/>
              </a:p>
            </p:txBody>
          </p:sp>
        </mc:Choice>
        <mc:Fallback xmlns="">
          <p:sp>
            <p:nvSpPr>
              <p:cNvPr id="7"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7246314" y="1088999"/>
                <a:ext cx="1428019" cy="32476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3">
                <a:extLst>
                  <a:ext uri="{FF2B5EF4-FFF2-40B4-BE49-F238E27FC236}">
                    <a16:creationId xmlns:a16="http://schemas.microsoft.com/office/drawing/2014/main" id="{27507DFE-8649-4A7A-93BD-45EBA8959A52}"/>
                  </a:ext>
                </a:extLst>
              </p:cNvPr>
              <p:cNvSpPr txBox="1"/>
              <p:nvPr/>
            </p:nvSpPr>
            <p:spPr>
              <a:xfrm>
                <a:off x="5272741" y="3615631"/>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a:latin typeface="Cambria Math" panose="02040503050406030204" pitchFamily="18" charset="0"/>
                          <a:ea typeface="Cambria Math" panose="02040503050406030204" pitchFamily="18" charset="0"/>
                        </a:rPr>
                        <m:t>≠</m:t>
                      </m:r>
                      <m:r>
                        <a:rPr lang="es-VE" sz="1400" b="0" i="0" smtClean="0">
                          <a:latin typeface="Cambria Math" panose="02040503050406030204" pitchFamily="18" charset="0"/>
                        </a:rPr>
                        <m:t>0</m:t>
                      </m:r>
                    </m:oMath>
                  </m:oMathPara>
                </a14:m>
                <a:endParaRPr lang="es-419" sz="1400" dirty="0"/>
              </a:p>
            </p:txBody>
          </p:sp>
        </mc:Choice>
        <mc:Fallback xmlns="">
          <p:sp>
            <p:nvSpPr>
              <p:cNvPr id="8"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5272741" y="3615631"/>
                <a:ext cx="1428019" cy="32476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42663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11.27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normAutofit fontScale="92500" lnSpcReduction="20000"/>
              </a:bodyPr>
              <a:lstStyle/>
              <a:p>
                <a:pPr marL="0" indent="0">
                  <a:lnSpc>
                    <a:spcPct val="150000"/>
                  </a:lnSpc>
                  <a:buNone/>
                </a:pPr>
                <a:r>
                  <a:rPr lang="es-VE" i="1" dirty="0"/>
                  <a:t>Se desea conocer si existe diferencia en el diámetro medio de las </a:t>
                </a:r>
                <a:r>
                  <a:rPr lang="es-VE" i="1" dirty="0" err="1"/>
                  <a:t>rolineras</a:t>
                </a:r>
                <a:r>
                  <a:rPr lang="es-VE" i="1" dirty="0"/>
                  <a:t> producidas por una máquina, y en el de las producidas por otra máquina. Una muestra de 20 elementos de la primera máquina dio un diámetro medio de 15 mm, y una muestra de 10 elementos de la segunda máquina dio un diámetro medio de 13,5 </a:t>
                </a:r>
                <a:r>
                  <a:rPr lang="es-VE" i="1" dirty="0" err="1"/>
                  <a:t>mm.</a:t>
                </a:r>
                <a:r>
                  <a:rPr lang="es-VE" i="1" dirty="0"/>
                  <a:t> Use un nivel de significancia del 5%. Considere que no se conocen las varianzas poblacionales pero se asumen iguales y se supone que </a:t>
                </a:r>
                <a14:m>
                  <m:oMath xmlns:m="http://schemas.openxmlformats.org/officeDocument/2006/math">
                    <m:sSubSup>
                      <m:sSubSupPr>
                        <m:ctrlPr>
                          <a:rPr lang="es-419" sz="2800" i="1" smtClean="0">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rPr>
                          <m:t>𝑥</m:t>
                        </m:r>
                      </m:sub>
                      <m:sup>
                        <m:r>
                          <a:rPr lang="es-419" sz="2800" i="1">
                            <a:latin typeface="Cambria Math" panose="02040503050406030204" pitchFamily="18" charset="0"/>
                          </a:rPr>
                          <m:t>2</m:t>
                        </m:r>
                        <m:r>
                          <a:rPr lang="es-419" sz="2800" b="0" i="1" smtClean="0">
                            <a:latin typeface="Cambria Math" panose="02040503050406030204" pitchFamily="18" charset="0"/>
                          </a:rPr>
                          <m:t>′</m:t>
                        </m:r>
                      </m:sup>
                    </m:sSubSup>
                    <m:r>
                      <a:rPr lang="es-419" sz="2800" b="0" i="1" smtClean="0">
                        <a:latin typeface="Cambria Math" panose="02040503050406030204" pitchFamily="18" charset="0"/>
                      </a:rPr>
                      <m:t>=1,2</m:t>
                    </m:r>
                  </m:oMath>
                </a14:m>
                <a:r>
                  <a:rPr lang="es-VE" i="1" dirty="0"/>
                  <a:t> y </a:t>
                </a:r>
                <a14:m>
                  <m:oMath xmlns:m="http://schemas.openxmlformats.org/officeDocument/2006/math">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b="0" i="1" smtClean="0">
                            <a:latin typeface="Cambria Math" panose="02040503050406030204" pitchFamily="18" charset="0"/>
                          </a:rPr>
                          <m:t>𝑦</m:t>
                        </m:r>
                      </m:sub>
                      <m:sup>
                        <m:r>
                          <a:rPr lang="es-419" i="1">
                            <a:latin typeface="Cambria Math" panose="02040503050406030204" pitchFamily="18" charset="0"/>
                          </a:rPr>
                          <m:t>2</m:t>
                        </m:r>
                        <m:r>
                          <a:rPr lang="es-419" b="0" i="1" smtClean="0">
                            <a:latin typeface="Cambria Math" panose="02040503050406030204" pitchFamily="18" charset="0"/>
                          </a:rPr>
                          <m:t>′</m:t>
                        </m:r>
                      </m:sup>
                    </m:sSubSup>
                    <m:r>
                      <a:rPr lang="es-419" i="1">
                        <a:latin typeface="Cambria Math" panose="02040503050406030204" pitchFamily="18" charset="0"/>
                      </a:rPr>
                      <m:t>=1,</m:t>
                    </m:r>
                    <m:r>
                      <a:rPr lang="es-419" b="0" i="1" smtClean="0">
                        <a:latin typeface="Cambria Math" panose="02040503050406030204" pitchFamily="18" charset="0"/>
                      </a:rPr>
                      <m:t>3</m:t>
                    </m:r>
                  </m:oMath>
                </a14:m>
                <a:r>
                  <a:rPr lang="es-VE" i="1" dirty="0"/>
                  <a:t> </a:t>
                </a:r>
              </a:p>
              <a:p>
                <a:pPr marL="0" indent="0">
                  <a:lnSpc>
                    <a:spcPct val="150000"/>
                  </a:lnSpc>
                  <a:buNone/>
                </a:pPr>
                <a:r>
                  <a:rPr lang="es-VE" i="1" dirty="0"/>
                  <a:t>Asume que las varianzas muestrales son sesgadas (realice la transformación adecuada) y emplee solamente el método del p-valor.</a:t>
                </a:r>
                <a:endParaRPr lang="en-US" i="1" dirty="0"/>
              </a:p>
            </p:txBody>
          </p:sp>
        </mc:Choice>
        <mc:Fallback xmlns="">
          <p:sp>
            <p:nvSpPr>
              <p:cNvPr id="3" name="Content Placeholder 2">
                <a:extLst>
                  <a:ext uri="{FF2B5EF4-FFF2-40B4-BE49-F238E27FC236}">
                    <a16:creationId xmlns:a16="http://schemas.microsoft.com/office/drawing/2014/main" id="{688EB59C-4EDA-4E27-AD8A-EF43E7DBEFBF}"/>
                  </a:ext>
                </a:extLst>
              </p:cNvPr>
              <p:cNvSpPr>
                <a:spLocks noGrp="1" noRot="1" noChangeAspect="1" noMove="1" noResize="1" noEditPoints="1" noAdjustHandles="1" noChangeArrowheads="1" noChangeShapeType="1" noTextEdit="1"/>
              </p:cNvSpPr>
              <p:nvPr>
                <p:ph idx="1"/>
              </p:nvPr>
            </p:nvSpPr>
            <p:spPr>
              <a:blipFill>
                <a:blip r:embed="rId2"/>
                <a:stretch>
                  <a:fillRect l="-1043" r="-638" b="-667"/>
                </a:stretch>
              </a:blipFill>
            </p:spPr>
            <p:txBody>
              <a:bodyPr/>
              <a:lstStyle/>
              <a:p>
                <a:r>
                  <a:rPr lang="en-US">
                    <a:noFill/>
                  </a:rPr>
                  <a:t> </a:t>
                </a:r>
              </a:p>
            </p:txBody>
          </p:sp>
        </mc:Fallback>
      </mc:AlternateContent>
    </p:spTree>
    <p:extLst>
      <p:ext uri="{BB962C8B-B14F-4D97-AF65-F5344CB8AC3E}">
        <p14:creationId xmlns:p14="http://schemas.microsoft.com/office/powerpoint/2010/main" val="3284950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11.27</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92500" lnSpcReduction="10000"/>
          </a:bodyPr>
          <a:lstStyle/>
          <a:p>
            <a:pPr marL="0" indent="0">
              <a:buNone/>
            </a:pPr>
            <a:r>
              <a:rPr lang="es-ES" dirty="0">
                <a:latin typeface="Consolas" panose="020B0609020204030204" pitchFamily="49" charset="0"/>
              </a:rPr>
              <a:t>&gt; </a:t>
            </a:r>
            <a:r>
              <a:rPr lang="es-ES" dirty="0" err="1">
                <a:latin typeface="Consolas" panose="020B0609020204030204" pitchFamily="49" charset="0"/>
              </a:rPr>
              <a:t>n_x</a:t>
            </a:r>
            <a:r>
              <a:rPr lang="es-ES" dirty="0">
                <a:latin typeface="Consolas" panose="020B0609020204030204" pitchFamily="49" charset="0"/>
              </a:rPr>
              <a:t> &lt;- 20</a:t>
            </a:r>
          </a:p>
          <a:p>
            <a:pPr marL="0" indent="0">
              <a:buNone/>
            </a:pPr>
            <a:r>
              <a:rPr lang="es-ES" dirty="0">
                <a:latin typeface="Consolas" panose="020B0609020204030204" pitchFamily="49" charset="0"/>
              </a:rPr>
              <a:t>&gt; </a:t>
            </a:r>
            <a:r>
              <a:rPr lang="es-ES" dirty="0" err="1">
                <a:latin typeface="Consolas" panose="020B0609020204030204" pitchFamily="49" charset="0"/>
              </a:rPr>
              <a:t>x_hat</a:t>
            </a:r>
            <a:r>
              <a:rPr lang="es-ES" dirty="0">
                <a:latin typeface="Consolas" panose="020B0609020204030204" pitchFamily="49" charset="0"/>
              </a:rPr>
              <a:t> &lt;- 15</a:t>
            </a:r>
          </a:p>
          <a:p>
            <a:pPr marL="0" indent="0">
              <a:buNone/>
            </a:pPr>
            <a:r>
              <a:rPr lang="es-ES" dirty="0">
                <a:latin typeface="Consolas" panose="020B0609020204030204" pitchFamily="49" charset="0"/>
              </a:rPr>
              <a:t>&gt; </a:t>
            </a:r>
            <a:r>
              <a:rPr lang="es-ES" dirty="0" err="1">
                <a:latin typeface="Consolas" panose="020B0609020204030204" pitchFamily="49" charset="0"/>
              </a:rPr>
              <a:t>n_y</a:t>
            </a:r>
            <a:r>
              <a:rPr lang="es-ES" dirty="0">
                <a:latin typeface="Consolas" panose="020B0609020204030204" pitchFamily="49" charset="0"/>
              </a:rPr>
              <a:t> &lt;- 10</a:t>
            </a:r>
          </a:p>
          <a:p>
            <a:pPr marL="0" indent="0">
              <a:buNone/>
            </a:pPr>
            <a:r>
              <a:rPr lang="es-ES" dirty="0">
                <a:latin typeface="Consolas" panose="020B0609020204030204" pitchFamily="49" charset="0"/>
              </a:rPr>
              <a:t>&gt; </a:t>
            </a:r>
            <a:r>
              <a:rPr lang="es-ES" dirty="0" err="1">
                <a:latin typeface="Consolas" panose="020B0609020204030204" pitchFamily="49" charset="0"/>
              </a:rPr>
              <a:t>y_hat</a:t>
            </a:r>
            <a:r>
              <a:rPr lang="es-ES" dirty="0">
                <a:latin typeface="Consolas" panose="020B0609020204030204" pitchFamily="49" charset="0"/>
              </a:rPr>
              <a:t> &lt;- 13.5</a:t>
            </a:r>
          </a:p>
          <a:p>
            <a:pPr marL="0" indent="0">
              <a:buNone/>
            </a:pPr>
            <a:r>
              <a:rPr lang="es-ES" dirty="0">
                <a:latin typeface="Consolas" panose="020B0609020204030204" pitchFamily="49" charset="0"/>
              </a:rPr>
              <a:t>&gt; a &lt;- 0.05</a:t>
            </a:r>
          </a:p>
          <a:p>
            <a:pPr marL="0" indent="0">
              <a:buNone/>
            </a:pPr>
            <a:r>
              <a:rPr lang="es-ES" dirty="0">
                <a:latin typeface="Consolas" panose="020B0609020204030204" pitchFamily="49" charset="0"/>
              </a:rPr>
              <a:t> </a:t>
            </a:r>
          </a:p>
          <a:p>
            <a:pPr marL="0" indent="0">
              <a:buNone/>
            </a:pPr>
            <a:r>
              <a:rPr lang="es-ES" dirty="0">
                <a:latin typeface="Consolas" panose="020B0609020204030204" pitchFamily="49" charset="0"/>
              </a:rPr>
              <a:t>&gt; s2_x &lt;- 1.2</a:t>
            </a:r>
          </a:p>
          <a:p>
            <a:pPr marL="0" indent="0">
              <a:buNone/>
            </a:pPr>
            <a:r>
              <a:rPr lang="es-ES" dirty="0">
                <a:latin typeface="Consolas" panose="020B0609020204030204" pitchFamily="49" charset="0"/>
              </a:rPr>
              <a:t>&gt; s2_y &lt;- 1.3</a:t>
            </a:r>
          </a:p>
          <a:p>
            <a:pPr marL="0" indent="0">
              <a:buNone/>
            </a:pPr>
            <a:r>
              <a:rPr lang="es-ES" dirty="0">
                <a:latin typeface="Consolas" panose="020B0609020204030204" pitchFamily="49" charset="0"/>
              </a:rPr>
              <a:t> </a:t>
            </a:r>
          </a:p>
          <a:p>
            <a:pPr marL="0" indent="0">
              <a:buNone/>
            </a:pPr>
            <a:r>
              <a:rPr lang="es-ES" dirty="0">
                <a:latin typeface="Consolas" panose="020B0609020204030204" pitchFamily="49" charset="0"/>
              </a:rPr>
              <a:t>&gt; #Varianzas muestrales insesgadas</a:t>
            </a:r>
          </a:p>
          <a:p>
            <a:pPr marL="0" indent="0">
              <a:buNone/>
            </a:pPr>
            <a:r>
              <a:rPr lang="es-ES" dirty="0">
                <a:latin typeface="Consolas" panose="020B0609020204030204" pitchFamily="49" charset="0"/>
              </a:rPr>
              <a:t>&gt; s2_xi &lt;- 1.2*(</a:t>
            </a:r>
            <a:r>
              <a:rPr lang="es-ES" dirty="0" err="1">
                <a:latin typeface="Consolas" panose="020B0609020204030204" pitchFamily="49" charset="0"/>
              </a:rPr>
              <a:t>n_x</a:t>
            </a:r>
            <a:r>
              <a:rPr lang="es-ES" dirty="0">
                <a:latin typeface="Consolas" panose="020B0609020204030204" pitchFamily="49" charset="0"/>
              </a:rPr>
              <a:t>)/(n_x-1)</a:t>
            </a:r>
          </a:p>
          <a:p>
            <a:pPr marL="0" indent="0">
              <a:buNone/>
            </a:pPr>
            <a:r>
              <a:rPr lang="es-ES" dirty="0">
                <a:latin typeface="Consolas" panose="020B0609020204030204" pitchFamily="49" charset="0"/>
              </a:rPr>
              <a:t>&gt; s2_yi &lt;- 1.3*(</a:t>
            </a:r>
            <a:r>
              <a:rPr lang="es-ES" dirty="0" err="1">
                <a:latin typeface="Consolas" panose="020B0609020204030204" pitchFamily="49" charset="0"/>
              </a:rPr>
              <a:t>n_y</a:t>
            </a:r>
            <a:r>
              <a:rPr lang="es-ES" dirty="0">
                <a:latin typeface="Consolas" panose="020B0609020204030204" pitchFamily="49" charset="0"/>
              </a:rPr>
              <a:t>)/(n_y-1)</a:t>
            </a:r>
          </a:p>
        </p:txBody>
      </p:sp>
    </p:spTree>
    <p:extLst>
      <p:ext uri="{BB962C8B-B14F-4D97-AF65-F5344CB8AC3E}">
        <p14:creationId xmlns:p14="http://schemas.microsoft.com/office/powerpoint/2010/main" val="2774083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11.27</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77500" lnSpcReduction="20000"/>
          </a:bodyPr>
          <a:lstStyle/>
          <a:p>
            <a:pPr marL="0" indent="0">
              <a:buNone/>
            </a:pPr>
            <a:r>
              <a:rPr lang="es-ES" dirty="0">
                <a:latin typeface="Consolas" panose="020B0609020204030204" pitchFamily="49" charset="0"/>
              </a:rPr>
              <a:t>&gt; #Metodo de p-valor</a:t>
            </a:r>
          </a:p>
          <a:p>
            <a:pPr marL="0" indent="0">
              <a:buNone/>
            </a:pPr>
            <a:r>
              <a:rPr lang="es-ES" dirty="0">
                <a:latin typeface="Consolas" panose="020B0609020204030204" pitchFamily="49" charset="0"/>
              </a:rPr>
              <a:t>&gt; sa2 &lt;- ((</a:t>
            </a:r>
            <a:r>
              <a:rPr lang="es-ES" dirty="0" err="1">
                <a:latin typeface="Consolas" panose="020B0609020204030204" pitchFamily="49" charset="0"/>
              </a:rPr>
              <a:t>n_x</a:t>
            </a:r>
            <a:r>
              <a:rPr lang="es-ES" dirty="0">
                <a:latin typeface="Consolas" panose="020B0609020204030204" pitchFamily="49" charset="0"/>
              </a:rPr>
              <a:t> - 1)*(s2_xi) + (</a:t>
            </a:r>
            <a:r>
              <a:rPr lang="es-ES" dirty="0" err="1">
                <a:latin typeface="Consolas" panose="020B0609020204030204" pitchFamily="49" charset="0"/>
              </a:rPr>
              <a:t>n_y</a:t>
            </a:r>
            <a:r>
              <a:rPr lang="es-ES" dirty="0">
                <a:latin typeface="Consolas" panose="020B0609020204030204" pitchFamily="49" charset="0"/>
              </a:rPr>
              <a:t> - 1)*(s2_yi))/(</a:t>
            </a:r>
            <a:r>
              <a:rPr lang="es-ES" dirty="0" err="1">
                <a:latin typeface="Consolas" panose="020B0609020204030204" pitchFamily="49" charset="0"/>
              </a:rPr>
              <a:t>n_x</a:t>
            </a:r>
            <a:r>
              <a:rPr lang="es-ES" dirty="0">
                <a:latin typeface="Consolas" panose="020B0609020204030204" pitchFamily="49" charset="0"/>
              </a:rPr>
              <a:t> + </a:t>
            </a:r>
            <a:r>
              <a:rPr lang="es-ES" dirty="0" err="1">
                <a:latin typeface="Consolas" panose="020B0609020204030204" pitchFamily="49" charset="0"/>
              </a:rPr>
              <a:t>n_y</a:t>
            </a:r>
            <a:r>
              <a:rPr lang="es-ES" dirty="0">
                <a:latin typeface="Consolas" panose="020B0609020204030204" pitchFamily="49" charset="0"/>
              </a:rPr>
              <a:t> - 2)</a:t>
            </a:r>
          </a:p>
          <a:p>
            <a:pPr marL="0" indent="0">
              <a:buNone/>
            </a:pPr>
            <a:r>
              <a:rPr lang="es-ES" dirty="0">
                <a:latin typeface="Consolas" panose="020B0609020204030204" pitchFamily="49" charset="0"/>
              </a:rPr>
              <a:t>&gt; </a:t>
            </a:r>
            <a:r>
              <a:rPr lang="es-ES" dirty="0" err="1">
                <a:latin typeface="Consolas" panose="020B0609020204030204" pitchFamily="49" charset="0"/>
              </a:rPr>
              <a:t>sa</a:t>
            </a:r>
            <a:r>
              <a:rPr lang="es-ES" dirty="0">
                <a:latin typeface="Consolas" panose="020B0609020204030204" pitchFamily="49" charset="0"/>
              </a:rPr>
              <a:t> &lt;- </a:t>
            </a:r>
            <a:r>
              <a:rPr lang="es-ES" dirty="0" err="1">
                <a:latin typeface="Consolas" panose="020B0609020204030204" pitchFamily="49" charset="0"/>
              </a:rPr>
              <a:t>sqrt</a:t>
            </a:r>
            <a:r>
              <a:rPr lang="es-ES" dirty="0">
                <a:latin typeface="Consolas" panose="020B0609020204030204" pitchFamily="49" charset="0"/>
              </a:rPr>
              <a:t>(sa2)</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t_diff</a:t>
            </a:r>
            <a:r>
              <a:rPr lang="es-ES" dirty="0">
                <a:latin typeface="Consolas" panose="020B0609020204030204" pitchFamily="49" charset="0"/>
              </a:rPr>
              <a:t> &lt;-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y_hat</a:t>
            </a:r>
            <a:r>
              <a:rPr lang="es-ES" dirty="0">
                <a:latin typeface="Consolas" panose="020B0609020204030204" pitchFamily="49" charset="0"/>
              </a:rPr>
              <a:t>)/(</a:t>
            </a:r>
            <a:r>
              <a:rPr lang="es-ES" dirty="0" err="1">
                <a:latin typeface="Consolas" panose="020B0609020204030204" pitchFamily="49" charset="0"/>
              </a:rPr>
              <a:t>sa</a:t>
            </a:r>
            <a:r>
              <a:rPr lang="es-ES" dirty="0">
                <a:latin typeface="Consolas" panose="020B0609020204030204" pitchFamily="49" charset="0"/>
              </a:rPr>
              <a:t>*</a:t>
            </a:r>
            <a:r>
              <a:rPr lang="es-ES" dirty="0" err="1">
                <a:latin typeface="Consolas" panose="020B0609020204030204" pitchFamily="49" charset="0"/>
              </a:rPr>
              <a:t>sqrt</a:t>
            </a:r>
            <a:r>
              <a:rPr lang="es-ES" dirty="0">
                <a:latin typeface="Consolas" panose="020B0609020204030204" pitchFamily="49" charset="0"/>
              </a:rPr>
              <a:t>((1/</a:t>
            </a:r>
            <a:r>
              <a:rPr lang="es-ES" dirty="0" err="1">
                <a:latin typeface="Consolas" panose="020B0609020204030204" pitchFamily="49" charset="0"/>
              </a:rPr>
              <a:t>n_x</a:t>
            </a:r>
            <a:r>
              <a:rPr lang="es-ES" dirty="0">
                <a:latin typeface="Consolas" panose="020B0609020204030204" pitchFamily="49" charset="0"/>
              </a:rPr>
              <a:t>)+(1/</a:t>
            </a:r>
            <a:r>
              <a:rPr lang="es-ES" dirty="0" err="1">
                <a:latin typeface="Consolas" panose="020B0609020204030204" pitchFamily="49" charset="0"/>
              </a:rPr>
              <a:t>n_y</a:t>
            </a:r>
            <a:r>
              <a:rPr lang="es-ES" dirty="0">
                <a:latin typeface="Consolas" panose="020B0609020204030204" pitchFamily="49" charset="0"/>
              </a:rPr>
              <a:t>)))</a:t>
            </a:r>
          </a:p>
          <a:p>
            <a:pPr marL="0" indent="0">
              <a:buNone/>
            </a:pPr>
            <a:r>
              <a:rPr lang="es-ES" dirty="0">
                <a:latin typeface="Consolas" panose="020B0609020204030204" pitchFamily="49" charset="0"/>
              </a:rPr>
              <a:t>&gt; </a:t>
            </a:r>
            <a:r>
              <a:rPr lang="es-ES" dirty="0" err="1">
                <a:latin typeface="Consolas" panose="020B0609020204030204" pitchFamily="49" charset="0"/>
              </a:rPr>
              <a:t>t_diff</a:t>
            </a:r>
            <a:endParaRPr lang="es-ES" dirty="0">
              <a:latin typeface="Consolas" panose="020B0609020204030204" pitchFamily="49" charset="0"/>
            </a:endParaRPr>
          </a:p>
          <a:p>
            <a:pPr marL="0" indent="0">
              <a:buNone/>
            </a:pPr>
            <a:r>
              <a:rPr lang="es-ES" dirty="0">
                <a:latin typeface="Consolas" panose="020B0609020204030204" pitchFamily="49" charset="0"/>
              </a:rPr>
              <a:t>[1] 3.369177</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pt(</a:t>
            </a:r>
            <a:r>
              <a:rPr lang="es-ES" dirty="0" err="1">
                <a:latin typeface="Consolas" panose="020B0609020204030204" pitchFamily="49" charset="0"/>
              </a:rPr>
              <a:t>t_diff</a:t>
            </a:r>
            <a:r>
              <a:rPr lang="es-ES" dirty="0">
                <a:latin typeface="Consolas" panose="020B0609020204030204" pitchFamily="49" charset="0"/>
              </a:rPr>
              <a:t>, </a:t>
            </a:r>
            <a:r>
              <a:rPr lang="es-ES" dirty="0" err="1">
                <a:latin typeface="Consolas" panose="020B0609020204030204" pitchFamily="49" charset="0"/>
              </a:rPr>
              <a:t>df</a:t>
            </a:r>
            <a:r>
              <a:rPr lang="es-ES" dirty="0">
                <a:latin typeface="Consolas" panose="020B0609020204030204" pitchFamily="49" charset="0"/>
              </a:rPr>
              <a:t> = </a:t>
            </a:r>
            <a:r>
              <a:rPr lang="es-ES" dirty="0" err="1">
                <a:latin typeface="Consolas" panose="020B0609020204030204" pitchFamily="49" charset="0"/>
              </a:rPr>
              <a:t>n_x</a:t>
            </a:r>
            <a:r>
              <a:rPr lang="es-ES" dirty="0">
                <a:latin typeface="Consolas" panose="020B0609020204030204" pitchFamily="49" charset="0"/>
              </a:rPr>
              <a:t> + </a:t>
            </a:r>
            <a:r>
              <a:rPr lang="es-ES" dirty="0" err="1">
                <a:latin typeface="Consolas" panose="020B0609020204030204" pitchFamily="49" charset="0"/>
              </a:rPr>
              <a:t>n_y</a:t>
            </a:r>
            <a:r>
              <a:rPr lang="es-ES" dirty="0">
                <a:latin typeface="Consolas" panose="020B0609020204030204" pitchFamily="49" charset="0"/>
              </a:rPr>
              <a:t> - 2, </a:t>
            </a:r>
            <a:r>
              <a:rPr lang="es-ES" dirty="0" err="1">
                <a:latin typeface="Consolas" panose="020B0609020204030204" pitchFamily="49" charset="0"/>
              </a:rPr>
              <a:t>lower.tail</a:t>
            </a:r>
            <a:r>
              <a:rPr lang="es-ES" dirty="0">
                <a:latin typeface="Consolas" panose="020B0609020204030204" pitchFamily="49" charset="0"/>
              </a:rPr>
              <a:t> = FALSE)*2</a:t>
            </a:r>
          </a:p>
          <a:p>
            <a:pPr marL="0" indent="0">
              <a:buNone/>
            </a:pPr>
            <a:r>
              <a:rPr lang="es-ES" dirty="0">
                <a:latin typeface="Consolas" panose="020B0609020204030204" pitchFamily="49" charset="0"/>
              </a:rPr>
              <a:t>&gt; </a:t>
            </a:r>
            <a:r>
              <a:rPr lang="es-ES" dirty="0" err="1">
                <a:latin typeface="Consolas" panose="020B0609020204030204" pitchFamily="49" charset="0"/>
              </a:rPr>
              <a:t>p_valor</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0.002211293</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a</a:t>
            </a:r>
          </a:p>
          <a:p>
            <a:pPr marL="0" indent="0">
              <a:buNone/>
            </a:pPr>
            <a:r>
              <a:rPr lang="es-ES" dirty="0">
                <a:highlight>
                  <a:srgbClr val="FFFF00"/>
                </a:highlight>
                <a:latin typeface="Consolas" panose="020B0609020204030204" pitchFamily="49" charset="0"/>
              </a:rPr>
              <a:t>[1] TRUE</a:t>
            </a:r>
          </a:p>
        </p:txBody>
      </p:sp>
    </p:spTree>
    <p:extLst>
      <p:ext uri="{BB962C8B-B14F-4D97-AF65-F5344CB8AC3E}">
        <p14:creationId xmlns:p14="http://schemas.microsoft.com/office/powerpoint/2010/main" val="682443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diferencia de medias poblacionales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10000"/>
              </a:bodyPr>
              <a:lstStyle/>
              <a:p>
                <a:pPr marL="514350" indent="-514350">
                  <a:lnSpc>
                    <a:spcPct val="150000"/>
                  </a:lnSpc>
                  <a:buFont typeface="+mj-lt"/>
                  <a:buAutoNum type="alphaLcParenR" startAt="3"/>
                </a:pPr>
                <a:r>
                  <a:rPr lang="es-419" sz="1800" dirty="0"/>
                  <a:t>Con varianzas poblacionales </a:t>
                </a:r>
                <a:r>
                  <a:rPr lang="es-419" sz="1800" b="1" dirty="0">
                    <a:solidFill>
                      <a:srgbClr val="003A5D"/>
                    </a:solidFill>
                  </a:rPr>
                  <a:t>desconocidas </a:t>
                </a:r>
                <a:r>
                  <a:rPr lang="es-419" sz="1800" dirty="0"/>
                  <a:t>y</a:t>
                </a:r>
                <a:r>
                  <a:rPr lang="es-419" sz="1800" b="1" dirty="0">
                    <a:solidFill>
                      <a:srgbClr val="003A5D"/>
                    </a:solidFill>
                  </a:rPr>
                  <a:t> diferentes </a:t>
                </a:r>
                <a:r>
                  <a:rPr lang="es-419" sz="1800" dirty="0"/>
                  <a:t>(empelando varianzas muestrales insesgadas).</a:t>
                </a:r>
              </a:p>
              <a:p>
                <a:pPr>
                  <a:lnSpc>
                    <a:spcPct val="150000"/>
                  </a:lnSpc>
                </a:pPr>
                <a:r>
                  <a:rPr lang="es-419" sz="1800" dirty="0"/>
                  <a:t>Planteamos un contraste de hipótesis genérico:</a:t>
                </a:r>
              </a:p>
              <a:p>
                <a:pPr>
                  <a:lnSpc>
                    <a:spcPct val="150000"/>
                  </a:lnSpc>
                </a:pPr>
                <a14:m>
                  <m:oMath xmlns:m="http://schemas.openxmlformats.org/officeDocument/2006/math">
                    <m:sSub>
                      <m:sSubPr>
                        <m:ctrlPr>
                          <a:rPr lang="es-419" sz="1800" i="1" smtClean="0">
                            <a:latin typeface="Cambria Math" panose="02040503050406030204" pitchFamily="18" charset="0"/>
                          </a:rPr>
                        </m:ctrlPr>
                      </m:sSubPr>
                      <m:e>
                        <m:r>
                          <a:rPr lang="es-419" sz="1800" i="1">
                            <a:latin typeface="Cambria Math" panose="02040503050406030204" pitchFamily="18" charset="0"/>
                          </a:rPr>
                          <m:t>𝐻</m:t>
                        </m:r>
                      </m:e>
                      <m:sub>
                        <m:r>
                          <a:rPr lang="es-419" sz="1800" i="1">
                            <a:latin typeface="Cambria Math" panose="02040503050406030204" pitchFamily="18" charset="0"/>
                          </a:rPr>
                          <m:t>0</m:t>
                        </m:r>
                      </m:sub>
                    </m:sSub>
                    <m:r>
                      <a:rPr lang="es-419" sz="1800" i="1">
                        <a:latin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𝑥</m:t>
                        </m:r>
                      </m:sub>
                    </m:sSub>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b="0" i="1" smtClean="0">
                            <a:latin typeface="Cambria Math" panose="02040503050406030204" pitchFamily="18" charset="0"/>
                            <a:ea typeface="Cambria Math" panose="02040503050406030204" pitchFamily="18" charset="0"/>
                          </a:rPr>
                          <m:t>𝑦</m:t>
                        </m:r>
                      </m:sub>
                    </m:sSub>
                    <m:r>
                      <a:rPr lang="es-419" sz="180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𝑥</m:t>
                        </m:r>
                      </m:sub>
                    </m:sSub>
                    <m:r>
                      <a:rPr lang="es-419" sz="1800" b="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b="0" i="1" smtClean="0">
                        <a:latin typeface="Cambria Math" panose="02040503050406030204" pitchFamily="18" charset="0"/>
                        <a:ea typeface="Cambria Math" panose="02040503050406030204" pitchFamily="18" charset="0"/>
                      </a:rPr>
                      <m:t>=0</m:t>
                    </m:r>
                  </m:oMath>
                </a14:m>
                <a:endParaRPr lang="es-419" sz="1800" i="1" dirty="0">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sSub>
                      <m:sSubPr>
                        <m:ctrlPr>
                          <a:rPr lang="es-419" sz="1800" i="1">
                            <a:latin typeface="Cambria Math" panose="02040503050406030204" pitchFamily="18" charset="0"/>
                          </a:rPr>
                        </m:ctrlPr>
                      </m:sSubPr>
                      <m:e>
                        <m:r>
                          <a:rPr lang="es-419" sz="1800" i="1">
                            <a:latin typeface="Cambria Math" panose="02040503050406030204" pitchFamily="18" charset="0"/>
                          </a:rPr>
                          <m:t>𝐻</m:t>
                        </m:r>
                      </m:e>
                      <m:sub>
                        <m:r>
                          <a:rPr lang="es-419" sz="1800" i="1">
                            <a:latin typeface="Cambria Math" panose="02040503050406030204" pitchFamily="18" charset="0"/>
                          </a:rPr>
                          <m:t>1</m:t>
                        </m:r>
                      </m:sub>
                    </m:sSub>
                    <m:r>
                      <a:rPr lang="es-419" sz="1800" i="1">
                        <a:latin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𝑥</m:t>
                        </m:r>
                      </m:sub>
                    </m:sSub>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i="1" smtClean="0">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𝑥</m:t>
                        </m:r>
                      </m:sub>
                    </m:sSub>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i="1">
                        <a:latin typeface="Cambria Math" panose="02040503050406030204" pitchFamily="18" charset="0"/>
                        <a:ea typeface="Cambria Math" panose="02040503050406030204" pitchFamily="18" charset="0"/>
                      </a:rPr>
                      <m:t>≠0</m:t>
                    </m:r>
                  </m:oMath>
                </a14:m>
                <a:endParaRPr lang="es-419" sz="1800" dirty="0"/>
              </a:p>
              <a:p>
                <a:pPr>
                  <a:lnSpc>
                    <a:spcPct val="150000"/>
                  </a:lnSpc>
                </a:pPr>
                <a:r>
                  <a:rPr lang="es-419" sz="1800" dirty="0"/>
                  <a:t>Construimos el estadístico de prueba:</a:t>
                </a:r>
              </a:p>
              <a:p>
                <a:pPr marL="0" indent="0">
                  <a:lnSpc>
                    <a:spcPct val="120000"/>
                  </a:lnSpc>
                  <a:buNone/>
                </a:pPr>
                <a14:m>
                  <m:oMathPara xmlns:m="http://schemas.openxmlformats.org/officeDocument/2006/math">
                    <m:oMathParaPr>
                      <m:jc m:val="centerGroup"/>
                    </m:oMathParaPr>
                    <m:oMath xmlns:m="http://schemas.openxmlformats.org/officeDocument/2006/math">
                      <m:r>
                        <a:rPr lang="es-419" sz="1800" i="1">
                          <a:latin typeface="Cambria Math" panose="02040503050406030204" pitchFamily="18" charset="0"/>
                        </a:rPr>
                        <m:t>𝑡</m:t>
                      </m:r>
                      <m:r>
                        <a:rPr lang="es-419" sz="1800" i="1">
                          <a:latin typeface="Cambria Math" panose="02040503050406030204" pitchFamily="18" charset="0"/>
                        </a:rPr>
                        <m:t>=</m:t>
                      </m:r>
                      <m:f>
                        <m:fPr>
                          <m:ctrlPr>
                            <a:rPr lang="es-419" sz="1800" i="1">
                              <a:latin typeface="Cambria Math" panose="02040503050406030204" pitchFamily="18" charset="0"/>
                            </a:rPr>
                          </m:ctrlPr>
                        </m:fPr>
                        <m:num>
                          <m:d>
                            <m:dPr>
                              <m:ctrlPr>
                                <a:rPr lang="es-419" sz="1800" i="1">
                                  <a:latin typeface="Cambria Math" panose="02040503050406030204" pitchFamily="18" charset="0"/>
                                </a:rPr>
                              </m:ctrlPr>
                            </m:dPr>
                            <m:e>
                              <m:acc>
                                <m:accPr>
                                  <m:chr m:val="̅"/>
                                  <m:ctrlPr>
                                    <a:rPr lang="es-419" sz="1800" i="1">
                                      <a:latin typeface="Cambria Math" panose="02040503050406030204" pitchFamily="18" charset="0"/>
                                    </a:rPr>
                                  </m:ctrlPr>
                                </m:accPr>
                                <m:e>
                                  <m:r>
                                    <a:rPr lang="es-419" sz="1800" i="1">
                                      <a:latin typeface="Cambria Math" panose="02040503050406030204" pitchFamily="18" charset="0"/>
                                    </a:rPr>
                                    <m:t>𝑋</m:t>
                                  </m:r>
                                </m:e>
                              </m:acc>
                              <m:r>
                                <a:rPr lang="es-419" sz="1800" i="1">
                                  <a:latin typeface="Cambria Math" panose="02040503050406030204" pitchFamily="18" charset="0"/>
                                </a:rPr>
                                <m:t>−</m:t>
                              </m:r>
                              <m:acc>
                                <m:accPr>
                                  <m:chr m:val="̅"/>
                                  <m:ctrlPr>
                                    <a:rPr lang="es-419" sz="1800" i="1">
                                      <a:latin typeface="Cambria Math" panose="02040503050406030204" pitchFamily="18" charset="0"/>
                                    </a:rPr>
                                  </m:ctrlPr>
                                </m:accPr>
                                <m:e>
                                  <m:r>
                                    <a:rPr lang="es-419" sz="1800" i="1">
                                      <a:latin typeface="Cambria Math" panose="02040503050406030204" pitchFamily="18" charset="0"/>
                                    </a:rPr>
                                    <m:t>𝑌</m:t>
                                  </m:r>
                                </m:e>
                              </m:acc>
                            </m:e>
                          </m:d>
                          <m:r>
                            <a:rPr lang="es-419" sz="1800" i="1">
                              <a:latin typeface="Cambria Math" panose="02040503050406030204" pitchFamily="18" charset="0"/>
                            </a:rPr>
                            <m:t>−(</m:t>
                          </m:r>
                          <m:sSub>
                            <m:sSubPr>
                              <m:ctrlPr>
                                <a:rPr lang="es-419" sz="1800" i="1">
                                  <a:latin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rPr>
                                <m:t>𝑥</m:t>
                              </m:r>
                            </m:sub>
                          </m:sSub>
                          <m:r>
                            <a:rPr lang="es-419" sz="1800">
                              <a:latin typeface="Cambria Math" panose="02040503050406030204" pitchFamily="18" charset="0"/>
                            </a:rPr>
                            <m:t>−</m:t>
                          </m:r>
                          <m:sSub>
                            <m:sSubPr>
                              <m:ctrlPr>
                                <a:rPr lang="es-419" sz="1800" i="1">
                                  <a:latin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𝜇</m:t>
                              </m:r>
                            </m:e>
                            <m:sub>
                              <m:r>
                                <a:rPr lang="es-419" sz="1800" i="1">
                                  <a:latin typeface="Cambria Math" panose="02040503050406030204" pitchFamily="18" charset="0"/>
                                  <a:ea typeface="Cambria Math" panose="02040503050406030204" pitchFamily="18" charset="0"/>
                                </a:rPr>
                                <m:t>𝑦</m:t>
                              </m:r>
                            </m:sub>
                          </m:sSub>
                          <m:r>
                            <a:rPr lang="es-419" sz="1800" i="1">
                              <a:latin typeface="Cambria Math" panose="02040503050406030204" pitchFamily="18" charset="0"/>
                            </a:rPr>
                            <m:t>)</m:t>
                          </m:r>
                        </m:num>
                        <m:den>
                          <m:rad>
                            <m:radPr>
                              <m:degHide m:val="on"/>
                              <m:ctrlPr>
                                <a:rPr lang="es-419" sz="1800" i="1">
                                  <a:latin typeface="Cambria Math" panose="02040503050406030204" pitchFamily="18" charset="0"/>
                                </a:rPr>
                              </m:ctrlPr>
                            </m:radPr>
                            <m:deg/>
                            <m:e>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rPr>
                                        <m:t>𝑥</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den>
                              </m:f>
                              <m:r>
                                <m:rPr>
                                  <m:nor/>
                                </m:rPr>
                                <a:rPr lang="es-419" sz="1800" dirty="0"/>
                                <m:t>+ </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ea typeface="Cambria Math" panose="02040503050406030204" pitchFamily="18" charset="0"/>
                                        </a:rPr>
                                        <m:t>𝑦</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den>
                              </m:f>
                            </m:e>
                          </m:rad>
                        </m:den>
                      </m:f>
                      <m:r>
                        <a:rPr lang="es-419" sz="1800" i="1">
                          <a:latin typeface="Cambria Math" panose="02040503050406030204" pitchFamily="18" charset="0"/>
                        </a:rPr>
                        <m:t>=</m:t>
                      </m:r>
                      <m:f>
                        <m:fPr>
                          <m:ctrlPr>
                            <a:rPr lang="es-419" sz="1800" i="1">
                              <a:latin typeface="Cambria Math" panose="02040503050406030204" pitchFamily="18" charset="0"/>
                            </a:rPr>
                          </m:ctrlPr>
                        </m:fPr>
                        <m:num>
                          <m:d>
                            <m:dPr>
                              <m:ctrlPr>
                                <a:rPr lang="es-419" sz="1800" i="1">
                                  <a:latin typeface="Cambria Math" panose="02040503050406030204" pitchFamily="18" charset="0"/>
                                </a:rPr>
                              </m:ctrlPr>
                            </m:dPr>
                            <m:e>
                              <m:acc>
                                <m:accPr>
                                  <m:chr m:val="̅"/>
                                  <m:ctrlPr>
                                    <a:rPr lang="es-419" sz="1800" i="1">
                                      <a:latin typeface="Cambria Math" panose="02040503050406030204" pitchFamily="18" charset="0"/>
                                    </a:rPr>
                                  </m:ctrlPr>
                                </m:accPr>
                                <m:e>
                                  <m:r>
                                    <a:rPr lang="es-419" sz="1800" i="1">
                                      <a:latin typeface="Cambria Math" panose="02040503050406030204" pitchFamily="18" charset="0"/>
                                    </a:rPr>
                                    <m:t>𝑋</m:t>
                                  </m:r>
                                </m:e>
                              </m:acc>
                              <m:r>
                                <a:rPr lang="es-419" sz="1800" i="1">
                                  <a:latin typeface="Cambria Math" panose="02040503050406030204" pitchFamily="18" charset="0"/>
                                </a:rPr>
                                <m:t>−</m:t>
                              </m:r>
                              <m:acc>
                                <m:accPr>
                                  <m:chr m:val="̅"/>
                                  <m:ctrlPr>
                                    <a:rPr lang="es-419" sz="1800" i="1">
                                      <a:latin typeface="Cambria Math" panose="02040503050406030204" pitchFamily="18" charset="0"/>
                                    </a:rPr>
                                  </m:ctrlPr>
                                </m:accPr>
                                <m:e>
                                  <m:r>
                                    <a:rPr lang="es-419" sz="1800" i="1">
                                      <a:latin typeface="Cambria Math" panose="02040503050406030204" pitchFamily="18" charset="0"/>
                                    </a:rPr>
                                    <m:t>𝑌</m:t>
                                  </m:r>
                                </m:e>
                              </m:acc>
                            </m:e>
                          </m:d>
                        </m:num>
                        <m:den>
                          <m:rad>
                            <m:radPr>
                              <m:degHide m:val="on"/>
                              <m:ctrlPr>
                                <a:rPr lang="es-419" sz="1800" i="1">
                                  <a:latin typeface="Cambria Math" panose="02040503050406030204" pitchFamily="18" charset="0"/>
                                </a:rPr>
                              </m:ctrlPr>
                            </m:radPr>
                            <m:deg/>
                            <m:e>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rPr>
                                        <m:t>𝑥</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den>
                              </m:f>
                              <m:r>
                                <m:rPr>
                                  <m:nor/>
                                </m:rPr>
                                <a:rPr lang="es-419" sz="1800" dirty="0"/>
                                <m:t>+ </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ea typeface="Cambria Math" panose="02040503050406030204" pitchFamily="18" charset="0"/>
                                        </a:rPr>
                                        <m:t>𝑦</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den>
                              </m:f>
                            </m:e>
                          </m:rad>
                        </m:den>
                      </m:f>
                      <m:r>
                        <a:rPr lang="es-419" sz="1800" i="1">
                          <a:latin typeface="Cambria Math" panose="02040503050406030204" pitchFamily="18" charset="0"/>
                          <a:ea typeface="Cambria Math" panose="02040503050406030204" pitchFamily="18" charset="0"/>
                        </a:rPr>
                        <m:t>~</m:t>
                      </m:r>
                      <m:sSub>
                        <m:sSubPr>
                          <m:ctrlPr>
                            <a:rPr lang="es-419" sz="1800" i="1">
                              <a:latin typeface="Cambria Math" panose="02040503050406030204" pitchFamily="18" charset="0"/>
                              <a:ea typeface="Cambria Math" panose="02040503050406030204" pitchFamily="18" charset="0"/>
                            </a:rPr>
                          </m:ctrlPr>
                        </m:sSubPr>
                        <m:e>
                          <m:r>
                            <a:rPr lang="es-419" sz="1800" i="1">
                              <a:latin typeface="Cambria Math" panose="02040503050406030204" pitchFamily="18" charset="0"/>
                              <a:ea typeface="Cambria Math" panose="02040503050406030204" pitchFamily="18" charset="0"/>
                            </a:rPr>
                            <m:t>𝑡</m:t>
                          </m:r>
                        </m:e>
                        <m:sub>
                          <m:r>
                            <a:rPr lang="es-419" sz="1800" i="1">
                              <a:latin typeface="Cambria Math" panose="02040503050406030204" pitchFamily="18" charset="0"/>
                              <a:ea typeface="Cambria Math" panose="02040503050406030204" pitchFamily="18" charset="0"/>
                            </a:rPr>
                            <m:t>𝑣</m:t>
                          </m:r>
                        </m:sub>
                      </m:sSub>
                      <m:r>
                        <a:rPr lang="es-419" sz="1800" i="1">
                          <a:latin typeface="Cambria Math" panose="02040503050406030204" pitchFamily="18" charset="0"/>
                          <a:ea typeface="Cambria Math" panose="02040503050406030204" pitchFamily="18" charset="0"/>
                        </a:rPr>
                        <m:t>;</m:t>
                      </m:r>
                      <m:r>
                        <a:rPr lang="es-419" sz="1800" i="1">
                          <a:latin typeface="Cambria Math" panose="02040503050406030204" pitchFamily="18" charset="0"/>
                          <a:ea typeface="Cambria Math" panose="02040503050406030204" pitchFamily="18" charset="0"/>
                        </a:rPr>
                        <m:t>𝑐𝑜𝑛</m:t>
                      </m:r>
                      <m:r>
                        <a:rPr lang="es-419" sz="1800" i="1">
                          <a:latin typeface="Cambria Math" panose="02040503050406030204" pitchFamily="18" charset="0"/>
                          <a:ea typeface="Cambria Math" panose="02040503050406030204" pitchFamily="18" charset="0"/>
                        </a:rPr>
                        <m:t> </m:t>
                      </m:r>
                      <m:r>
                        <a:rPr lang="es-419" sz="1800" i="1">
                          <a:latin typeface="Cambria Math" panose="02040503050406030204" pitchFamily="18" charset="0"/>
                        </a:rPr>
                        <m:t>𝑣</m:t>
                      </m:r>
                      <m:r>
                        <a:rPr lang="es-419" sz="1800" i="1">
                          <a:latin typeface="Cambria Math" panose="02040503050406030204" pitchFamily="18" charset="0"/>
                        </a:rPr>
                        <m:t>=</m:t>
                      </m:r>
                      <m:f>
                        <m:fPr>
                          <m:ctrlPr>
                            <a:rPr lang="es-419" sz="1800" i="1">
                              <a:latin typeface="Cambria Math" panose="02040503050406030204" pitchFamily="18" charset="0"/>
                            </a:rPr>
                          </m:ctrlPr>
                        </m:fPr>
                        <m:num>
                          <m:sSup>
                            <m:sSupPr>
                              <m:ctrlPr>
                                <a:rPr lang="es-419" sz="1800" i="1">
                                  <a:latin typeface="Cambria Math" panose="02040503050406030204" pitchFamily="18" charset="0"/>
                                </a:rPr>
                              </m:ctrlPr>
                            </m:sSupPr>
                            <m:e>
                              <m:r>
                                <a:rPr lang="es-419" sz="1800" i="1">
                                  <a:latin typeface="Cambria Math" panose="02040503050406030204" pitchFamily="18" charset="0"/>
                                </a:rPr>
                                <m:t>(</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rPr>
                                        <m:t>𝑥</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den>
                              </m:f>
                              <m:r>
                                <m:rPr>
                                  <m:nor/>
                                </m:rPr>
                                <a:rPr lang="es-419" sz="1800" dirty="0"/>
                                <m:t>+ </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ea typeface="Cambria Math" panose="02040503050406030204" pitchFamily="18" charset="0"/>
                                        </a:rPr>
                                        <m:t>𝑦</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den>
                              </m:f>
                              <m:r>
                                <a:rPr lang="es-419" sz="1800" i="1">
                                  <a:latin typeface="Cambria Math" panose="02040503050406030204" pitchFamily="18" charset="0"/>
                                </a:rPr>
                                <m:t>)</m:t>
                              </m:r>
                            </m:e>
                            <m:sup>
                              <m:r>
                                <a:rPr lang="es-419" sz="1800" i="1">
                                  <a:latin typeface="Cambria Math" panose="02040503050406030204" pitchFamily="18" charset="0"/>
                                </a:rPr>
                                <m:t>2</m:t>
                              </m:r>
                            </m:sup>
                          </m:sSup>
                        </m:num>
                        <m:den>
                          <m:f>
                            <m:fPr>
                              <m:ctrlPr>
                                <a:rPr lang="es-419" sz="1800" i="1">
                                  <a:latin typeface="Cambria Math" panose="02040503050406030204" pitchFamily="18" charset="0"/>
                                </a:rPr>
                              </m:ctrlPr>
                            </m:fPr>
                            <m:num>
                              <m:sSup>
                                <m:sSupPr>
                                  <m:ctrlPr>
                                    <a:rPr lang="es-419" sz="1800" i="1">
                                      <a:latin typeface="Cambria Math" panose="02040503050406030204" pitchFamily="18" charset="0"/>
                                    </a:rPr>
                                  </m:ctrlPr>
                                </m:sSupPr>
                                <m:e>
                                  <m:r>
                                    <a:rPr lang="es-419" sz="1800" i="1">
                                      <a:latin typeface="Cambria Math" panose="02040503050406030204" pitchFamily="18" charset="0"/>
                                    </a:rPr>
                                    <m:t>(</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rPr>
                                            <m:t>𝑥</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den>
                                  </m:f>
                                  <m:r>
                                    <a:rPr lang="es-419" sz="1800" i="1">
                                      <a:latin typeface="Cambria Math" panose="02040503050406030204" pitchFamily="18" charset="0"/>
                                    </a:rPr>
                                    <m:t>)</m:t>
                                  </m:r>
                                </m:e>
                                <m:sup>
                                  <m:r>
                                    <a:rPr lang="es-419" sz="1800" i="1">
                                      <a:latin typeface="Cambria Math" panose="02040503050406030204" pitchFamily="18" charset="0"/>
                                    </a:rPr>
                                    <m:t>2</m:t>
                                  </m:r>
                                </m:sup>
                              </m:s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𝑥</m:t>
                                  </m:r>
                                </m:sub>
                              </m:sSub>
                              <m:r>
                                <a:rPr lang="es-419" sz="1800" i="1">
                                  <a:latin typeface="Cambria Math" panose="02040503050406030204" pitchFamily="18" charset="0"/>
                                </a:rPr>
                                <m:t>−1</m:t>
                              </m:r>
                            </m:den>
                          </m:f>
                          <m:r>
                            <a:rPr lang="es-419" sz="1800" i="1">
                              <a:latin typeface="Cambria Math" panose="02040503050406030204" pitchFamily="18" charset="0"/>
                            </a:rPr>
                            <m:t>+</m:t>
                          </m:r>
                          <m:f>
                            <m:fPr>
                              <m:ctrlPr>
                                <a:rPr lang="es-419" sz="1800" i="1">
                                  <a:latin typeface="Cambria Math" panose="02040503050406030204" pitchFamily="18" charset="0"/>
                                </a:rPr>
                              </m:ctrlPr>
                            </m:fPr>
                            <m:num>
                              <m:sSup>
                                <m:sSupPr>
                                  <m:ctrlPr>
                                    <a:rPr lang="es-419" sz="1800" i="1">
                                      <a:latin typeface="Cambria Math" panose="02040503050406030204" pitchFamily="18" charset="0"/>
                                    </a:rPr>
                                  </m:ctrlPr>
                                </m:sSupPr>
                                <m:e>
                                  <m:r>
                                    <a:rPr lang="es-419" sz="1800" i="1">
                                      <a:latin typeface="Cambria Math" panose="02040503050406030204" pitchFamily="18" charset="0"/>
                                    </a:rPr>
                                    <m:t>(</m:t>
                                  </m:r>
                                  <m:f>
                                    <m:fPr>
                                      <m:ctrlPr>
                                        <a:rPr lang="es-419" sz="1800" i="1">
                                          <a:latin typeface="Cambria Math" panose="02040503050406030204" pitchFamily="18" charset="0"/>
                                        </a:rPr>
                                      </m:ctrlPr>
                                    </m:fPr>
                                    <m:num>
                                      <m:sSubSup>
                                        <m:sSubSupPr>
                                          <m:ctrlPr>
                                            <a:rPr lang="es-419" sz="1800" i="1">
                                              <a:latin typeface="Cambria Math" panose="02040503050406030204" pitchFamily="18" charset="0"/>
                                            </a:rPr>
                                          </m:ctrlPr>
                                        </m:sSubSupPr>
                                        <m:e>
                                          <m:r>
                                            <a:rPr lang="es-419" sz="1800" i="1">
                                              <a:latin typeface="Cambria Math" panose="02040503050406030204" pitchFamily="18" charset="0"/>
                                            </a:rPr>
                                            <m:t>𝑆</m:t>
                                          </m:r>
                                        </m:e>
                                        <m:sub>
                                          <m:r>
                                            <a:rPr lang="es-419" sz="1800" i="1">
                                              <a:latin typeface="Cambria Math" panose="02040503050406030204" pitchFamily="18" charset="0"/>
                                            </a:rPr>
                                            <m:t>𝑦</m:t>
                                          </m:r>
                                        </m:sub>
                                        <m:sup>
                                          <m:r>
                                            <a:rPr lang="es-419" sz="1800" i="1">
                                              <a:latin typeface="Cambria Math" panose="02040503050406030204" pitchFamily="18" charset="0"/>
                                            </a:rPr>
                                            <m:t>2</m:t>
                                          </m:r>
                                        </m:sup>
                                      </m:sSub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den>
                                  </m:f>
                                  <m:r>
                                    <a:rPr lang="es-419" sz="1800" i="1">
                                      <a:latin typeface="Cambria Math" panose="02040503050406030204" pitchFamily="18" charset="0"/>
                                    </a:rPr>
                                    <m:t>)</m:t>
                                  </m:r>
                                </m:e>
                                <m:sup>
                                  <m:r>
                                    <a:rPr lang="es-419" sz="1800" i="1">
                                      <a:latin typeface="Cambria Math" panose="02040503050406030204" pitchFamily="18" charset="0"/>
                                    </a:rPr>
                                    <m:t>2</m:t>
                                  </m:r>
                                </m:sup>
                              </m:sSup>
                            </m:num>
                            <m:den>
                              <m:sSub>
                                <m:sSubPr>
                                  <m:ctrlPr>
                                    <a:rPr lang="es-419" sz="1800" i="1">
                                      <a:latin typeface="Cambria Math" panose="02040503050406030204" pitchFamily="18" charset="0"/>
                                    </a:rPr>
                                  </m:ctrlPr>
                                </m:sSubPr>
                                <m:e>
                                  <m:r>
                                    <a:rPr lang="es-419" sz="1800" i="1">
                                      <a:latin typeface="Cambria Math" panose="02040503050406030204" pitchFamily="18" charset="0"/>
                                    </a:rPr>
                                    <m:t>𝑛</m:t>
                                  </m:r>
                                </m:e>
                                <m:sub>
                                  <m:r>
                                    <a:rPr lang="es-419" sz="1800" i="1">
                                      <a:latin typeface="Cambria Math" panose="02040503050406030204" pitchFamily="18" charset="0"/>
                                    </a:rPr>
                                    <m:t>𝑦</m:t>
                                  </m:r>
                                </m:sub>
                              </m:sSub>
                              <m:r>
                                <a:rPr lang="es-419" sz="1800" i="1">
                                  <a:latin typeface="Cambria Math" panose="02040503050406030204" pitchFamily="18" charset="0"/>
                                </a:rPr>
                                <m:t>−1</m:t>
                              </m:r>
                            </m:den>
                          </m:f>
                        </m:den>
                      </m:f>
                    </m:oMath>
                  </m:oMathPara>
                </a14:m>
                <a:endParaRPr lang="es-419" sz="1800" dirty="0">
                  <a:ea typeface="Cambria Math" panose="02040503050406030204" pitchFamily="18" charset="0"/>
                </a:endParaRPr>
              </a:p>
              <a:p>
                <a:pPr>
                  <a:lnSpc>
                    <a:spcPct val="120000"/>
                  </a:lnSpc>
                </a:pPr>
                <a:r>
                  <a:rPr lang="es-419" sz="1800" dirty="0"/>
                  <a:t>Se distribuye como una </a:t>
                </a:r>
                <a:r>
                  <a:rPr lang="es-419" sz="1800" b="1" dirty="0">
                    <a:solidFill>
                      <a:srgbClr val="003A5D"/>
                    </a:solidFill>
                  </a:rPr>
                  <a:t>T-</a:t>
                </a:r>
                <a:r>
                  <a:rPr lang="es-419" sz="1800" b="1" dirty="0" err="1">
                    <a:solidFill>
                      <a:srgbClr val="003A5D"/>
                    </a:solidFill>
                  </a:rPr>
                  <a:t>Student</a:t>
                </a:r>
                <a:r>
                  <a:rPr lang="es-419" sz="1800" dirty="0"/>
                  <a:t> con </a:t>
                </a:r>
                <a:r>
                  <a:rPr lang="es-419" sz="1800" i="1" dirty="0"/>
                  <a:t>v</a:t>
                </a:r>
                <a:r>
                  <a:rPr lang="es-419" sz="1800" dirty="0"/>
                  <a:t> </a:t>
                </a:r>
                <a:r>
                  <a:rPr lang="es-419" sz="1800" b="1" dirty="0">
                    <a:solidFill>
                      <a:srgbClr val="003A5D"/>
                    </a:solidFill>
                  </a:rPr>
                  <a:t>grados de libertad</a:t>
                </a:r>
                <a:r>
                  <a:rPr lang="es-419" sz="1800" dirty="0"/>
                  <a:t>.</a:t>
                </a:r>
              </a:p>
              <a:p>
                <a:pPr>
                  <a:lnSpc>
                    <a:spcPct val="120000"/>
                  </a:lnSpc>
                </a:pPr>
                <a:r>
                  <a:rPr lang="es-419" sz="1800" dirty="0"/>
                  <a:t>En </a:t>
                </a:r>
                <a:r>
                  <a:rPr lang="es-419" sz="1800" b="1" dirty="0">
                    <a:solidFill>
                      <a:srgbClr val="003A5D"/>
                    </a:solidFill>
                  </a:rPr>
                  <a:t>R</a:t>
                </a:r>
                <a:r>
                  <a:rPr lang="es-419" sz="1800" dirty="0"/>
                  <a:t> se emplea la función </a:t>
                </a:r>
                <a:r>
                  <a:rPr lang="es-419" sz="1800" dirty="0" err="1">
                    <a:solidFill>
                      <a:srgbClr val="003A5D"/>
                    </a:solidFill>
                    <a:latin typeface="Consolas" panose="020B0609020204030204" pitchFamily="49" charset="0"/>
                  </a:rPr>
                  <a:t>t.test</a:t>
                </a:r>
                <a:r>
                  <a:rPr lang="es-419" sz="1800" dirty="0">
                    <a:solidFill>
                      <a:srgbClr val="003A5D"/>
                    </a:solidFill>
                    <a:latin typeface="Consolas" panose="020B0609020204030204" pitchFamily="49" charset="0"/>
                  </a:rPr>
                  <a:t>()</a:t>
                </a:r>
                <a:endParaRPr lang="es-419" sz="1800"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348"/>
                </a:stretch>
              </a:blipFill>
            </p:spPr>
            <p:txBody>
              <a:bodyPr/>
              <a:lstStyle/>
              <a:p>
                <a:r>
                  <a:rPr lang="es-VE">
                    <a:noFill/>
                  </a:rPr>
                  <a:t> </a:t>
                </a:r>
              </a:p>
            </p:txBody>
          </p:sp>
        </mc:Fallback>
      </mc:AlternateContent>
    </p:spTree>
    <p:extLst>
      <p:ext uri="{BB962C8B-B14F-4D97-AF65-F5344CB8AC3E}">
        <p14:creationId xmlns:p14="http://schemas.microsoft.com/office/powerpoint/2010/main" val="33948542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9E92E45-58B0-D990-0790-07667CE20787}"/>
              </a:ext>
            </a:extLst>
          </p:cNvPr>
          <p:cNvPicPr>
            <a:picLocks noChangeAspect="1"/>
          </p:cNvPicPr>
          <p:nvPr/>
        </p:nvPicPr>
        <p:blipFill>
          <a:blip r:embed="rId2"/>
          <a:stretch>
            <a:fillRect/>
          </a:stretch>
        </p:blipFill>
        <p:spPr>
          <a:xfrm>
            <a:off x="2276531" y="1089000"/>
            <a:ext cx="7638938" cy="4680000"/>
          </a:xfrm>
          <a:prstGeom prst="rect">
            <a:avLst/>
          </a:prstGeom>
        </p:spPr>
      </p:pic>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lstStyle/>
          <a:p>
            <a:r>
              <a:rPr lang="es-419" dirty="0"/>
              <a:t>Contraste para la diferencia de medias poblacionales</a:t>
            </a:r>
          </a:p>
        </p:txBody>
      </p:sp>
      <mc:AlternateContent xmlns:mc="http://schemas.openxmlformats.org/markup-compatibility/2006" xmlns:a14="http://schemas.microsoft.com/office/drawing/2010/main">
        <mc:Choice Requires="a14">
          <p:sp>
            <p:nvSpPr>
              <p:cNvPr id="6" name="TextBox 3">
                <a:extLst>
                  <a:ext uri="{FF2B5EF4-FFF2-40B4-BE49-F238E27FC236}">
                    <a16:creationId xmlns:a16="http://schemas.microsoft.com/office/drawing/2014/main" id="{27507DFE-8649-4A7A-93BD-45EBA8959A52}"/>
                  </a:ext>
                </a:extLst>
              </p:cNvPr>
              <p:cNvSpPr txBox="1"/>
              <p:nvPr/>
            </p:nvSpPr>
            <p:spPr>
              <a:xfrm>
                <a:off x="3356103" y="1089000"/>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b="0" i="0" smtClean="0">
                          <a:latin typeface="Cambria Math" panose="02040503050406030204" pitchFamily="18" charset="0"/>
                        </a:rPr>
                        <m:t>&lt;0</m:t>
                      </m:r>
                    </m:oMath>
                  </m:oMathPara>
                </a14:m>
                <a:endParaRPr lang="es-419" sz="1400" dirty="0"/>
              </a:p>
            </p:txBody>
          </p:sp>
        </mc:Choice>
        <mc:Fallback xmlns="">
          <p:sp>
            <p:nvSpPr>
              <p:cNvPr id="6"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3356103" y="1089000"/>
                <a:ext cx="1428019" cy="3247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3">
                <a:extLst>
                  <a:ext uri="{FF2B5EF4-FFF2-40B4-BE49-F238E27FC236}">
                    <a16:creationId xmlns:a16="http://schemas.microsoft.com/office/drawing/2014/main" id="{27507DFE-8649-4A7A-93BD-45EBA8959A52}"/>
                  </a:ext>
                </a:extLst>
              </p:cNvPr>
              <p:cNvSpPr txBox="1"/>
              <p:nvPr/>
            </p:nvSpPr>
            <p:spPr>
              <a:xfrm>
                <a:off x="7246314" y="1088999"/>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b="0" i="0" smtClean="0">
                          <a:latin typeface="Cambria Math" panose="02040503050406030204" pitchFamily="18" charset="0"/>
                        </a:rPr>
                        <m:t>&gt;0</m:t>
                      </m:r>
                    </m:oMath>
                  </m:oMathPara>
                </a14:m>
                <a:endParaRPr lang="es-419" sz="1400" dirty="0"/>
              </a:p>
            </p:txBody>
          </p:sp>
        </mc:Choice>
        <mc:Fallback xmlns="">
          <p:sp>
            <p:nvSpPr>
              <p:cNvPr id="7"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7246314" y="1088999"/>
                <a:ext cx="1428019" cy="32476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3">
                <a:extLst>
                  <a:ext uri="{FF2B5EF4-FFF2-40B4-BE49-F238E27FC236}">
                    <a16:creationId xmlns:a16="http://schemas.microsoft.com/office/drawing/2014/main" id="{27507DFE-8649-4A7A-93BD-45EBA8959A52}"/>
                  </a:ext>
                </a:extLst>
              </p:cNvPr>
              <p:cNvSpPr txBox="1"/>
              <p:nvPr/>
            </p:nvSpPr>
            <p:spPr>
              <a:xfrm>
                <a:off x="5272741" y="3615631"/>
                <a:ext cx="1428019"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rPr>
                            <m:t>𝑥</m:t>
                          </m:r>
                        </m:sub>
                      </m:sSub>
                      <m:r>
                        <a:rPr lang="es-VE" sz="1400" i="1">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ea typeface="Cambria Math" panose="02040503050406030204" pitchFamily="18" charset="0"/>
                            </a:rPr>
                            <m:t>𝜇</m:t>
                          </m:r>
                        </m:e>
                        <m:sub>
                          <m:r>
                            <a:rPr lang="es-VE" sz="1400" i="1">
                              <a:latin typeface="Cambria Math" panose="02040503050406030204" pitchFamily="18" charset="0"/>
                              <a:ea typeface="Cambria Math" panose="02040503050406030204" pitchFamily="18" charset="0"/>
                            </a:rPr>
                            <m:t>𝑦</m:t>
                          </m:r>
                        </m:sub>
                      </m:sSub>
                      <m:r>
                        <a:rPr lang="es-VE" sz="1400">
                          <a:latin typeface="Cambria Math" panose="02040503050406030204" pitchFamily="18" charset="0"/>
                          <a:ea typeface="Cambria Math" panose="02040503050406030204" pitchFamily="18" charset="0"/>
                        </a:rPr>
                        <m:t>≠</m:t>
                      </m:r>
                      <m:r>
                        <a:rPr lang="es-VE" sz="1400" b="0" i="0" smtClean="0">
                          <a:latin typeface="Cambria Math" panose="02040503050406030204" pitchFamily="18" charset="0"/>
                        </a:rPr>
                        <m:t>0</m:t>
                      </m:r>
                    </m:oMath>
                  </m:oMathPara>
                </a14:m>
                <a:endParaRPr lang="es-419" sz="1400" dirty="0"/>
              </a:p>
            </p:txBody>
          </p:sp>
        </mc:Choice>
        <mc:Fallback xmlns="">
          <p:sp>
            <p:nvSpPr>
              <p:cNvPr id="8"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5272741" y="3615631"/>
                <a:ext cx="1428019" cy="32476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68248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11.19</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normAutofit fontScale="92500"/>
          </a:bodyPr>
          <a:lstStyle/>
          <a:p>
            <a:pPr marL="0" indent="0">
              <a:lnSpc>
                <a:spcPct val="150000"/>
              </a:lnSpc>
              <a:buNone/>
            </a:pPr>
            <a:r>
              <a:rPr lang="es-VE" i="1" dirty="0"/>
              <a:t>Una muestra de 150 habitantes de un barrio de Caracas dio unos ingresos medios diarios de Bs. 450, con una desviación típica de Bs. 40. Una muestra de 150 habitantes de otro barrio dio una media de Bs. 443, con una desviación típica de Bs. 50. Con un nivel de significancia del 5 %. ¿Son los ingresos medios en ambos barrios diferentes?</a:t>
            </a:r>
          </a:p>
          <a:p>
            <a:pPr marL="0" indent="0">
              <a:lnSpc>
                <a:spcPct val="150000"/>
              </a:lnSpc>
              <a:buNone/>
            </a:pPr>
            <a:r>
              <a:rPr lang="es-VE" i="1" dirty="0"/>
              <a:t>Asume que las varianzas muestrales son sesgadas (realice la transformación adecuada) y emplee solamente el método del p-valor.</a:t>
            </a:r>
            <a:endParaRPr lang="en-US" i="1" dirty="0"/>
          </a:p>
        </p:txBody>
      </p:sp>
    </p:spTree>
    <p:extLst>
      <p:ext uri="{BB962C8B-B14F-4D97-AF65-F5344CB8AC3E}">
        <p14:creationId xmlns:p14="http://schemas.microsoft.com/office/powerpoint/2010/main" val="3409611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11.19</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92500" lnSpcReduction="20000"/>
          </a:bodyPr>
          <a:lstStyle/>
          <a:p>
            <a:pPr marL="0" indent="0">
              <a:buNone/>
            </a:pPr>
            <a:r>
              <a:rPr lang="es-ES" sz="1700" dirty="0">
                <a:latin typeface="Consolas" panose="020B0609020204030204" pitchFamily="49" charset="0"/>
              </a:rPr>
              <a:t>&gt; </a:t>
            </a:r>
            <a:r>
              <a:rPr lang="es-ES" sz="1700" dirty="0" err="1">
                <a:latin typeface="Consolas" panose="020B0609020204030204" pitchFamily="49" charset="0"/>
              </a:rPr>
              <a:t>n_x</a:t>
            </a:r>
            <a:r>
              <a:rPr lang="es-ES" sz="1700" dirty="0">
                <a:latin typeface="Consolas" panose="020B0609020204030204" pitchFamily="49" charset="0"/>
              </a:rPr>
              <a:t> &lt;- 150</a:t>
            </a:r>
          </a:p>
          <a:p>
            <a:pPr marL="0" indent="0">
              <a:buNone/>
            </a:pPr>
            <a:r>
              <a:rPr lang="es-ES" sz="1700" dirty="0">
                <a:latin typeface="Consolas" panose="020B0609020204030204" pitchFamily="49" charset="0"/>
              </a:rPr>
              <a:t>&gt; </a:t>
            </a:r>
            <a:r>
              <a:rPr lang="es-ES" sz="1700" dirty="0" err="1">
                <a:latin typeface="Consolas" panose="020B0609020204030204" pitchFamily="49" charset="0"/>
              </a:rPr>
              <a:t>x_hat</a:t>
            </a:r>
            <a:r>
              <a:rPr lang="es-ES" sz="1700" dirty="0">
                <a:latin typeface="Consolas" panose="020B0609020204030204" pitchFamily="49" charset="0"/>
              </a:rPr>
              <a:t> &lt;- 450</a:t>
            </a:r>
          </a:p>
          <a:p>
            <a:pPr marL="0" indent="0">
              <a:buNone/>
            </a:pPr>
            <a:r>
              <a:rPr lang="es-ES" sz="1700" dirty="0">
                <a:latin typeface="Consolas" panose="020B0609020204030204" pitchFamily="49" charset="0"/>
              </a:rPr>
              <a:t>&gt; </a:t>
            </a:r>
            <a:r>
              <a:rPr lang="es-ES" sz="1700" dirty="0" err="1">
                <a:latin typeface="Consolas" panose="020B0609020204030204" pitchFamily="49" charset="0"/>
              </a:rPr>
              <a:t>s_x</a:t>
            </a:r>
            <a:r>
              <a:rPr lang="es-ES" sz="1700" dirty="0">
                <a:latin typeface="Consolas" panose="020B0609020204030204" pitchFamily="49" charset="0"/>
              </a:rPr>
              <a:t> &lt;- 40</a:t>
            </a:r>
          </a:p>
          <a:p>
            <a:pPr marL="0" indent="0">
              <a:buNone/>
            </a:pPr>
            <a:endParaRPr lang="es-ES" sz="1700" dirty="0">
              <a:latin typeface="Consolas" panose="020B0609020204030204" pitchFamily="49" charset="0"/>
            </a:endParaRPr>
          </a:p>
          <a:p>
            <a:pPr marL="0" indent="0">
              <a:buNone/>
            </a:pPr>
            <a:r>
              <a:rPr lang="es-ES" sz="1700" dirty="0">
                <a:latin typeface="Consolas" panose="020B0609020204030204" pitchFamily="49" charset="0"/>
              </a:rPr>
              <a:t>&gt; </a:t>
            </a:r>
            <a:r>
              <a:rPr lang="es-ES" sz="1700" dirty="0" err="1">
                <a:latin typeface="Consolas" panose="020B0609020204030204" pitchFamily="49" charset="0"/>
              </a:rPr>
              <a:t>n_y</a:t>
            </a:r>
            <a:r>
              <a:rPr lang="es-ES" sz="1700" dirty="0">
                <a:latin typeface="Consolas" panose="020B0609020204030204" pitchFamily="49" charset="0"/>
              </a:rPr>
              <a:t> &lt;- 150</a:t>
            </a:r>
          </a:p>
          <a:p>
            <a:pPr marL="0" indent="0">
              <a:buNone/>
            </a:pPr>
            <a:r>
              <a:rPr lang="es-ES" sz="1700" dirty="0">
                <a:latin typeface="Consolas" panose="020B0609020204030204" pitchFamily="49" charset="0"/>
              </a:rPr>
              <a:t>&gt; </a:t>
            </a:r>
            <a:r>
              <a:rPr lang="es-ES" sz="1700" dirty="0" err="1">
                <a:latin typeface="Consolas" panose="020B0609020204030204" pitchFamily="49" charset="0"/>
              </a:rPr>
              <a:t>y_hat</a:t>
            </a:r>
            <a:r>
              <a:rPr lang="es-ES" sz="1700" dirty="0">
                <a:latin typeface="Consolas" panose="020B0609020204030204" pitchFamily="49" charset="0"/>
              </a:rPr>
              <a:t> &lt;- 443</a:t>
            </a:r>
          </a:p>
          <a:p>
            <a:pPr marL="0" indent="0">
              <a:buNone/>
            </a:pPr>
            <a:r>
              <a:rPr lang="es-ES" sz="1700" dirty="0">
                <a:latin typeface="Consolas" panose="020B0609020204030204" pitchFamily="49" charset="0"/>
              </a:rPr>
              <a:t>&gt; </a:t>
            </a:r>
            <a:r>
              <a:rPr lang="es-ES" sz="1700" dirty="0" err="1">
                <a:latin typeface="Consolas" panose="020B0609020204030204" pitchFamily="49" charset="0"/>
              </a:rPr>
              <a:t>s_y</a:t>
            </a:r>
            <a:r>
              <a:rPr lang="es-ES" sz="1700" dirty="0">
                <a:latin typeface="Consolas" panose="020B0609020204030204" pitchFamily="49" charset="0"/>
              </a:rPr>
              <a:t> &lt;- 50</a:t>
            </a:r>
          </a:p>
          <a:p>
            <a:pPr marL="0" indent="0">
              <a:buNone/>
            </a:pPr>
            <a:endParaRPr lang="es-ES" sz="1700" dirty="0">
              <a:latin typeface="Consolas" panose="020B0609020204030204" pitchFamily="49" charset="0"/>
            </a:endParaRPr>
          </a:p>
          <a:p>
            <a:pPr marL="0" indent="0">
              <a:buNone/>
            </a:pPr>
            <a:r>
              <a:rPr lang="es-ES" sz="1700" dirty="0">
                <a:latin typeface="Consolas" panose="020B0609020204030204" pitchFamily="49" charset="0"/>
              </a:rPr>
              <a:t>&gt; a &lt;- 0.05</a:t>
            </a:r>
          </a:p>
          <a:p>
            <a:pPr marL="0" indent="0">
              <a:buNone/>
            </a:pPr>
            <a:endParaRPr lang="es-ES" sz="1700" dirty="0">
              <a:latin typeface="Consolas" panose="020B0609020204030204" pitchFamily="49" charset="0"/>
            </a:endParaRPr>
          </a:p>
          <a:p>
            <a:pPr marL="0" indent="0">
              <a:buNone/>
            </a:pPr>
            <a:r>
              <a:rPr lang="es-ES" sz="1700" dirty="0">
                <a:latin typeface="Consolas" panose="020B0609020204030204" pitchFamily="49" charset="0"/>
              </a:rPr>
              <a:t>&gt; #Varianzas muestrales insesgadas</a:t>
            </a:r>
          </a:p>
          <a:p>
            <a:pPr marL="0" indent="0">
              <a:buNone/>
            </a:pPr>
            <a:r>
              <a:rPr lang="es-ES" sz="1700" dirty="0">
                <a:latin typeface="Consolas" panose="020B0609020204030204" pitchFamily="49" charset="0"/>
              </a:rPr>
              <a:t>&gt; s2_xi &lt;- (s_x^2)*(</a:t>
            </a:r>
            <a:r>
              <a:rPr lang="es-ES" sz="1700" dirty="0" err="1">
                <a:latin typeface="Consolas" panose="020B0609020204030204" pitchFamily="49" charset="0"/>
              </a:rPr>
              <a:t>n_x</a:t>
            </a:r>
            <a:r>
              <a:rPr lang="es-ES" sz="1700" dirty="0">
                <a:latin typeface="Consolas" panose="020B0609020204030204" pitchFamily="49" charset="0"/>
              </a:rPr>
              <a:t>)/(</a:t>
            </a:r>
            <a:r>
              <a:rPr lang="es-ES" sz="1700" dirty="0" err="1">
                <a:latin typeface="Consolas" panose="020B0609020204030204" pitchFamily="49" charset="0"/>
              </a:rPr>
              <a:t>n_x</a:t>
            </a:r>
            <a:r>
              <a:rPr lang="es-ES" sz="1700" dirty="0">
                <a:latin typeface="Consolas" panose="020B0609020204030204" pitchFamily="49" charset="0"/>
              </a:rPr>
              <a:t> - 1)</a:t>
            </a:r>
          </a:p>
          <a:p>
            <a:pPr marL="0" indent="0">
              <a:buNone/>
            </a:pPr>
            <a:r>
              <a:rPr lang="es-ES" sz="1700" dirty="0">
                <a:latin typeface="Consolas" panose="020B0609020204030204" pitchFamily="49" charset="0"/>
              </a:rPr>
              <a:t>&gt; s2_yi &lt;- (s_y^2)*(</a:t>
            </a:r>
            <a:r>
              <a:rPr lang="es-ES" sz="1700" dirty="0" err="1">
                <a:latin typeface="Consolas" panose="020B0609020204030204" pitchFamily="49" charset="0"/>
              </a:rPr>
              <a:t>n_y</a:t>
            </a:r>
            <a:r>
              <a:rPr lang="es-ES" sz="1700" dirty="0">
                <a:latin typeface="Consolas" panose="020B0609020204030204" pitchFamily="49" charset="0"/>
              </a:rPr>
              <a:t>)/(</a:t>
            </a:r>
            <a:r>
              <a:rPr lang="es-ES" sz="1700" dirty="0" err="1">
                <a:latin typeface="Consolas" panose="020B0609020204030204" pitchFamily="49" charset="0"/>
              </a:rPr>
              <a:t>n_y</a:t>
            </a:r>
            <a:r>
              <a:rPr lang="es-ES" sz="1700" dirty="0">
                <a:latin typeface="Consolas" panose="020B0609020204030204" pitchFamily="49" charset="0"/>
              </a:rPr>
              <a:t> - 1)</a:t>
            </a:r>
          </a:p>
          <a:p>
            <a:pPr marL="0" indent="0">
              <a:buNone/>
            </a:pPr>
            <a:endParaRPr lang="es-ES" sz="1700" dirty="0">
              <a:latin typeface="Consolas" panose="020B0609020204030204" pitchFamily="49" charset="0"/>
            </a:endParaRPr>
          </a:p>
          <a:p>
            <a:pPr marL="0" indent="0">
              <a:buNone/>
            </a:pPr>
            <a:r>
              <a:rPr lang="es-ES" sz="1700" dirty="0">
                <a:latin typeface="Consolas" panose="020B0609020204030204" pitchFamily="49" charset="0"/>
              </a:rPr>
              <a:t>&gt; #Grados de libertad</a:t>
            </a:r>
          </a:p>
          <a:p>
            <a:pPr marL="0" indent="0">
              <a:buNone/>
            </a:pPr>
            <a:r>
              <a:rPr lang="es-ES" sz="1700" dirty="0">
                <a:latin typeface="Consolas" panose="020B0609020204030204" pitchFamily="49" charset="0"/>
              </a:rPr>
              <a:t>&gt; v &lt;- (((s2_xi/</a:t>
            </a:r>
            <a:r>
              <a:rPr lang="es-ES" sz="1700" dirty="0" err="1">
                <a:latin typeface="Consolas" panose="020B0609020204030204" pitchFamily="49" charset="0"/>
              </a:rPr>
              <a:t>n_x</a:t>
            </a:r>
            <a:r>
              <a:rPr lang="es-ES" sz="1700" dirty="0">
                <a:latin typeface="Consolas" panose="020B0609020204030204" pitchFamily="49" charset="0"/>
              </a:rPr>
              <a:t>)+(s2_yi/</a:t>
            </a:r>
            <a:r>
              <a:rPr lang="es-ES" sz="1700" dirty="0" err="1">
                <a:latin typeface="Consolas" panose="020B0609020204030204" pitchFamily="49" charset="0"/>
              </a:rPr>
              <a:t>n_y</a:t>
            </a:r>
            <a:r>
              <a:rPr lang="es-ES" sz="1700" dirty="0">
                <a:latin typeface="Consolas" panose="020B0609020204030204" pitchFamily="49" charset="0"/>
              </a:rPr>
              <a:t>))^2)/((((s2_xi/</a:t>
            </a:r>
            <a:r>
              <a:rPr lang="es-ES" sz="1700" dirty="0" err="1">
                <a:latin typeface="Consolas" panose="020B0609020204030204" pitchFamily="49" charset="0"/>
              </a:rPr>
              <a:t>n_x</a:t>
            </a:r>
            <a:r>
              <a:rPr lang="es-ES" sz="1700" dirty="0">
                <a:latin typeface="Consolas" panose="020B0609020204030204" pitchFamily="49" charset="0"/>
              </a:rPr>
              <a:t>)^2)/(n_x-1))+(((s2_yi/</a:t>
            </a:r>
            <a:r>
              <a:rPr lang="es-ES" sz="1700" dirty="0" err="1">
                <a:latin typeface="Consolas" panose="020B0609020204030204" pitchFamily="49" charset="0"/>
              </a:rPr>
              <a:t>n_y</a:t>
            </a:r>
            <a:r>
              <a:rPr lang="es-ES" sz="1700" dirty="0">
                <a:latin typeface="Consolas" panose="020B0609020204030204" pitchFamily="49" charset="0"/>
              </a:rPr>
              <a:t>)^2)/(n_y-1)))</a:t>
            </a:r>
          </a:p>
          <a:p>
            <a:pPr marL="0" indent="0">
              <a:buNone/>
            </a:pPr>
            <a:r>
              <a:rPr lang="es-ES" sz="1700" dirty="0">
                <a:latin typeface="Consolas" panose="020B0609020204030204" pitchFamily="49" charset="0"/>
              </a:rPr>
              <a:t>&gt; v</a:t>
            </a:r>
          </a:p>
          <a:p>
            <a:pPr marL="0" indent="0">
              <a:buNone/>
            </a:pPr>
            <a:r>
              <a:rPr lang="es-ES" sz="1700" dirty="0">
                <a:latin typeface="Consolas" panose="020B0609020204030204" pitchFamily="49" charset="0"/>
              </a:rPr>
              <a:t>[1] 284.3008</a:t>
            </a:r>
          </a:p>
          <a:p>
            <a:pPr marL="0" indent="0">
              <a:buNone/>
            </a:pPr>
            <a:endParaRPr lang="es-ES" dirty="0">
              <a:latin typeface="Consolas" panose="020B0609020204030204" pitchFamily="49" charset="0"/>
            </a:endParaRPr>
          </a:p>
          <a:p>
            <a:pPr marL="0" indent="0">
              <a:buNone/>
            </a:pPr>
            <a:endParaRPr lang="es-ES" dirty="0">
              <a:latin typeface="Consolas" panose="020B0609020204030204" pitchFamily="49" charset="0"/>
            </a:endParaRPr>
          </a:p>
        </p:txBody>
      </p:sp>
    </p:spTree>
    <p:extLst>
      <p:ext uri="{BB962C8B-B14F-4D97-AF65-F5344CB8AC3E}">
        <p14:creationId xmlns:p14="http://schemas.microsoft.com/office/powerpoint/2010/main" val="21567661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11.19</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77500" lnSpcReduction="20000"/>
          </a:bodyPr>
          <a:lstStyle/>
          <a:p>
            <a:pPr marL="0" indent="0">
              <a:buNone/>
            </a:pPr>
            <a:r>
              <a:rPr lang="es-ES" dirty="0">
                <a:latin typeface="Consolas" panose="020B0609020204030204" pitchFamily="49" charset="0"/>
              </a:rPr>
              <a:t>&gt; </a:t>
            </a:r>
            <a:r>
              <a:rPr lang="es-ES" dirty="0" err="1">
                <a:latin typeface="Consolas" panose="020B0609020204030204" pitchFamily="49" charset="0"/>
              </a:rPr>
              <a:t>t_diff</a:t>
            </a:r>
            <a:r>
              <a:rPr lang="es-ES" dirty="0">
                <a:latin typeface="Consolas" panose="020B0609020204030204" pitchFamily="49" charset="0"/>
              </a:rPr>
              <a:t> &lt;-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y_hat</a:t>
            </a:r>
            <a:r>
              <a:rPr lang="es-ES" dirty="0">
                <a:latin typeface="Consolas" panose="020B0609020204030204" pitchFamily="49" charset="0"/>
              </a:rPr>
              <a:t>)/</a:t>
            </a:r>
            <a:r>
              <a:rPr lang="es-ES" dirty="0" err="1">
                <a:latin typeface="Consolas" panose="020B0609020204030204" pitchFamily="49" charset="0"/>
              </a:rPr>
              <a:t>sqrt</a:t>
            </a:r>
            <a:r>
              <a:rPr lang="es-ES" dirty="0">
                <a:latin typeface="Consolas" panose="020B0609020204030204" pitchFamily="49" charset="0"/>
              </a:rPr>
              <a:t>((s2_xi/</a:t>
            </a:r>
            <a:r>
              <a:rPr lang="es-ES" dirty="0" err="1">
                <a:latin typeface="Consolas" panose="020B0609020204030204" pitchFamily="49" charset="0"/>
              </a:rPr>
              <a:t>n_x</a:t>
            </a:r>
            <a:r>
              <a:rPr lang="es-ES" dirty="0">
                <a:latin typeface="Consolas" panose="020B0609020204030204" pitchFamily="49" charset="0"/>
              </a:rPr>
              <a:t>)+(s2_yi/</a:t>
            </a:r>
            <a:r>
              <a:rPr lang="es-ES" dirty="0" err="1">
                <a:latin typeface="Consolas" panose="020B0609020204030204" pitchFamily="49" charset="0"/>
              </a:rPr>
              <a:t>n_y</a:t>
            </a:r>
            <a:r>
              <a:rPr lang="es-ES" dirty="0">
                <a:latin typeface="Consolas" panose="020B0609020204030204" pitchFamily="49" charset="0"/>
              </a:rPr>
              <a:t>))</a:t>
            </a:r>
          </a:p>
          <a:p>
            <a:pPr marL="0" indent="0">
              <a:buNone/>
            </a:pPr>
            <a:r>
              <a:rPr lang="es-ES" dirty="0">
                <a:latin typeface="Consolas" panose="020B0609020204030204" pitchFamily="49" charset="0"/>
              </a:rPr>
              <a:t>&gt; </a:t>
            </a:r>
            <a:r>
              <a:rPr lang="es-ES" dirty="0" err="1">
                <a:latin typeface="Consolas" panose="020B0609020204030204" pitchFamily="49" charset="0"/>
              </a:rPr>
              <a:t>t_diff</a:t>
            </a:r>
            <a:endParaRPr lang="es-ES" dirty="0">
              <a:latin typeface="Consolas" panose="020B0609020204030204" pitchFamily="49" charset="0"/>
            </a:endParaRPr>
          </a:p>
          <a:p>
            <a:pPr marL="0" indent="0">
              <a:buNone/>
            </a:pPr>
            <a:r>
              <a:rPr lang="es-ES" dirty="0">
                <a:latin typeface="Consolas" panose="020B0609020204030204" pitchFamily="49" charset="0"/>
              </a:rPr>
              <a:t>[1] 1.334441</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pt(</a:t>
            </a:r>
            <a:r>
              <a:rPr lang="es-ES" dirty="0" err="1">
                <a:latin typeface="Consolas" panose="020B0609020204030204" pitchFamily="49" charset="0"/>
              </a:rPr>
              <a:t>t_diff</a:t>
            </a:r>
            <a:r>
              <a:rPr lang="es-ES" dirty="0">
                <a:latin typeface="Consolas" panose="020B0609020204030204" pitchFamily="49" charset="0"/>
              </a:rPr>
              <a:t>, </a:t>
            </a:r>
            <a:r>
              <a:rPr lang="es-ES" dirty="0" err="1">
                <a:latin typeface="Consolas" panose="020B0609020204030204" pitchFamily="49" charset="0"/>
              </a:rPr>
              <a:t>df</a:t>
            </a:r>
            <a:r>
              <a:rPr lang="es-ES" dirty="0">
                <a:latin typeface="Consolas" panose="020B0609020204030204" pitchFamily="49" charset="0"/>
              </a:rPr>
              <a:t> = v, </a:t>
            </a:r>
            <a:r>
              <a:rPr lang="es-ES" dirty="0" err="1">
                <a:latin typeface="Consolas" panose="020B0609020204030204" pitchFamily="49" charset="0"/>
              </a:rPr>
              <a:t>lower.tail</a:t>
            </a:r>
            <a:r>
              <a:rPr lang="es-ES" dirty="0">
                <a:latin typeface="Consolas" panose="020B0609020204030204" pitchFamily="49" charset="0"/>
              </a:rPr>
              <a:t> = FALSE)</a:t>
            </a:r>
          </a:p>
          <a:p>
            <a:pPr marL="0" indent="0">
              <a:buNone/>
            </a:pPr>
            <a:r>
              <a:rPr lang="es-ES" dirty="0">
                <a:highlight>
                  <a:srgbClr val="FFFF00"/>
                </a:highlight>
                <a:latin typeface="Consolas" panose="020B0609020204030204" pitchFamily="49" charset="0"/>
              </a:rPr>
              <a:t>[1] 0.09156365</a:t>
            </a:r>
          </a:p>
          <a:p>
            <a:pPr marL="0" indent="0">
              <a:buNone/>
            </a:pPr>
            <a:r>
              <a:rPr lang="es-ES" dirty="0">
                <a:latin typeface="Consolas" panose="020B0609020204030204" pitchFamily="49" charset="0"/>
              </a:rPr>
              <a:t>&gt; pt(</a:t>
            </a:r>
            <a:r>
              <a:rPr lang="es-ES" dirty="0" err="1">
                <a:latin typeface="Consolas" panose="020B0609020204030204" pitchFamily="49" charset="0"/>
              </a:rPr>
              <a:t>t_diff</a:t>
            </a:r>
            <a:r>
              <a:rPr lang="es-ES" dirty="0">
                <a:latin typeface="Consolas" panose="020B0609020204030204" pitchFamily="49" charset="0"/>
              </a:rPr>
              <a:t>, </a:t>
            </a:r>
            <a:r>
              <a:rPr lang="es-ES" dirty="0" err="1">
                <a:latin typeface="Consolas" panose="020B0609020204030204" pitchFamily="49" charset="0"/>
              </a:rPr>
              <a:t>df</a:t>
            </a:r>
            <a:r>
              <a:rPr lang="es-ES" dirty="0">
                <a:latin typeface="Consolas" panose="020B0609020204030204" pitchFamily="49" charset="0"/>
              </a:rPr>
              <a:t> = v, </a:t>
            </a:r>
            <a:r>
              <a:rPr lang="es-ES" dirty="0" err="1">
                <a:latin typeface="Consolas" panose="020B0609020204030204" pitchFamily="49" charset="0"/>
              </a:rPr>
              <a:t>lower.tail</a:t>
            </a:r>
            <a:r>
              <a:rPr lang="es-ES" dirty="0">
                <a:latin typeface="Consolas" panose="020B0609020204030204" pitchFamily="49" charset="0"/>
              </a:rPr>
              <a:t> = TRUE)</a:t>
            </a:r>
          </a:p>
          <a:p>
            <a:pPr marL="0" indent="0">
              <a:buNone/>
            </a:pPr>
            <a:r>
              <a:rPr lang="es-ES" dirty="0">
                <a:latin typeface="Consolas" panose="020B0609020204030204" pitchFamily="49" charset="0"/>
              </a:rPr>
              <a:t>[1] 0.9084364</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p_value</a:t>
            </a:r>
            <a:r>
              <a:rPr lang="es-ES" dirty="0">
                <a:latin typeface="Consolas" panose="020B0609020204030204" pitchFamily="49" charset="0"/>
              </a:rPr>
              <a:t> &lt;- pt(</a:t>
            </a:r>
            <a:r>
              <a:rPr lang="es-ES" dirty="0" err="1">
                <a:latin typeface="Consolas" panose="020B0609020204030204" pitchFamily="49" charset="0"/>
              </a:rPr>
              <a:t>t_diff</a:t>
            </a:r>
            <a:r>
              <a:rPr lang="es-ES" dirty="0">
                <a:latin typeface="Consolas" panose="020B0609020204030204" pitchFamily="49" charset="0"/>
              </a:rPr>
              <a:t>, </a:t>
            </a:r>
            <a:r>
              <a:rPr lang="es-ES" dirty="0" err="1">
                <a:latin typeface="Consolas" panose="020B0609020204030204" pitchFamily="49" charset="0"/>
              </a:rPr>
              <a:t>df</a:t>
            </a:r>
            <a:r>
              <a:rPr lang="es-ES" dirty="0">
                <a:latin typeface="Consolas" panose="020B0609020204030204" pitchFamily="49" charset="0"/>
              </a:rPr>
              <a:t> = v, </a:t>
            </a:r>
            <a:r>
              <a:rPr lang="es-ES" dirty="0" err="1">
                <a:latin typeface="Consolas" panose="020B0609020204030204" pitchFamily="49" charset="0"/>
              </a:rPr>
              <a:t>lower.tail</a:t>
            </a:r>
            <a:r>
              <a:rPr lang="es-ES" dirty="0">
                <a:latin typeface="Consolas" panose="020B0609020204030204" pitchFamily="49" charset="0"/>
              </a:rPr>
              <a:t> = FALSE)*2</a:t>
            </a:r>
          </a:p>
          <a:p>
            <a:pPr marL="0" indent="0">
              <a:buNone/>
            </a:pPr>
            <a:r>
              <a:rPr lang="es-ES" dirty="0">
                <a:latin typeface="Consolas" panose="020B0609020204030204" pitchFamily="49" charset="0"/>
              </a:rPr>
              <a:t>&gt; </a:t>
            </a:r>
            <a:r>
              <a:rPr lang="es-ES" dirty="0" err="1">
                <a:latin typeface="Consolas" panose="020B0609020204030204" pitchFamily="49" charset="0"/>
              </a:rPr>
              <a:t>p_value</a:t>
            </a:r>
            <a:r>
              <a:rPr lang="es-ES" dirty="0">
                <a:latin typeface="Consolas" panose="020B0609020204030204" pitchFamily="49" charset="0"/>
              </a:rPr>
              <a:t> </a:t>
            </a:r>
          </a:p>
          <a:p>
            <a:pPr marL="0" indent="0">
              <a:buNone/>
            </a:pPr>
            <a:r>
              <a:rPr lang="es-ES" dirty="0">
                <a:highlight>
                  <a:srgbClr val="FFFF00"/>
                </a:highlight>
                <a:latin typeface="Consolas" panose="020B0609020204030204" pitchFamily="49" charset="0"/>
              </a:rPr>
              <a:t>[1] 0.1831273</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p_value</a:t>
            </a:r>
            <a:r>
              <a:rPr lang="es-ES" dirty="0">
                <a:latin typeface="Consolas" panose="020B0609020204030204" pitchFamily="49" charset="0"/>
              </a:rPr>
              <a:t> &lt; 0.05</a:t>
            </a:r>
          </a:p>
          <a:p>
            <a:pPr marL="0" indent="0">
              <a:buNone/>
            </a:pPr>
            <a:r>
              <a:rPr lang="es-ES"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979175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88FDA7-7F95-48AB-BA14-43466AAD17C7}"/>
              </a:ext>
            </a:extLst>
          </p:cNvPr>
          <p:cNvSpPr>
            <a:spLocks noGrp="1"/>
          </p:cNvSpPr>
          <p:nvPr>
            <p:ph type="title"/>
          </p:nvPr>
        </p:nvSpPr>
        <p:spPr/>
        <p:txBody>
          <a:bodyPr>
            <a:normAutofit/>
          </a:bodyPr>
          <a:lstStyle/>
          <a:p>
            <a:r>
              <a:rPr lang="es-419" sz="4800" dirty="0"/>
              <a:t>Contraste para varianza de una población</a:t>
            </a:r>
          </a:p>
        </p:txBody>
      </p:sp>
      <p:sp>
        <p:nvSpPr>
          <p:cNvPr id="5" name="Text Placeholder 4">
            <a:extLst>
              <a:ext uri="{FF2B5EF4-FFF2-40B4-BE49-F238E27FC236}">
                <a16:creationId xmlns:a16="http://schemas.microsoft.com/office/drawing/2014/main" id="{F39C5933-CAFC-46D8-AC24-39A264C2D41F}"/>
              </a:ext>
            </a:extLst>
          </p:cNvPr>
          <p:cNvSpPr>
            <a:spLocks noGrp="1"/>
          </p:cNvSpPr>
          <p:nvPr>
            <p:ph type="body" idx="1"/>
          </p:nvPr>
        </p:nvSpPr>
        <p:spPr/>
        <p:txBody>
          <a:bodyPr/>
          <a:lstStyle/>
          <a:p>
            <a:r>
              <a:rPr lang="es-419" dirty="0"/>
              <a:t>Fórmulas y variantes</a:t>
            </a:r>
          </a:p>
        </p:txBody>
      </p:sp>
    </p:spTree>
    <p:extLst>
      <p:ext uri="{BB962C8B-B14F-4D97-AF65-F5344CB8AC3E}">
        <p14:creationId xmlns:p14="http://schemas.microsoft.com/office/powerpoint/2010/main" val="3021103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varianza poblacional (normal)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85000" lnSpcReduction="10000"/>
              </a:bodyPr>
              <a:lstStyle/>
              <a:p>
                <a:pPr>
                  <a:lnSpc>
                    <a:spcPct val="170000"/>
                  </a:lnSpc>
                </a:pPr>
                <a:r>
                  <a:rPr lang="es-419" dirty="0"/>
                  <a:t>Planteamos una hipótesis nula genérica:</a:t>
                </a:r>
                <a:endParaRPr lang="es-419" i="1" dirty="0">
                  <a:latin typeface="Cambria Math" panose="02040503050406030204" pitchFamily="18" charset="0"/>
                </a:endParaRPr>
              </a:p>
              <a:p>
                <a:pPr lvl="1">
                  <a:lnSpc>
                    <a:spcPct val="170000"/>
                  </a:lnSpc>
                </a:pPr>
                <a14:m>
                  <m:oMath xmlns:m="http://schemas.openxmlformats.org/officeDocument/2006/math">
                    <m:sSub>
                      <m:sSubPr>
                        <m:ctrlPr>
                          <a:rPr lang="es-419" i="1" smtClean="0">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0</m:t>
                        </m:r>
                      </m:sub>
                    </m:sSub>
                    <m:r>
                      <a:rPr lang="es-419" i="1">
                        <a:latin typeface="Cambria Math" panose="02040503050406030204" pitchFamily="18" charset="0"/>
                      </a:rPr>
                      <m:t>:</m:t>
                    </m:r>
                    <m:sSup>
                      <m:sSupPr>
                        <m:ctrlPr>
                          <a:rPr lang="es-419" i="1" smtClean="0">
                            <a:latin typeface="Cambria Math" panose="02040503050406030204" pitchFamily="18" charset="0"/>
                            <a:ea typeface="Cambria Math" panose="02040503050406030204" pitchFamily="18" charset="0"/>
                          </a:rPr>
                        </m:ctrlPr>
                      </m:sSupPr>
                      <m:e>
                        <m:r>
                          <a:rPr lang="es-419"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r>
                      <a:rPr lang="es-419" i="1">
                        <a:latin typeface="Cambria Math" panose="02040503050406030204" pitchFamily="18" charset="0"/>
                        <a:ea typeface="Cambria Math" panose="02040503050406030204" pitchFamily="18" charset="0"/>
                      </a:rPr>
                      <m:t>=</m:t>
                    </m:r>
                    <m:sSubSup>
                      <m:sSubSupPr>
                        <m:ctrlPr>
                          <a:rPr lang="es-419" i="1" smtClean="0">
                            <a:latin typeface="Cambria Math" panose="02040503050406030204" pitchFamily="18" charset="0"/>
                            <a:ea typeface="Cambria Math" panose="02040503050406030204" pitchFamily="18" charset="0"/>
                          </a:rPr>
                        </m:ctrlPr>
                      </m:sSubSupPr>
                      <m:e>
                        <m:r>
                          <a:rPr lang="es-419" i="1" smtClean="0">
                            <a:latin typeface="Cambria Math" panose="02040503050406030204" pitchFamily="18" charset="0"/>
                            <a:ea typeface="Cambria Math" panose="02040503050406030204" pitchFamily="18" charset="0"/>
                          </a:rPr>
                          <m:t>𝜎</m:t>
                        </m:r>
                      </m:e>
                      <m:sub>
                        <m:r>
                          <a:rPr lang="es-419" b="0" i="1" smtClean="0">
                            <a:latin typeface="Cambria Math" panose="02040503050406030204" pitchFamily="18" charset="0"/>
                            <a:ea typeface="Cambria Math" panose="02040503050406030204" pitchFamily="18" charset="0"/>
                          </a:rPr>
                          <m:t>0</m:t>
                        </m:r>
                      </m:sub>
                      <m:sup>
                        <m:r>
                          <a:rPr lang="es-419" b="0" i="1" smtClean="0">
                            <a:latin typeface="Cambria Math" panose="02040503050406030204" pitchFamily="18" charset="0"/>
                            <a:ea typeface="Cambria Math" panose="02040503050406030204" pitchFamily="18" charset="0"/>
                          </a:rPr>
                          <m:t>2</m:t>
                        </m:r>
                      </m:sup>
                    </m:sSubSup>
                  </m:oMath>
                </a14:m>
                <a:endParaRPr lang="es-419" i="1" dirty="0">
                  <a:latin typeface="Cambria Math" panose="02040503050406030204" pitchFamily="18" charset="0"/>
                  <a:ea typeface="Cambria Math" panose="02040503050406030204" pitchFamily="18" charset="0"/>
                </a:endParaRPr>
              </a:p>
              <a:p>
                <a:pPr lvl="1">
                  <a:lnSpc>
                    <a:spcPct val="170000"/>
                  </a:lnSpc>
                </a:pPr>
                <a14:m>
                  <m:oMath xmlns:m="http://schemas.openxmlformats.org/officeDocument/2006/math">
                    <m:sSub>
                      <m:sSubPr>
                        <m:ctrlPr>
                          <a:rPr lang="es-419" i="1">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1</m:t>
                        </m:r>
                      </m:sub>
                    </m:sSub>
                    <m:r>
                      <a:rPr lang="es-419" i="1">
                        <a:latin typeface="Cambria Math" panose="02040503050406030204" pitchFamily="18" charset="0"/>
                      </a:rPr>
                      <m:t>:</m:t>
                    </m:r>
                    <m:sSup>
                      <m:sSupPr>
                        <m:ctrlPr>
                          <a:rPr lang="es-419" i="1">
                            <a:latin typeface="Cambria Math" panose="02040503050406030204" pitchFamily="18" charset="0"/>
                            <a:ea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r>
                      <a:rPr lang="es-419" i="1" smtClean="0">
                        <a:latin typeface="Cambria Math" panose="02040503050406030204" pitchFamily="18" charset="0"/>
                        <a:ea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0</m:t>
                        </m:r>
                      </m:sub>
                      <m:sup>
                        <m:r>
                          <a:rPr lang="es-419" i="1">
                            <a:latin typeface="Cambria Math" panose="02040503050406030204" pitchFamily="18" charset="0"/>
                            <a:ea typeface="Cambria Math" panose="02040503050406030204" pitchFamily="18" charset="0"/>
                          </a:rPr>
                          <m:t>2</m:t>
                        </m:r>
                      </m:sup>
                    </m:sSubSup>
                  </m:oMath>
                </a14:m>
                <a:endParaRPr lang="es-419" i="1" dirty="0">
                  <a:latin typeface="Cambria Math" panose="02040503050406030204" pitchFamily="18" charset="0"/>
                  <a:ea typeface="Cambria Math" panose="02040503050406030204" pitchFamily="18" charset="0"/>
                </a:endParaRPr>
              </a:p>
              <a:p>
                <a:pPr>
                  <a:lnSpc>
                    <a:spcPct val="170000"/>
                  </a:lnSpc>
                </a:pPr>
                <a:r>
                  <a:rPr lang="es-419" dirty="0"/>
                  <a:t>Para la cual podemos construir un estadístico en función de la varianza muestral </a:t>
                </a:r>
                <a:r>
                  <a:rPr lang="es-419" b="1" dirty="0">
                    <a:solidFill>
                      <a:srgbClr val="003A5D"/>
                    </a:solidFill>
                  </a:rPr>
                  <a:t>insesgada</a:t>
                </a:r>
              </a:p>
              <a:p>
                <a:pPr marL="0" indent="0">
                  <a:lnSpc>
                    <a:spcPct val="170000"/>
                  </a:lnSpc>
                  <a:buNone/>
                </a:pPr>
                <a14:m>
                  <m:oMathPara xmlns:m="http://schemas.openxmlformats.org/officeDocument/2006/math">
                    <m:oMathParaPr>
                      <m:jc m:val="centerGroup"/>
                    </m:oMathParaPr>
                    <m:oMath xmlns:m="http://schemas.openxmlformats.org/officeDocument/2006/math">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𝜒</m:t>
                          </m:r>
                        </m:e>
                        <m:sup>
                          <m:r>
                            <a:rPr lang="es-419" i="1">
                              <a:latin typeface="Cambria Math" panose="02040503050406030204" pitchFamily="18" charset="0"/>
                            </a:rPr>
                            <m:t>2</m:t>
                          </m:r>
                        </m:sup>
                      </m:sSup>
                      <m:r>
                        <a:rPr lang="es-VE" b="0" i="1" smtClean="0">
                          <a:latin typeface="Cambria Math" panose="02040503050406030204" pitchFamily="18" charset="0"/>
                        </a:rPr>
                        <m:t>=</m:t>
                      </m:r>
                      <m:f>
                        <m:fPr>
                          <m:ctrlPr>
                            <a:rPr lang="es-419" i="1" smtClean="0">
                              <a:latin typeface="Cambria Math" panose="02040503050406030204" pitchFamily="18" charset="0"/>
                            </a:rPr>
                          </m:ctrlPr>
                        </m:fPr>
                        <m:num>
                          <m:r>
                            <a:rPr lang="es-419" b="0" i="1" smtClean="0">
                              <a:latin typeface="Cambria Math" panose="02040503050406030204" pitchFamily="18" charset="0"/>
                            </a:rPr>
                            <m:t>(</m:t>
                          </m:r>
                          <m:r>
                            <a:rPr lang="es-419" i="1">
                              <a:latin typeface="Cambria Math" panose="02040503050406030204" pitchFamily="18" charset="0"/>
                            </a:rPr>
                            <m:t>𝑛</m:t>
                          </m:r>
                          <m:r>
                            <a:rPr lang="es-419" b="0" i="1" smtClean="0">
                              <a:latin typeface="Cambria Math" panose="02040503050406030204" pitchFamily="18" charset="0"/>
                            </a:rPr>
                            <m:t>−1)</m:t>
                          </m:r>
                          <m:sSup>
                            <m:sSupPr>
                              <m:ctrlPr>
                                <a:rPr lang="es-419" i="1">
                                  <a:latin typeface="Cambria Math" panose="02040503050406030204" pitchFamily="18" charset="0"/>
                                </a:rPr>
                              </m:ctrlPr>
                            </m:sSupPr>
                            <m:e>
                              <m:r>
                                <a:rPr lang="es-419" i="1">
                                  <a:latin typeface="Cambria Math" panose="02040503050406030204" pitchFamily="18" charset="0"/>
                                </a:rPr>
                                <m:t>𝑆</m:t>
                              </m:r>
                            </m:e>
                            <m:sup>
                              <m:r>
                                <a:rPr lang="es-419" i="1">
                                  <a:latin typeface="Cambria Math" panose="02040503050406030204" pitchFamily="18" charset="0"/>
                                </a:rPr>
                                <m:t>2</m:t>
                              </m:r>
                            </m:sup>
                          </m:sSup>
                        </m:num>
                        <m:den>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0</m:t>
                              </m:r>
                            </m:sub>
                            <m:sup>
                              <m:r>
                                <a:rPr lang="es-419" i="1">
                                  <a:latin typeface="Cambria Math" panose="02040503050406030204" pitchFamily="18" charset="0"/>
                                  <a:ea typeface="Cambria Math" panose="02040503050406030204" pitchFamily="18" charset="0"/>
                                </a:rPr>
                                <m:t>2</m:t>
                              </m:r>
                            </m:sup>
                          </m:sSubSup>
                        </m:den>
                      </m:f>
                      <m:r>
                        <a:rPr lang="es-419" i="1">
                          <a:latin typeface="Cambria Math" panose="02040503050406030204" pitchFamily="18" charset="0"/>
                        </a:rPr>
                        <m:t>~ </m:t>
                      </m:r>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𝜒</m:t>
                          </m:r>
                        </m:e>
                        <m:sup>
                          <m:r>
                            <a:rPr lang="es-419" i="1">
                              <a:latin typeface="Cambria Math" panose="02040503050406030204" pitchFamily="18" charset="0"/>
                            </a:rPr>
                            <m:t>2</m:t>
                          </m:r>
                        </m:sup>
                      </m:sSup>
                      <m:r>
                        <a:rPr lang="es-419" i="1">
                          <a:latin typeface="Cambria Math" panose="02040503050406030204" pitchFamily="18" charset="0"/>
                        </a:rPr>
                        <m:t>(</m:t>
                      </m:r>
                      <m:r>
                        <a:rPr lang="es-419" i="1">
                          <a:latin typeface="Cambria Math" panose="02040503050406030204" pitchFamily="18" charset="0"/>
                        </a:rPr>
                        <m:t>𝑛</m:t>
                      </m:r>
                      <m:r>
                        <a:rPr lang="es-419" i="1">
                          <a:latin typeface="Cambria Math" panose="02040503050406030204" pitchFamily="18" charset="0"/>
                        </a:rPr>
                        <m:t>−1)</m:t>
                      </m:r>
                    </m:oMath>
                  </m:oMathPara>
                </a14:m>
                <a:endParaRPr lang="es-419" dirty="0"/>
              </a:p>
              <a:p>
                <a:pPr>
                  <a:lnSpc>
                    <a:spcPct val="170000"/>
                  </a:lnSpc>
                </a:pPr>
                <a:r>
                  <a:rPr lang="es-419" dirty="0"/>
                  <a:t>En </a:t>
                </a:r>
                <a:r>
                  <a:rPr lang="es-419" b="1" dirty="0">
                    <a:solidFill>
                      <a:srgbClr val="003A5D"/>
                    </a:solidFill>
                  </a:rPr>
                  <a:t>R</a:t>
                </a:r>
                <a:r>
                  <a:rPr lang="es-419" dirty="0"/>
                  <a:t> se emplea </a:t>
                </a:r>
                <a:r>
                  <a:rPr lang="es-419" dirty="0" err="1">
                    <a:solidFill>
                      <a:srgbClr val="003A5D"/>
                    </a:solidFill>
                    <a:latin typeface="Consolas" panose="020B0609020204030204" pitchFamily="49" charset="0"/>
                  </a:rPr>
                  <a:t>VarTest</a:t>
                </a:r>
                <a:r>
                  <a:rPr lang="es-419" dirty="0">
                    <a:solidFill>
                      <a:srgbClr val="003A5D"/>
                    </a:solidFill>
                    <a:latin typeface="Consolas" panose="020B0609020204030204" pitchFamily="49" charset="0"/>
                  </a:rPr>
                  <a:t>() </a:t>
                </a:r>
                <a:r>
                  <a:rPr lang="es-419" dirty="0"/>
                  <a:t>del paquete </a:t>
                </a:r>
                <a:r>
                  <a:rPr lang="es-419" dirty="0" err="1">
                    <a:solidFill>
                      <a:srgbClr val="003A5D"/>
                    </a:solidFill>
                    <a:latin typeface="Consolas" panose="020B0609020204030204" pitchFamily="49" charset="0"/>
                  </a:rPr>
                  <a:t>EnvStats</a:t>
                </a: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n-US">
                    <a:noFill/>
                  </a:rPr>
                  <a:t> </a:t>
                </a:r>
              </a:p>
            </p:txBody>
          </p:sp>
        </mc:Fallback>
      </mc:AlternateContent>
    </p:spTree>
    <p:extLst>
      <p:ext uri="{BB962C8B-B14F-4D97-AF65-F5344CB8AC3E}">
        <p14:creationId xmlns:p14="http://schemas.microsoft.com/office/powerpoint/2010/main" val="4125747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varianza poblacional (normal)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85000" lnSpcReduction="10000"/>
              </a:bodyPr>
              <a:lstStyle/>
              <a:p>
                <a:pPr>
                  <a:lnSpc>
                    <a:spcPct val="170000"/>
                  </a:lnSpc>
                </a:pPr>
                <a:r>
                  <a:rPr lang="es-419" dirty="0"/>
                  <a:t>Si se desea aplicar el método de </a:t>
                </a:r>
                <a:r>
                  <a:rPr lang="es-419" b="1" dirty="0">
                    <a:solidFill>
                      <a:srgbClr val="003A5D"/>
                    </a:solidFill>
                  </a:rPr>
                  <a:t>áreas de rechazo</a:t>
                </a:r>
                <a:r>
                  <a:rPr lang="es-419" dirty="0"/>
                  <a:t>:</a:t>
                </a:r>
              </a:p>
              <a:p>
                <a:pPr lvl="1">
                  <a:lnSpc>
                    <a:spcPct val="170000"/>
                  </a:lnSpc>
                </a:pPr>
                <a:r>
                  <a:rPr lang="es-419" b="1" dirty="0">
                    <a:solidFill>
                      <a:srgbClr val="003A5D"/>
                    </a:solidFill>
                  </a:rPr>
                  <a:t>Valores críticos: </a:t>
                </a:r>
                <a:r>
                  <a:rPr lang="es-419" dirty="0"/>
                  <a:t>se encuentran los cuantiles </a:t>
                </a:r>
                <a14:m>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𝛼</m:t>
                        </m:r>
                      </m:sub>
                    </m:sSub>
                    <m:r>
                      <a:rPr lang="es-419" i="1">
                        <a:latin typeface="Cambria Math" panose="02040503050406030204" pitchFamily="18" charset="0"/>
                        <a:ea typeface="Cambria Math" panose="02040503050406030204" pitchFamily="18" charset="0"/>
                      </a:rPr>
                      <m:t> </m:t>
                    </m:r>
                  </m:oMath>
                </a14:m>
                <a:r>
                  <a:rPr lang="es-419" dirty="0"/>
                  <a:t>(con </a:t>
                </a:r>
                <a14:m>
                  <m:oMath xmlns:m="http://schemas.openxmlformats.org/officeDocument/2006/math">
                    <m:r>
                      <a:rPr lang="es-419" i="1">
                        <a:latin typeface="Cambria Math" panose="02040503050406030204" pitchFamily="18" charset="0"/>
                        <a:ea typeface="Cambria Math" panose="02040503050406030204" pitchFamily="18" charset="0"/>
                      </a:rPr>
                      <m:t>𝛼</m:t>
                    </m:r>
                    <m:r>
                      <a:rPr lang="es-VE" b="0" i="1" smtClean="0">
                        <a:latin typeface="Cambria Math" panose="02040503050406030204" pitchFamily="18" charset="0"/>
                        <a:ea typeface="Cambria Math" panose="02040503050406030204" pitchFamily="18" charset="0"/>
                      </a:rPr>
                      <m:t>,  </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r>
                      <a:rPr lang="es-VE" b="0" i="1" smtClean="0">
                        <a:latin typeface="Cambria Math" panose="02040503050406030204" pitchFamily="18" charset="0"/>
                        <a:ea typeface="Cambria Math" panose="02040503050406030204" pitchFamily="18" charset="0"/>
                      </a:rPr>
                      <m:t>; </m:t>
                    </m:r>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r>
                      <a:rPr lang="es-419" i="1">
                        <a:latin typeface="Cambria Math" panose="02040503050406030204" pitchFamily="18" charset="0"/>
                        <a:ea typeface="Cambria Math" panose="02040503050406030204" pitchFamily="18" charset="0"/>
                      </a:rPr>
                      <m:t> </m:t>
                    </m:r>
                  </m:oMath>
                </a14:m>
                <a:r>
                  <a:rPr lang="es-419" dirty="0"/>
                  <a:t>según sea necesario) y transforman a escala de varianza para compararse con el estimador.</a:t>
                </a:r>
              </a:p>
              <a:p>
                <a:pPr marL="457200" lvl="1" indent="0">
                  <a:lnSpc>
                    <a:spcPct val="170000"/>
                  </a:lnSpc>
                  <a:buNone/>
                </a:pPr>
                <a14:m>
                  <m:oMathPara xmlns:m="http://schemas.openxmlformats.org/officeDocument/2006/math">
                    <m:oMathParaPr>
                      <m:jc m:val="centerGroup"/>
                    </m:oMathParaPr>
                    <m:oMath xmlns:m="http://schemas.openxmlformats.org/officeDocument/2006/math">
                      <m:sSubSup>
                        <m:sSubSupPr>
                          <m:ctrlPr>
                            <a:rPr lang="es-VE" b="0" i="1" smtClean="0">
                              <a:latin typeface="Cambria Math" panose="02040503050406030204" pitchFamily="18" charset="0"/>
                              <a:ea typeface="Cambria Math" panose="02040503050406030204" pitchFamily="18" charset="0"/>
                            </a:rPr>
                          </m:ctrlPr>
                        </m:sSubSupPr>
                        <m:e>
                          <m:r>
                            <a:rPr lang="es-VE" b="0" i="1" smtClean="0">
                              <a:latin typeface="Cambria Math" panose="02040503050406030204" pitchFamily="18" charset="0"/>
                              <a:ea typeface="Cambria Math" panose="02040503050406030204" pitchFamily="18" charset="0"/>
                            </a:rPr>
                            <m:t>𝑆</m:t>
                          </m:r>
                        </m:e>
                        <m:sub>
                          <m:r>
                            <a:rPr lang="es-VE" b="0" i="1" smtClean="0">
                              <a:latin typeface="Cambria Math" panose="02040503050406030204" pitchFamily="18" charset="0"/>
                              <a:ea typeface="Cambria Math" panose="02040503050406030204" pitchFamily="18" charset="0"/>
                            </a:rPr>
                            <m:t>𝑙𝑖𝑚</m:t>
                          </m:r>
                        </m:sub>
                        <m:sup>
                          <m:r>
                            <a:rPr lang="es-VE" b="0" i="1" smtClean="0">
                              <a:latin typeface="Cambria Math" panose="02040503050406030204" pitchFamily="18" charset="0"/>
                              <a:ea typeface="Cambria Math" panose="02040503050406030204" pitchFamily="18" charset="0"/>
                            </a:rPr>
                            <m:t>2</m:t>
                          </m:r>
                        </m:sup>
                      </m:sSubSup>
                      <m:r>
                        <a:rPr lang="es-VE"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𝛼</m:t>
                              </m:r>
                            </m:sub>
                          </m:sSub>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0</m:t>
                              </m:r>
                            </m:sub>
                            <m:sup>
                              <m:r>
                                <a:rPr lang="es-419" i="1">
                                  <a:latin typeface="Cambria Math" panose="02040503050406030204" pitchFamily="18" charset="0"/>
                                  <a:ea typeface="Cambria Math" panose="02040503050406030204" pitchFamily="18" charset="0"/>
                                </a:rPr>
                                <m:t>2</m:t>
                              </m:r>
                            </m:sup>
                          </m:sSubSup>
                        </m:num>
                        <m:den>
                          <m:r>
                            <a:rPr lang="es-419" i="1" smtClean="0">
                              <a:latin typeface="Cambria Math" panose="02040503050406030204" pitchFamily="18" charset="0"/>
                              <a:ea typeface="Cambria Math" panose="02040503050406030204" pitchFamily="18" charset="0"/>
                            </a:rPr>
                            <m:t> </m:t>
                          </m:r>
                          <m:r>
                            <a:rPr lang="es-419" i="1">
                              <a:latin typeface="Cambria Math" panose="02040503050406030204" pitchFamily="18" charset="0"/>
                            </a:rPr>
                            <m:t>(</m:t>
                          </m:r>
                          <m:r>
                            <a:rPr lang="es-419" i="1">
                              <a:latin typeface="Cambria Math" panose="02040503050406030204" pitchFamily="18" charset="0"/>
                            </a:rPr>
                            <m:t>𝑛</m:t>
                          </m:r>
                          <m:r>
                            <a:rPr lang="es-419" i="1">
                              <a:latin typeface="Cambria Math" panose="02040503050406030204" pitchFamily="18" charset="0"/>
                            </a:rPr>
                            <m:t>−1)</m:t>
                          </m:r>
                        </m:den>
                      </m:f>
                    </m:oMath>
                  </m:oMathPara>
                </a14:m>
                <a:endParaRPr lang="es-419" dirty="0"/>
              </a:p>
              <a:p>
                <a:pPr lvl="1">
                  <a:lnSpc>
                    <a:spcPct val="170000"/>
                  </a:lnSpc>
                </a:pPr>
                <a:r>
                  <a:rPr lang="es-419" b="1" dirty="0">
                    <a:solidFill>
                      <a:srgbClr val="003A5D"/>
                    </a:solidFill>
                  </a:rPr>
                  <a:t>Estadístico: </a:t>
                </a:r>
                <a:r>
                  <a:rPr lang="es-419" dirty="0"/>
                  <a:t>una vez calculado el estadístico se compara directamente con cuantiles de</a:t>
                </a:r>
                <a14:m>
                  <m:oMath xmlns:m="http://schemas.openxmlformats.org/officeDocument/2006/math">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𝛼</m:t>
                        </m:r>
                      </m:sub>
                    </m:sSub>
                  </m:oMath>
                </a14:m>
                <a:endParaRPr lang="es-419" dirty="0"/>
              </a:p>
              <a:p>
                <a:pPr>
                  <a:lnSpc>
                    <a:spcPct val="170000"/>
                  </a:lnSpc>
                </a:pPr>
                <a:r>
                  <a:rPr lang="es-419" dirty="0"/>
                  <a:t>Si se desea emplear el método del </a:t>
                </a:r>
                <a:r>
                  <a:rPr lang="es-419" b="1" dirty="0">
                    <a:solidFill>
                      <a:srgbClr val="003A5D"/>
                    </a:solidFill>
                  </a:rPr>
                  <a:t>p-valor</a:t>
                </a:r>
                <a:r>
                  <a:rPr lang="es-419" dirty="0"/>
                  <a:t> se calcula el estadístico y luego su área acumulada en el sentido del contraste.</a:t>
                </a: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s-VE">
                    <a:noFill/>
                  </a:rPr>
                  <a:t> </a:t>
                </a:r>
              </a:p>
            </p:txBody>
          </p:sp>
        </mc:Fallback>
      </mc:AlternateContent>
    </p:spTree>
    <p:extLst>
      <p:ext uri="{BB962C8B-B14F-4D97-AF65-F5344CB8AC3E}">
        <p14:creationId xmlns:p14="http://schemas.microsoft.com/office/powerpoint/2010/main" val="40321057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80BD21A-DB6D-0FE6-A0C4-18FB554BC2AF}"/>
              </a:ext>
            </a:extLst>
          </p:cNvPr>
          <p:cNvPicPr>
            <a:picLocks noChangeAspect="1"/>
          </p:cNvPicPr>
          <p:nvPr/>
        </p:nvPicPr>
        <p:blipFill>
          <a:blip r:embed="rId2"/>
          <a:stretch>
            <a:fillRect/>
          </a:stretch>
        </p:blipFill>
        <p:spPr>
          <a:xfrm>
            <a:off x="1812569" y="1089000"/>
            <a:ext cx="8566863" cy="4680000"/>
          </a:xfrm>
          <a:prstGeom prst="rect">
            <a:avLst/>
          </a:prstGeom>
        </p:spPr>
      </p:pic>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lstStyle/>
          <a:p>
            <a:r>
              <a:rPr lang="es-419" dirty="0"/>
              <a:t>Contraste para la diferencias de varianzas poblacionales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7507DFE-8649-4A7A-93BD-45EBA8959A52}"/>
                  </a:ext>
                </a:extLst>
              </p:cNvPr>
              <p:cNvSpPr txBox="1"/>
              <p:nvPr/>
            </p:nvSpPr>
            <p:spPr>
              <a:xfrm>
                <a:off x="3307977" y="1191156"/>
                <a:ext cx="1134926" cy="31194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p>
                        <m:sSupPr>
                          <m:ctrlPr>
                            <a:rPr lang="es-419" sz="1400" i="1">
                              <a:latin typeface="Cambria Math" panose="02040503050406030204" pitchFamily="18" charset="0"/>
                              <a:ea typeface="Cambria Math" panose="02040503050406030204" pitchFamily="18" charset="0"/>
                            </a:rPr>
                          </m:ctrlPr>
                        </m:sSupPr>
                        <m:e>
                          <m:r>
                            <a:rPr lang="es-419" sz="1400" i="1">
                              <a:latin typeface="Cambria Math" panose="02040503050406030204" pitchFamily="18" charset="0"/>
                              <a:ea typeface="Cambria Math" panose="02040503050406030204" pitchFamily="18" charset="0"/>
                            </a:rPr>
                            <m:t>𝜎</m:t>
                          </m:r>
                        </m:e>
                        <m:sup>
                          <m:r>
                            <a:rPr lang="en-US" sz="1400" i="1">
                              <a:latin typeface="Cambria Math" panose="02040503050406030204" pitchFamily="18" charset="0"/>
                              <a:ea typeface="Cambria Math" panose="02040503050406030204" pitchFamily="18" charset="0"/>
                            </a:rPr>
                            <m:t>2</m:t>
                          </m:r>
                        </m:sup>
                      </m:sSup>
                      <m:r>
                        <a:rPr lang="es-VE" sz="1400" b="0" i="1" smtClean="0">
                          <a:latin typeface="Cambria Math" panose="02040503050406030204" pitchFamily="18" charset="0"/>
                          <a:ea typeface="Cambria Math" panose="02040503050406030204" pitchFamily="18" charset="0"/>
                        </a:rPr>
                        <m:t>&gt;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0</m:t>
                          </m:r>
                        </m:sub>
                        <m:sup>
                          <m:r>
                            <a:rPr lang="es-419" sz="1400" i="1">
                              <a:latin typeface="Cambria Math" panose="02040503050406030204" pitchFamily="18" charset="0"/>
                              <a:ea typeface="Cambria Math" panose="02040503050406030204" pitchFamily="18" charset="0"/>
                            </a:rPr>
                            <m:t>2</m:t>
                          </m:r>
                        </m:sup>
                      </m:sSubSup>
                    </m:oMath>
                  </m:oMathPara>
                </a14:m>
                <a:endParaRPr lang="es-419" sz="1400" dirty="0"/>
              </a:p>
            </p:txBody>
          </p:sp>
        </mc:Choice>
        <mc:Fallback xmlns="">
          <p:sp>
            <p:nvSpPr>
              <p:cNvPr id="4"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3307977" y="1191156"/>
                <a:ext cx="1134926" cy="31194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9F544A-1796-43D8-8368-6A67CCF97DFB}"/>
                  </a:ext>
                </a:extLst>
              </p:cNvPr>
              <p:cNvSpPr txBox="1"/>
              <p:nvPr/>
            </p:nvSpPr>
            <p:spPr>
              <a:xfrm>
                <a:off x="7306235" y="1191156"/>
                <a:ext cx="1134926" cy="31194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p>
                        <m:sSupPr>
                          <m:ctrlPr>
                            <a:rPr lang="es-419" sz="1400" i="1">
                              <a:latin typeface="Cambria Math" panose="02040503050406030204" pitchFamily="18" charset="0"/>
                              <a:ea typeface="Cambria Math" panose="02040503050406030204" pitchFamily="18" charset="0"/>
                            </a:rPr>
                          </m:ctrlPr>
                        </m:sSupPr>
                        <m:e>
                          <m:r>
                            <a:rPr lang="es-419" sz="1400" i="1">
                              <a:latin typeface="Cambria Math" panose="02040503050406030204" pitchFamily="18" charset="0"/>
                              <a:ea typeface="Cambria Math" panose="02040503050406030204" pitchFamily="18" charset="0"/>
                            </a:rPr>
                            <m:t>𝜎</m:t>
                          </m:r>
                        </m:e>
                        <m:sup>
                          <m:r>
                            <a:rPr lang="en-US" sz="1400" i="1">
                              <a:latin typeface="Cambria Math" panose="02040503050406030204" pitchFamily="18" charset="0"/>
                              <a:ea typeface="Cambria Math" panose="02040503050406030204" pitchFamily="18" charset="0"/>
                            </a:rPr>
                            <m:t>2</m:t>
                          </m:r>
                        </m:sup>
                      </m:sSup>
                      <m:r>
                        <a:rPr lang="es-VE" sz="1400" b="0" i="1" smtClean="0">
                          <a:latin typeface="Cambria Math" panose="02040503050406030204" pitchFamily="18" charset="0"/>
                          <a:ea typeface="Cambria Math" panose="02040503050406030204" pitchFamily="18" charset="0"/>
                        </a:rPr>
                        <m:t>&lt;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0</m:t>
                          </m:r>
                        </m:sub>
                        <m:sup>
                          <m:r>
                            <a:rPr lang="es-419" sz="1400" i="1">
                              <a:latin typeface="Cambria Math" panose="02040503050406030204" pitchFamily="18" charset="0"/>
                              <a:ea typeface="Cambria Math" panose="02040503050406030204" pitchFamily="18" charset="0"/>
                            </a:rPr>
                            <m:t>2</m:t>
                          </m:r>
                        </m:sup>
                      </m:sSubSup>
                    </m:oMath>
                  </m:oMathPara>
                </a14:m>
                <a:endParaRPr lang="es-419" sz="1400" dirty="0"/>
              </a:p>
            </p:txBody>
          </p:sp>
        </mc:Choice>
        <mc:Fallback xmlns="">
          <p:sp>
            <p:nvSpPr>
              <p:cNvPr id="6" name="TextBox 5">
                <a:extLst>
                  <a:ext uri="{FF2B5EF4-FFF2-40B4-BE49-F238E27FC236}">
                    <a16:creationId xmlns:a16="http://schemas.microsoft.com/office/drawing/2014/main" id="{8E9F544A-1796-43D8-8368-6A67CCF97DFB}"/>
                  </a:ext>
                </a:extLst>
              </p:cNvPr>
              <p:cNvSpPr txBox="1">
                <a:spLocks noRot="1" noChangeAspect="1" noMove="1" noResize="1" noEditPoints="1" noAdjustHandles="1" noChangeArrowheads="1" noChangeShapeType="1" noTextEdit="1"/>
              </p:cNvSpPr>
              <p:nvPr/>
            </p:nvSpPr>
            <p:spPr>
              <a:xfrm>
                <a:off x="7306235" y="1191156"/>
                <a:ext cx="1134926" cy="31194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898102D-32FA-417D-ABD4-8ABB53EE307F}"/>
                  </a:ext>
                </a:extLst>
              </p:cNvPr>
              <p:cNvSpPr txBox="1"/>
              <p:nvPr/>
            </p:nvSpPr>
            <p:spPr>
              <a:xfrm>
                <a:off x="5226423" y="3701920"/>
                <a:ext cx="1134926" cy="31194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p>
                        <m:sSupPr>
                          <m:ctrlPr>
                            <a:rPr lang="es-419" sz="1400" i="1">
                              <a:latin typeface="Cambria Math" panose="02040503050406030204" pitchFamily="18" charset="0"/>
                              <a:ea typeface="Cambria Math" panose="02040503050406030204" pitchFamily="18" charset="0"/>
                            </a:rPr>
                          </m:ctrlPr>
                        </m:sSupPr>
                        <m:e>
                          <m:r>
                            <a:rPr lang="es-419" sz="1400" i="1">
                              <a:latin typeface="Cambria Math" panose="02040503050406030204" pitchFamily="18" charset="0"/>
                              <a:ea typeface="Cambria Math" panose="02040503050406030204" pitchFamily="18" charset="0"/>
                            </a:rPr>
                            <m:t>𝜎</m:t>
                          </m:r>
                        </m:e>
                        <m:sup>
                          <m:r>
                            <a:rPr lang="en-US" sz="1400" i="1">
                              <a:latin typeface="Cambria Math" panose="02040503050406030204" pitchFamily="18" charset="0"/>
                              <a:ea typeface="Cambria Math" panose="02040503050406030204" pitchFamily="18" charset="0"/>
                            </a:rPr>
                            <m:t>2</m:t>
                          </m:r>
                        </m:sup>
                      </m:sSup>
                      <m:r>
                        <a:rPr lang="es-419" sz="1400" i="1">
                          <a:latin typeface="Cambria Math" panose="02040503050406030204" pitchFamily="18" charset="0"/>
                          <a:ea typeface="Cambria Math" panose="02040503050406030204" pitchFamily="18" charset="0"/>
                        </a:rPr>
                        <m: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0</m:t>
                          </m:r>
                        </m:sub>
                        <m:sup>
                          <m:r>
                            <a:rPr lang="es-419" sz="1400" i="1">
                              <a:latin typeface="Cambria Math" panose="02040503050406030204" pitchFamily="18" charset="0"/>
                              <a:ea typeface="Cambria Math" panose="02040503050406030204" pitchFamily="18" charset="0"/>
                            </a:rPr>
                            <m:t>2</m:t>
                          </m:r>
                        </m:sup>
                      </m:sSubSup>
                    </m:oMath>
                  </m:oMathPara>
                </a14:m>
                <a:endParaRPr lang="es-419" sz="1400" dirty="0"/>
              </a:p>
            </p:txBody>
          </p:sp>
        </mc:Choice>
        <mc:Fallback xmlns="">
          <p:sp>
            <p:nvSpPr>
              <p:cNvPr id="7" name="TextBox 6">
                <a:extLst>
                  <a:ext uri="{FF2B5EF4-FFF2-40B4-BE49-F238E27FC236}">
                    <a16:creationId xmlns:a16="http://schemas.microsoft.com/office/drawing/2014/main" id="{B898102D-32FA-417D-ABD4-8ABB53EE307F}"/>
                  </a:ext>
                </a:extLst>
              </p:cNvPr>
              <p:cNvSpPr txBox="1">
                <a:spLocks noRot="1" noChangeAspect="1" noMove="1" noResize="1" noEditPoints="1" noAdjustHandles="1" noChangeArrowheads="1" noChangeShapeType="1" noTextEdit="1"/>
              </p:cNvSpPr>
              <p:nvPr/>
            </p:nvSpPr>
            <p:spPr>
              <a:xfrm>
                <a:off x="5226423" y="3701920"/>
                <a:ext cx="1134926" cy="31194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3">
                <a:extLst>
                  <a:ext uri="{FF2B5EF4-FFF2-40B4-BE49-F238E27FC236}">
                    <a16:creationId xmlns:a16="http://schemas.microsoft.com/office/drawing/2014/main" id="{27507DFE-8649-4A7A-93BD-45EBA8959A52}"/>
                  </a:ext>
                </a:extLst>
              </p:cNvPr>
              <p:cNvSpPr txBox="1"/>
              <p:nvPr/>
            </p:nvSpPr>
            <p:spPr>
              <a:xfrm>
                <a:off x="3377379" y="2662084"/>
                <a:ext cx="412956" cy="200055"/>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bSup>
                        <m:sSubSupPr>
                          <m:ctrlPr>
                            <a:rPr lang="es-419" sz="700" i="1" smtClean="0">
                              <a:latin typeface="Cambria Math" panose="02040503050406030204" pitchFamily="18" charset="0"/>
                            </a:rPr>
                          </m:ctrlPr>
                        </m:sSubSupPr>
                        <m:e>
                          <m:r>
                            <a:rPr lang="es-419" sz="700" i="1" smtClean="0">
                              <a:latin typeface="Cambria Math" panose="02040503050406030204" pitchFamily="18" charset="0"/>
                              <a:ea typeface="Cambria Math" panose="02040503050406030204" pitchFamily="18" charset="0"/>
                            </a:rPr>
                            <m:t>𝜒</m:t>
                          </m:r>
                        </m:e>
                        <m:sub>
                          <m:r>
                            <a:rPr lang="es-419" sz="700" i="1" smtClean="0">
                              <a:latin typeface="Cambria Math" panose="02040503050406030204" pitchFamily="18" charset="0"/>
                              <a:ea typeface="Cambria Math" panose="02040503050406030204" pitchFamily="18" charset="0"/>
                            </a:rPr>
                            <m:t>𝛼</m:t>
                          </m:r>
                        </m:sub>
                        <m:sup>
                          <m:r>
                            <a:rPr lang="es-VE" sz="700" b="0" i="1" smtClean="0">
                              <a:latin typeface="Cambria Math" panose="02040503050406030204" pitchFamily="18" charset="0"/>
                            </a:rPr>
                            <m:t>2</m:t>
                          </m:r>
                        </m:sup>
                      </m:sSubSup>
                    </m:oMath>
                  </m:oMathPara>
                </a14:m>
                <a:endParaRPr lang="es-419" sz="700" dirty="0"/>
              </a:p>
            </p:txBody>
          </p:sp>
        </mc:Choice>
        <mc:Fallback xmlns="">
          <p:sp>
            <p:nvSpPr>
              <p:cNvPr id="8"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3377379" y="2662084"/>
                <a:ext cx="412956" cy="20005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3">
                <a:extLst>
                  <a:ext uri="{FF2B5EF4-FFF2-40B4-BE49-F238E27FC236}">
                    <a16:creationId xmlns:a16="http://schemas.microsoft.com/office/drawing/2014/main" id="{27507DFE-8649-4A7A-93BD-45EBA8959A52}"/>
                  </a:ext>
                </a:extLst>
              </p:cNvPr>
              <p:cNvSpPr txBox="1"/>
              <p:nvPr/>
            </p:nvSpPr>
            <p:spPr>
              <a:xfrm>
                <a:off x="6548284" y="2690111"/>
                <a:ext cx="252000" cy="144000"/>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bSup>
                        <m:sSubSupPr>
                          <m:ctrlPr>
                            <a:rPr lang="es-419" sz="700" i="1" smtClean="0">
                              <a:latin typeface="Cambria Math" panose="02040503050406030204" pitchFamily="18" charset="0"/>
                            </a:rPr>
                          </m:ctrlPr>
                        </m:sSubSupPr>
                        <m:e>
                          <m:r>
                            <a:rPr lang="es-419" sz="700" i="1" smtClean="0">
                              <a:latin typeface="Cambria Math" panose="02040503050406030204" pitchFamily="18" charset="0"/>
                              <a:ea typeface="Cambria Math" panose="02040503050406030204" pitchFamily="18" charset="0"/>
                            </a:rPr>
                            <m:t>𝜒</m:t>
                          </m:r>
                        </m:e>
                        <m:sub>
                          <m:r>
                            <a:rPr lang="es-VE" sz="700" b="0" i="1" smtClean="0">
                              <a:latin typeface="Cambria Math" panose="02040503050406030204" pitchFamily="18" charset="0"/>
                            </a:rPr>
                            <m:t>1−</m:t>
                          </m:r>
                          <m:r>
                            <a:rPr lang="es-419" sz="700" i="1" smtClean="0">
                              <a:latin typeface="Cambria Math" panose="02040503050406030204" pitchFamily="18" charset="0"/>
                              <a:ea typeface="Cambria Math" panose="02040503050406030204" pitchFamily="18" charset="0"/>
                            </a:rPr>
                            <m:t>𝛼</m:t>
                          </m:r>
                        </m:sub>
                        <m:sup>
                          <m:r>
                            <a:rPr lang="es-VE" sz="700" b="0" i="1" smtClean="0">
                              <a:latin typeface="Cambria Math" panose="02040503050406030204" pitchFamily="18" charset="0"/>
                            </a:rPr>
                            <m:t>2</m:t>
                          </m:r>
                        </m:sup>
                      </m:sSubSup>
                    </m:oMath>
                  </m:oMathPara>
                </a14:m>
                <a:endParaRPr lang="es-419" sz="700" dirty="0"/>
              </a:p>
            </p:txBody>
          </p:sp>
        </mc:Choice>
        <mc:Fallback xmlns="">
          <p:sp>
            <p:nvSpPr>
              <p:cNvPr id="9"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6548284" y="2690111"/>
                <a:ext cx="252000" cy="144000"/>
              </a:xfrm>
              <a:prstGeom prst="rect">
                <a:avLst/>
              </a:prstGeom>
              <a:blipFill>
                <a:blip r:embed="rId7"/>
                <a:stretch>
                  <a:fillRect r="-11905"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3">
                <a:extLst>
                  <a:ext uri="{FF2B5EF4-FFF2-40B4-BE49-F238E27FC236}">
                    <a16:creationId xmlns:a16="http://schemas.microsoft.com/office/drawing/2014/main" id="{27507DFE-8649-4A7A-93BD-45EBA8959A52}"/>
                  </a:ext>
                </a:extLst>
              </p:cNvPr>
              <p:cNvSpPr txBox="1"/>
              <p:nvPr/>
            </p:nvSpPr>
            <p:spPr>
              <a:xfrm>
                <a:off x="5316792" y="5235678"/>
                <a:ext cx="331840" cy="21961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bSup>
                        <m:sSubSupPr>
                          <m:ctrlPr>
                            <a:rPr lang="es-419" sz="700" i="1" smtClean="0">
                              <a:latin typeface="Cambria Math" panose="02040503050406030204" pitchFamily="18" charset="0"/>
                            </a:rPr>
                          </m:ctrlPr>
                        </m:sSubSupPr>
                        <m:e>
                          <m:r>
                            <a:rPr lang="es-419" sz="700" i="1" smtClean="0">
                              <a:latin typeface="Cambria Math" panose="02040503050406030204" pitchFamily="18" charset="0"/>
                              <a:ea typeface="Cambria Math" panose="02040503050406030204" pitchFamily="18" charset="0"/>
                            </a:rPr>
                            <m:t>𝜒</m:t>
                          </m:r>
                        </m:e>
                        <m:sub>
                          <m:r>
                            <a:rPr lang="es-419" sz="700" i="1" smtClean="0">
                              <a:latin typeface="Cambria Math" panose="02040503050406030204" pitchFamily="18" charset="0"/>
                              <a:ea typeface="Cambria Math" panose="02040503050406030204" pitchFamily="18" charset="0"/>
                            </a:rPr>
                            <m:t>𝛼</m:t>
                          </m:r>
                          <m:r>
                            <a:rPr lang="es-VE" sz="700" b="0" i="1" smtClean="0">
                              <a:latin typeface="Cambria Math" panose="02040503050406030204" pitchFamily="18" charset="0"/>
                              <a:ea typeface="Cambria Math" panose="02040503050406030204" pitchFamily="18" charset="0"/>
                            </a:rPr>
                            <m:t>/2</m:t>
                          </m:r>
                        </m:sub>
                        <m:sup>
                          <m:r>
                            <a:rPr lang="es-VE" sz="700" b="0" i="1" smtClean="0">
                              <a:latin typeface="Cambria Math" panose="02040503050406030204" pitchFamily="18" charset="0"/>
                            </a:rPr>
                            <m:t>2</m:t>
                          </m:r>
                        </m:sup>
                      </m:sSubSup>
                    </m:oMath>
                  </m:oMathPara>
                </a14:m>
                <a:endParaRPr lang="es-419" sz="700" dirty="0"/>
              </a:p>
            </p:txBody>
          </p:sp>
        </mc:Choice>
        <mc:Fallback xmlns="">
          <p:sp>
            <p:nvSpPr>
              <p:cNvPr id="10"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5316792" y="5235678"/>
                <a:ext cx="331840" cy="21961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3">
                <a:extLst>
                  <a:ext uri="{FF2B5EF4-FFF2-40B4-BE49-F238E27FC236}">
                    <a16:creationId xmlns:a16="http://schemas.microsoft.com/office/drawing/2014/main" id="{27507DFE-8649-4A7A-93BD-45EBA8959A52}"/>
                  </a:ext>
                </a:extLst>
              </p:cNvPr>
              <p:cNvSpPr txBox="1"/>
              <p:nvPr/>
            </p:nvSpPr>
            <p:spPr>
              <a:xfrm>
                <a:off x="4643284" y="5235678"/>
                <a:ext cx="385916" cy="201787"/>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bSup>
                        <m:sSubSupPr>
                          <m:ctrlPr>
                            <a:rPr lang="es-419" sz="700" i="1" smtClean="0">
                              <a:latin typeface="Cambria Math" panose="02040503050406030204" pitchFamily="18" charset="0"/>
                            </a:rPr>
                          </m:ctrlPr>
                        </m:sSubSupPr>
                        <m:e>
                          <m:r>
                            <a:rPr lang="es-419" sz="700" i="1" smtClean="0">
                              <a:latin typeface="Cambria Math" panose="02040503050406030204" pitchFamily="18" charset="0"/>
                              <a:ea typeface="Cambria Math" panose="02040503050406030204" pitchFamily="18" charset="0"/>
                            </a:rPr>
                            <m:t>𝜒</m:t>
                          </m:r>
                        </m:e>
                        <m:sub>
                          <m:r>
                            <a:rPr lang="es-VE" sz="700" b="0" i="1" smtClean="0">
                              <a:latin typeface="Cambria Math" panose="02040503050406030204" pitchFamily="18" charset="0"/>
                            </a:rPr>
                            <m:t>1−</m:t>
                          </m:r>
                          <m:r>
                            <a:rPr lang="es-419" sz="700" i="1" smtClean="0">
                              <a:latin typeface="Cambria Math" panose="02040503050406030204" pitchFamily="18" charset="0"/>
                              <a:ea typeface="Cambria Math" panose="02040503050406030204" pitchFamily="18" charset="0"/>
                            </a:rPr>
                            <m:t>𝛼</m:t>
                          </m:r>
                        </m:sub>
                        <m:sup>
                          <m:r>
                            <a:rPr lang="es-VE" sz="700" b="0" i="1" smtClean="0">
                              <a:latin typeface="Cambria Math" panose="02040503050406030204" pitchFamily="18" charset="0"/>
                            </a:rPr>
                            <m:t>2</m:t>
                          </m:r>
                        </m:sup>
                      </m:sSubSup>
                    </m:oMath>
                  </m:oMathPara>
                </a14:m>
                <a:endParaRPr lang="es-419" sz="700" dirty="0"/>
              </a:p>
            </p:txBody>
          </p:sp>
        </mc:Choice>
        <mc:Fallback xmlns="">
          <p:sp>
            <p:nvSpPr>
              <p:cNvPr id="11"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4643284" y="5235678"/>
                <a:ext cx="385916" cy="2017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3">
                <a:extLst>
                  <a:ext uri="{FF2B5EF4-FFF2-40B4-BE49-F238E27FC236}">
                    <a16:creationId xmlns:a16="http://schemas.microsoft.com/office/drawing/2014/main" id="{27507DFE-8649-4A7A-93BD-45EBA8959A52}"/>
                  </a:ext>
                </a:extLst>
              </p:cNvPr>
              <p:cNvSpPr txBox="1"/>
              <p:nvPr/>
            </p:nvSpPr>
            <p:spPr>
              <a:xfrm>
                <a:off x="5226423" y="2542499"/>
                <a:ext cx="412956" cy="23083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s-419" sz="900" i="1" smtClean="0">
                              <a:latin typeface="Cambria Math" panose="02040503050406030204" pitchFamily="18" charset="0"/>
                            </a:rPr>
                          </m:ctrlPr>
                        </m:sSupPr>
                        <m:e>
                          <m:r>
                            <a:rPr lang="es-419" sz="900" i="1" smtClean="0">
                              <a:latin typeface="Cambria Math" panose="02040503050406030204" pitchFamily="18" charset="0"/>
                              <a:ea typeface="Cambria Math" panose="02040503050406030204" pitchFamily="18" charset="0"/>
                            </a:rPr>
                            <m:t>𝜒</m:t>
                          </m:r>
                        </m:e>
                        <m:sup>
                          <m:r>
                            <a:rPr lang="es-VE" sz="900" b="0" i="1" smtClean="0">
                              <a:latin typeface="Cambria Math" panose="02040503050406030204" pitchFamily="18" charset="0"/>
                            </a:rPr>
                            <m:t>2</m:t>
                          </m:r>
                        </m:sup>
                      </m:sSup>
                    </m:oMath>
                  </m:oMathPara>
                </a14:m>
                <a:endParaRPr lang="es-419" sz="700" dirty="0"/>
              </a:p>
            </p:txBody>
          </p:sp>
        </mc:Choice>
        <mc:Fallback xmlns="">
          <p:sp>
            <p:nvSpPr>
              <p:cNvPr id="12"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5226423" y="2542499"/>
                <a:ext cx="412956" cy="2308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3">
                <a:extLst>
                  <a:ext uri="{FF2B5EF4-FFF2-40B4-BE49-F238E27FC236}">
                    <a16:creationId xmlns:a16="http://schemas.microsoft.com/office/drawing/2014/main" id="{27507DFE-8649-4A7A-93BD-45EBA8959A52}"/>
                  </a:ext>
                </a:extLst>
              </p:cNvPr>
              <p:cNvSpPr txBox="1"/>
              <p:nvPr/>
            </p:nvSpPr>
            <p:spPr>
              <a:xfrm>
                <a:off x="5226423" y="2814770"/>
                <a:ext cx="412956" cy="23083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s-419" sz="900" i="1" smtClean="0">
                              <a:latin typeface="Cambria Math" panose="02040503050406030204" pitchFamily="18" charset="0"/>
                            </a:rPr>
                          </m:ctrlPr>
                        </m:sSupPr>
                        <m:e>
                          <m:r>
                            <a:rPr lang="es-419" sz="900" i="1" smtClean="0">
                              <a:latin typeface="Cambria Math" panose="02040503050406030204" pitchFamily="18" charset="0"/>
                              <a:ea typeface="Cambria Math" panose="02040503050406030204" pitchFamily="18" charset="0"/>
                            </a:rPr>
                            <m:t>𝜒</m:t>
                          </m:r>
                        </m:e>
                        <m:sup>
                          <m:r>
                            <a:rPr lang="es-VE" sz="900" b="0" i="1" smtClean="0">
                              <a:latin typeface="Cambria Math" panose="02040503050406030204" pitchFamily="18" charset="0"/>
                            </a:rPr>
                            <m:t>2</m:t>
                          </m:r>
                        </m:sup>
                      </m:sSup>
                    </m:oMath>
                  </m:oMathPara>
                </a14:m>
                <a:endParaRPr lang="es-419" sz="700" dirty="0"/>
              </a:p>
            </p:txBody>
          </p:sp>
        </mc:Choice>
        <mc:Fallback xmlns="">
          <p:sp>
            <p:nvSpPr>
              <p:cNvPr id="13"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5226423" y="2814770"/>
                <a:ext cx="412956" cy="2308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3">
                <a:extLst>
                  <a:ext uri="{FF2B5EF4-FFF2-40B4-BE49-F238E27FC236}">
                    <a16:creationId xmlns:a16="http://schemas.microsoft.com/office/drawing/2014/main" id="{27507DFE-8649-4A7A-93BD-45EBA8959A52}"/>
                  </a:ext>
                </a:extLst>
              </p:cNvPr>
              <p:cNvSpPr txBox="1"/>
              <p:nvPr/>
            </p:nvSpPr>
            <p:spPr>
              <a:xfrm>
                <a:off x="8992178" y="2515633"/>
                <a:ext cx="412956" cy="23083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s-419" sz="900" i="1" smtClean="0">
                              <a:latin typeface="Cambria Math" panose="02040503050406030204" pitchFamily="18" charset="0"/>
                            </a:rPr>
                          </m:ctrlPr>
                        </m:sSupPr>
                        <m:e>
                          <m:r>
                            <a:rPr lang="es-419" sz="900" i="1" smtClean="0">
                              <a:latin typeface="Cambria Math" panose="02040503050406030204" pitchFamily="18" charset="0"/>
                              <a:ea typeface="Cambria Math" panose="02040503050406030204" pitchFamily="18" charset="0"/>
                            </a:rPr>
                            <m:t>𝜒</m:t>
                          </m:r>
                        </m:e>
                        <m:sup>
                          <m:r>
                            <a:rPr lang="es-VE" sz="900" b="0" i="1" smtClean="0">
                              <a:latin typeface="Cambria Math" panose="02040503050406030204" pitchFamily="18" charset="0"/>
                            </a:rPr>
                            <m:t>2</m:t>
                          </m:r>
                        </m:sup>
                      </m:sSup>
                    </m:oMath>
                  </m:oMathPara>
                </a14:m>
                <a:endParaRPr lang="es-419" sz="700" dirty="0"/>
              </a:p>
            </p:txBody>
          </p:sp>
        </mc:Choice>
        <mc:Fallback xmlns="">
          <p:sp>
            <p:nvSpPr>
              <p:cNvPr id="14"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8992178" y="2515633"/>
                <a:ext cx="412956" cy="2308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3">
                <a:extLst>
                  <a:ext uri="{FF2B5EF4-FFF2-40B4-BE49-F238E27FC236}">
                    <a16:creationId xmlns:a16="http://schemas.microsoft.com/office/drawing/2014/main" id="{27507DFE-8649-4A7A-93BD-45EBA8959A52}"/>
                  </a:ext>
                </a:extLst>
              </p:cNvPr>
              <p:cNvSpPr txBox="1"/>
              <p:nvPr/>
            </p:nvSpPr>
            <p:spPr>
              <a:xfrm>
                <a:off x="8992178" y="2787904"/>
                <a:ext cx="412956" cy="23083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s-419" sz="900" i="1" smtClean="0">
                              <a:latin typeface="Cambria Math" panose="02040503050406030204" pitchFamily="18" charset="0"/>
                            </a:rPr>
                          </m:ctrlPr>
                        </m:sSupPr>
                        <m:e>
                          <m:r>
                            <a:rPr lang="es-419" sz="900" i="1" smtClean="0">
                              <a:latin typeface="Cambria Math" panose="02040503050406030204" pitchFamily="18" charset="0"/>
                              <a:ea typeface="Cambria Math" panose="02040503050406030204" pitchFamily="18" charset="0"/>
                            </a:rPr>
                            <m:t>𝜒</m:t>
                          </m:r>
                        </m:e>
                        <m:sup>
                          <m:r>
                            <a:rPr lang="es-VE" sz="900" b="0" i="1" smtClean="0">
                              <a:latin typeface="Cambria Math" panose="02040503050406030204" pitchFamily="18" charset="0"/>
                            </a:rPr>
                            <m:t>2</m:t>
                          </m:r>
                        </m:sup>
                      </m:sSup>
                    </m:oMath>
                  </m:oMathPara>
                </a14:m>
                <a:endParaRPr lang="es-419" sz="700" dirty="0"/>
              </a:p>
            </p:txBody>
          </p:sp>
        </mc:Choice>
        <mc:Fallback xmlns="">
          <p:sp>
            <p:nvSpPr>
              <p:cNvPr id="15"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8992178" y="2787904"/>
                <a:ext cx="412956" cy="2308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3">
                <a:extLst>
                  <a:ext uri="{FF2B5EF4-FFF2-40B4-BE49-F238E27FC236}">
                    <a16:creationId xmlns:a16="http://schemas.microsoft.com/office/drawing/2014/main" id="{27507DFE-8649-4A7A-93BD-45EBA8959A52}"/>
                  </a:ext>
                </a:extLst>
              </p:cNvPr>
              <p:cNvSpPr txBox="1"/>
              <p:nvPr/>
            </p:nvSpPr>
            <p:spPr>
              <a:xfrm>
                <a:off x="7188122" y="5067603"/>
                <a:ext cx="412956" cy="23083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s-419" sz="900" i="1" smtClean="0">
                              <a:latin typeface="Cambria Math" panose="02040503050406030204" pitchFamily="18" charset="0"/>
                            </a:rPr>
                          </m:ctrlPr>
                        </m:sSupPr>
                        <m:e>
                          <m:r>
                            <a:rPr lang="es-419" sz="900" i="1" smtClean="0">
                              <a:latin typeface="Cambria Math" panose="02040503050406030204" pitchFamily="18" charset="0"/>
                              <a:ea typeface="Cambria Math" panose="02040503050406030204" pitchFamily="18" charset="0"/>
                            </a:rPr>
                            <m:t>𝜒</m:t>
                          </m:r>
                        </m:e>
                        <m:sup>
                          <m:r>
                            <a:rPr lang="es-VE" sz="900" b="0" i="1" smtClean="0">
                              <a:latin typeface="Cambria Math" panose="02040503050406030204" pitchFamily="18" charset="0"/>
                            </a:rPr>
                            <m:t>2</m:t>
                          </m:r>
                        </m:sup>
                      </m:sSup>
                    </m:oMath>
                  </m:oMathPara>
                </a14:m>
                <a:endParaRPr lang="es-419" sz="700" dirty="0"/>
              </a:p>
            </p:txBody>
          </p:sp>
        </mc:Choice>
        <mc:Fallback xmlns="">
          <p:sp>
            <p:nvSpPr>
              <p:cNvPr id="16"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7188122" y="5067603"/>
                <a:ext cx="412956" cy="2308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3">
                <a:extLst>
                  <a:ext uri="{FF2B5EF4-FFF2-40B4-BE49-F238E27FC236}">
                    <a16:creationId xmlns:a16="http://schemas.microsoft.com/office/drawing/2014/main" id="{27507DFE-8649-4A7A-93BD-45EBA8959A52}"/>
                  </a:ext>
                </a:extLst>
              </p:cNvPr>
              <p:cNvSpPr txBox="1"/>
              <p:nvPr/>
            </p:nvSpPr>
            <p:spPr>
              <a:xfrm>
                <a:off x="7188122" y="5339874"/>
                <a:ext cx="412956" cy="230832"/>
              </a:xfrm>
              <a:prstGeom prst="rect">
                <a:avLst/>
              </a:prstGeom>
              <a:solidFill>
                <a:schemeClr val="bg1"/>
              </a:solid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s-419" sz="900" i="1" smtClean="0">
                              <a:latin typeface="Cambria Math" panose="02040503050406030204" pitchFamily="18" charset="0"/>
                            </a:rPr>
                          </m:ctrlPr>
                        </m:sSupPr>
                        <m:e>
                          <m:r>
                            <a:rPr lang="es-419" sz="900" i="1" smtClean="0">
                              <a:latin typeface="Cambria Math" panose="02040503050406030204" pitchFamily="18" charset="0"/>
                              <a:ea typeface="Cambria Math" panose="02040503050406030204" pitchFamily="18" charset="0"/>
                            </a:rPr>
                            <m:t>𝜒</m:t>
                          </m:r>
                        </m:e>
                        <m:sup>
                          <m:r>
                            <a:rPr lang="es-VE" sz="900" b="0" i="1" smtClean="0">
                              <a:latin typeface="Cambria Math" panose="02040503050406030204" pitchFamily="18" charset="0"/>
                            </a:rPr>
                            <m:t>2</m:t>
                          </m:r>
                        </m:sup>
                      </m:sSup>
                    </m:oMath>
                  </m:oMathPara>
                </a14:m>
                <a:endParaRPr lang="es-419" sz="700" dirty="0"/>
              </a:p>
            </p:txBody>
          </p:sp>
        </mc:Choice>
        <mc:Fallback xmlns="">
          <p:sp>
            <p:nvSpPr>
              <p:cNvPr id="17"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7188122" y="5339874"/>
                <a:ext cx="412956" cy="2308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19454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11.24</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normAutofit fontScale="92500" lnSpcReduction="10000"/>
          </a:bodyPr>
          <a:lstStyle/>
          <a:p>
            <a:pPr marL="0" indent="0">
              <a:lnSpc>
                <a:spcPct val="150000"/>
              </a:lnSpc>
              <a:buNone/>
            </a:pPr>
            <a:r>
              <a:rPr lang="es-VE" i="1" dirty="0"/>
              <a:t>En el ejercicio 9.52, con un nivel de significación de 0,05. ¿Se puede aceptar que la varianza máxima es 2? Emplee los tres método. </a:t>
            </a:r>
          </a:p>
          <a:p>
            <a:pPr marL="0" indent="0">
              <a:lnSpc>
                <a:spcPct val="150000"/>
              </a:lnSpc>
              <a:buNone/>
            </a:pPr>
            <a:r>
              <a:rPr lang="es-VE" b="1" i="1" dirty="0">
                <a:solidFill>
                  <a:srgbClr val="003A5D"/>
                </a:solidFill>
              </a:rPr>
              <a:t>Ejercicio 9.52</a:t>
            </a:r>
          </a:p>
          <a:p>
            <a:pPr marL="0" indent="0">
              <a:lnSpc>
                <a:spcPct val="150000"/>
              </a:lnSpc>
              <a:buNone/>
            </a:pPr>
            <a:r>
              <a:rPr lang="es-419" i="1" dirty="0"/>
              <a:t>Se garantiza que un instrumento de medición mide con exactitud con una varianza máxima de 2mm. Un mismo objeto de 354 </a:t>
            </a:r>
            <a:r>
              <a:rPr lang="es-419" i="1" dirty="0" err="1"/>
              <a:t>mm.</a:t>
            </a:r>
            <a:r>
              <a:rPr lang="es-419" i="1" dirty="0"/>
              <a:t> Fue medido cuatro veces, y se obtuvo las siguientes lecturas en el instrumento: 353, 351, 351, 355. Calcular un intervalo de confianza del 95 % para la varianza, e interpretar el resultado. Supóngase que la medida hecha por el instrumento es una variable aleatoria normal.</a:t>
            </a:r>
            <a:endParaRPr lang="en-US" i="1" dirty="0"/>
          </a:p>
        </p:txBody>
      </p:sp>
    </p:spTree>
    <p:extLst>
      <p:ext uri="{BB962C8B-B14F-4D97-AF65-F5344CB8AC3E}">
        <p14:creationId xmlns:p14="http://schemas.microsoft.com/office/powerpoint/2010/main" val="8637707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11.24</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62500" lnSpcReduction="20000"/>
          </a:bodyPr>
          <a:lstStyle/>
          <a:p>
            <a:pPr marL="0" indent="0">
              <a:buNone/>
            </a:pPr>
            <a:r>
              <a:rPr lang="es-ES" dirty="0">
                <a:latin typeface="Consolas" panose="020B0609020204030204" pitchFamily="49" charset="0"/>
              </a:rPr>
              <a:t>&gt; o2_0 &lt;- 2</a:t>
            </a:r>
          </a:p>
          <a:p>
            <a:pPr marL="0" indent="0">
              <a:buNone/>
            </a:pPr>
            <a:r>
              <a:rPr lang="es-ES" dirty="0">
                <a:latin typeface="Consolas" panose="020B0609020204030204" pitchFamily="49" charset="0"/>
              </a:rPr>
              <a:t>&gt; a &lt;- 0.05</a:t>
            </a:r>
          </a:p>
          <a:p>
            <a:pPr marL="0" indent="0">
              <a:buNone/>
            </a:pPr>
            <a:r>
              <a:rPr lang="es-ES" dirty="0">
                <a:latin typeface="Consolas" panose="020B0609020204030204" pitchFamily="49" charset="0"/>
              </a:rPr>
              <a:t>&gt; muestra &lt;- c(353, 351, 351, 355)</a:t>
            </a:r>
          </a:p>
          <a:p>
            <a:pPr marL="0" indent="0">
              <a:buNone/>
            </a:pPr>
            <a:r>
              <a:rPr lang="es-ES" dirty="0">
                <a:latin typeface="Consolas" panose="020B0609020204030204" pitchFamily="49" charset="0"/>
              </a:rPr>
              <a:t>&gt; n &lt;- </a:t>
            </a:r>
            <a:r>
              <a:rPr lang="es-ES" dirty="0" err="1">
                <a:latin typeface="Consolas" panose="020B0609020204030204" pitchFamily="49" charset="0"/>
              </a:rPr>
              <a:t>length</a:t>
            </a:r>
            <a:r>
              <a:rPr lang="es-ES" dirty="0">
                <a:latin typeface="Consolas" panose="020B0609020204030204" pitchFamily="49" charset="0"/>
              </a:rPr>
              <a:t>(muestra)</a:t>
            </a:r>
          </a:p>
          <a:p>
            <a:pPr marL="0" indent="0">
              <a:buNone/>
            </a:pPr>
            <a:r>
              <a:rPr lang="sv-SE" dirty="0">
                <a:latin typeface="Consolas" panose="020B0609020204030204" pitchFamily="49" charset="0"/>
              </a:rPr>
              <a:t>&gt;#H0: var &lt;= 2 |H1: var &gt; 2</a:t>
            </a:r>
            <a:endParaRPr lang="es-ES" dirty="0">
              <a:latin typeface="Consolas" panose="020B0609020204030204" pitchFamily="49" charset="0"/>
            </a:endParaRP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s2_hat &lt;- </a:t>
            </a:r>
            <a:r>
              <a:rPr lang="es-ES" dirty="0" err="1">
                <a:latin typeface="Consolas" panose="020B0609020204030204" pitchFamily="49" charset="0"/>
              </a:rPr>
              <a:t>var</a:t>
            </a:r>
            <a:r>
              <a:rPr lang="es-ES" dirty="0">
                <a:latin typeface="Consolas" panose="020B0609020204030204" pitchFamily="49" charset="0"/>
              </a:rPr>
              <a:t>(muestra)</a:t>
            </a:r>
          </a:p>
          <a:p>
            <a:pPr marL="0" indent="0">
              <a:buNone/>
            </a:pPr>
            <a:r>
              <a:rPr lang="es-ES" dirty="0">
                <a:latin typeface="Consolas" panose="020B0609020204030204" pitchFamily="49" charset="0"/>
              </a:rPr>
              <a:t>&gt; s2_hat</a:t>
            </a:r>
          </a:p>
          <a:p>
            <a:pPr marL="0" indent="0">
              <a:buNone/>
            </a:pPr>
            <a:r>
              <a:rPr lang="es-ES" dirty="0">
                <a:highlight>
                  <a:srgbClr val="FFFF00"/>
                </a:highlight>
                <a:latin typeface="Consolas" panose="020B0609020204030204" pitchFamily="49" charset="0"/>
              </a:rPr>
              <a:t>[1] 3.666667</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#Areas de rechazo: valores </a:t>
            </a:r>
            <a:r>
              <a:rPr lang="es-ES" dirty="0" err="1">
                <a:latin typeface="Consolas" panose="020B0609020204030204" pitchFamily="49" charset="0"/>
              </a:rPr>
              <a:t>criticos</a:t>
            </a:r>
            <a:endParaRPr lang="es-ES" dirty="0">
              <a:latin typeface="Consolas" panose="020B0609020204030204" pitchFamily="49" charset="0"/>
            </a:endParaRPr>
          </a:p>
          <a:p>
            <a:pPr marL="0" indent="0">
              <a:buNone/>
            </a:pPr>
            <a:r>
              <a:rPr lang="es-ES" dirty="0">
                <a:latin typeface="Consolas" panose="020B0609020204030204" pitchFamily="49" charset="0"/>
              </a:rPr>
              <a:t>&gt; h1 &lt;- </a:t>
            </a:r>
            <a:r>
              <a:rPr lang="es-ES" dirty="0" err="1">
                <a:latin typeface="Consolas" panose="020B0609020204030204" pitchFamily="49" charset="0"/>
              </a:rPr>
              <a:t>qchisq</a:t>
            </a:r>
            <a:r>
              <a:rPr lang="es-ES" dirty="0">
                <a:latin typeface="Consolas" panose="020B0609020204030204" pitchFamily="49" charset="0"/>
              </a:rPr>
              <a:t>(a, </a:t>
            </a:r>
            <a:r>
              <a:rPr lang="es-ES" dirty="0" err="1">
                <a:latin typeface="Consolas" panose="020B0609020204030204" pitchFamily="49" charset="0"/>
              </a:rPr>
              <a:t>df</a:t>
            </a:r>
            <a:r>
              <a:rPr lang="es-ES" dirty="0">
                <a:latin typeface="Consolas" panose="020B0609020204030204" pitchFamily="49" charset="0"/>
              </a:rPr>
              <a:t> = n - 1, </a:t>
            </a:r>
            <a:r>
              <a:rPr lang="es-ES" dirty="0" err="1">
                <a:latin typeface="Consolas" panose="020B0609020204030204" pitchFamily="49" charset="0"/>
              </a:rPr>
              <a:t>lower.tail</a:t>
            </a:r>
            <a:r>
              <a:rPr lang="es-ES" dirty="0">
                <a:latin typeface="Consolas" panose="020B0609020204030204" pitchFamily="49" charset="0"/>
              </a:rPr>
              <a:t> = FALSE)*o2_0/n</a:t>
            </a:r>
          </a:p>
          <a:p>
            <a:pPr marL="0" indent="0">
              <a:buNone/>
            </a:pPr>
            <a:r>
              <a:rPr lang="es-ES" dirty="0">
                <a:latin typeface="Consolas" panose="020B0609020204030204" pitchFamily="49" charset="0"/>
              </a:rPr>
              <a:t>&gt; h1</a:t>
            </a:r>
          </a:p>
          <a:p>
            <a:pPr marL="0" indent="0">
              <a:buNone/>
            </a:pPr>
            <a:r>
              <a:rPr lang="es-ES" dirty="0">
                <a:highlight>
                  <a:srgbClr val="FFFF00"/>
                </a:highlight>
                <a:latin typeface="Consolas" panose="020B0609020204030204" pitchFamily="49" charset="0"/>
              </a:rPr>
              <a:t>[1] 3.907364</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s2_hat &gt; h1</a:t>
            </a:r>
          </a:p>
          <a:p>
            <a:pPr marL="0" indent="0">
              <a:buNone/>
            </a:pPr>
            <a:r>
              <a:rPr lang="es-ES" dirty="0">
                <a:highlight>
                  <a:srgbClr val="FFFF00"/>
                </a:highlight>
                <a:latin typeface="Consolas" panose="020B0609020204030204" pitchFamily="49" charset="0"/>
              </a:rPr>
              <a:t>[1] FALSE</a:t>
            </a:r>
          </a:p>
          <a:p>
            <a:pPr marL="0" indent="0">
              <a:buNone/>
            </a:pPr>
            <a:endParaRPr lang="es-ES" dirty="0">
              <a:latin typeface="Consolas" panose="020B0609020204030204" pitchFamily="49" charset="0"/>
            </a:endParaRPr>
          </a:p>
        </p:txBody>
      </p:sp>
    </p:spTree>
    <p:extLst>
      <p:ext uri="{BB962C8B-B14F-4D97-AF65-F5344CB8AC3E}">
        <p14:creationId xmlns:p14="http://schemas.microsoft.com/office/powerpoint/2010/main" val="17390906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11.24</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lnSpcReduction="10000"/>
          </a:bodyPr>
          <a:lstStyle/>
          <a:p>
            <a:pPr marL="0" indent="0">
              <a:buNone/>
            </a:pPr>
            <a:r>
              <a:rPr lang="es-ES" dirty="0">
                <a:latin typeface="Consolas" panose="020B0609020204030204" pitchFamily="49" charset="0"/>
              </a:rPr>
              <a:t>&gt; #Areas de rechazo: estadístico</a:t>
            </a:r>
          </a:p>
          <a:p>
            <a:pPr marL="0" indent="0">
              <a:buNone/>
            </a:pPr>
            <a:r>
              <a:rPr lang="es-ES" dirty="0">
                <a:latin typeface="Consolas" panose="020B0609020204030204" pitchFamily="49" charset="0"/>
              </a:rPr>
              <a:t>&gt; chi &lt;- s2_hat*(n - 1)/o2_0</a:t>
            </a:r>
          </a:p>
          <a:p>
            <a:pPr marL="0" indent="0">
              <a:buNone/>
            </a:pPr>
            <a:r>
              <a:rPr lang="es-ES" dirty="0">
                <a:latin typeface="Consolas" panose="020B0609020204030204" pitchFamily="49" charset="0"/>
              </a:rPr>
              <a:t>&gt; chi</a:t>
            </a:r>
          </a:p>
          <a:p>
            <a:pPr marL="0" indent="0">
              <a:buNone/>
            </a:pPr>
            <a:r>
              <a:rPr lang="es-ES" dirty="0">
                <a:highlight>
                  <a:srgbClr val="FFFF00"/>
                </a:highlight>
                <a:latin typeface="Consolas" panose="020B0609020204030204" pitchFamily="49" charset="0"/>
              </a:rPr>
              <a:t>[1] 5.5</a:t>
            </a:r>
          </a:p>
          <a:p>
            <a:pPr marL="0" indent="0">
              <a:buNone/>
            </a:pPr>
            <a:r>
              <a:rPr lang="es-ES" dirty="0">
                <a:latin typeface="Consolas" panose="020B0609020204030204" pitchFamily="49" charset="0"/>
              </a:rPr>
              <a:t>&gt; </a:t>
            </a:r>
          </a:p>
          <a:p>
            <a:pPr marL="0" indent="0">
              <a:buNone/>
            </a:pPr>
            <a:r>
              <a:rPr lang="es-ES" dirty="0">
                <a:latin typeface="Consolas" panose="020B0609020204030204" pitchFamily="49" charset="0"/>
              </a:rPr>
              <a:t>&gt; </a:t>
            </a:r>
            <a:r>
              <a:rPr lang="es-ES" dirty="0" err="1">
                <a:latin typeface="Consolas" panose="020B0609020204030204" pitchFamily="49" charset="0"/>
              </a:rPr>
              <a:t>s_lim</a:t>
            </a:r>
            <a:r>
              <a:rPr lang="es-ES" dirty="0">
                <a:latin typeface="Consolas" panose="020B0609020204030204" pitchFamily="49" charset="0"/>
              </a:rPr>
              <a:t> &lt;- </a:t>
            </a:r>
            <a:r>
              <a:rPr lang="es-ES" dirty="0" err="1">
                <a:latin typeface="Consolas" panose="020B0609020204030204" pitchFamily="49" charset="0"/>
              </a:rPr>
              <a:t>qchisq</a:t>
            </a:r>
            <a:r>
              <a:rPr lang="es-ES" dirty="0">
                <a:latin typeface="Consolas" panose="020B0609020204030204" pitchFamily="49" charset="0"/>
              </a:rPr>
              <a:t>(a, </a:t>
            </a:r>
            <a:r>
              <a:rPr lang="es-ES" dirty="0" err="1">
                <a:latin typeface="Consolas" panose="020B0609020204030204" pitchFamily="49" charset="0"/>
              </a:rPr>
              <a:t>df</a:t>
            </a:r>
            <a:r>
              <a:rPr lang="es-ES" dirty="0">
                <a:latin typeface="Consolas" panose="020B0609020204030204" pitchFamily="49" charset="0"/>
              </a:rPr>
              <a:t> = n - 1, </a:t>
            </a:r>
            <a:r>
              <a:rPr lang="es-ES" dirty="0" err="1">
                <a:latin typeface="Consolas" panose="020B0609020204030204" pitchFamily="49" charset="0"/>
              </a:rPr>
              <a:t>lower.tail</a:t>
            </a:r>
            <a:r>
              <a:rPr lang="es-ES" dirty="0">
                <a:latin typeface="Consolas" panose="020B0609020204030204" pitchFamily="49" charset="0"/>
              </a:rPr>
              <a:t> = FALSE)</a:t>
            </a:r>
          </a:p>
          <a:p>
            <a:pPr marL="0" indent="0">
              <a:buNone/>
            </a:pPr>
            <a:r>
              <a:rPr lang="es-ES" dirty="0">
                <a:latin typeface="Consolas" panose="020B0609020204030204" pitchFamily="49" charset="0"/>
              </a:rPr>
              <a:t>&gt; </a:t>
            </a:r>
            <a:r>
              <a:rPr lang="es-ES" dirty="0" err="1">
                <a:latin typeface="Consolas" panose="020B0609020204030204" pitchFamily="49" charset="0"/>
              </a:rPr>
              <a:t>s_lim</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7.814728</a:t>
            </a:r>
          </a:p>
          <a:p>
            <a:pPr marL="0" indent="0">
              <a:buNone/>
            </a:pPr>
            <a:r>
              <a:rPr lang="es-ES" dirty="0">
                <a:latin typeface="Consolas" panose="020B0609020204030204" pitchFamily="49" charset="0"/>
              </a:rPr>
              <a:t>&gt; </a:t>
            </a:r>
          </a:p>
          <a:p>
            <a:pPr marL="0" indent="0">
              <a:buNone/>
            </a:pPr>
            <a:r>
              <a:rPr lang="es-ES" dirty="0">
                <a:latin typeface="Consolas" panose="020B0609020204030204" pitchFamily="49" charset="0"/>
              </a:rPr>
              <a:t>&gt; chi &gt; </a:t>
            </a:r>
            <a:r>
              <a:rPr lang="es-ES" dirty="0" err="1">
                <a:latin typeface="Consolas" panose="020B0609020204030204" pitchFamily="49" charset="0"/>
              </a:rPr>
              <a:t>s_lim</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3729235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11.24</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92500"/>
          </a:bodyPr>
          <a:lstStyle/>
          <a:p>
            <a:pPr marL="0" indent="0">
              <a:buNone/>
            </a:pPr>
            <a:r>
              <a:rPr lang="es-ES" dirty="0">
                <a:latin typeface="Consolas" panose="020B0609020204030204" pitchFamily="49" charset="0"/>
              </a:rPr>
              <a:t>&gt; #Método del p-valor</a:t>
            </a:r>
          </a:p>
          <a:p>
            <a:pPr marL="0" indent="0">
              <a:buNone/>
            </a:pPr>
            <a:r>
              <a:rPr lang="es-ES" dirty="0">
                <a:latin typeface="Consolas" panose="020B0609020204030204" pitchFamily="49" charset="0"/>
              </a:rPr>
              <a:t>&gt; chi &lt;- s2_hat*(n-1)/o2_0</a:t>
            </a:r>
          </a:p>
          <a:p>
            <a:pPr marL="0" indent="0">
              <a:buNone/>
            </a:pPr>
            <a:r>
              <a:rPr lang="es-ES" dirty="0">
                <a:latin typeface="Consolas" panose="020B0609020204030204" pitchFamily="49" charset="0"/>
              </a:rPr>
              <a:t>&gt; chi</a:t>
            </a:r>
          </a:p>
          <a:p>
            <a:pPr marL="0" indent="0">
              <a:buNone/>
            </a:pPr>
            <a:r>
              <a:rPr lang="es-ES" dirty="0">
                <a:highlight>
                  <a:srgbClr val="FFFF00"/>
                </a:highlight>
                <a:latin typeface="Consolas" panose="020B0609020204030204" pitchFamily="49" charset="0"/>
              </a:rPr>
              <a:t>[1] 5.5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a:t>
            </a:r>
            <a:r>
              <a:rPr lang="es-ES" dirty="0" err="1">
                <a:latin typeface="Consolas" panose="020B0609020204030204" pitchFamily="49" charset="0"/>
              </a:rPr>
              <a:t>pchisq</a:t>
            </a:r>
            <a:r>
              <a:rPr lang="es-ES" dirty="0">
                <a:latin typeface="Consolas" panose="020B0609020204030204" pitchFamily="49" charset="0"/>
              </a:rPr>
              <a:t>(chi, </a:t>
            </a:r>
            <a:r>
              <a:rPr lang="es-ES" dirty="0" err="1">
                <a:latin typeface="Consolas" panose="020B0609020204030204" pitchFamily="49" charset="0"/>
              </a:rPr>
              <a:t>df</a:t>
            </a:r>
            <a:r>
              <a:rPr lang="es-ES" dirty="0">
                <a:latin typeface="Consolas" panose="020B0609020204030204" pitchFamily="49" charset="0"/>
              </a:rPr>
              <a:t> = n - 1, </a:t>
            </a:r>
            <a:r>
              <a:rPr lang="es-ES" dirty="0" err="1">
                <a:latin typeface="Consolas" panose="020B0609020204030204" pitchFamily="49" charset="0"/>
              </a:rPr>
              <a:t>lower.tail</a:t>
            </a:r>
            <a:r>
              <a:rPr lang="es-ES" dirty="0">
                <a:latin typeface="Consolas" panose="020B0609020204030204" pitchFamily="49" charset="0"/>
              </a:rPr>
              <a:t> = FALSE)</a:t>
            </a:r>
          </a:p>
          <a:p>
            <a:pPr marL="0" indent="0">
              <a:buNone/>
            </a:pPr>
            <a:r>
              <a:rPr lang="es-ES" dirty="0">
                <a:latin typeface="Consolas" panose="020B0609020204030204" pitchFamily="49" charset="0"/>
              </a:rPr>
              <a:t>&gt; </a:t>
            </a:r>
            <a:r>
              <a:rPr lang="es-ES" dirty="0" err="1">
                <a:latin typeface="Consolas" panose="020B0609020204030204" pitchFamily="49" charset="0"/>
              </a:rPr>
              <a:t>p_valor</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0.1386386</a:t>
            </a:r>
          </a:p>
          <a:p>
            <a:pPr marL="0" indent="0">
              <a:buNone/>
            </a:pPr>
            <a:r>
              <a:rPr lang="es-ES" dirty="0">
                <a:latin typeface="Consolas" panose="020B0609020204030204" pitchFamily="49" charset="0"/>
              </a:rPr>
              <a:t> </a:t>
            </a: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a</a:t>
            </a:r>
          </a:p>
          <a:p>
            <a:pPr marL="0" indent="0">
              <a:buNone/>
            </a:pPr>
            <a:r>
              <a:rPr lang="es-ES"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533355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11.61</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lstStyle/>
          <a:p>
            <a:pPr marL="0" indent="0">
              <a:lnSpc>
                <a:spcPct val="150000"/>
              </a:lnSpc>
              <a:buNone/>
            </a:pPr>
            <a:r>
              <a:rPr lang="es-VE" i="1" dirty="0"/>
              <a:t>Se determinó que el ingreso medio anual de 101 obreros tomados al azar en una industria fue de Bs. 2.700, con una desviación típica de Bs. 37. Con un nivel de significación de 0,05 contraste la hipótesis que </a:t>
            </a:r>
            <a:r>
              <a:rPr lang="el-GR" i="1" dirty="0"/>
              <a:t>σ</a:t>
            </a:r>
            <a:r>
              <a:rPr lang="es-VE" i="1" baseline="30000" dirty="0"/>
              <a:t>2</a:t>
            </a:r>
            <a:r>
              <a:rPr lang="es-VE" i="1" dirty="0"/>
              <a:t> = 2.025. Se suponen los ingresos normalmente distribuidos.</a:t>
            </a:r>
          </a:p>
          <a:p>
            <a:pPr marL="0" indent="0">
              <a:lnSpc>
                <a:spcPct val="150000"/>
              </a:lnSpc>
              <a:buNone/>
            </a:pPr>
            <a:r>
              <a:rPr lang="es-VE" i="1" dirty="0"/>
              <a:t>Asuma que dicha varianza muestral es insesgada y solamente emplee el método del p-valor.</a:t>
            </a:r>
            <a:endParaRPr lang="en-US" i="1" dirty="0"/>
          </a:p>
        </p:txBody>
      </p:sp>
    </p:spTree>
    <p:extLst>
      <p:ext uri="{BB962C8B-B14F-4D97-AF65-F5344CB8AC3E}">
        <p14:creationId xmlns:p14="http://schemas.microsoft.com/office/powerpoint/2010/main" val="14375714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11.61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es-ES" dirty="0">
                <a:latin typeface="Consolas" panose="020B0609020204030204" pitchFamily="49" charset="0"/>
              </a:rPr>
              <a:t>&gt; </a:t>
            </a:r>
            <a:r>
              <a:rPr lang="es-ES" dirty="0" err="1">
                <a:latin typeface="Consolas" panose="020B0609020204030204" pitchFamily="49" charset="0"/>
              </a:rPr>
              <a:t>n_x</a:t>
            </a:r>
            <a:r>
              <a:rPr lang="es-ES" dirty="0">
                <a:latin typeface="Consolas" panose="020B0609020204030204" pitchFamily="49" charset="0"/>
              </a:rPr>
              <a:t> &lt;- 101</a:t>
            </a:r>
          </a:p>
          <a:p>
            <a:pPr marL="0" indent="0">
              <a:buNone/>
            </a:pPr>
            <a:r>
              <a:rPr lang="es-ES" dirty="0">
                <a:latin typeface="Consolas" panose="020B0609020204030204" pitchFamily="49" charset="0"/>
              </a:rPr>
              <a:t>&gt; </a:t>
            </a:r>
            <a:r>
              <a:rPr lang="es-ES" dirty="0" err="1">
                <a:latin typeface="Consolas" panose="020B0609020204030204" pitchFamily="49" charset="0"/>
              </a:rPr>
              <a:t>x_hat</a:t>
            </a:r>
            <a:r>
              <a:rPr lang="es-ES" dirty="0">
                <a:latin typeface="Consolas" panose="020B0609020204030204" pitchFamily="49" charset="0"/>
              </a:rPr>
              <a:t> &lt;- 2700</a:t>
            </a:r>
          </a:p>
          <a:p>
            <a:pPr marL="0" indent="0">
              <a:buNone/>
            </a:pPr>
            <a:r>
              <a:rPr lang="es-ES" dirty="0">
                <a:latin typeface="Consolas" panose="020B0609020204030204" pitchFamily="49" charset="0"/>
              </a:rPr>
              <a:t>&gt; </a:t>
            </a:r>
            <a:r>
              <a:rPr lang="es-ES" dirty="0" err="1">
                <a:latin typeface="Consolas" panose="020B0609020204030204" pitchFamily="49" charset="0"/>
              </a:rPr>
              <a:t>s_x</a:t>
            </a:r>
            <a:r>
              <a:rPr lang="es-ES" dirty="0">
                <a:latin typeface="Consolas" panose="020B0609020204030204" pitchFamily="49" charset="0"/>
              </a:rPr>
              <a:t> &lt;- 37</a:t>
            </a:r>
          </a:p>
          <a:p>
            <a:pPr marL="0" indent="0">
              <a:buNone/>
            </a:pPr>
            <a:r>
              <a:rPr lang="es-ES" dirty="0">
                <a:latin typeface="Consolas" panose="020B0609020204030204" pitchFamily="49" charset="0"/>
              </a:rPr>
              <a:t>&gt; a &lt;- 0.05</a:t>
            </a:r>
          </a:p>
          <a:p>
            <a:pPr marL="0" indent="0">
              <a:buNone/>
            </a:pPr>
            <a:r>
              <a:rPr lang="es-ES" dirty="0">
                <a:latin typeface="Consolas" panose="020B0609020204030204" pitchFamily="49" charset="0"/>
              </a:rPr>
              <a:t>&gt; o2_0 &lt;- 2025</a:t>
            </a:r>
          </a:p>
          <a:p>
            <a:pPr marL="0" indent="0">
              <a:buNone/>
            </a:pPr>
            <a:r>
              <a:rPr lang="es-ES" dirty="0">
                <a:latin typeface="Consolas" panose="020B0609020204030204" pitchFamily="49" charset="0"/>
              </a:rPr>
              <a:t>&gt;#H0: </a:t>
            </a:r>
            <a:r>
              <a:rPr lang="es-ES" dirty="0" err="1">
                <a:latin typeface="Consolas" panose="020B0609020204030204" pitchFamily="49" charset="0"/>
              </a:rPr>
              <a:t>var</a:t>
            </a:r>
            <a:r>
              <a:rPr lang="es-ES" dirty="0">
                <a:latin typeface="Consolas" panose="020B0609020204030204" pitchFamily="49" charset="0"/>
              </a:rPr>
              <a:t> = 2025 | H1: </a:t>
            </a:r>
            <a:r>
              <a:rPr lang="es-ES" dirty="0" err="1">
                <a:latin typeface="Consolas" panose="020B0609020204030204" pitchFamily="49" charset="0"/>
              </a:rPr>
              <a:t>var</a:t>
            </a:r>
            <a:r>
              <a:rPr lang="es-ES" dirty="0">
                <a:latin typeface="Consolas" panose="020B0609020204030204" pitchFamily="49" charset="0"/>
              </a:rPr>
              <a:t> =/= 2025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chi &lt;- (s_x^2)*(n_x-1)/o2_0</a:t>
            </a:r>
          </a:p>
          <a:p>
            <a:pPr marL="0" indent="0">
              <a:buNone/>
            </a:pPr>
            <a:r>
              <a:rPr lang="es-ES" dirty="0">
                <a:latin typeface="Consolas" panose="020B0609020204030204" pitchFamily="49" charset="0"/>
              </a:rPr>
              <a:t>&gt; chi</a:t>
            </a:r>
          </a:p>
          <a:p>
            <a:pPr marL="0" indent="0">
              <a:buNone/>
            </a:pPr>
            <a:r>
              <a:rPr lang="es-ES" dirty="0">
                <a:highlight>
                  <a:srgbClr val="FFFF00"/>
                </a:highlight>
                <a:latin typeface="Consolas" panose="020B0609020204030204" pitchFamily="49" charset="0"/>
              </a:rPr>
              <a:t>[1] 67.60494</a:t>
            </a:r>
          </a:p>
        </p:txBody>
      </p:sp>
    </p:spTree>
    <p:extLst>
      <p:ext uri="{BB962C8B-B14F-4D97-AF65-F5344CB8AC3E}">
        <p14:creationId xmlns:p14="http://schemas.microsoft.com/office/powerpoint/2010/main" val="16563036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11.61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es-ES" sz="2400" dirty="0">
                <a:latin typeface="Consolas" panose="020B0609020204030204" pitchFamily="49" charset="0"/>
              </a:rPr>
              <a:t>&gt; </a:t>
            </a:r>
            <a:r>
              <a:rPr lang="es-ES" sz="2400" dirty="0" err="1">
                <a:latin typeface="Consolas" panose="020B0609020204030204" pitchFamily="49" charset="0"/>
              </a:rPr>
              <a:t>pchisq</a:t>
            </a:r>
            <a:r>
              <a:rPr lang="es-ES" sz="2400" dirty="0">
                <a:latin typeface="Consolas" panose="020B0609020204030204" pitchFamily="49" charset="0"/>
              </a:rPr>
              <a:t>(chi, </a:t>
            </a:r>
            <a:r>
              <a:rPr lang="es-ES" sz="2400" dirty="0" err="1">
                <a:latin typeface="Consolas" panose="020B0609020204030204" pitchFamily="49" charset="0"/>
              </a:rPr>
              <a:t>df</a:t>
            </a:r>
            <a:r>
              <a:rPr lang="es-ES" sz="2400" dirty="0">
                <a:latin typeface="Consolas" panose="020B0609020204030204" pitchFamily="49" charset="0"/>
              </a:rPr>
              <a:t> = </a:t>
            </a:r>
            <a:r>
              <a:rPr lang="es-ES" sz="2400" dirty="0" err="1">
                <a:latin typeface="Consolas" panose="020B0609020204030204" pitchFamily="49" charset="0"/>
              </a:rPr>
              <a:t>n_x</a:t>
            </a:r>
            <a:r>
              <a:rPr lang="es-ES" sz="2400" dirty="0">
                <a:latin typeface="Consolas" panose="020B0609020204030204" pitchFamily="49" charset="0"/>
              </a:rPr>
              <a:t> - 1, </a:t>
            </a:r>
            <a:r>
              <a:rPr lang="es-ES" sz="2400" dirty="0" err="1">
                <a:latin typeface="Consolas" panose="020B0609020204030204" pitchFamily="49" charset="0"/>
              </a:rPr>
              <a:t>lower.tail</a:t>
            </a:r>
            <a:r>
              <a:rPr lang="es-ES" sz="2400" dirty="0">
                <a:latin typeface="Consolas" panose="020B0609020204030204" pitchFamily="49" charset="0"/>
              </a:rPr>
              <a:t> = TRUE)</a:t>
            </a:r>
          </a:p>
          <a:p>
            <a:pPr marL="0" indent="0">
              <a:buNone/>
            </a:pPr>
            <a:r>
              <a:rPr lang="es-ES" sz="2400" dirty="0">
                <a:latin typeface="Consolas" panose="020B0609020204030204" pitchFamily="49" charset="0"/>
              </a:rPr>
              <a:t>[1] 0.005382517</a:t>
            </a:r>
          </a:p>
          <a:p>
            <a:pPr marL="0" indent="0">
              <a:buNone/>
            </a:pPr>
            <a:r>
              <a:rPr lang="es-ES" sz="2400" dirty="0">
                <a:latin typeface="Consolas" panose="020B0609020204030204" pitchFamily="49" charset="0"/>
              </a:rPr>
              <a:t>&gt; </a:t>
            </a:r>
            <a:r>
              <a:rPr lang="es-ES" sz="2400" dirty="0" err="1">
                <a:latin typeface="Consolas" panose="020B0609020204030204" pitchFamily="49" charset="0"/>
              </a:rPr>
              <a:t>pchisq</a:t>
            </a:r>
            <a:r>
              <a:rPr lang="es-ES" sz="2400" dirty="0">
                <a:latin typeface="Consolas" panose="020B0609020204030204" pitchFamily="49" charset="0"/>
              </a:rPr>
              <a:t>(chi, </a:t>
            </a:r>
            <a:r>
              <a:rPr lang="es-ES" sz="2400" dirty="0" err="1">
                <a:latin typeface="Consolas" panose="020B0609020204030204" pitchFamily="49" charset="0"/>
              </a:rPr>
              <a:t>df</a:t>
            </a:r>
            <a:r>
              <a:rPr lang="es-ES" sz="2400" dirty="0">
                <a:latin typeface="Consolas" panose="020B0609020204030204" pitchFamily="49" charset="0"/>
              </a:rPr>
              <a:t> = </a:t>
            </a:r>
            <a:r>
              <a:rPr lang="es-ES" sz="2400" dirty="0" err="1">
                <a:latin typeface="Consolas" panose="020B0609020204030204" pitchFamily="49" charset="0"/>
              </a:rPr>
              <a:t>n_x</a:t>
            </a:r>
            <a:r>
              <a:rPr lang="es-ES" sz="2400" dirty="0">
                <a:latin typeface="Consolas" panose="020B0609020204030204" pitchFamily="49" charset="0"/>
              </a:rPr>
              <a:t> - 1, </a:t>
            </a:r>
            <a:r>
              <a:rPr lang="es-ES" sz="2400" dirty="0" err="1">
                <a:latin typeface="Consolas" panose="020B0609020204030204" pitchFamily="49" charset="0"/>
              </a:rPr>
              <a:t>lower.tail</a:t>
            </a:r>
            <a:r>
              <a:rPr lang="es-ES" sz="2400" dirty="0">
                <a:latin typeface="Consolas" panose="020B0609020204030204" pitchFamily="49" charset="0"/>
              </a:rPr>
              <a:t> = FALSE)</a:t>
            </a:r>
          </a:p>
          <a:p>
            <a:pPr marL="0" indent="0">
              <a:buNone/>
            </a:pPr>
            <a:r>
              <a:rPr lang="es-ES" sz="2400" dirty="0">
                <a:latin typeface="Consolas" panose="020B0609020204030204" pitchFamily="49" charset="0"/>
              </a:rPr>
              <a:t>[1] 0.9946175</a:t>
            </a:r>
          </a:p>
          <a:p>
            <a:pPr marL="0" indent="0">
              <a:buNone/>
            </a:pPr>
            <a:endParaRPr lang="es-ES" sz="2400" dirty="0">
              <a:latin typeface="Consolas" panose="020B0609020204030204" pitchFamily="49" charset="0"/>
            </a:endParaRPr>
          </a:p>
          <a:p>
            <a:pPr marL="0" indent="0">
              <a:buNone/>
            </a:pPr>
            <a:r>
              <a:rPr lang="es-ES" sz="2400" dirty="0">
                <a:latin typeface="Consolas" panose="020B0609020204030204" pitchFamily="49" charset="0"/>
              </a:rPr>
              <a:t>&gt; </a:t>
            </a:r>
            <a:r>
              <a:rPr lang="es-ES" sz="2400" dirty="0" err="1">
                <a:latin typeface="Consolas" panose="020B0609020204030204" pitchFamily="49" charset="0"/>
              </a:rPr>
              <a:t>p_valor</a:t>
            </a:r>
            <a:r>
              <a:rPr lang="es-ES" sz="2400" dirty="0">
                <a:latin typeface="Consolas" panose="020B0609020204030204" pitchFamily="49" charset="0"/>
              </a:rPr>
              <a:t> &lt;- </a:t>
            </a:r>
            <a:r>
              <a:rPr lang="es-ES" sz="2400" dirty="0" err="1">
                <a:latin typeface="Consolas" panose="020B0609020204030204" pitchFamily="49" charset="0"/>
              </a:rPr>
              <a:t>pchisq</a:t>
            </a:r>
            <a:r>
              <a:rPr lang="es-ES" sz="2400" dirty="0">
                <a:latin typeface="Consolas" panose="020B0609020204030204" pitchFamily="49" charset="0"/>
              </a:rPr>
              <a:t>(chi, </a:t>
            </a:r>
            <a:r>
              <a:rPr lang="es-ES" sz="2400" dirty="0" err="1">
                <a:latin typeface="Consolas" panose="020B0609020204030204" pitchFamily="49" charset="0"/>
              </a:rPr>
              <a:t>df</a:t>
            </a:r>
            <a:r>
              <a:rPr lang="es-ES" sz="2400" dirty="0">
                <a:latin typeface="Consolas" panose="020B0609020204030204" pitchFamily="49" charset="0"/>
              </a:rPr>
              <a:t> = </a:t>
            </a:r>
            <a:r>
              <a:rPr lang="es-ES" sz="2400" dirty="0" err="1">
                <a:latin typeface="Consolas" panose="020B0609020204030204" pitchFamily="49" charset="0"/>
              </a:rPr>
              <a:t>n_x</a:t>
            </a:r>
            <a:r>
              <a:rPr lang="es-ES" sz="2400" dirty="0">
                <a:latin typeface="Consolas" panose="020B0609020204030204" pitchFamily="49" charset="0"/>
              </a:rPr>
              <a:t> - 1, </a:t>
            </a:r>
            <a:r>
              <a:rPr lang="es-ES" sz="2400" dirty="0" err="1">
                <a:latin typeface="Consolas" panose="020B0609020204030204" pitchFamily="49" charset="0"/>
              </a:rPr>
              <a:t>lower.tail</a:t>
            </a:r>
            <a:r>
              <a:rPr lang="es-ES" sz="2400" dirty="0">
                <a:latin typeface="Consolas" panose="020B0609020204030204" pitchFamily="49" charset="0"/>
              </a:rPr>
              <a:t> = TRUE)*2</a:t>
            </a:r>
          </a:p>
          <a:p>
            <a:pPr marL="0" indent="0">
              <a:buNone/>
            </a:pPr>
            <a:r>
              <a:rPr lang="es-ES" sz="2400" dirty="0">
                <a:latin typeface="Consolas" panose="020B0609020204030204" pitchFamily="49" charset="0"/>
              </a:rPr>
              <a:t>&gt; </a:t>
            </a:r>
            <a:r>
              <a:rPr lang="es-ES" sz="2400" dirty="0" err="1">
                <a:latin typeface="Consolas" panose="020B0609020204030204" pitchFamily="49" charset="0"/>
              </a:rPr>
              <a:t>p_valor</a:t>
            </a:r>
            <a:endParaRPr lang="es-ES" sz="2400" dirty="0">
              <a:latin typeface="Consolas" panose="020B0609020204030204" pitchFamily="49" charset="0"/>
            </a:endParaRPr>
          </a:p>
          <a:p>
            <a:pPr marL="0" indent="0">
              <a:buNone/>
            </a:pPr>
            <a:r>
              <a:rPr lang="es-ES" sz="2400" dirty="0">
                <a:highlight>
                  <a:srgbClr val="FFFF00"/>
                </a:highlight>
                <a:latin typeface="Consolas" panose="020B0609020204030204" pitchFamily="49" charset="0"/>
              </a:rPr>
              <a:t>[1] 0.01076503</a:t>
            </a:r>
          </a:p>
          <a:p>
            <a:pPr marL="0" indent="0">
              <a:buNone/>
            </a:pPr>
            <a:r>
              <a:rPr lang="es-ES" sz="2400" dirty="0">
                <a:latin typeface="Consolas" panose="020B0609020204030204" pitchFamily="49" charset="0"/>
              </a:rPr>
              <a:t>&gt; </a:t>
            </a:r>
            <a:r>
              <a:rPr lang="es-ES" sz="2400" dirty="0" err="1">
                <a:latin typeface="Consolas" panose="020B0609020204030204" pitchFamily="49" charset="0"/>
              </a:rPr>
              <a:t>p_valor</a:t>
            </a:r>
            <a:r>
              <a:rPr lang="es-ES" sz="2400" dirty="0">
                <a:latin typeface="Consolas" panose="020B0609020204030204" pitchFamily="49" charset="0"/>
              </a:rPr>
              <a:t> &lt; a</a:t>
            </a:r>
          </a:p>
          <a:p>
            <a:pPr marL="0" indent="0">
              <a:buNone/>
            </a:pPr>
            <a:r>
              <a:rPr lang="es-ES" sz="2400" dirty="0">
                <a:highlight>
                  <a:srgbClr val="FFFF00"/>
                </a:highlight>
                <a:latin typeface="Consolas" panose="020B0609020204030204" pitchFamily="49" charset="0"/>
              </a:rPr>
              <a:t>[1] TRUE</a:t>
            </a:r>
          </a:p>
        </p:txBody>
      </p:sp>
    </p:spTree>
    <p:extLst>
      <p:ext uri="{BB962C8B-B14F-4D97-AF65-F5344CB8AC3E}">
        <p14:creationId xmlns:p14="http://schemas.microsoft.com/office/powerpoint/2010/main" val="3087174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88FDA7-7F95-48AB-BA14-43466AAD17C7}"/>
              </a:ext>
            </a:extLst>
          </p:cNvPr>
          <p:cNvSpPr>
            <a:spLocks noGrp="1"/>
          </p:cNvSpPr>
          <p:nvPr>
            <p:ph type="title"/>
          </p:nvPr>
        </p:nvSpPr>
        <p:spPr/>
        <p:txBody>
          <a:bodyPr>
            <a:normAutofit/>
          </a:bodyPr>
          <a:lstStyle/>
          <a:p>
            <a:r>
              <a:rPr lang="es-419" sz="4800" dirty="0"/>
              <a:t>Contraste para diferencia de varianzas poblacionales</a:t>
            </a:r>
          </a:p>
        </p:txBody>
      </p:sp>
      <p:sp>
        <p:nvSpPr>
          <p:cNvPr id="5" name="Text Placeholder 4">
            <a:extLst>
              <a:ext uri="{FF2B5EF4-FFF2-40B4-BE49-F238E27FC236}">
                <a16:creationId xmlns:a16="http://schemas.microsoft.com/office/drawing/2014/main" id="{F39C5933-CAFC-46D8-AC24-39A264C2D41F}"/>
              </a:ext>
            </a:extLst>
          </p:cNvPr>
          <p:cNvSpPr>
            <a:spLocks noGrp="1"/>
          </p:cNvSpPr>
          <p:nvPr>
            <p:ph type="body" idx="1"/>
          </p:nvPr>
        </p:nvSpPr>
        <p:spPr/>
        <p:txBody>
          <a:bodyPr/>
          <a:lstStyle/>
          <a:p>
            <a:r>
              <a:rPr lang="es-419" dirty="0"/>
              <a:t>Fórmulas y variantes</a:t>
            </a:r>
          </a:p>
        </p:txBody>
      </p:sp>
    </p:spTree>
    <p:extLst>
      <p:ext uri="{BB962C8B-B14F-4D97-AF65-F5344CB8AC3E}">
        <p14:creationId xmlns:p14="http://schemas.microsoft.com/office/powerpoint/2010/main" val="10199510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la diferencias de varianzas poblacionales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marL="228600" lvl="1">
                  <a:lnSpc>
                    <a:spcPct val="150000"/>
                  </a:lnSpc>
                  <a:spcBef>
                    <a:spcPts val="1000"/>
                  </a:spcBef>
                </a:pPr>
                <a:r>
                  <a:rPr lang="es-419" sz="2800" dirty="0">
                    <a:ea typeface="Cambria Math" panose="02040503050406030204" pitchFamily="18" charset="0"/>
                  </a:rPr>
                  <a:t>Contraste de diferencia apoyado en ratios.</a:t>
                </a:r>
              </a:p>
              <a:p>
                <a:pPr marL="228600" lvl="1">
                  <a:lnSpc>
                    <a:spcPct val="150000"/>
                  </a:lnSpc>
                  <a:spcBef>
                    <a:spcPts val="1000"/>
                  </a:spcBef>
                </a:pPr>
                <a:r>
                  <a:rPr lang="es-419" sz="2800" dirty="0">
                    <a:ea typeface="Cambria Math" panose="02040503050406030204" pitchFamily="18" charset="0"/>
                  </a:rPr>
                  <a:t>Interpretación alrededor de si el ratio en cuestión es superior o inferior a </a:t>
                </a:r>
                <a:r>
                  <a:rPr lang="es-419" sz="2800" b="1" dirty="0">
                    <a:solidFill>
                      <a:srgbClr val="003A5D"/>
                    </a:solidFill>
                    <a:ea typeface="Cambria Math" panose="02040503050406030204" pitchFamily="18" charset="0"/>
                  </a:rPr>
                  <a:t>1</a:t>
                </a:r>
                <a:r>
                  <a:rPr lang="es-419" sz="2800" dirty="0">
                    <a:ea typeface="Cambria Math" panose="02040503050406030204" pitchFamily="18" charset="0"/>
                  </a:rPr>
                  <a:t>.</a:t>
                </a:r>
              </a:p>
              <a:p>
                <a:pPr marL="228600" lvl="1">
                  <a:lnSpc>
                    <a:spcPct val="150000"/>
                  </a:lnSpc>
                  <a:spcBef>
                    <a:spcPts val="1000"/>
                  </a:spcBef>
                </a:pPr>
                <a:r>
                  <a:rPr lang="es-419" sz="2800" dirty="0">
                    <a:ea typeface="Cambria Math" panose="02040503050406030204" pitchFamily="18" charset="0"/>
                  </a:rPr>
                  <a:t>Se plantea una hipótesis genérica</a:t>
                </a:r>
              </a:p>
              <a:p>
                <a:pPr lvl="1">
                  <a:lnSpc>
                    <a:spcPct val="150000"/>
                  </a:lnSpc>
                </a:pPr>
                <a14:m>
                  <m:oMath xmlns:m="http://schemas.openxmlformats.org/officeDocument/2006/math">
                    <m:sSub>
                      <m:sSubPr>
                        <m:ctrlPr>
                          <a:rPr lang="es-419" i="1" smtClean="0">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0</m:t>
                        </m:r>
                      </m:sub>
                    </m:sSub>
                    <m:r>
                      <a:rPr lang="es-419" i="1">
                        <a:latin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r>
                      <a:rPr lang="es-419" i="1">
                        <a:latin typeface="Cambria Math" panose="02040503050406030204" pitchFamily="18" charset="0"/>
                        <a:ea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r>
                      <a:rPr lang="es-419" i="1">
                        <a:latin typeface="Cambria Math" panose="02040503050406030204" pitchFamily="18" charset="0"/>
                        <a:ea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r>
                      <a:rPr lang="es-VE" b="0" i="1" smtClean="0">
                        <a:latin typeface="Cambria Math" panose="02040503050406030204" pitchFamily="18" charset="0"/>
                        <a:ea typeface="Cambria Math" panose="02040503050406030204" pitchFamily="18" charset="0"/>
                      </a:rPr>
                      <m:t>/</m:t>
                    </m:r>
                    <m:sSubSup>
                      <m:sSubSupPr>
                        <m:ctrlPr>
                          <a:rPr lang="es-419" i="1" smtClean="0">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r>
                      <a:rPr lang="es-419" i="1">
                        <a:latin typeface="Cambria Math" panose="02040503050406030204" pitchFamily="18" charset="0"/>
                        <a:ea typeface="Cambria Math" panose="02040503050406030204" pitchFamily="18" charset="0"/>
                      </a:rPr>
                      <m:t>=</m:t>
                    </m:r>
                    <m:r>
                      <a:rPr lang="es-VE" b="0" i="1" smtClean="0">
                        <a:latin typeface="Cambria Math" panose="02040503050406030204" pitchFamily="18" charset="0"/>
                        <a:ea typeface="Cambria Math" panose="02040503050406030204" pitchFamily="18" charset="0"/>
                      </a:rPr>
                      <m:t>1</m:t>
                    </m:r>
                  </m:oMath>
                </a14:m>
                <a:endParaRPr lang="es-419" i="1" dirty="0">
                  <a:latin typeface="Cambria Math" panose="02040503050406030204" pitchFamily="18" charset="0"/>
                  <a:ea typeface="Cambria Math" panose="02040503050406030204" pitchFamily="18" charset="0"/>
                </a:endParaRPr>
              </a:p>
              <a:p>
                <a:pPr lvl="1">
                  <a:lnSpc>
                    <a:spcPct val="150000"/>
                  </a:lnSpc>
                </a:pPr>
                <a14:m>
                  <m:oMath xmlns:m="http://schemas.openxmlformats.org/officeDocument/2006/math">
                    <m:sSub>
                      <m:sSubPr>
                        <m:ctrlPr>
                          <a:rPr lang="es-419" i="1">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1</m:t>
                        </m:r>
                      </m:sub>
                    </m:sSub>
                    <m:r>
                      <a:rPr lang="es-419" i="1">
                        <a:latin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r>
                      <a:rPr lang="es-419" i="1">
                        <a:latin typeface="Cambria Math" panose="02040503050406030204" pitchFamily="18" charset="0"/>
                        <a:ea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r>
                      <a:rPr lang="es-419" i="1">
                        <a:latin typeface="Cambria Math" panose="02040503050406030204" pitchFamily="18" charset="0"/>
                        <a:ea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r>
                      <a:rPr lang="es-VE" b="0" i="1" smtClean="0">
                        <a:latin typeface="Cambria Math" panose="02040503050406030204" pitchFamily="18" charset="0"/>
                        <a:ea typeface="Cambria Math" panose="02040503050406030204" pitchFamily="18" charset="0"/>
                      </a:rPr>
                      <m:t>/</m:t>
                    </m:r>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r>
                      <a:rPr lang="es-419" i="1">
                        <a:latin typeface="Cambria Math" panose="02040503050406030204" pitchFamily="18" charset="0"/>
                        <a:ea typeface="Cambria Math" panose="02040503050406030204" pitchFamily="18" charset="0"/>
                      </a:rPr>
                      <m:t>≠</m:t>
                    </m:r>
                    <m:r>
                      <a:rPr lang="es-VE" b="0" i="1" smtClean="0">
                        <a:latin typeface="Cambria Math" panose="02040503050406030204" pitchFamily="18" charset="0"/>
                        <a:ea typeface="Cambria Math" panose="02040503050406030204" pitchFamily="18" charset="0"/>
                      </a:rPr>
                      <m:t>1</m:t>
                    </m:r>
                  </m:oMath>
                </a14:m>
                <a:endParaRPr lang="es-419" i="1" dirty="0">
                  <a:latin typeface="Cambria Math" panose="02040503050406030204" pitchFamily="18" charset="0"/>
                  <a:ea typeface="Cambria Math" panose="02040503050406030204" pitchFamily="18" charset="0"/>
                </a:endParaRPr>
              </a:p>
              <a:p>
                <a:pPr>
                  <a:lnSpc>
                    <a:spcPct val="150000"/>
                  </a:lnSpc>
                </a:pPr>
                <a:r>
                  <a:rPr lang="es-419" dirty="0">
                    <a:ea typeface="Cambria Math" panose="02040503050406030204" pitchFamily="18" charset="0"/>
                  </a:rPr>
                  <a:t>Y empleamos un estadístico para el ratio de varianzas muestrales </a:t>
                </a:r>
                <a:r>
                  <a:rPr lang="es-419" b="1" dirty="0">
                    <a:solidFill>
                      <a:srgbClr val="003A5D"/>
                    </a:solidFill>
                    <a:ea typeface="Cambria Math" panose="02040503050406030204" pitchFamily="18" charset="0"/>
                  </a:rPr>
                  <a:t>insesgadas</a:t>
                </a:r>
                <a:r>
                  <a:rPr lang="es-419" dirty="0">
                    <a:ea typeface="Cambria Math" panose="02040503050406030204" pitchFamily="18" charset="0"/>
                  </a:rPr>
                  <a:t>.</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𝐹</m:t>
                      </m:r>
                      <m:r>
                        <a:rPr lang="es-419" b="0" i="1" smtClean="0">
                          <a:latin typeface="Cambria Math" panose="02040503050406030204" pitchFamily="18" charset="0"/>
                        </a:rPr>
                        <m:t>=</m:t>
                      </m:r>
                      <m:f>
                        <m:fPr>
                          <m:ctrlPr>
                            <a:rPr lang="es-419" b="0" i="1" smtClean="0">
                              <a:latin typeface="Cambria Math" panose="02040503050406030204" pitchFamily="18" charset="0"/>
                            </a:rPr>
                          </m:ctrlPr>
                        </m:fPr>
                        <m:num>
                          <m:sSubSup>
                            <m:sSubSupPr>
                              <m:ctrlPr>
                                <a:rPr lang="es-419" b="0" i="1" smtClean="0">
                                  <a:latin typeface="Cambria Math" panose="02040503050406030204" pitchFamily="18" charset="0"/>
                                </a:rPr>
                              </m:ctrlPr>
                            </m:sSubSupPr>
                            <m:e>
                              <m:r>
                                <a:rPr lang="es-419" b="0" i="1" smtClean="0">
                                  <a:latin typeface="Cambria Math" panose="02040503050406030204" pitchFamily="18" charset="0"/>
                                </a:rPr>
                                <m:t>𝑆</m:t>
                              </m:r>
                            </m:e>
                            <m:sub>
                              <m:r>
                                <a:rPr lang="es-419" b="0" i="1" smtClean="0">
                                  <a:latin typeface="Cambria Math" panose="02040503050406030204" pitchFamily="18" charset="0"/>
                                </a:rPr>
                                <m:t>𝑥</m:t>
                              </m:r>
                            </m:sub>
                            <m:sup>
                              <m:r>
                                <a:rPr lang="es-419" b="0" i="1" smtClean="0">
                                  <a:latin typeface="Cambria Math" panose="02040503050406030204" pitchFamily="18" charset="0"/>
                                </a:rPr>
                                <m:t>2</m:t>
                              </m:r>
                            </m:sup>
                          </m:sSubSup>
                        </m:num>
                        <m:den>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b="0" i="1" smtClean="0">
                                  <a:latin typeface="Cambria Math" panose="02040503050406030204" pitchFamily="18" charset="0"/>
                                </a:rPr>
                                <m:t>𝑦</m:t>
                              </m:r>
                            </m:sub>
                            <m:sup>
                              <m:r>
                                <a:rPr lang="es-419" i="1">
                                  <a:latin typeface="Cambria Math" panose="02040503050406030204" pitchFamily="18" charset="0"/>
                                </a:rPr>
                                <m:t>2</m:t>
                              </m:r>
                            </m:sup>
                          </m:sSubSup>
                        </m:den>
                      </m:f>
                      <m:r>
                        <a:rPr lang="es-419" b="0" i="1" smtClean="0">
                          <a:latin typeface="Cambria Math" panose="02040503050406030204" pitchFamily="18" charset="0"/>
                        </a:rPr>
                        <m:t>~</m:t>
                      </m:r>
                      <m:r>
                        <a:rPr lang="es-419" i="1">
                          <a:latin typeface="Cambria Math" panose="02040503050406030204" pitchFamily="18" charset="0"/>
                          <a:ea typeface="Cambria Math" panose="02040503050406030204" pitchFamily="18" charset="0"/>
                        </a:rPr>
                        <m:t>𝐹</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r>
                        <a:rPr lang="es-419" i="1">
                          <a:latin typeface="Cambria Math" panose="02040503050406030204" pitchFamily="18" charset="0"/>
                        </a:rPr>
                        <m:t>−1</m:t>
                      </m:r>
                      <m:r>
                        <m:rPr>
                          <m:nor/>
                        </m:rPr>
                        <a:rPr lang="es-419" dirty="0">
                          <a:ea typeface="Cambria Math" panose="02040503050406030204" pitchFamily="18" charset="0"/>
                        </a:rPr>
                        <m:t>,</m:t>
                      </m:r>
                      <m:r>
                        <m:rPr>
                          <m:nor/>
                        </m:rPr>
                        <a:rPr lang="es-419" dirty="0"/>
                        <m:t> </m:t>
                      </m:r>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r>
                        <a:rPr lang="es-419" i="1">
                          <a:latin typeface="Cambria Math" panose="02040503050406030204" pitchFamily="18" charset="0"/>
                        </a:rPr>
                        <m:t>−1</m:t>
                      </m:r>
                      <m:r>
                        <m:rPr>
                          <m:nor/>
                        </m:rPr>
                        <a:rPr lang="es-419" dirty="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419" dirty="0"/>
                  <a:t>En </a:t>
                </a:r>
                <a:r>
                  <a:rPr lang="es-419" b="1" dirty="0">
                    <a:solidFill>
                      <a:srgbClr val="003A5D"/>
                    </a:solidFill>
                  </a:rPr>
                  <a:t>R</a:t>
                </a:r>
                <a:r>
                  <a:rPr lang="es-419" dirty="0"/>
                  <a:t> se emplea </a:t>
                </a:r>
                <a:r>
                  <a:rPr lang="es-419" dirty="0" err="1">
                    <a:solidFill>
                      <a:srgbClr val="003A5D"/>
                    </a:solidFill>
                    <a:latin typeface="Consolas" panose="020B0609020204030204" pitchFamily="49" charset="0"/>
                  </a:rPr>
                  <a:t>var.test</a:t>
                </a:r>
                <a:r>
                  <a:rPr lang="es-419" dirty="0">
                    <a:solidFill>
                      <a:srgbClr val="003A5D"/>
                    </a:solidFill>
                    <a:latin typeface="Consolas" panose="020B0609020204030204" pitchFamily="49" charset="0"/>
                  </a:rPr>
                  <a:t>() </a:t>
                </a:r>
                <a:r>
                  <a:rPr lang="es-419" dirty="0"/>
                  <a:t>instalado por defecto.</a:t>
                </a:r>
              </a:p>
              <a:p>
                <a:pPr marL="0" indent="0">
                  <a:lnSpc>
                    <a:spcPct val="150000"/>
                  </a:lnSpc>
                  <a:buNone/>
                </a:pPr>
                <a:endParaRPr lang="es-419" dirty="0">
                  <a:ea typeface="Cambria Math" panose="02040503050406030204" pitchFamily="18" charset="0"/>
                </a:endParaRPr>
              </a:p>
              <a:p>
                <a:pPr marL="0" indent="0">
                  <a:lnSpc>
                    <a:spcPct val="150000"/>
                  </a:lnSpc>
                  <a:buNone/>
                </a:pPr>
                <a:endParaRPr lang="es-419"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n-US">
                    <a:noFill/>
                  </a:rPr>
                  <a:t> </a:t>
                </a:r>
              </a:p>
            </p:txBody>
          </p:sp>
        </mc:Fallback>
      </mc:AlternateContent>
    </p:spTree>
    <p:extLst>
      <p:ext uri="{BB962C8B-B14F-4D97-AF65-F5344CB8AC3E}">
        <p14:creationId xmlns:p14="http://schemas.microsoft.com/office/powerpoint/2010/main" val="22020229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80BD21A-DB6D-0FE6-A0C4-18FB554BC2AF}"/>
              </a:ext>
            </a:extLst>
          </p:cNvPr>
          <p:cNvPicPr>
            <a:picLocks noChangeAspect="1"/>
          </p:cNvPicPr>
          <p:nvPr/>
        </p:nvPicPr>
        <p:blipFill>
          <a:blip r:embed="rId2"/>
          <a:stretch>
            <a:fillRect/>
          </a:stretch>
        </p:blipFill>
        <p:spPr>
          <a:xfrm>
            <a:off x="1812569" y="1089000"/>
            <a:ext cx="8566863" cy="4680000"/>
          </a:xfrm>
          <a:prstGeom prst="rect">
            <a:avLst/>
          </a:prstGeom>
        </p:spPr>
      </p:pic>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lstStyle/>
          <a:p>
            <a:r>
              <a:rPr lang="es-419" dirty="0"/>
              <a:t>Contraste para la diferencias de varianzas poblacionales</a:t>
            </a:r>
          </a:p>
        </p:txBody>
      </p:sp>
      <p:sp>
        <p:nvSpPr>
          <p:cNvPr id="3" name="Content Placeholder 2">
            <a:extLst>
              <a:ext uri="{FF2B5EF4-FFF2-40B4-BE49-F238E27FC236}">
                <a16:creationId xmlns:a16="http://schemas.microsoft.com/office/drawing/2014/main" id="{AA8ABA98-7690-48CB-A03D-C55DB98B5B4A}"/>
              </a:ext>
            </a:extLst>
          </p:cNvPr>
          <p:cNvSpPr>
            <a:spLocks noGrp="1"/>
          </p:cNvSpPr>
          <p:nvPr>
            <p:ph idx="1"/>
          </p:nvPr>
        </p:nvSpPr>
        <p:spPr/>
        <p:txBody>
          <a:bodyPr>
            <a:normAutofit/>
          </a:bodyPr>
          <a:lstStyle/>
          <a:p>
            <a:pPr>
              <a:lnSpc>
                <a:spcPct val="150000"/>
              </a:lnSpc>
            </a:pPr>
            <a:r>
              <a:rPr lang="es-419" sz="2000" dirty="0"/>
              <a:t>El sentido del contraste depende de cuál de las varianzas se considere mayor.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7507DFE-8649-4A7A-93BD-45EBA8959A52}"/>
                  </a:ext>
                </a:extLst>
              </p:cNvPr>
              <p:cNvSpPr txBox="1"/>
              <p:nvPr/>
            </p:nvSpPr>
            <p:spPr>
              <a:xfrm>
                <a:off x="3307977" y="1191156"/>
                <a:ext cx="1134926" cy="329001"/>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𝑥</m:t>
                          </m:r>
                        </m:sub>
                        <m:sup>
                          <m:r>
                            <a:rPr lang="es-419" sz="1400" i="1">
                              <a:latin typeface="Cambria Math" panose="02040503050406030204" pitchFamily="18" charset="0"/>
                              <a:ea typeface="Cambria Math" panose="02040503050406030204" pitchFamily="18" charset="0"/>
                            </a:rPr>
                            <m:t>2</m:t>
                          </m:r>
                        </m:sup>
                      </m:sSubSup>
                      <m:r>
                        <a:rPr lang="es-419" sz="1400" b="0" i="1" smtClean="0">
                          <a:latin typeface="Cambria Math" panose="02040503050406030204" pitchFamily="18" charset="0"/>
                          <a:ea typeface="Cambria Math" panose="02040503050406030204" pitchFamily="18" charset="0"/>
                        </a:rPr>
                        <m:t>&gt;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𝑦</m:t>
                          </m:r>
                        </m:sub>
                        <m:sup>
                          <m:r>
                            <a:rPr lang="es-419" sz="1400" i="1">
                              <a:latin typeface="Cambria Math" panose="02040503050406030204" pitchFamily="18" charset="0"/>
                              <a:ea typeface="Cambria Math" panose="02040503050406030204" pitchFamily="18" charset="0"/>
                            </a:rPr>
                            <m:t>2</m:t>
                          </m:r>
                        </m:sup>
                      </m:sSubSup>
                    </m:oMath>
                  </m:oMathPara>
                </a14:m>
                <a:endParaRPr lang="es-419" sz="1400" dirty="0"/>
              </a:p>
            </p:txBody>
          </p:sp>
        </mc:Choice>
        <mc:Fallback xmlns="">
          <p:sp>
            <p:nvSpPr>
              <p:cNvPr id="4" name="TextBox 3">
                <a:extLst>
                  <a:ext uri="{FF2B5EF4-FFF2-40B4-BE49-F238E27FC236}">
                    <a16:creationId xmlns:a16="http://schemas.microsoft.com/office/drawing/2014/main" id="{27507DFE-8649-4A7A-93BD-45EBA8959A52}"/>
                  </a:ext>
                </a:extLst>
              </p:cNvPr>
              <p:cNvSpPr txBox="1">
                <a:spLocks noRot="1" noChangeAspect="1" noMove="1" noResize="1" noEditPoints="1" noAdjustHandles="1" noChangeArrowheads="1" noChangeShapeType="1" noTextEdit="1"/>
              </p:cNvSpPr>
              <p:nvPr/>
            </p:nvSpPr>
            <p:spPr>
              <a:xfrm>
                <a:off x="3307977" y="1191156"/>
                <a:ext cx="1134926" cy="329001"/>
              </a:xfrm>
              <a:prstGeom prst="rect">
                <a:avLst/>
              </a:prstGeom>
              <a:blipFill>
                <a:blip r:embed="rId3"/>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9F544A-1796-43D8-8368-6A67CCF97DFB}"/>
                  </a:ext>
                </a:extLst>
              </p:cNvPr>
              <p:cNvSpPr txBox="1"/>
              <p:nvPr/>
            </p:nvSpPr>
            <p:spPr>
              <a:xfrm>
                <a:off x="7306235" y="1191156"/>
                <a:ext cx="1134926" cy="329001"/>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𝑥</m:t>
                          </m:r>
                        </m:sub>
                        <m:sup>
                          <m:r>
                            <a:rPr lang="es-419" sz="1400" i="1">
                              <a:latin typeface="Cambria Math" panose="02040503050406030204" pitchFamily="18" charset="0"/>
                              <a:ea typeface="Cambria Math" panose="02040503050406030204" pitchFamily="18" charset="0"/>
                            </a:rPr>
                            <m:t>2</m:t>
                          </m:r>
                        </m:sup>
                      </m:sSubSup>
                      <m:r>
                        <a:rPr lang="es-419" sz="1400" b="0" i="1" smtClean="0">
                          <a:latin typeface="Cambria Math" panose="02040503050406030204" pitchFamily="18" charset="0"/>
                          <a:ea typeface="Cambria Math" panose="02040503050406030204" pitchFamily="18" charset="0"/>
                        </a:rPr>
                        <m:t>&lt;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𝑦</m:t>
                          </m:r>
                        </m:sub>
                        <m:sup>
                          <m:r>
                            <a:rPr lang="es-419" sz="1400" i="1">
                              <a:latin typeface="Cambria Math" panose="02040503050406030204" pitchFamily="18" charset="0"/>
                              <a:ea typeface="Cambria Math" panose="02040503050406030204" pitchFamily="18" charset="0"/>
                            </a:rPr>
                            <m:t>2</m:t>
                          </m:r>
                        </m:sup>
                      </m:sSubSup>
                    </m:oMath>
                  </m:oMathPara>
                </a14:m>
                <a:endParaRPr lang="es-419" sz="1400" dirty="0"/>
              </a:p>
            </p:txBody>
          </p:sp>
        </mc:Choice>
        <mc:Fallback xmlns="">
          <p:sp>
            <p:nvSpPr>
              <p:cNvPr id="6" name="TextBox 5">
                <a:extLst>
                  <a:ext uri="{FF2B5EF4-FFF2-40B4-BE49-F238E27FC236}">
                    <a16:creationId xmlns:a16="http://schemas.microsoft.com/office/drawing/2014/main" id="{8E9F544A-1796-43D8-8368-6A67CCF97DFB}"/>
                  </a:ext>
                </a:extLst>
              </p:cNvPr>
              <p:cNvSpPr txBox="1">
                <a:spLocks noRot="1" noChangeAspect="1" noMove="1" noResize="1" noEditPoints="1" noAdjustHandles="1" noChangeArrowheads="1" noChangeShapeType="1" noTextEdit="1"/>
              </p:cNvSpPr>
              <p:nvPr/>
            </p:nvSpPr>
            <p:spPr>
              <a:xfrm>
                <a:off x="7306235" y="1191156"/>
                <a:ext cx="1134926" cy="329001"/>
              </a:xfrm>
              <a:prstGeom prst="rect">
                <a:avLst/>
              </a:prstGeom>
              <a:blipFill>
                <a:blip r:embed="rId4"/>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898102D-32FA-417D-ABD4-8ABB53EE307F}"/>
                  </a:ext>
                </a:extLst>
              </p:cNvPr>
              <p:cNvSpPr txBox="1"/>
              <p:nvPr/>
            </p:nvSpPr>
            <p:spPr>
              <a:xfrm>
                <a:off x="5226423" y="3701920"/>
                <a:ext cx="1134926" cy="329001"/>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i="1">
                              <a:latin typeface="Cambria Math" panose="02040503050406030204" pitchFamily="18" charset="0"/>
                            </a:rPr>
                            <m:t>𝐻</m:t>
                          </m:r>
                        </m:e>
                        <m:sub>
                          <m:r>
                            <a:rPr lang="es-419" sz="1400" i="1">
                              <a:latin typeface="Cambria Math" panose="02040503050406030204" pitchFamily="18" charset="0"/>
                            </a:rPr>
                            <m:t>1</m:t>
                          </m:r>
                        </m:sub>
                      </m:sSub>
                      <m:r>
                        <a:rPr lang="es-419" sz="1400" i="1">
                          <a:latin typeface="Cambria Math" panose="02040503050406030204" pitchFamily="18" charset="0"/>
                        </a:rPr>
                        <m: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𝑥</m:t>
                          </m:r>
                        </m:sub>
                        <m:sup>
                          <m:r>
                            <a:rPr lang="es-419" sz="1400" i="1">
                              <a:latin typeface="Cambria Math" panose="02040503050406030204" pitchFamily="18" charset="0"/>
                              <a:ea typeface="Cambria Math" panose="02040503050406030204" pitchFamily="18" charset="0"/>
                            </a:rPr>
                            <m:t>2</m:t>
                          </m:r>
                        </m:sup>
                      </m:sSubSup>
                      <m:r>
                        <a:rPr lang="es-419" sz="1400" i="1">
                          <a:latin typeface="Cambria Math" panose="02040503050406030204" pitchFamily="18" charset="0"/>
                          <a:ea typeface="Cambria Math" panose="02040503050406030204" pitchFamily="18" charset="0"/>
                        </a:rPr>
                        <m:t>≠</m:t>
                      </m:r>
                      <m:sSubSup>
                        <m:sSubSupPr>
                          <m:ctrlPr>
                            <a:rPr lang="es-419" sz="1400" i="1">
                              <a:latin typeface="Cambria Math" panose="02040503050406030204" pitchFamily="18" charset="0"/>
                              <a:ea typeface="Cambria Math" panose="02040503050406030204" pitchFamily="18" charset="0"/>
                            </a:rPr>
                          </m:ctrlPr>
                        </m:sSubSupPr>
                        <m:e>
                          <m:r>
                            <a:rPr lang="es-419" sz="1400" i="1">
                              <a:latin typeface="Cambria Math" panose="02040503050406030204" pitchFamily="18" charset="0"/>
                              <a:ea typeface="Cambria Math" panose="02040503050406030204" pitchFamily="18" charset="0"/>
                            </a:rPr>
                            <m:t>𝜎</m:t>
                          </m:r>
                        </m:e>
                        <m:sub>
                          <m:r>
                            <a:rPr lang="es-419" sz="1400" i="1">
                              <a:latin typeface="Cambria Math" panose="02040503050406030204" pitchFamily="18" charset="0"/>
                              <a:ea typeface="Cambria Math" panose="02040503050406030204" pitchFamily="18" charset="0"/>
                            </a:rPr>
                            <m:t>𝑦</m:t>
                          </m:r>
                        </m:sub>
                        <m:sup>
                          <m:r>
                            <a:rPr lang="es-419" sz="1400" i="1">
                              <a:latin typeface="Cambria Math" panose="02040503050406030204" pitchFamily="18" charset="0"/>
                              <a:ea typeface="Cambria Math" panose="02040503050406030204" pitchFamily="18" charset="0"/>
                            </a:rPr>
                            <m:t>2</m:t>
                          </m:r>
                        </m:sup>
                      </m:sSubSup>
                    </m:oMath>
                  </m:oMathPara>
                </a14:m>
                <a:endParaRPr lang="es-419" sz="1400" dirty="0"/>
              </a:p>
            </p:txBody>
          </p:sp>
        </mc:Choice>
        <mc:Fallback xmlns="">
          <p:sp>
            <p:nvSpPr>
              <p:cNvPr id="7" name="TextBox 6">
                <a:extLst>
                  <a:ext uri="{FF2B5EF4-FFF2-40B4-BE49-F238E27FC236}">
                    <a16:creationId xmlns:a16="http://schemas.microsoft.com/office/drawing/2014/main" id="{B898102D-32FA-417D-ABD4-8ABB53EE307F}"/>
                  </a:ext>
                </a:extLst>
              </p:cNvPr>
              <p:cNvSpPr txBox="1">
                <a:spLocks noRot="1" noChangeAspect="1" noMove="1" noResize="1" noEditPoints="1" noAdjustHandles="1" noChangeArrowheads="1" noChangeShapeType="1" noTextEdit="1"/>
              </p:cNvSpPr>
              <p:nvPr/>
            </p:nvSpPr>
            <p:spPr>
              <a:xfrm>
                <a:off x="5226423" y="3701920"/>
                <a:ext cx="1134926" cy="329001"/>
              </a:xfrm>
              <a:prstGeom prst="rect">
                <a:avLst/>
              </a:prstGeom>
              <a:blipFill>
                <a:blip r:embed="rId5"/>
                <a:stretch>
                  <a:fillRect/>
                </a:stretch>
              </a:blipFill>
            </p:spPr>
            <p:txBody>
              <a:bodyPr/>
              <a:lstStyle/>
              <a:p>
                <a:r>
                  <a:rPr lang="es-VE">
                    <a:noFill/>
                  </a:rPr>
                  <a:t> </a:t>
                </a:r>
              </a:p>
            </p:txBody>
          </p:sp>
        </mc:Fallback>
      </mc:AlternateContent>
    </p:spTree>
    <p:extLst>
      <p:ext uri="{BB962C8B-B14F-4D97-AF65-F5344CB8AC3E}">
        <p14:creationId xmlns:p14="http://schemas.microsoft.com/office/powerpoint/2010/main" val="21021995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11.62</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normAutofit fontScale="92500" lnSpcReduction="10000"/>
          </a:bodyPr>
          <a:lstStyle/>
          <a:p>
            <a:pPr marL="0" indent="0">
              <a:lnSpc>
                <a:spcPct val="150000"/>
              </a:lnSpc>
              <a:buNone/>
            </a:pPr>
            <a:r>
              <a:rPr lang="es-VE" i="1" dirty="0"/>
              <a:t>En una ciudad se escogió una muestra aleatoria de 121 personas para preguntarles el precio que estarían dispuestas a pagar por un determinado artículo, dando una media de Bs. 5,50, con una desviación típica de Bs. 0,50. En otra ciudad una muestra de 61 personas dio una media de Bs. 5, con una desviación típica de Bs. 0,37. ¿Hay diferencia significativa en las varianzas de los precios con </a:t>
            </a:r>
            <a:r>
              <a:rPr lang="el-GR" i="1" dirty="0"/>
              <a:t>α</a:t>
            </a:r>
            <a:r>
              <a:rPr lang="es-VE" i="1" dirty="0"/>
              <a:t> = 0,05?</a:t>
            </a:r>
          </a:p>
          <a:p>
            <a:pPr marL="0" indent="0">
              <a:lnSpc>
                <a:spcPct val="150000"/>
              </a:lnSpc>
              <a:buNone/>
            </a:pPr>
            <a:r>
              <a:rPr lang="es-VE" i="1" dirty="0"/>
              <a:t>Asuma que las varianzas muestrales son insesgadas y emplee el método del p-valor.</a:t>
            </a:r>
            <a:endParaRPr lang="en-US" i="1" dirty="0"/>
          </a:p>
        </p:txBody>
      </p:sp>
    </p:spTree>
    <p:extLst>
      <p:ext uri="{BB962C8B-B14F-4D97-AF65-F5344CB8AC3E}">
        <p14:creationId xmlns:p14="http://schemas.microsoft.com/office/powerpoint/2010/main" val="8130377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11.62</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85000" lnSpcReduction="20000"/>
          </a:bodyPr>
          <a:lstStyle/>
          <a:p>
            <a:pPr marL="0" indent="0">
              <a:buNone/>
            </a:pPr>
            <a:r>
              <a:rPr lang="es-ES" dirty="0">
                <a:latin typeface="Consolas" panose="020B0609020204030204" pitchFamily="49" charset="0"/>
              </a:rPr>
              <a:t>&gt; </a:t>
            </a:r>
            <a:r>
              <a:rPr lang="es-ES" dirty="0" err="1">
                <a:latin typeface="Consolas" panose="020B0609020204030204" pitchFamily="49" charset="0"/>
              </a:rPr>
              <a:t>n_x</a:t>
            </a:r>
            <a:r>
              <a:rPr lang="es-ES" dirty="0">
                <a:latin typeface="Consolas" panose="020B0609020204030204" pitchFamily="49" charset="0"/>
              </a:rPr>
              <a:t> &lt;- 121</a:t>
            </a:r>
          </a:p>
          <a:p>
            <a:pPr marL="0" indent="0">
              <a:buNone/>
            </a:pPr>
            <a:r>
              <a:rPr lang="es-ES" dirty="0">
                <a:latin typeface="Consolas" panose="020B0609020204030204" pitchFamily="49" charset="0"/>
              </a:rPr>
              <a:t>&gt; </a:t>
            </a:r>
            <a:r>
              <a:rPr lang="es-ES" dirty="0" err="1">
                <a:latin typeface="Consolas" panose="020B0609020204030204" pitchFamily="49" charset="0"/>
              </a:rPr>
              <a:t>x_hat</a:t>
            </a:r>
            <a:r>
              <a:rPr lang="es-ES" dirty="0">
                <a:latin typeface="Consolas" panose="020B0609020204030204" pitchFamily="49" charset="0"/>
              </a:rPr>
              <a:t> &lt;- 5.50</a:t>
            </a:r>
          </a:p>
          <a:p>
            <a:pPr marL="0" indent="0">
              <a:buNone/>
            </a:pPr>
            <a:r>
              <a:rPr lang="es-ES" dirty="0">
                <a:latin typeface="Consolas" panose="020B0609020204030204" pitchFamily="49" charset="0"/>
              </a:rPr>
              <a:t>&gt; </a:t>
            </a:r>
            <a:r>
              <a:rPr lang="es-ES" dirty="0" err="1">
                <a:latin typeface="Consolas" panose="020B0609020204030204" pitchFamily="49" charset="0"/>
              </a:rPr>
              <a:t>s_x</a:t>
            </a:r>
            <a:r>
              <a:rPr lang="es-ES" dirty="0">
                <a:latin typeface="Consolas" panose="020B0609020204030204" pitchFamily="49" charset="0"/>
              </a:rPr>
              <a:t> &lt;- 0.50</a:t>
            </a:r>
          </a:p>
          <a:p>
            <a:pPr marL="0" indent="0">
              <a:buNone/>
            </a:pPr>
            <a:r>
              <a:rPr lang="es-ES" dirty="0">
                <a:latin typeface="Consolas" panose="020B0609020204030204" pitchFamily="49" charset="0"/>
              </a:rPr>
              <a:t>&gt; </a:t>
            </a:r>
            <a:r>
              <a:rPr lang="es-ES" dirty="0" err="1">
                <a:latin typeface="Consolas" panose="020B0609020204030204" pitchFamily="49" charset="0"/>
              </a:rPr>
              <a:t>n_y</a:t>
            </a:r>
            <a:r>
              <a:rPr lang="es-ES" dirty="0">
                <a:latin typeface="Consolas" panose="020B0609020204030204" pitchFamily="49" charset="0"/>
              </a:rPr>
              <a:t> &lt;- 61</a:t>
            </a:r>
          </a:p>
          <a:p>
            <a:pPr marL="0" indent="0">
              <a:buNone/>
            </a:pPr>
            <a:r>
              <a:rPr lang="es-ES" dirty="0">
                <a:latin typeface="Consolas" panose="020B0609020204030204" pitchFamily="49" charset="0"/>
              </a:rPr>
              <a:t>&gt; </a:t>
            </a:r>
            <a:r>
              <a:rPr lang="es-ES" dirty="0" err="1">
                <a:latin typeface="Consolas" panose="020B0609020204030204" pitchFamily="49" charset="0"/>
              </a:rPr>
              <a:t>y_hat</a:t>
            </a:r>
            <a:r>
              <a:rPr lang="es-ES" dirty="0">
                <a:latin typeface="Consolas" panose="020B0609020204030204" pitchFamily="49" charset="0"/>
              </a:rPr>
              <a:t> &lt;- 5</a:t>
            </a:r>
          </a:p>
          <a:p>
            <a:pPr marL="0" indent="0">
              <a:buNone/>
            </a:pPr>
            <a:r>
              <a:rPr lang="es-ES" dirty="0">
                <a:latin typeface="Consolas" panose="020B0609020204030204" pitchFamily="49" charset="0"/>
              </a:rPr>
              <a:t>&gt; </a:t>
            </a:r>
            <a:r>
              <a:rPr lang="es-ES" dirty="0" err="1">
                <a:latin typeface="Consolas" panose="020B0609020204030204" pitchFamily="49" charset="0"/>
              </a:rPr>
              <a:t>s_y</a:t>
            </a:r>
            <a:r>
              <a:rPr lang="es-ES" dirty="0">
                <a:latin typeface="Consolas" panose="020B0609020204030204" pitchFamily="49" charset="0"/>
              </a:rPr>
              <a:t> &lt;- 0.37</a:t>
            </a:r>
          </a:p>
          <a:p>
            <a:pPr marL="0" indent="0">
              <a:buNone/>
            </a:pPr>
            <a:r>
              <a:rPr lang="es-ES" dirty="0">
                <a:latin typeface="Consolas" panose="020B0609020204030204" pitchFamily="49" charset="0"/>
              </a:rPr>
              <a:t>&gt; a &lt;- 0.05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#H0: </a:t>
            </a:r>
            <a:r>
              <a:rPr lang="es-ES" dirty="0" err="1">
                <a:latin typeface="Consolas" panose="020B0609020204030204" pitchFamily="49" charset="0"/>
              </a:rPr>
              <a:t>Var_x</a:t>
            </a:r>
            <a:r>
              <a:rPr lang="es-ES" dirty="0">
                <a:latin typeface="Consolas" panose="020B0609020204030204" pitchFamily="49" charset="0"/>
              </a:rPr>
              <a:t>/</a:t>
            </a:r>
            <a:r>
              <a:rPr lang="es-ES" dirty="0" err="1">
                <a:latin typeface="Consolas" panose="020B0609020204030204" pitchFamily="49" charset="0"/>
              </a:rPr>
              <a:t>Var_y</a:t>
            </a:r>
            <a:r>
              <a:rPr lang="es-ES" dirty="0">
                <a:latin typeface="Consolas" panose="020B0609020204030204" pitchFamily="49" charset="0"/>
              </a:rPr>
              <a:t> = 1 | </a:t>
            </a:r>
            <a:r>
              <a:rPr lang="es-ES" dirty="0" err="1">
                <a:latin typeface="Consolas" panose="020B0609020204030204" pitchFamily="49" charset="0"/>
              </a:rPr>
              <a:t>Var_x</a:t>
            </a:r>
            <a:r>
              <a:rPr lang="es-ES" dirty="0">
                <a:latin typeface="Consolas" panose="020B0609020204030204" pitchFamily="49" charset="0"/>
              </a:rPr>
              <a:t>/</a:t>
            </a:r>
            <a:r>
              <a:rPr lang="es-ES" dirty="0" err="1">
                <a:latin typeface="Consolas" panose="020B0609020204030204" pitchFamily="49" charset="0"/>
              </a:rPr>
              <a:t>Var_y</a:t>
            </a:r>
            <a:r>
              <a:rPr lang="es-ES" dirty="0">
                <a:latin typeface="Consolas" panose="020B0609020204030204" pitchFamily="49" charset="0"/>
              </a:rPr>
              <a:t> =/= 1</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#Metodo p-valor</a:t>
            </a:r>
          </a:p>
          <a:p>
            <a:pPr marL="0" indent="0">
              <a:buNone/>
            </a:pPr>
            <a:r>
              <a:rPr lang="es-ES" dirty="0">
                <a:latin typeface="Consolas" panose="020B0609020204030204" pitchFamily="49" charset="0"/>
              </a:rPr>
              <a:t>&gt; f &lt;- (s_x^2)/(s_y^2)</a:t>
            </a:r>
          </a:p>
          <a:p>
            <a:pPr marL="0" indent="0">
              <a:buNone/>
            </a:pPr>
            <a:r>
              <a:rPr lang="es-ES" dirty="0">
                <a:latin typeface="Consolas" panose="020B0609020204030204" pitchFamily="49" charset="0"/>
              </a:rPr>
              <a:t>&gt; f</a:t>
            </a:r>
          </a:p>
          <a:p>
            <a:pPr marL="0" indent="0">
              <a:buNone/>
            </a:pPr>
            <a:r>
              <a:rPr lang="es-ES" dirty="0">
                <a:latin typeface="Consolas" panose="020B0609020204030204" pitchFamily="49" charset="0"/>
              </a:rPr>
              <a:t>[1] 1.82615 </a:t>
            </a:r>
          </a:p>
        </p:txBody>
      </p:sp>
    </p:spTree>
    <p:extLst>
      <p:ext uri="{BB962C8B-B14F-4D97-AF65-F5344CB8AC3E}">
        <p14:creationId xmlns:p14="http://schemas.microsoft.com/office/powerpoint/2010/main" val="35927412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11.62</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es-ES" sz="2000" dirty="0">
                <a:latin typeface="Consolas" panose="020B0609020204030204" pitchFamily="49" charset="0"/>
              </a:rPr>
              <a:t>&gt; </a:t>
            </a:r>
            <a:r>
              <a:rPr lang="es-ES" sz="2000" dirty="0" err="1">
                <a:latin typeface="Consolas" panose="020B0609020204030204" pitchFamily="49" charset="0"/>
              </a:rPr>
              <a:t>pf</a:t>
            </a:r>
            <a:r>
              <a:rPr lang="es-ES" sz="2000" dirty="0">
                <a:latin typeface="Consolas" panose="020B0609020204030204" pitchFamily="49" charset="0"/>
              </a:rPr>
              <a:t>(f, df1 = n_x-1, df2 = n_y-1, </a:t>
            </a:r>
            <a:r>
              <a:rPr lang="es-ES" sz="2000" dirty="0" err="1">
                <a:latin typeface="Consolas" panose="020B0609020204030204" pitchFamily="49" charset="0"/>
              </a:rPr>
              <a:t>lower.tail</a:t>
            </a:r>
            <a:r>
              <a:rPr lang="es-ES" sz="2000" dirty="0">
                <a:latin typeface="Consolas" panose="020B0609020204030204" pitchFamily="49" charset="0"/>
              </a:rPr>
              <a:t> = FALSE)</a:t>
            </a:r>
          </a:p>
          <a:p>
            <a:pPr marL="0" indent="0">
              <a:buNone/>
            </a:pPr>
            <a:r>
              <a:rPr lang="es-ES" sz="2000" dirty="0">
                <a:latin typeface="Consolas" panose="020B0609020204030204" pitchFamily="49" charset="0"/>
              </a:rPr>
              <a:t>[1] 0.005263892</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pf</a:t>
            </a:r>
            <a:r>
              <a:rPr lang="es-ES" sz="2000" dirty="0">
                <a:latin typeface="Consolas" panose="020B0609020204030204" pitchFamily="49" charset="0"/>
              </a:rPr>
              <a:t>(f, df1 = n_x-1, df2 = n_y-1, </a:t>
            </a:r>
            <a:r>
              <a:rPr lang="es-ES" sz="2000" dirty="0" err="1">
                <a:latin typeface="Consolas" panose="020B0609020204030204" pitchFamily="49" charset="0"/>
              </a:rPr>
              <a:t>lower.tail</a:t>
            </a:r>
            <a:r>
              <a:rPr lang="es-ES" sz="2000" dirty="0">
                <a:latin typeface="Consolas" panose="020B0609020204030204" pitchFamily="49" charset="0"/>
              </a:rPr>
              <a:t> = TRUE)</a:t>
            </a:r>
          </a:p>
          <a:p>
            <a:pPr marL="0" indent="0">
              <a:buNone/>
            </a:pPr>
            <a:r>
              <a:rPr lang="es-ES" sz="2000" dirty="0">
                <a:latin typeface="Consolas" panose="020B0609020204030204" pitchFamily="49" charset="0"/>
              </a:rPr>
              <a:t>[1] 0.9947361</a:t>
            </a:r>
          </a:p>
          <a:p>
            <a:pPr marL="0" indent="0">
              <a:buNone/>
            </a:pPr>
            <a:endParaRPr lang="es-ES" sz="2000" dirty="0">
              <a:latin typeface="Consolas" panose="020B0609020204030204" pitchFamily="49" charset="0"/>
            </a:endParaRPr>
          </a:p>
          <a:p>
            <a:pPr marL="0" indent="0">
              <a:buNone/>
            </a:pPr>
            <a:r>
              <a:rPr lang="es-ES" sz="2000" dirty="0">
                <a:latin typeface="Consolas" panose="020B0609020204030204" pitchFamily="49" charset="0"/>
              </a:rPr>
              <a:t>&gt; </a:t>
            </a:r>
            <a:r>
              <a:rPr lang="es-ES" sz="2000" dirty="0" err="1">
                <a:latin typeface="Consolas" panose="020B0609020204030204" pitchFamily="49" charset="0"/>
              </a:rPr>
              <a:t>p_valor</a:t>
            </a:r>
            <a:r>
              <a:rPr lang="es-ES" sz="2000" dirty="0">
                <a:latin typeface="Consolas" panose="020B0609020204030204" pitchFamily="49" charset="0"/>
              </a:rPr>
              <a:t> &lt;- </a:t>
            </a:r>
            <a:r>
              <a:rPr lang="es-ES" sz="2000" dirty="0" err="1">
                <a:latin typeface="Consolas" panose="020B0609020204030204" pitchFamily="49" charset="0"/>
              </a:rPr>
              <a:t>pf</a:t>
            </a:r>
            <a:r>
              <a:rPr lang="es-ES" sz="2000" dirty="0">
                <a:latin typeface="Consolas" panose="020B0609020204030204" pitchFamily="49" charset="0"/>
              </a:rPr>
              <a:t>(f, df1 = n_x-1, df2 = n_y-1, </a:t>
            </a:r>
            <a:r>
              <a:rPr lang="es-ES" sz="2000" dirty="0" err="1">
                <a:latin typeface="Consolas" panose="020B0609020204030204" pitchFamily="49" charset="0"/>
              </a:rPr>
              <a:t>lower.tail</a:t>
            </a:r>
            <a:r>
              <a:rPr lang="es-ES" sz="2000" dirty="0">
                <a:latin typeface="Consolas" panose="020B0609020204030204" pitchFamily="49" charset="0"/>
              </a:rPr>
              <a:t> = FALSE)*2</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p_valor</a:t>
            </a:r>
            <a:endParaRPr lang="es-ES" sz="2000" dirty="0">
              <a:latin typeface="Consolas" panose="020B0609020204030204" pitchFamily="49" charset="0"/>
            </a:endParaRPr>
          </a:p>
          <a:p>
            <a:pPr marL="0" indent="0">
              <a:buNone/>
            </a:pPr>
            <a:r>
              <a:rPr lang="es-ES" sz="2000" dirty="0">
                <a:highlight>
                  <a:srgbClr val="FFFF00"/>
                </a:highlight>
                <a:latin typeface="Consolas" panose="020B0609020204030204" pitchFamily="49" charset="0"/>
              </a:rPr>
              <a:t>[1] 0.01052778</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p_valor</a:t>
            </a:r>
            <a:r>
              <a:rPr lang="es-ES" sz="2000" dirty="0">
                <a:latin typeface="Consolas" panose="020B0609020204030204" pitchFamily="49" charset="0"/>
              </a:rPr>
              <a:t> &lt; a</a:t>
            </a:r>
          </a:p>
          <a:p>
            <a:pPr marL="0" indent="0">
              <a:buNone/>
            </a:pPr>
            <a:r>
              <a:rPr lang="es-ES" sz="2000" dirty="0">
                <a:highlight>
                  <a:srgbClr val="FFFF00"/>
                </a:highlight>
                <a:latin typeface="Consolas" panose="020B0609020204030204" pitchFamily="49" charset="0"/>
              </a:rPr>
              <a:t>[1] TRUE</a:t>
            </a:r>
          </a:p>
        </p:txBody>
      </p:sp>
    </p:spTree>
    <p:extLst>
      <p:ext uri="{BB962C8B-B14F-4D97-AF65-F5344CB8AC3E}">
        <p14:creationId xmlns:p14="http://schemas.microsoft.com/office/powerpoint/2010/main" val="33913622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11.63</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lstStyle/>
          <a:p>
            <a:pPr marL="0" indent="0">
              <a:lnSpc>
                <a:spcPct val="150000"/>
              </a:lnSpc>
              <a:buNone/>
            </a:pPr>
            <a:r>
              <a:rPr lang="es-VE" i="1" dirty="0"/>
              <a:t>Los gastos medios en viviendas en una muestra de 21 familias de cierta población fueron de Bs. 400 mensuales, con una desviación típica de Bs. 30. En una muestra de 31 familias de otra población los gastos fueron de Bs. 405, con una desviación típica de Bs. 35. ¿Hay más variación en los gastos de la segunda población con </a:t>
            </a:r>
            <a:r>
              <a:rPr lang="el-GR" i="1" dirty="0"/>
              <a:t>α</a:t>
            </a:r>
            <a:r>
              <a:rPr lang="es-VE" i="1" dirty="0"/>
              <a:t> = 0,05?</a:t>
            </a:r>
          </a:p>
          <a:p>
            <a:pPr marL="0" indent="0">
              <a:lnSpc>
                <a:spcPct val="150000"/>
              </a:lnSpc>
              <a:buNone/>
            </a:pPr>
            <a:r>
              <a:rPr lang="es-VE" i="1" dirty="0"/>
              <a:t>Asuma que las desviaciones típicas son insesgadas y emplee el método del p-valor.</a:t>
            </a:r>
            <a:endParaRPr lang="en-US" i="1" dirty="0"/>
          </a:p>
          <a:p>
            <a:pPr marL="0" indent="0">
              <a:buNone/>
            </a:pPr>
            <a:endParaRPr lang="en-US" dirty="0"/>
          </a:p>
        </p:txBody>
      </p:sp>
    </p:spTree>
    <p:extLst>
      <p:ext uri="{BB962C8B-B14F-4D97-AF65-F5344CB8AC3E}">
        <p14:creationId xmlns:p14="http://schemas.microsoft.com/office/powerpoint/2010/main" val="26889588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11.63</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47500" lnSpcReduction="20000"/>
          </a:bodyPr>
          <a:lstStyle/>
          <a:p>
            <a:pPr marL="0" indent="0">
              <a:buNone/>
            </a:pPr>
            <a:r>
              <a:rPr lang="es-ES" dirty="0">
                <a:latin typeface="Consolas" panose="020B0609020204030204" pitchFamily="49" charset="0"/>
              </a:rPr>
              <a:t>&gt; </a:t>
            </a:r>
            <a:r>
              <a:rPr lang="es-ES" dirty="0" err="1">
                <a:latin typeface="Consolas" panose="020B0609020204030204" pitchFamily="49" charset="0"/>
              </a:rPr>
              <a:t>n_x</a:t>
            </a:r>
            <a:r>
              <a:rPr lang="es-ES" dirty="0">
                <a:latin typeface="Consolas" panose="020B0609020204030204" pitchFamily="49" charset="0"/>
              </a:rPr>
              <a:t> &lt;- 21</a:t>
            </a:r>
          </a:p>
          <a:p>
            <a:pPr marL="0" indent="0">
              <a:buNone/>
            </a:pPr>
            <a:r>
              <a:rPr lang="es-ES" dirty="0">
                <a:latin typeface="Consolas" panose="020B0609020204030204" pitchFamily="49" charset="0"/>
              </a:rPr>
              <a:t>&gt; </a:t>
            </a:r>
            <a:r>
              <a:rPr lang="es-ES" dirty="0" err="1">
                <a:latin typeface="Consolas" panose="020B0609020204030204" pitchFamily="49" charset="0"/>
              </a:rPr>
              <a:t>x_hat</a:t>
            </a:r>
            <a:r>
              <a:rPr lang="es-ES" dirty="0">
                <a:latin typeface="Consolas" panose="020B0609020204030204" pitchFamily="49" charset="0"/>
              </a:rPr>
              <a:t> &lt;- 400</a:t>
            </a:r>
          </a:p>
          <a:p>
            <a:pPr marL="0" indent="0">
              <a:buNone/>
            </a:pPr>
            <a:r>
              <a:rPr lang="es-ES" dirty="0">
                <a:latin typeface="Consolas" panose="020B0609020204030204" pitchFamily="49" charset="0"/>
              </a:rPr>
              <a:t>&gt; </a:t>
            </a:r>
            <a:r>
              <a:rPr lang="es-ES" dirty="0" err="1">
                <a:latin typeface="Consolas" panose="020B0609020204030204" pitchFamily="49" charset="0"/>
              </a:rPr>
              <a:t>s_x</a:t>
            </a:r>
            <a:r>
              <a:rPr lang="es-ES" dirty="0">
                <a:latin typeface="Consolas" panose="020B0609020204030204" pitchFamily="49" charset="0"/>
              </a:rPr>
              <a:t> &lt;- 30</a:t>
            </a:r>
          </a:p>
          <a:p>
            <a:pPr marL="0" indent="0">
              <a:buNone/>
            </a:pPr>
            <a:r>
              <a:rPr lang="es-ES" dirty="0">
                <a:latin typeface="Consolas" panose="020B0609020204030204" pitchFamily="49" charset="0"/>
              </a:rPr>
              <a:t>&gt; </a:t>
            </a:r>
            <a:r>
              <a:rPr lang="es-ES" dirty="0" err="1">
                <a:latin typeface="Consolas" panose="020B0609020204030204" pitchFamily="49" charset="0"/>
              </a:rPr>
              <a:t>n_y</a:t>
            </a:r>
            <a:r>
              <a:rPr lang="es-ES" dirty="0">
                <a:latin typeface="Consolas" panose="020B0609020204030204" pitchFamily="49" charset="0"/>
              </a:rPr>
              <a:t> &lt;- 31</a:t>
            </a:r>
          </a:p>
          <a:p>
            <a:pPr marL="0" indent="0">
              <a:buNone/>
            </a:pPr>
            <a:r>
              <a:rPr lang="es-ES" dirty="0">
                <a:latin typeface="Consolas" panose="020B0609020204030204" pitchFamily="49" charset="0"/>
              </a:rPr>
              <a:t>&gt; </a:t>
            </a:r>
            <a:r>
              <a:rPr lang="es-ES" dirty="0" err="1">
                <a:latin typeface="Consolas" panose="020B0609020204030204" pitchFamily="49" charset="0"/>
              </a:rPr>
              <a:t>y_hat</a:t>
            </a:r>
            <a:r>
              <a:rPr lang="es-ES" dirty="0">
                <a:latin typeface="Consolas" panose="020B0609020204030204" pitchFamily="49" charset="0"/>
              </a:rPr>
              <a:t> &lt;- 405</a:t>
            </a:r>
          </a:p>
          <a:p>
            <a:pPr marL="0" indent="0">
              <a:buNone/>
            </a:pPr>
            <a:r>
              <a:rPr lang="es-ES" dirty="0">
                <a:latin typeface="Consolas" panose="020B0609020204030204" pitchFamily="49" charset="0"/>
              </a:rPr>
              <a:t>&gt; </a:t>
            </a:r>
            <a:r>
              <a:rPr lang="es-ES" dirty="0" err="1">
                <a:latin typeface="Consolas" panose="020B0609020204030204" pitchFamily="49" charset="0"/>
              </a:rPr>
              <a:t>s_y</a:t>
            </a:r>
            <a:r>
              <a:rPr lang="es-ES" dirty="0">
                <a:latin typeface="Consolas" panose="020B0609020204030204" pitchFamily="49" charset="0"/>
              </a:rPr>
              <a:t> &lt;- 35</a:t>
            </a:r>
          </a:p>
          <a:p>
            <a:pPr marL="0" indent="0">
              <a:buNone/>
            </a:pPr>
            <a:r>
              <a:rPr lang="es-ES" dirty="0">
                <a:latin typeface="Consolas" panose="020B0609020204030204" pitchFamily="49" charset="0"/>
              </a:rPr>
              <a:t>&gt; a &lt;- 0.05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H0: </a:t>
            </a:r>
            <a:r>
              <a:rPr lang="es-ES" dirty="0" err="1">
                <a:latin typeface="Consolas" panose="020B0609020204030204" pitchFamily="49" charset="0"/>
              </a:rPr>
              <a:t>s_x</a:t>
            </a:r>
            <a:r>
              <a:rPr lang="es-ES" dirty="0">
                <a:latin typeface="Consolas" panose="020B0609020204030204" pitchFamily="49" charset="0"/>
              </a:rPr>
              <a:t>/</a:t>
            </a:r>
            <a:r>
              <a:rPr lang="es-ES" dirty="0" err="1">
                <a:latin typeface="Consolas" panose="020B0609020204030204" pitchFamily="49" charset="0"/>
              </a:rPr>
              <a:t>s_y</a:t>
            </a:r>
            <a:r>
              <a:rPr lang="es-ES" dirty="0">
                <a:latin typeface="Consolas" panose="020B0609020204030204" pitchFamily="49" charset="0"/>
              </a:rPr>
              <a:t> = 1| </a:t>
            </a:r>
            <a:r>
              <a:rPr lang="es-ES" dirty="0" err="1">
                <a:latin typeface="Consolas" panose="020B0609020204030204" pitchFamily="49" charset="0"/>
              </a:rPr>
              <a:t>s_x</a:t>
            </a:r>
            <a:r>
              <a:rPr lang="es-ES" dirty="0">
                <a:latin typeface="Consolas" panose="020B0609020204030204" pitchFamily="49" charset="0"/>
              </a:rPr>
              <a:t>/</a:t>
            </a:r>
            <a:r>
              <a:rPr lang="es-ES" dirty="0" err="1">
                <a:latin typeface="Consolas" panose="020B0609020204030204" pitchFamily="49" charset="0"/>
              </a:rPr>
              <a:t>s_y</a:t>
            </a:r>
            <a:r>
              <a:rPr lang="es-ES" dirty="0">
                <a:latin typeface="Consolas" panose="020B0609020204030204" pitchFamily="49" charset="0"/>
              </a:rPr>
              <a:t> &lt; 1</a:t>
            </a:r>
          </a:p>
          <a:p>
            <a:pPr marL="0" indent="0">
              <a:buNone/>
            </a:pPr>
            <a:r>
              <a:rPr lang="es-ES" dirty="0">
                <a:latin typeface="Consolas" panose="020B0609020204030204" pitchFamily="49" charset="0"/>
              </a:rPr>
              <a:t>&gt; #Metodo del p-valor</a:t>
            </a:r>
          </a:p>
          <a:p>
            <a:pPr marL="0" indent="0">
              <a:buNone/>
            </a:pPr>
            <a:r>
              <a:rPr lang="es-ES" dirty="0">
                <a:latin typeface="Consolas" panose="020B0609020204030204" pitchFamily="49" charset="0"/>
              </a:rPr>
              <a:t>&gt; f &lt;- (s_x^2)/(s_y^2)</a:t>
            </a:r>
          </a:p>
          <a:p>
            <a:pPr marL="0" indent="0">
              <a:buNone/>
            </a:pPr>
            <a:r>
              <a:rPr lang="es-ES" dirty="0">
                <a:latin typeface="Consolas" panose="020B0609020204030204" pitchFamily="49" charset="0"/>
              </a:rPr>
              <a:t>&gt; f</a:t>
            </a:r>
          </a:p>
          <a:p>
            <a:pPr marL="0" indent="0">
              <a:buNone/>
            </a:pPr>
            <a:r>
              <a:rPr lang="es-ES" dirty="0">
                <a:latin typeface="Consolas" panose="020B0609020204030204" pitchFamily="49" charset="0"/>
              </a:rPr>
              <a:t>[1] 0.7346939</a:t>
            </a:r>
          </a:p>
          <a:p>
            <a:pPr marL="0" indent="0">
              <a:buNone/>
            </a:pPr>
            <a:endParaRPr lang="es-ES" sz="2800" dirty="0">
              <a:latin typeface="Consolas" panose="020B0609020204030204" pitchFamily="49" charset="0"/>
            </a:endParaRPr>
          </a:p>
          <a:p>
            <a:pPr marL="0" indent="0">
              <a:buNone/>
            </a:pPr>
            <a:r>
              <a:rPr lang="es-ES" sz="2800" dirty="0">
                <a:latin typeface="Consolas" panose="020B0609020204030204" pitchFamily="49" charset="0"/>
              </a:rPr>
              <a:t>&gt; </a:t>
            </a:r>
            <a:r>
              <a:rPr lang="es-ES" sz="2800" dirty="0" err="1">
                <a:latin typeface="Consolas" panose="020B0609020204030204" pitchFamily="49" charset="0"/>
              </a:rPr>
              <a:t>p_valor</a:t>
            </a:r>
            <a:r>
              <a:rPr lang="es-ES" sz="2800" dirty="0">
                <a:latin typeface="Consolas" panose="020B0609020204030204" pitchFamily="49" charset="0"/>
              </a:rPr>
              <a:t> &lt;- </a:t>
            </a:r>
            <a:r>
              <a:rPr lang="es-ES" sz="2800" dirty="0" err="1">
                <a:latin typeface="Consolas" panose="020B0609020204030204" pitchFamily="49" charset="0"/>
              </a:rPr>
              <a:t>pf</a:t>
            </a:r>
            <a:r>
              <a:rPr lang="es-ES" sz="2800" dirty="0">
                <a:latin typeface="Consolas" panose="020B0609020204030204" pitchFamily="49" charset="0"/>
              </a:rPr>
              <a:t>(f, df1 = </a:t>
            </a:r>
            <a:r>
              <a:rPr lang="es-ES" sz="2800" dirty="0" err="1">
                <a:latin typeface="Consolas" panose="020B0609020204030204" pitchFamily="49" charset="0"/>
              </a:rPr>
              <a:t>n_x</a:t>
            </a:r>
            <a:r>
              <a:rPr lang="es-ES" sz="2800" dirty="0">
                <a:latin typeface="Consolas" panose="020B0609020204030204" pitchFamily="49" charset="0"/>
              </a:rPr>
              <a:t> - 1, df2 = </a:t>
            </a:r>
            <a:r>
              <a:rPr lang="es-ES" sz="2800" dirty="0" err="1">
                <a:latin typeface="Consolas" panose="020B0609020204030204" pitchFamily="49" charset="0"/>
              </a:rPr>
              <a:t>n_y</a:t>
            </a:r>
            <a:r>
              <a:rPr lang="es-ES" sz="2800" dirty="0">
                <a:latin typeface="Consolas" panose="020B0609020204030204" pitchFamily="49" charset="0"/>
              </a:rPr>
              <a:t> - 1, </a:t>
            </a:r>
            <a:r>
              <a:rPr lang="es-ES" sz="2800" dirty="0" err="1">
                <a:latin typeface="Consolas" panose="020B0609020204030204" pitchFamily="49" charset="0"/>
              </a:rPr>
              <a:t>lower.tail</a:t>
            </a:r>
            <a:r>
              <a:rPr lang="es-ES" sz="2800" dirty="0">
                <a:latin typeface="Consolas" panose="020B0609020204030204" pitchFamily="49" charset="0"/>
              </a:rPr>
              <a:t> = TRUE)</a:t>
            </a:r>
          </a:p>
          <a:p>
            <a:pPr marL="0" indent="0">
              <a:buNone/>
            </a:pPr>
            <a:r>
              <a:rPr lang="es-ES" sz="2800" dirty="0">
                <a:latin typeface="Consolas" panose="020B0609020204030204" pitchFamily="49" charset="0"/>
              </a:rPr>
              <a:t>&gt; </a:t>
            </a:r>
            <a:r>
              <a:rPr lang="es-ES" sz="2800" dirty="0" err="1">
                <a:latin typeface="Consolas" panose="020B0609020204030204" pitchFamily="49" charset="0"/>
              </a:rPr>
              <a:t>p_valor</a:t>
            </a:r>
            <a:r>
              <a:rPr lang="es-ES" sz="2800" dirty="0">
                <a:latin typeface="Consolas" panose="020B0609020204030204" pitchFamily="49" charset="0"/>
              </a:rPr>
              <a:t> </a:t>
            </a:r>
          </a:p>
          <a:p>
            <a:pPr marL="0" indent="0">
              <a:buNone/>
            </a:pPr>
            <a:r>
              <a:rPr lang="es-ES" sz="2800" dirty="0">
                <a:highlight>
                  <a:srgbClr val="FFFF00"/>
                </a:highlight>
                <a:latin typeface="Consolas" panose="020B0609020204030204" pitchFamily="49" charset="0"/>
              </a:rPr>
              <a:t>[1] 0.2384669</a:t>
            </a:r>
          </a:p>
          <a:p>
            <a:pPr marL="0" indent="0">
              <a:buNone/>
            </a:pPr>
            <a:endParaRPr lang="es-ES" sz="2800" dirty="0">
              <a:latin typeface="Consolas" panose="020B0609020204030204" pitchFamily="49" charset="0"/>
            </a:endParaRPr>
          </a:p>
          <a:p>
            <a:pPr marL="0" indent="0">
              <a:buNone/>
            </a:pPr>
            <a:r>
              <a:rPr lang="es-ES" sz="2800" dirty="0">
                <a:latin typeface="Consolas" panose="020B0609020204030204" pitchFamily="49" charset="0"/>
              </a:rPr>
              <a:t>&gt; </a:t>
            </a:r>
            <a:r>
              <a:rPr lang="es-ES" sz="2800" dirty="0" err="1">
                <a:latin typeface="Consolas" panose="020B0609020204030204" pitchFamily="49" charset="0"/>
              </a:rPr>
              <a:t>p_valor</a:t>
            </a:r>
            <a:r>
              <a:rPr lang="es-ES" sz="2800" dirty="0">
                <a:latin typeface="Consolas" panose="020B0609020204030204" pitchFamily="49" charset="0"/>
              </a:rPr>
              <a:t> &lt; a</a:t>
            </a:r>
          </a:p>
          <a:p>
            <a:pPr marL="0" indent="0">
              <a:buNone/>
            </a:pPr>
            <a:r>
              <a:rPr lang="es-ES" sz="2800" dirty="0">
                <a:highlight>
                  <a:srgbClr val="FFFF00"/>
                </a:highlight>
                <a:latin typeface="Consolas" panose="020B0609020204030204" pitchFamily="49" charset="0"/>
              </a:rPr>
              <a:t>[1] FALSE</a:t>
            </a:r>
          </a:p>
          <a:p>
            <a:pPr marL="0" indent="0">
              <a:buNone/>
            </a:pPr>
            <a:endParaRPr lang="es-ES" dirty="0">
              <a:latin typeface="Consolas" panose="020B0609020204030204" pitchFamily="49" charset="0"/>
            </a:endParaRPr>
          </a:p>
        </p:txBody>
      </p:sp>
    </p:spTree>
    <p:extLst>
      <p:ext uri="{BB962C8B-B14F-4D97-AF65-F5344CB8AC3E}">
        <p14:creationId xmlns:p14="http://schemas.microsoft.com/office/powerpoint/2010/main" val="12205834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11.63</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es-ES" sz="2000" dirty="0">
                <a:latin typeface="Consolas" panose="020B0609020204030204" pitchFamily="49" charset="0"/>
              </a:rPr>
              <a:t>&gt; #Si se invirtiera el orden</a:t>
            </a:r>
          </a:p>
          <a:p>
            <a:pPr marL="0" indent="0">
              <a:buNone/>
            </a:pPr>
            <a:r>
              <a:rPr lang="es-ES" sz="2000" dirty="0">
                <a:latin typeface="Consolas" panose="020B0609020204030204" pitchFamily="49" charset="0"/>
              </a:rPr>
              <a:t>&gt;# H0: </a:t>
            </a:r>
            <a:r>
              <a:rPr lang="es-ES" sz="2000" dirty="0" err="1">
                <a:latin typeface="Consolas" panose="020B0609020204030204" pitchFamily="49" charset="0"/>
              </a:rPr>
              <a:t>s_x</a:t>
            </a:r>
            <a:r>
              <a:rPr lang="es-ES" sz="2000" dirty="0">
                <a:latin typeface="Consolas" panose="020B0609020204030204" pitchFamily="49" charset="0"/>
              </a:rPr>
              <a:t>/</a:t>
            </a:r>
            <a:r>
              <a:rPr lang="es-ES" sz="2000" dirty="0" err="1">
                <a:latin typeface="Consolas" panose="020B0609020204030204" pitchFamily="49" charset="0"/>
              </a:rPr>
              <a:t>s_y</a:t>
            </a:r>
            <a:r>
              <a:rPr lang="es-ES" sz="2000" dirty="0">
                <a:latin typeface="Consolas" panose="020B0609020204030204" pitchFamily="49" charset="0"/>
              </a:rPr>
              <a:t> = 1| </a:t>
            </a:r>
            <a:r>
              <a:rPr lang="es-ES" sz="2000" dirty="0" err="1">
                <a:latin typeface="Consolas" panose="020B0609020204030204" pitchFamily="49" charset="0"/>
              </a:rPr>
              <a:t>s_x</a:t>
            </a:r>
            <a:r>
              <a:rPr lang="es-ES" sz="2000" dirty="0">
                <a:latin typeface="Consolas" panose="020B0609020204030204" pitchFamily="49" charset="0"/>
              </a:rPr>
              <a:t>/</a:t>
            </a:r>
            <a:r>
              <a:rPr lang="es-ES" sz="2000" dirty="0" err="1">
                <a:latin typeface="Consolas" panose="020B0609020204030204" pitchFamily="49" charset="0"/>
              </a:rPr>
              <a:t>s_y</a:t>
            </a:r>
            <a:r>
              <a:rPr lang="es-ES" sz="2000" dirty="0">
                <a:latin typeface="Consolas" panose="020B0609020204030204" pitchFamily="49" charset="0"/>
              </a:rPr>
              <a:t> &lt; 1</a:t>
            </a:r>
          </a:p>
          <a:p>
            <a:pPr marL="0" indent="0">
              <a:buNone/>
            </a:pPr>
            <a:endParaRPr lang="es-ES" sz="2000" dirty="0">
              <a:latin typeface="Consolas" panose="020B0609020204030204" pitchFamily="49" charset="0"/>
            </a:endParaRPr>
          </a:p>
          <a:p>
            <a:pPr marL="0" indent="0">
              <a:buNone/>
            </a:pPr>
            <a:r>
              <a:rPr lang="es-ES" sz="2000" dirty="0">
                <a:latin typeface="Consolas" panose="020B0609020204030204" pitchFamily="49" charset="0"/>
              </a:rPr>
              <a:t>&gt; f &lt;- (s_y^2)/(s_x^2)</a:t>
            </a:r>
          </a:p>
          <a:p>
            <a:pPr marL="0" indent="0">
              <a:buNone/>
            </a:pPr>
            <a:r>
              <a:rPr lang="es-ES" sz="2000" dirty="0">
                <a:latin typeface="Consolas" panose="020B0609020204030204" pitchFamily="49" charset="0"/>
              </a:rPr>
              <a:t>&gt; f</a:t>
            </a:r>
          </a:p>
          <a:p>
            <a:pPr marL="0" indent="0">
              <a:buNone/>
            </a:pPr>
            <a:r>
              <a:rPr lang="es-ES" sz="2000" dirty="0">
                <a:latin typeface="Consolas" panose="020B0609020204030204" pitchFamily="49" charset="0"/>
              </a:rPr>
              <a:t>[1] 1.361111</a:t>
            </a:r>
          </a:p>
          <a:p>
            <a:pPr marL="0" indent="0">
              <a:buNone/>
            </a:pPr>
            <a:endParaRPr lang="es-ES" sz="2000" dirty="0">
              <a:latin typeface="Consolas" panose="020B0609020204030204" pitchFamily="49" charset="0"/>
            </a:endParaRPr>
          </a:p>
          <a:p>
            <a:pPr marL="0" indent="0">
              <a:buNone/>
            </a:pPr>
            <a:r>
              <a:rPr lang="es-ES" sz="2000" dirty="0">
                <a:latin typeface="Consolas" panose="020B0609020204030204" pitchFamily="49" charset="0"/>
              </a:rPr>
              <a:t>&gt; </a:t>
            </a:r>
            <a:r>
              <a:rPr lang="es-ES" sz="2000" dirty="0" err="1">
                <a:latin typeface="Consolas" panose="020B0609020204030204" pitchFamily="49" charset="0"/>
              </a:rPr>
              <a:t>p_valor</a:t>
            </a:r>
            <a:r>
              <a:rPr lang="es-ES" sz="2000" dirty="0">
                <a:latin typeface="Consolas" panose="020B0609020204030204" pitchFamily="49" charset="0"/>
              </a:rPr>
              <a:t> &lt;- </a:t>
            </a:r>
            <a:r>
              <a:rPr lang="es-ES" sz="2000" dirty="0" err="1">
                <a:latin typeface="Consolas" panose="020B0609020204030204" pitchFamily="49" charset="0"/>
              </a:rPr>
              <a:t>pf</a:t>
            </a:r>
            <a:r>
              <a:rPr lang="es-ES" sz="2000" dirty="0">
                <a:latin typeface="Consolas" panose="020B0609020204030204" pitchFamily="49" charset="0"/>
              </a:rPr>
              <a:t>(f, df1 = </a:t>
            </a:r>
            <a:r>
              <a:rPr lang="es-ES" sz="2000" dirty="0" err="1">
                <a:latin typeface="Consolas" panose="020B0609020204030204" pitchFamily="49" charset="0"/>
              </a:rPr>
              <a:t>n_y</a:t>
            </a:r>
            <a:r>
              <a:rPr lang="es-ES" sz="2000" dirty="0">
                <a:latin typeface="Consolas" panose="020B0609020204030204" pitchFamily="49" charset="0"/>
              </a:rPr>
              <a:t> - 1, df2 = </a:t>
            </a:r>
            <a:r>
              <a:rPr lang="es-ES" sz="2000" dirty="0" err="1">
                <a:latin typeface="Consolas" panose="020B0609020204030204" pitchFamily="49" charset="0"/>
              </a:rPr>
              <a:t>n_x</a:t>
            </a:r>
            <a:r>
              <a:rPr lang="es-ES" sz="2000" dirty="0">
                <a:latin typeface="Consolas" panose="020B0609020204030204" pitchFamily="49" charset="0"/>
              </a:rPr>
              <a:t> - 1, </a:t>
            </a:r>
            <a:r>
              <a:rPr lang="es-ES" sz="2000" dirty="0" err="1">
                <a:latin typeface="Consolas" panose="020B0609020204030204" pitchFamily="49" charset="0"/>
              </a:rPr>
              <a:t>lower.tail</a:t>
            </a:r>
            <a:r>
              <a:rPr lang="es-ES" sz="2000" dirty="0">
                <a:latin typeface="Consolas" panose="020B0609020204030204" pitchFamily="49" charset="0"/>
              </a:rPr>
              <a:t> = FALSE)</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p_valor</a:t>
            </a:r>
            <a:r>
              <a:rPr lang="es-ES" sz="2000" dirty="0">
                <a:latin typeface="Consolas" panose="020B0609020204030204" pitchFamily="49" charset="0"/>
              </a:rPr>
              <a:t> </a:t>
            </a:r>
          </a:p>
          <a:p>
            <a:pPr marL="0" indent="0">
              <a:buNone/>
            </a:pPr>
            <a:r>
              <a:rPr lang="es-ES" sz="2000" dirty="0">
                <a:highlight>
                  <a:srgbClr val="FFFF00"/>
                </a:highlight>
                <a:latin typeface="Consolas" panose="020B0609020204030204" pitchFamily="49" charset="0"/>
              </a:rPr>
              <a:t>[1] 0.2384669</a:t>
            </a:r>
          </a:p>
          <a:p>
            <a:pPr marL="0" indent="0">
              <a:buNone/>
            </a:pPr>
            <a:endParaRPr lang="es-ES" sz="2000" dirty="0">
              <a:latin typeface="Consolas" panose="020B0609020204030204" pitchFamily="49" charset="0"/>
            </a:endParaRPr>
          </a:p>
          <a:p>
            <a:pPr marL="0" indent="0">
              <a:buNone/>
            </a:pPr>
            <a:r>
              <a:rPr lang="es-ES" sz="2000" dirty="0">
                <a:latin typeface="Consolas" panose="020B0609020204030204" pitchFamily="49" charset="0"/>
              </a:rPr>
              <a:t>&gt; </a:t>
            </a:r>
            <a:r>
              <a:rPr lang="es-ES" sz="2000" dirty="0" err="1">
                <a:latin typeface="Consolas" panose="020B0609020204030204" pitchFamily="49" charset="0"/>
              </a:rPr>
              <a:t>p_valor</a:t>
            </a:r>
            <a:r>
              <a:rPr lang="es-ES" sz="2000" dirty="0">
                <a:latin typeface="Consolas" panose="020B0609020204030204" pitchFamily="49" charset="0"/>
              </a:rPr>
              <a:t> &lt; a</a:t>
            </a:r>
          </a:p>
          <a:p>
            <a:pPr marL="0" indent="0">
              <a:buNone/>
            </a:pPr>
            <a:r>
              <a:rPr lang="es-ES" sz="2000"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39432780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88FDA7-7F95-48AB-BA14-43466AAD17C7}"/>
              </a:ext>
            </a:extLst>
          </p:cNvPr>
          <p:cNvSpPr>
            <a:spLocks noGrp="1"/>
          </p:cNvSpPr>
          <p:nvPr>
            <p:ph type="title"/>
          </p:nvPr>
        </p:nvSpPr>
        <p:spPr/>
        <p:txBody>
          <a:bodyPr>
            <a:normAutofit/>
          </a:bodyPr>
          <a:lstStyle/>
          <a:p>
            <a:r>
              <a:rPr lang="es-419" sz="4800" dirty="0"/>
              <a:t>Contraste para una proporción poblacional</a:t>
            </a:r>
          </a:p>
        </p:txBody>
      </p:sp>
      <p:sp>
        <p:nvSpPr>
          <p:cNvPr id="5" name="Text Placeholder 4">
            <a:extLst>
              <a:ext uri="{FF2B5EF4-FFF2-40B4-BE49-F238E27FC236}">
                <a16:creationId xmlns:a16="http://schemas.microsoft.com/office/drawing/2014/main" id="{F39C5933-CAFC-46D8-AC24-39A264C2D41F}"/>
              </a:ext>
            </a:extLst>
          </p:cNvPr>
          <p:cNvSpPr>
            <a:spLocks noGrp="1"/>
          </p:cNvSpPr>
          <p:nvPr>
            <p:ph type="body" idx="1"/>
          </p:nvPr>
        </p:nvSpPr>
        <p:spPr/>
        <p:txBody>
          <a:bodyPr/>
          <a:lstStyle/>
          <a:p>
            <a:r>
              <a:rPr lang="es-419" dirty="0"/>
              <a:t>Fórmulas y variantes</a:t>
            </a:r>
          </a:p>
        </p:txBody>
      </p:sp>
    </p:spTree>
    <p:extLst>
      <p:ext uri="{BB962C8B-B14F-4D97-AF65-F5344CB8AC3E}">
        <p14:creationId xmlns:p14="http://schemas.microsoft.com/office/powerpoint/2010/main" val="22830340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proporción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a:lnSpc>
                    <a:spcPct val="150000"/>
                  </a:lnSpc>
                </a:pPr>
                <a:r>
                  <a:rPr lang="es-419" dirty="0">
                    <a:ea typeface="Cambria Math" panose="02040503050406030204" pitchFamily="18" charset="0"/>
                  </a:rPr>
                  <a:t>Partiendo de lo que sabemos de la distribución de la proporción muestral.</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smtClean="0">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𝑁</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oMath>
                  </m:oMathPara>
                </a14:m>
                <a:endParaRPr lang="es-419" i="1" dirty="0">
                  <a:latin typeface="Cambria Math" panose="02040503050406030204" pitchFamily="18" charset="0"/>
                </a:endParaRPr>
              </a:p>
              <a:p>
                <a:pPr>
                  <a:lnSpc>
                    <a:spcPct val="150000"/>
                  </a:lnSpc>
                </a:pPr>
                <a:r>
                  <a:rPr lang="es-419" dirty="0"/>
                  <a:t>Se plantea un contraste genérico</a:t>
                </a:r>
              </a:p>
              <a:p>
                <a:pPr lvl="1">
                  <a:lnSpc>
                    <a:spcPct val="150000"/>
                  </a:lnSpc>
                </a:pPr>
                <a14:m>
                  <m:oMath xmlns:m="http://schemas.openxmlformats.org/officeDocument/2006/math">
                    <m:sSub>
                      <m:sSubPr>
                        <m:ctrlPr>
                          <a:rPr lang="es-419" i="1" smtClean="0">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0</m:t>
                        </m:r>
                      </m:sub>
                    </m:sSub>
                    <m:r>
                      <a:rPr lang="es-419" i="1">
                        <a:latin typeface="Cambria Math" panose="02040503050406030204" pitchFamily="18" charset="0"/>
                      </a:rPr>
                      <m:t>:</m:t>
                    </m:r>
                    <m:sSub>
                      <m:sSubPr>
                        <m:ctrlPr>
                          <a:rPr lang="es-419" i="1" smtClean="0">
                            <a:latin typeface="Cambria Math" panose="02040503050406030204" pitchFamily="18" charset="0"/>
                          </a:rPr>
                        </m:ctrlPr>
                      </m:sSubPr>
                      <m:e>
                        <m:r>
                          <a:rPr lang="es-419" b="0" i="1" smtClean="0">
                            <a:latin typeface="Cambria Math" panose="02040503050406030204" pitchFamily="18" charset="0"/>
                          </a:rPr>
                          <m:t>𝑝</m:t>
                        </m:r>
                      </m:e>
                      <m:sub>
                        <m:r>
                          <a:rPr lang="es-419" b="0" i="1" smtClean="0">
                            <a:latin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b="0" i="1" smtClean="0">
                            <a:latin typeface="Cambria Math" panose="02040503050406030204" pitchFamily="18" charset="0"/>
                          </a:rPr>
                          <m:t>0</m:t>
                        </m:r>
                      </m:sub>
                    </m:sSub>
                  </m:oMath>
                </a14:m>
                <a:endParaRPr lang="es-419" b="0" i="1" dirty="0">
                  <a:latin typeface="Cambria Math" panose="02040503050406030204" pitchFamily="18" charset="0"/>
                </a:endParaRPr>
              </a:p>
              <a:p>
                <a:pPr lvl="1">
                  <a:lnSpc>
                    <a:spcPct val="150000"/>
                  </a:lnSpc>
                </a:pPr>
                <a14:m>
                  <m:oMath xmlns:m="http://schemas.openxmlformats.org/officeDocument/2006/math">
                    <m:sSub>
                      <m:sSubPr>
                        <m:ctrlPr>
                          <a:rPr lang="es-419" i="1">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1</m:t>
                        </m:r>
                      </m:sub>
                    </m:sSub>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𝑥</m:t>
                        </m:r>
                      </m:sub>
                    </m:sSub>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b="0" i="1" smtClean="0">
                            <a:latin typeface="Cambria Math" panose="02040503050406030204" pitchFamily="18" charset="0"/>
                          </a:rPr>
                          <m:t>0</m:t>
                        </m:r>
                      </m:sub>
                    </m:sSub>
                  </m:oMath>
                </a14:m>
                <a:endParaRPr lang="es-419" i="1" dirty="0">
                  <a:latin typeface="Cambria Math" panose="02040503050406030204" pitchFamily="18" charset="0"/>
                  <a:ea typeface="Cambria Math" panose="02040503050406030204" pitchFamily="18" charset="0"/>
                </a:endParaRPr>
              </a:p>
              <a:p>
                <a:pPr>
                  <a:lnSpc>
                    <a:spcPct val="150000"/>
                  </a:lnSpc>
                </a:pPr>
                <a:r>
                  <a:rPr lang="es-419" dirty="0">
                    <a:ea typeface="Cambria Math" panose="02040503050406030204" pitchFamily="18" charset="0"/>
                  </a:rPr>
                  <a:t>Y armamos un estadístico z de contraste</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a:latin typeface="Cambria Math" panose="02040503050406030204" pitchFamily="18" charset="0"/>
                            </a:rPr>
                          </m:ctrlPr>
                        </m:accPr>
                        <m:e>
                          <m:r>
                            <a:rPr lang="es-419" i="1">
                              <a:latin typeface="Cambria Math" panose="02040503050406030204" pitchFamily="18" charset="0"/>
                            </a:rPr>
                            <m:t>𝑍</m:t>
                          </m:r>
                        </m:e>
                      </m:acc>
                      <m:r>
                        <a:rPr lang="es-419" i="1">
                          <a:latin typeface="Cambria Math" panose="02040503050406030204" pitchFamily="18" charset="0"/>
                        </a:rPr>
                        <m:t> =</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r>
                            <a:rPr lang="es-419" i="1" smtClean="0">
                              <a:latin typeface="Cambria Math" panose="02040503050406030204" pitchFamily="18" charset="0"/>
                              <a:ea typeface="Cambria Math" panose="02040503050406030204" pitchFamily="18" charset="0"/>
                            </a:rPr>
                            <m:t> </m:t>
                          </m:r>
                        </m:num>
                        <m:den>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e>
                          </m:rad>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0</m:t>
                              </m:r>
                            </m:sub>
                          </m:sSub>
                          <m:r>
                            <a:rPr lang="es-419" i="1">
                              <a:latin typeface="Cambria Math" panose="02040503050406030204" pitchFamily="18" charset="0"/>
                              <a:ea typeface="Cambria Math" panose="02040503050406030204" pitchFamily="18" charset="0"/>
                            </a:rPr>
                            <m:t>) </m:t>
                          </m:r>
                        </m:num>
                        <m:den>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0</m:t>
                                      </m:r>
                                    </m:sub>
                                  </m:sSub>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0</m:t>
                                      </m:r>
                                    </m:sub>
                                  </m:sSub>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e>
                          </m:rad>
                        </m:den>
                      </m:f>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(0,1)</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En</a:t>
                </a:r>
                <a:r>
                  <a:rPr lang="es-419" b="1" dirty="0">
                    <a:solidFill>
                      <a:srgbClr val="003A5D"/>
                    </a:solidFill>
                    <a:ea typeface="Cambria Math" panose="02040503050406030204" pitchFamily="18" charset="0"/>
                  </a:rPr>
                  <a:t> R </a:t>
                </a:r>
                <a:r>
                  <a:rPr lang="es-419" dirty="0">
                    <a:ea typeface="Cambria Math" panose="02040503050406030204" pitchFamily="18" charset="0"/>
                  </a:rPr>
                  <a:t>se emplea la función </a:t>
                </a:r>
                <a:r>
                  <a:rPr lang="es-419" dirty="0" err="1">
                    <a:solidFill>
                      <a:srgbClr val="003A5D"/>
                    </a:solidFill>
                    <a:latin typeface="Consolas" panose="020B0609020204030204" pitchFamily="49" charset="0"/>
                    <a:ea typeface="Cambria Math" panose="02040503050406030204" pitchFamily="18" charset="0"/>
                  </a:rPr>
                  <a:t>prop.test</a:t>
                </a:r>
                <a:r>
                  <a:rPr lang="es-419" dirty="0">
                    <a:solidFill>
                      <a:srgbClr val="003A5D"/>
                    </a:solidFill>
                    <a:latin typeface="Consolas" panose="020B0609020204030204" pitchFamily="49" charset="0"/>
                    <a:ea typeface="Cambria Math" panose="02040503050406030204" pitchFamily="18" charset="0"/>
                  </a:rPr>
                  <a:t>()</a:t>
                </a: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s-419">
                    <a:noFill/>
                  </a:rPr>
                  <a:t> </a:t>
                </a:r>
              </a:p>
            </p:txBody>
          </p:sp>
        </mc:Fallback>
      </mc:AlternateContent>
    </p:spTree>
    <p:extLst>
      <p:ext uri="{BB962C8B-B14F-4D97-AF65-F5344CB8AC3E}">
        <p14:creationId xmlns:p14="http://schemas.microsoft.com/office/powerpoint/2010/main" val="24264557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normAutofit/>
          </a:bodyPr>
          <a:lstStyle/>
          <a:p>
            <a:r>
              <a:rPr lang="es-419" dirty="0"/>
              <a:t>Contraste para proporción poblacional</a:t>
            </a:r>
          </a:p>
        </p:txBody>
      </p:sp>
      <p:pic>
        <p:nvPicPr>
          <p:cNvPr id="3" name="Imagen 2">
            <a:extLst>
              <a:ext uri="{FF2B5EF4-FFF2-40B4-BE49-F238E27FC236}">
                <a16:creationId xmlns:a16="http://schemas.microsoft.com/office/drawing/2014/main" id="{DDE1CAF2-CB2A-99EB-1513-BA1F8F217F1E}"/>
              </a:ext>
            </a:extLst>
          </p:cNvPr>
          <p:cNvPicPr>
            <a:picLocks noChangeAspect="1"/>
          </p:cNvPicPr>
          <p:nvPr/>
        </p:nvPicPr>
        <p:blipFill>
          <a:blip r:embed="rId2"/>
          <a:stretch>
            <a:fillRect/>
          </a:stretch>
        </p:blipFill>
        <p:spPr>
          <a:xfrm>
            <a:off x="2390630" y="1089000"/>
            <a:ext cx="7410740" cy="4680000"/>
          </a:xfrm>
          <a:prstGeom prst="rect">
            <a:avLst/>
          </a:prstGeom>
        </p:spPr>
      </p:pic>
    </p:spTree>
    <p:extLst>
      <p:ext uri="{BB962C8B-B14F-4D97-AF65-F5344CB8AC3E}">
        <p14:creationId xmlns:p14="http://schemas.microsoft.com/office/powerpoint/2010/main" val="6146745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11.39</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normAutofit fontScale="92500" lnSpcReduction="10000"/>
          </a:bodyPr>
          <a:lstStyle/>
          <a:p>
            <a:pPr marL="0" indent="0">
              <a:lnSpc>
                <a:spcPct val="150000"/>
              </a:lnSpc>
              <a:buNone/>
            </a:pPr>
            <a:r>
              <a:rPr lang="es-VE" i="1" dirty="0"/>
              <a:t>Se está tratando de terminar la conveniencia de la construcción de un hotel en un lugar muy concurrido por turistas. La justificación del proyecto es que se afirma que el 70% o  más de los turistas, pasarían más tiempo en el lugar, si existiera un hotel de categoría. </a:t>
            </a:r>
          </a:p>
          <a:p>
            <a:pPr marL="0" indent="0">
              <a:lnSpc>
                <a:spcPct val="150000"/>
              </a:lnSpc>
              <a:buNone/>
            </a:pPr>
            <a:r>
              <a:rPr lang="es-VE" i="1" dirty="0"/>
              <a:t>En una muestra de 100 turistas, 62 contestaron afirmativamente al preguntárseles si la existencia de un hotel como el proyectado les haría quedarse más tiempo. Se desea que la probabilidad de no construir el hotel, si en realidad fuese conveniente, sea 0,05. ¿Qué aconsejaría usted?</a:t>
            </a:r>
            <a:endParaRPr lang="en-US" i="1" dirty="0"/>
          </a:p>
          <a:p>
            <a:pPr marL="0" indent="0">
              <a:buNone/>
            </a:pPr>
            <a:endParaRPr lang="en-US" dirty="0"/>
          </a:p>
        </p:txBody>
      </p:sp>
    </p:spTree>
    <p:extLst>
      <p:ext uri="{BB962C8B-B14F-4D97-AF65-F5344CB8AC3E}">
        <p14:creationId xmlns:p14="http://schemas.microsoft.com/office/powerpoint/2010/main" val="6750134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11.39</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85000" lnSpcReduction="10000"/>
          </a:bodyPr>
          <a:lstStyle/>
          <a:p>
            <a:pPr marL="0" indent="0">
              <a:buNone/>
            </a:pPr>
            <a:r>
              <a:rPr lang="pt-BR" dirty="0">
                <a:latin typeface="Consolas" panose="020B0609020204030204" pitchFamily="49" charset="0"/>
              </a:rPr>
              <a:t>&gt; n = 100</a:t>
            </a:r>
          </a:p>
          <a:p>
            <a:pPr marL="0" indent="0">
              <a:buNone/>
            </a:pPr>
            <a:r>
              <a:rPr lang="pt-BR" dirty="0">
                <a:latin typeface="Consolas" panose="020B0609020204030204" pitchFamily="49" charset="0"/>
              </a:rPr>
              <a:t>&gt; p_hat = 62/n</a:t>
            </a:r>
          </a:p>
          <a:p>
            <a:pPr marL="0" indent="0">
              <a:buNone/>
            </a:pPr>
            <a:r>
              <a:rPr lang="pt-BR" dirty="0">
                <a:latin typeface="Consolas" panose="020B0609020204030204" pitchFamily="49" charset="0"/>
              </a:rPr>
              <a:t>&gt; p_0 &lt;- 0.70</a:t>
            </a:r>
          </a:p>
          <a:p>
            <a:pPr marL="0" indent="0">
              <a:buNone/>
            </a:pPr>
            <a:r>
              <a:rPr lang="pt-BR" dirty="0">
                <a:latin typeface="Consolas" panose="020B0609020204030204" pitchFamily="49" charset="0"/>
              </a:rPr>
              <a:t>&gt; a = 0.05</a:t>
            </a:r>
          </a:p>
          <a:p>
            <a:pPr marL="0" indent="0">
              <a:buNone/>
            </a:pPr>
            <a:r>
              <a:rPr lang="pt-BR" dirty="0">
                <a:latin typeface="Consolas" panose="020B0609020204030204" pitchFamily="49" charset="0"/>
              </a:rPr>
              <a:t>&gt; #H0: p &gt;= 0.70; H1: p &lt; 0.70</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#Metodo areas de rechazo: valores críticos</a:t>
            </a:r>
          </a:p>
          <a:p>
            <a:pPr marL="0" indent="0">
              <a:buNone/>
            </a:pPr>
            <a:r>
              <a:rPr lang="pt-BR" dirty="0">
                <a:latin typeface="Consolas" panose="020B0609020204030204" pitchFamily="49" charset="0"/>
              </a:rPr>
              <a:t>&gt; h &lt;- p_0 - qnorm(a, lower.tail = FALSE)*sqrt(p_0*(1-p_0)/n)</a:t>
            </a:r>
          </a:p>
          <a:p>
            <a:pPr marL="0" indent="0">
              <a:buNone/>
            </a:pPr>
            <a:r>
              <a:rPr lang="pt-BR" dirty="0">
                <a:latin typeface="Consolas" panose="020B0609020204030204" pitchFamily="49" charset="0"/>
              </a:rPr>
              <a:t>&gt; h</a:t>
            </a:r>
          </a:p>
          <a:p>
            <a:pPr marL="0" indent="0">
              <a:buNone/>
            </a:pPr>
            <a:r>
              <a:rPr lang="pt-BR" dirty="0">
                <a:highlight>
                  <a:srgbClr val="FFFF00"/>
                </a:highlight>
                <a:latin typeface="Consolas" panose="020B0609020204030204" pitchFamily="49" charset="0"/>
              </a:rPr>
              <a:t>[1] 0.6246233</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p_hat &lt; h</a:t>
            </a:r>
          </a:p>
          <a:p>
            <a:pPr marL="0" indent="0">
              <a:buNone/>
            </a:pPr>
            <a:r>
              <a:rPr lang="pt-BR" dirty="0">
                <a:highlight>
                  <a:srgbClr val="FFFF00"/>
                </a:highlight>
                <a:latin typeface="Consolas" panose="020B0609020204030204" pitchFamily="49" charset="0"/>
              </a:rPr>
              <a:t>[1] TRUE</a:t>
            </a:r>
            <a:endParaRPr lang="es-ES" sz="29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31641590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11.39</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55000" lnSpcReduction="20000"/>
          </a:bodyPr>
          <a:lstStyle/>
          <a:p>
            <a:pPr marL="0" indent="0">
              <a:buNone/>
            </a:pPr>
            <a:r>
              <a:rPr lang="pt-BR" dirty="0">
                <a:latin typeface="Consolas" panose="020B0609020204030204" pitchFamily="49" charset="0"/>
              </a:rPr>
              <a:t>&gt; #Metodo areas de rechazo: estadístico</a:t>
            </a:r>
          </a:p>
          <a:p>
            <a:pPr marL="0" indent="0">
              <a:buNone/>
            </a:pPr>
            <a:r>
              <a:rPr lang="pt-BR" dirty="0">
                <a:latin typeface="Consolas" panose="020B0609020204030204" pitchFamily="49" charset="0"/>
              </a:rPr>
              <a:t>&gt; z &lt;- (p_hat-p_0)/sqrt(p_0*(1-p_0)/n)</a:t>
            </a:r>
          </a:p>
          <a:p>
            <a:pPr marL="0" indent="0">
              <a:buNone/>
            </a:pPr>
            <a:r>
              <a:rPr lang="pt-BR" dirty="0">
                <a:latin typeface="Consolas" panose="020B0609020204030204" pitchFamily="49" charset="0"/>
              </a:rPr>
              <a:t>&gt; z</a:t>
            </a:r>
          </a:p>
          <a:p>
            <a:pPr marL="0" indent="0">
              <a:buNone/>
            </a:pPr>
            <a:r>
              <a:rPr lang="pt-BR" dirty="0">
                <a:highlight>
                  <a:srgbClr val="FFFF00"/>
                </a:highlight>
                <a:latin typeface="Consolas" panose="020B0609020204030204" pitchFamily="49" charset="0"/>
              </a:rPr>
              <a:t>[1] -1.745743</a:t>
            </a:r>
            <a:endParaRPr lang="pt-BR" dirty="0">
              <a:latin typeface="Consolas" panose="020B0609020204030204" pitchFamily="49" charset="0"/>
            </a:endParaRPr>
          </a:p>
          <a:p>
            <a:pPr marL="0" indent="0">
              <a:buNone/>
            </a:pPr>
            <a:r>
              <a:rPr lang="pt-BR" dirty="0">
                <a:latin typeface="Consolas" panose="020B0609020204030204" pitchFamily="49" charset="0"/>
              </a:rPr>
              <a:t>&gt; z_lim &lt;- -qnorm(a, lower.tail = FALSE)</a:t>
            </a:r>
          </a:p>
          <a:p>
            <a:pPr marL="0" indent="0">
              <a:buNone/>
            </a:pPr>
            <a:r>
              <a:rPr lang="pt-BR" dirty="0">
                <a:latin typeface="Consolas" panose="020B0609020204030204" pitchFamily="49" charset="0"/>
              </a:rPr>
              <a:t>&gt; z_lim</a:t>
            </a:r>
          </a:p>
          <a:p>
            <a:pPr marL="0" indent="0">
              <a:buNone/>
            </a:pPr>
            <a:r>
              <a:rPr lang="pt-BR" dirty="0">
                <a:highlight>
                  <a:srgbClr val="FFFF00"/>
                </a:highlight>
                <a:latin typeface="Consolas" panose="020B0609020204030204" pitchFamily="49" charset="0"/>
              </a:rPr>
              <a:t>[1] -1.644854</a:t>
            </a:r>
            <a:endParaRPr lang="pt-BR" dirty="0">
              <a:latin typeface="Consolas" panose="020B0609020204030204" pitchFamily="49" charset="0"/>
            </a:endParaRPr>
          </a:p>
          <a:p>
            <a:pPr marL="0" indent="0">
              <a:buNone/>
            </a:pPr>
            <a:r>
              <a:rPr lang="pt-BR" dirty="0">
                <a:latin typeface="Consolas" panose="020B0609020204030204" pitchFamily="49" charset="0"/>
              </a:rPr>
              <a:t>&gt; z &lt; z_lim</a:t>
            </a:r>
          </a:p>
          <a:p>
            <a:pPr marL="0" indent="0">
              <a:buNone/>
            </a:pPr>
            <a:r>
              <a:rPr lang="pt-BR" dirty="0">
                <a:highlight>
                  <a:srgbClr val="FFFF00"/>
                </a:highlight>
                <a:latin typeface="Consolas" panose="020B0609020204030204" pitchFamily="49" charset="0"/>
              </a:rPr>
              <a:t>[1] TRUE</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#Alternativamente</a:t>
            </a:r>
          </a:p>
          <a:p>
            <a:pPr marL="0" indent="0">
              <a:buNone/>
            </a:pPr>
            <a:r>
              <a:rPr lang="pt-BR" dirty="0">
                <a:latin typeface="Consolas" panose="020B0609020204030204" pitchFamily="49" charset="0"/>
              </a:rPr>
              <a:t>&gt; z &lt;- (p_hat-p_0)/sqrt(p_0*(1-p_0)/n)</a:t>
            </a:r>
          </a:p>
          <a:p>
            <a:pPr marL="0" indent="0">
              <a:buNone/>
            </a:pPr>
            <a:r>
              <a:rPr lang="pt-BR" dirty="0">
                <a:latin typeface="Consolas" panose="020B0609020204030204" pitchFamily="49" charset="0"/>
              </a:rPr>
              <a:t>&gt; z</a:t>
            </a:r>
          </a:p>
          <a:p>
            <a:pPr marL="0" indent="0">
              <a:buNone/>
            </a:pPr>
            <a:r>
              <a:rPr lang="pt-BR" dirty="0">
                <a:highlight>
                  <a:srgbClr val="FFFF00"/>
                </a:highlight>
                <a:latin typeface="Consolas" panose="020B0609020204030204" pitchFamily="49" charset="0"/>
              </a:rPr>
              <a:t>[1] -1.745743</a:t>
            </a:r>
            <a:endParaRPr lang="pt-BR" dirty="0">
              <a:latin typeface="Consolas" panose="020B0609020204030204" pitchFamily="49" charset="0"/>
            </a:endParaRPr>
          </a:p>
          <a:p>
            <a:pPr marL="0" indent="0">
              <a:buNone/>
            </a:pPr>
            <a:r>
              <a:rPr lang="pt-BR" dirty="0">
                <a:latin typeface="Consolas" panose="020B0609020204030204" pitchFamily="49" charset="0"/>
              </a:rPr>
              <a:t>&gt; z_lim &lt;- qnorm(a, lower.tail = TRUE)</a:t>
            </a:r>
          </a:p>
          <a:p>
            <a:pPr marL="0" indent="0">
              <a:buNone/>
            </a:pPr>
            <a:r>
              <a:rPr lang="pt-BR" dirty="0">
                <a:latin typeface="Consolas" panose="020B0609020204030204" pitchFamily="49" charset="0"/>
              </a:rPr>
              <a:t>&gt; z_lim</a:t>
            </a:r>
          </a:p>
          <a:p>
            <a:pPr marL="0" indent="0">
              <a:buNone/>
            </a:pPr>
            <a:r>
              <a:rPr lang="pt-BR" dirty="0">
                <a:highlight>
                  <a:srgbClr val="FFFF00"/>
                </a:highlight>
                <a:latin typeface="Consolas" panose="020B0609020204030204" pitchFamily="49" charset="0"/>
              </a:rPr>
              <a:t>[1] -1.644854</a:t>
            </a:r>
            <a:endParaRPr lang="pt-BR" dirty="0">
              <a:latin typeface="Consolas" panose="020B0609020204030204" pitchFamily="49" charset="0"/>
            </a:endParaRPr>
          </a:p>
          <a:p>
            <a:pPr marL="0" indent="0">
              <a:buNone/>
            </a:pPr>
            <a:r>
              <a:rPr lang="pt-BR" dirty="0">
                <a:latin typeface="Consolas" panose="020B0609020204030204" pitchFamily="49" charset="0"/>
              </a:rPr>
              <a:t>&gt; z &lt; z_lim</a:t>
            </a:r>
          </a:p>
          <a:p>
            <a:pPr marL="0" indent="0">
              <a:buNone/>
            </a:pPr>
            <a:r>
              <a:rPr lang="pt-BR" dirty="0">
                <a:highlight>
                  <a:srgbClr val="FFFF00"/>
                </a:highlight>
                <a:latin typeface="Consolas" panose="020B0609020204030204" pitchFamily="49" charset="0"/>
              </a:rPr>
              <a:t>[1] TRUE</a:t>
            </a:r>
            <a:endParaRPr lang="es-ES" sz="29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3502870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11.39</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62500" lnSpcReduction="20000"/>
          </a:bodyPr>
          <a:lstStyle/>
          <a:p>
            <a:pPr marL="0" indent="0">
              <a:buNone/>
            </a:pPr>
            <a:r>
              <a:rPr lang="pt-BR" dirty="0">
                <a:latin typeface="Consolas" panose="020B0609020204030204" pitchFamily="49" charset="0"/>
              </a:rPr>
              <a:t>&gt; #Metodo p-valor</a:t>
            </a:r>
          </a:p>
          <a:p>
            <a:pPr marL="0" indent="0">
              <a:buNone/>
            </a:pPr>
            <a:r>
              <a:rPr lang="pt-BR" dirty="0">
                <a:latin typeface="Consolas" panose="020B0609020204030204" pitchFamily="49" charset="0"/>
              </a:rPr>
              <a:t>&gt; z &lt;- (p_hat-p_0)/sqrt(p_0*(1-p_0)/n)</a:t>
            </a:r>
          </a:p>
          <a:p>
            <a:pPr marL="0" indent="0">
              <a:buNone/>
            </a:pPr>
            <a:r>
              <a:rPr lang="pt-BR" dirty="0">
                <a:latin typeface="Consolas" panose="020B0609020204030204" pitchFamily="49" charset="0"/>
              </a:rPr>
              <a:t>&gt; z</a:t>
            </a:r>
          </a:p>
          <a:p>
            <a:pPr marL="0" indent="0">
              <a:buNone/>
            </a:pPr>
            <a:r>
              <a:rPr lang="pt-BR" dirty="0">
                <a:latin typeface="Consolas" panose="020B0609020204030204" pitchFamily="49" charset="0"/>
              </a:rPr>
              <a:t>[1] -1.745743</a:t>
            </a:r>
          </a:p>
          <a:p>
            <a:pPr marL="0" indent="0">
              <a:buNone/>
            </a:pPr>
            <a:r>
              <a:rPr lang="pt-BR" dirty="0">
                <a:latin typeface="Consolas" panose="020B0609020204030204" pitchFamily="49" charset="0"/>
              </a:rPr>
              <a:t> </a:t>
            </a:r>
          </a:p>
          <a:p>
            <a:pPr marL="0" indent="0">
              <a:buNone/>
            </a:pPr>
            <a:r>
              <a:rPr lang="pt-BR" dirty="0">
                <a:latin typeface="Consolas" panose="020B0609020204030204" pitchFamily="49" charset="0"/>
              </a:rPr>
              <a:t>&gt; p_value &lt;- pnorm(z, lower.tail = TRUE)</a:t>
            </a:r>
          </a:p>
          <a:p>
            <a:pPr marL="0" indent="0">
              <a:buNone/>
            </a:pPr>
            <a:r>
              <a:rPr lang="pt-BR" dirty="0">
                <a:latin typeface="Consolas" panose="020B0609020204030204" pitchFamily="49" charset="0"/>
              </a:rPr>
              <a:t>&gt; p_value</a:t>
            </a:r>
          </a:p>
          <a:p>
            <a:pPr marL="0" indent="0">
              <a:buNone/>
            </a:pPr>
            <a:r>
              <a:rPr lang="pt-BR" dirty="0">
                <a:highlight>
                  <a:srgbClr val="FFFF00"/>
                </a:highlight>
                <a:latin typeface="Consolas" panose="020B0609020204030204" pitchFamily="49" charset="0"/>
              </a:rPr>
              <a:t>[1] 0.0404278</a:t>
            </a:r>
          </a:p>
          <a:p>
            <a:pPr marL="0" indent="0">
              <a:buNone/>
            </a:pPr>
            <a:r>
              <a:rPr lang="pt-BR" dirty="0">
                <a:latin typeface="Consolas" panose="020B0609020204030204" pitchFamily="49" charset="0"/>
              </a:rPr>
              <a:t>&gt; p_value &lt; a</a:t>
            </a:r>
          </a:p>
          <a:p>
            <a:pPr marL="0" indent="0">
              <a:buNone/>
            </a:pPr>
            <a:r>
              <a:rPr lang="pt-BR" dirty="0">
                <a:highlight>
                  <a:srgbClr val="FFFF00"/>
                </a:highlight>
                <a:latin typeface="Consolas" panose="020B0609020204030204" pitchFamily="49" charset="0"/>
              </a:rPr>
              <a:t>[1] TRUE</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#Alternativamente</a:t>
            </a:r>
          </a:p>
          <a:p>
            <a:pPr marL="0" indent="0">
              <a:buNone/>
            </a:pPr>
            <a:r>
              <a:rPr lang="pt-BR" dirty="0">
                <a:latin typeface="Consolas" panose="020B0609020204030204" pitchFamily="49" charset="0"/>
              </a:rPr>
              <a:t>&gt; p_value &lt;- pnorm(p_hat, mean = p_0, sd = sqrt(p_0*(1-p_0)/n), lower.tail = TRUE)</a:t>
            </a:r>
          </a:p>
          <a:p>
            <a:pPr marL="0" indent="0">
              <a:buNone/>
            </a:pPr>
            <a:r>
              <a:rPr lang="pt-BR" dirty="0">
                <a:latin typeface="Consolas" panose="020B0609020204030204" pitchFamily="49" charset="0"/>
              </a:rPr>
              <a:t>&gt; p_value</a:t>
            </a:r>
          </a:p>
          <a:p>
            <a:pPr marL="0" indent="0">
              <a:buNone/>
            </a:pPr>
            <a:r>
              <a:rPr lang="pt-BR" dirty="0">
                <a:highlight>
                  <a:srgbClr val="FFFF00"/>
                </a:highlight>
                <a:latin typeface="Consolas" panose="020B0609020204030204" pitchFamily="49" charset="0"/>
              </a:rPr>
              <a:t>[1] 0.0404278</a:t>
            </a:r>
          </a:p>
          <a:p>
            <a:pPr marL="0" indent="0">
              <a:buNone/>
            </a:pPr>
            <a:r>
              <a:rPr lang="pt-BR" dirty="0">
                <a:latin typeface="Consolas" panose="020B0609020204030204" pitchFamily="49" charset="0"/>
              </a:rPr>
              <a:t>&gt; p_value &lt; a</a:t>
            </a:r>
          </a:p>
          <a:p>
            <a:pPr marL="0" indent="0">
              <a:buNone/>
            </a:pPr>
            <a:r>
              <a:rPr lang="pt-BR" dirty="0">
                <a:highlight>
                  <a:srgbClr val="FFFF00"/>
                </a:highlight>
                <a:latin typeface="Consolas" panose="020B0609020204030204" pitchFamily="49" charset="0"/>
              </a:rPr>
              <a:t>[1] TRUE</a:t>
            </a:r>
            <a:endParaRPr lang="es-ES" sz="29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35848169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11.30</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lstStyle/>
          <a:p>
            <a:pPr marL="0" indent="0">
              <a:lnSpc>
                <a:spcPct val="150000"/>
              </a:lnSpc>
              <a:buNone/>
            </a:pPr>
            <a:r>
              <a:rPr lang="es-VE" i="1" dirty="0"/>
              <a:t>Un organismo afirma que la proporción de agricultores propietarios, ha pasado del 20 % existente antes de la Reforma Agraria a un 25 %. En una muestra de 400 agricultores, 90 eran propietarios. Se desea tener una probabilidad máxima de 0,05 de rechazar la afirmación del organismo, si esta es verdadera. ¿Considera razonable la afirmación? Calcule la probabilidad de cometer un error tipo II.</a:t>
            </a:r>
          </a:p>
          <a:p>
            <a:pPr marL="0" indent="0">
              <a:lnSpc>
                <a:spcPct val="150000"/>
              </a:lnSpc>
              <a:buNone/>
            </a:pPr>
            <a:r>
              <a:rPr lang="es-VE" i="1" dirty="0"/>
              <a:t>Para el contraste inicial emplee los tres métodos.</a:t>
            </a:r>
            <a:endParaRPr lang="en-US" i="1" dirty="0"/>
          </a:p>
          <a:p>
            <a:pPr marL="0" indent="0">
              <a:buNone/>
            </a:pPr>
            <a:endParaRPr lang="en-US" dirty="0"/>
          </a:p>
        </p:txBody>
      </p:sp>
    </p:spTree>
    <p:extLst>
      <p:ext uri="{BB962C8B-B14F-4D97-AF65-F5344CB8AC3E}">
        <p14:creationId xmlns:p14="http://schemas.microsoft.com/office/powerpoint/2010/main" val="36429178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55000" lnSpcReduction="20000"/>
          </a:bodyPr>
          <a:lstStyle/>
          <a:p>
            <a:pPr marL="0" indent="0">
              <a:buNone/>
            </a:pPr>
            <a:r>
              <a:rPr lang="es-ES" dirty="0">
                <a:latin typeface="Consolas" panose="020B0609020204030204" pitchFamily="49" charset="0"/>
              </a:rPr>
              <a:t>&gt; p_0 &lt;- 0.25</a:t>
            </a:r>
          </a:p>
          <a:p>
            <a:pPr marL="0" indent="0">
              <a:buNone/>
            </a:pPr>
            <a:r>
              <a:rPr lang="es-ES" dirty="0">
                <a:latin typeface="Consolas" panose="020B0609020204030204" pitchFamily="49" charset="0"/>
              </a:rPr>
              <a:t>&gt; n &lt;- 400</a:t>
            </a:r>
          </a:p>
          <a:p>
            <a:pPr marL="0" indent="0">
              <a:buNone/>
            </a:pPr>
            <a:r>
              <a:rPr lang="es-ES" dirty="0">
                <a:latin typeface="Consolas" panose="020B0609020204030204" pitchFamily="49" charset="0"/>
              </a:rPr>
              <a:t>&gt; x &lt;- 90</a:t>
            </a:r>
          </a:p>
          <a:p>
            <a:pPr marL="0" indent="0">
              <a:buNone/>
            </a:pPr>
            <a:r>
              <a:rPr lang="es-ES" dirty="0">
                <a:latin typeface="Consolas" panose="020B0609020204030204" pitchFamily="49" charset="0"/>
              </a:rPr>
              <a:t>&gt; a &lt;- 0.05</a:t>
            </a:r>
          </a:p>
          <a:p>
            <a:pPr marL="0" indent="0">
              <a:buNone/>
            </a:pPr>
            <a:r>
              <a:rPr lang="es-ES" dirty="0">
                <a:latin typeface="Consolas" panose="020B0609020204030204" pitchFamily="49" charset="0"/>
              </a:rPr>
              <a:t>&gt; </a:t>
            </a:r>
            <a:r>
              <a:rPr lang="es-ES" dirty="0" err="1">
                <a:latin typeface="Consolas" panose="020B0609020204030204" pitchFamily="49" charset="0"/>
              </a:rPr>
              <a:t>p_anterior</a:t>
            </a:r>
            <a:r>
              <a:rPr lang="es-ES" dirty="0">
                <a:latin typeface="Consolas" panose="020B0609020204030204" pitchFamily="49" charset="0"/>
              </a:rPr>
              <a:t> &lt;- 0.20</a:t>
            </a:r>
          </a:p>
          <a:p>
            <a:pPr marL="0" indent="0">
              <a:buNone/>
            </a:pPr>
            <a:r>
              <a:rPr lang="pt-BR" dirty="0">
                <a:latin typeface="Consolas" panose="020B0609020204030204" pitchFamily="49" charset="0"/>
              </a:rPr>
              <a:t>&gt; #H0: p = 0.25 | H1: p &lt; 0.25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#Areas de rechazo: valor crítico</a:t>
            </a:r>
          </a:p>
          <a:p>
            <a:pPr marL="0" indent="0">
              <a:buNone/>
            </a:pPr>
            <a:r>
              <a:rPr lang="es-ES" dirty="0">
                <a:latin typeface="Consolas" panose="020B0609020204030204" pitchFamily="49" charset="0"/>
              </a:rPr>
              <a:t>&gt; </a:t>
            </a:r>
            <a:r>
              <a:rPr lang="es-ES" dirty="0" err="1">
                <a:latin typeface="Consolas" panose="020B0609020204030204" pitchFamily="49" charset="0"/>
              </a:rPr>
              <a:t>p_hat</a:t>
            </a:r>
            <a:r>
              <a:rPr lang="es-ES" dirty="0">
                <a:latin typeface="Consolas" panose="020B0609020204030204" pitchFamily="49" charset="0"/>
              </a:rPr>
              <a:t> &lt;- x/n</a:t>
            </a:r>
          </a:p>
          <a:p>
            <a:pPr marL="0" indent="0">
              <a:buNone/>
            </a:pPr>
            <a:r>
              <a:rPr lang="es-ES" dirty="0">
                <a:latin typeface="Consolas" panose="020B0609020204030204" pitchFamily="49" charset="0"/>
              </a:rPr>
              <a:t>&gt; </a:t>
            </a:r>
            <a:r>
              <a:rPr lang="es-ES" dirty="0" err="1">
                <a:latin typeface="Consolas" panose="020B0609020204030204" pitchFamily="49" charset="0"/>
              </a:rPr>
              <a:t>p_hat</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0.225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h &lt;- p_0 - </a:t>
            </a:r>
            <a:r>
              <a:rPr lang="es-ES" dirty="0" err="1">
                <a:latin typeface="Consolas" panose="020B0609020204030204" pitchFamily="49" charset="0"/>
              </a:rPr>
              <a:t>qnorm</a:t>
            </a:r>
            <a:r>
              <a:rPr lang="es-ES" dirty="0">
                <a:latin typeface="Consolas" panose="020B0609020204030204" pitchFamily="49" charset="0"/>
              </a:rPr>
              <a:t>(a, </a:t>
            </a:r>
            <a:r>
              <a:rPr lang="es-ES" dirty="0" err="1">
                <a:latin typeface="Consolas" panose="020B0609020204030204" pitchFamily="49" charset="0"/>
              </a:rPr>
              <a:t>lower.tail</a:t>
            </a:r>
            <a:r>
              <a:rPr lang="es-ES" dirty="0">
                <a:latin typeface="Consolas" panose="020B0609020204030204" pitchFamily="49" charset="0"/>
              </a:rPr>
              <a:t> = FALSE)*</a:t>
            </a:r>
            <a:r>
              <a:rPr lang="es-ES" dirty="0" err="1">
                <a:latin typeface="Consolas" panose="020B0609020204030204" pitchFamily="49" charset="0"/>
              </a:rPr>
              <a:t>sqrt</a:t>
            </a:r>
            <a:r>
              <a:rPr lang="es-ES" dirty="0">
                <a:latin typeface="Consolas" panose="020B0609020204030204" pitchFamily="49" charset="0"/>
              </a:rPr>
              <a:t>(p_0*(1 - p_0)/n)</a:t>
            </a:r>
          </a:p>
          <a:p>
            <a:pPr marL="0" indent="0">
              <a:buNone/>
            </a:pPr>
            <a:r>
              <a:rPr lang="es-ES" dirty="0">
                <a:latin typeface="Consolas" panose="020B0609020204030204" pitchFamily="49" charset="0"/>
              </a:rPr>
              <a:t>&gt; h</a:t>
            </a:r>
          </a:p>
          <a:p>
            <a:pPr marL="0" indent="0">
              <a:buNone/>
            </a:pPr>
            <a:r>
              <a:rPr lang="es-ES" dirty="0">
                <a:highlight>
                  <a:srgbClr val="FFFF00"/>
                </a:highlight>
                <a:latin typeface="Consolas" panose="020B0609020204030204" pitchFamily="49" charset="0"/>
              </a:rPr>
              <a:t>[1] 0.2143879</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p_hat</a:t>
            </a:r>
            <a:r>
              <a:rPr lang="es-ES" dirty="0">
                <a:latin typeface="Consolas" panose="020B0609020204030204" pitchFamily="49" charset="0"/>
              </a:rPr>
              <a:t> &lt; h</a:t>
            </a:r>
          </a:p>
          <a:p>
            <a:pPr marL="0" indent="0">
              <a:buNone/>
            </a:pPr>
            <a:r>
              <a:rPr lang="es-ES"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24534062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lnSpcReduction="10000"/>
          </a:bodyPr>
          <a:lstStyle/>
          <a:p>
            <a:pPr marL="0" indent="0">
              <a:buNone/>
            </a:pPr>
            <a:r>
              <a:rPr lang="es-ES" dirty="0">
                <a:latin typeface="Consolas" panose="020B0609020204030204" pitchFamily="49" charset="0"/>
              </a:rPr>
              <a:t>&gt; #Area de rechazo: estadístico</a:t>
            </a:r>
          </a:p>
          <a:p>
            <a:pPr marL="0" indent="0">
              <a:buNone/>
            </a:pPr>
            <a:r>
              <a:rPr lang="es-ES" dirty="0">
                <a:latin typeface="Consolas" panose="020B0609020204030204" pitchFamily="49" charset="0"/>
              </a:rPr>
              <a:t>&gt; </a:t>
            </a:r>
            <a:r>
              <a:rPr lang="es-ES" dirty="0" err="1">
                <a:latin typeface="Consolas" panose="020B0609020204030204" pitchFamily="49" charset="0"/>
              </a:rPr>
              <a:t>p_z</a:t>
            </a:r>
            <a:r>
              <a:rPr lang="es-ES" dirty="0">
                <a:latin typeface="Consolas" panose="020B0609020204030204" pitchFamily="49" charset="0"/>
              </a:rPr>
              <a:t> &lt;- (</a:t>
            </a:r>
            <a:r>
              <a:rPr lang="es-ES" dirty="0" err="1">
                <a:latin typeface="Consolas" panose="020B0609020204030204" pitchFamily="49" charset="0"/>
              </a:rPr>
              <a:t>p_hat</a:t>
            </a:r>
            <a:r>
              <a:rPr lang="es-ES" dirty="0">
                <a:latin typeface="Consolas" panose="020B0609020204030204" pitchFamily="49" charset="0"/>
              </a:rPr>
              <a:t> - p_0)/</a:t>
            </a:r>
            <a:r>
              <a:rPr lang="es-ES" dirty="0" err="1">
                <a:latin typeface="Consolas" panose="020B0609020204030204" pitchFamily="49" charset="0"/>
              </a:rPr>
              <a:t>sqrt</a:t>
            </a:r>
            <a:r>
              <a:rPr lang="es-ES" dirty="0">
                <a:latin typeface="Consolas" panose="020B0609020204030204" pitchFamily="49" charset="0"/>
              </a:rPr>
              <a:t>(p_0*(1 - p_0)/n)</a:t>
            </a:r>
          </a:p>
          <a:p>
            <a:pPr marL="0" indent="0">
              <a:buNone/>
            </a:pPr>
            <a:r>
              <a:rPr lang="es-ES" dirty="0">
                <a:latin typeface="Consolas" panose="020B0609020204030204" pitchFamily="49" charset="0"/>
              </a:rPr>
              <a:t>&gt; </a:t>
            </a:r>
            <a:r>
              <a:rPr lang="es-ES" dirty="0" err="1">
                <a:latin typeface="Consolas" panose="020B0609020204030204" pitchFamily="49" charset="0"/>
              </a:rPr>
              <a:t>p_z</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-1.154701</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p_lim</a:t>
            </a:r>
            <a:r>
              <a:rPr lang="es-ES" dirty="0">
                <a:latin typeface="Consolas" panose="020B0609020204030204" pitchFamily="49" charset="0"/>
              </a:rPr>
              <a:t> &lt;- </a:t>
            </a:r>
            <a:r>
              <a:rPr lang="es-ES" dirty="0" err="1">
                <a:latin typeface="Consolas" panose="020B0609020204030204" pitchFamily="49" charset="0"/>
              </a:rPr>
              <a:t>qnorm</a:t>
            </a:r>
            <a:r>
              <a:rPr lang="es-ES" dirty="0">
                <a:latin typeface="Consolas" panose="020B0609020204030204" pitchFamily="49" charset="0"/>
              </a:rPr>
              <a:t>(a, </a:t>
            </a:r>
            <a:r>
              <a:rPr lang="es-ES" dirty="0" err="1">
                <a:latin typeface="Consolas" panose="020B0609020204030204" pitchFamily="49" charset="0"/>
              </a:rPr>
              <a:t>lower.tail</a:t>
            </a:r>
            <a:r>
              <a:rPr lang="es-ES" dirty="0">
                <a:latin typeface="Consolas" panose="020B0609020204030204" pitchFamily="49" charset="0"/>
              </a:rPr>
              <a:t> = TRUE)</a:t>
            </a:r>
          </a:p>
          <a:p>
            <a:pPr marL="0" indent="0">
              <a:buNone/>
            </a:pPr>
            <a:r>
              <a:rPr lang="es-ES" dirty="0">
                <a:latin typeface="Consolas" panose="020B0609020204030204" pitchFamily="49" charset="0"/>
              </a:rPr>
              <a:t>&gt; </a:t>
            </a:r>
            <a:r>
              <a:rPr lang="es-ES" dirty="0" err="1">
                <a:latin typeface="Consolas" panose="020B0609020204030204" pitchFamily="49" charset="0"/>
              </a:rPr>
              <a:t>p_lim</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-1.644854</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p_z</a:t>
            </a:r>
            <a:r>
              <a:rPr lang="es-ES" dirty="0">
                <a:latin typeface="Consolas" panose="020B0609020204030204" pitchFamily="49" charset="0"/>
              </a:rPr>
              <a:t> &lt; </a:t>
            </a:r>
            <a:r>
              <a:rPr lang="es-ES" dirty="0" err="1">
                <a:latin typeface="Consolas" panose="020B0609020204030204" pitchFamily="49" charset="0"/>
              </a:rPr>
              <a:t>p_lim</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9110769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lnSpcReduction="10000"/>
          </a:bodyPr>
          <a:lstStyle/>
          <a:p>
            <a:pPr marL="0" indent="0">
              <a:buNone/>
            </a:pPr>
            <a:r>
              <a:rPr lang="es-ES" dirty="0">
                <a:latin typeface="Consolas" panose="020B0609020204030204" pitchFamily="49" charset="0"/>
              </a:rPr>
              <a:t>&gt; #Metodo p-valor</a:t>
            </a:r>
          </a:p>
          <a:p>
            <a:pPr marL="0" indent="0">
              <a:buNone/>
            </a:pPr>
            <a:r>
              <a:rPr lang="es-ES" dirty="0">
                <a:latin typeface="Consolas" panose="020B0609020204030204" pitchFamily="49" charset="0"/>
              </a:rPr>
              <a:t>&gt; </a:t>
            </a:r>
            <a:r>
              <a:rPr lang="es-ES" dirty="0" err="1">
                <a:latin typeface="Consolas" panose="020B0609020204030204" pitchFamily="49" charset="0"/>
              </a:rPr>
              <a:t>p_z</a:t>
            </a:r>
            <a:r>
              <a:rPr lang="es-ES" dirty="0">
                <a:latin typeface="Consolas" panose="020B0609020204030204" pitchFamily="49" charset="0"/>
              </a:rPr>
              <a:t> &lt;- (</a:t>
            </a:r>
            <a:r>
              <a:rPr lang="es-ES" dirty="0" err="1">
                <a:latin typeface="Consolas" panose="020B0609020204030204" pitchFamily="49" charset="0"/>
              </a:rPr>
              <a:t>p_hat</a:t>
            </a:r>
            <a:r>
              <a:rPr lang="es-ES" dirty="0">
                <a:latin typeface="Consolas" panose="020B0609020204030204" pitchFamily="49" charset="0"/>
              </a:rPr>
              <a:t> - p_0)/</a:t>
            </a:r>
            <a:r>
              <a:rPr lang="es-ES" dirty="0" err="1">
                <a:latin typeface="Consolas" panose="020B0609020204030204" pitchFamily="49" charset="0"/>
              </a:rPr>
              <a:t>sqrt</a:t>
            </a:r>
            <a:r>
              <a:rPr lang="es-ES" dirty="0">
                <a:latin typeface="Consolas" panose="020B0609020204030204" pitchFamily="49" charset="0"/>
              </a:rPr>
              <a:t>(p_0*(1 - p_0)/n)</a:t>
            </a:r>
          </a:p>
          <a:p>
            <a:pPr marL="0" indent="0">
              <a:buNone/>
            </a:pPr>
            <a:r>
              <a:rPr lang="es-ES" dirty="0">
                <a:latin typeface="Consolas" panose="020B0609020204030204" pitchFamily="49" charset="0"/>
              </a:rPr>
              <a:t>&gt; </a:t>
            </a:r>
            <a:r>
              <a:rPr lang="es-ES" dirty="0" err="1">
                <a:latin typeface="Consolas" panose="020B0609020204030204" pitchFamily="49" charset="0"/>
              </a:rPr>
              <a:t>p_z</a:t>
            </a:r>
            <a:endParaRPr lang="es-ES" dirty="0">
              <a:latin typeface="Consolas" panose="020B0609020204030204" pitchFamily="49" charset="0"/>
            </a:endParaRPr>
          </a:p>
          <a:p>
            <a:pPr marL="0" indent="0">
              <a:buNone/>
            </a:pPr>
            <a:r>
              <a:rPr lang="es-ES" dirty="0">
                <a:latin typeface="Consolas" panose="020B0609020204030204" pitchFamily="49" charset="0"/>
              </a:rPr>
              <a:t>[1] -1.154701</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a:t>
            </a:r>
            <a:r>
              <a:rPr lang="es-ES" dirty="0" err="1">
                <a:latin typeface="Consolas" panose="020B0609020204030204" pitchFamily="49" charset="0"/>
              </a:rPr>
              <a:t>pnorm</a:t>
            </a:r>
            <a:r>
              <a:rPr lang="es-ES" dirty="0">
                <a:latin typeface="Consolas" panose="020B0609020204030204" pitchFamily="49" charset="0"/>
              </a:rPr>
              <a:t>(</a:t>
            </a:r>
            <a:r>
              <a:rPr lang="es-ES" dirty="0" err="1">
                <a:latin typeface="Consolas" panose="020B0609020204030204" pitchFamily="49" charset="0"/>
              </a:rPr>
              <a:t>p_z</a:t>
            </a:r>
            <a:r>
              <a:rPr lang="es-ES" dirty="0">
                <a:latin typeface="Consolas" panose="020B0609020204030204" pitchFamily="49" charset="0"/>
              </a:rPr>
              <a:t>, </a:t>
            </a:r>
            <a:r>
              <a:rPr lang="es-ES" dirty="0" err="1">
                <a:latin typeface="Consolas" panose="020B0609020204030204" pitchFamily="49" charset="0"/>
              </a:rPr>
              <a:t>lower.tail</a:t>
            </a:r>
            <a:r>
              <a:rPr lang="es-ES" dirty="0">
                <a:latin typeface="Consolas" panose="020B0609020204030204" pitchFamily="49" charset="0"/>
              </a:rPr>
              <a:t> = TRUE)</a:t>
            </a:r>
          </a:p>
          <a:p>
            <a:pPr marL="0" indent="0">
              <a:buNone/>
            </a:pPr>
            <a:r>
              <a:rPr lang="es-ES" dirty="0">
                <a:latin typeface="Consolas" panose="020B0609020204030204" pitchFamily="49" charset="0"/>
              </a:rPr>
              <a:t>&gt; </a:t>
            </a:r>
            <a:r>
              <a:rPr lang="es-ES" dirty="0" err="1">
                <a:latin typeface="Consolas" panose="020B0609020204030204" pitchFamily="49" charset="0"/>
              </a:rPr>
              <a:t>p_valor</a:t>
            </a:r>
            <a:endParaRPr lang="es-ES" dirty="0">
              <a:latin typeface="Consolas" panose="020B0609020204030204" pitchFamily="49" charset="0"/>
            </a:endParaRPr>
          </a:p>
          <a:p>
            <a:pPr marL="0" indent="0">
              <a:buNone/>
            </a:pPr>
            <a:r>
              <a:rPr lang="es-ES" dirty="0">
                <a:highlight>
                  <a:srgbClr val="FFFF00"/>
                </a:highlight>
                <a:latin typeface="Consolas" panose="020B0609020204030204" pitchFamily="49" charset="0"/>
              </a:rPr>
              <a:t>[1] 0.1241065</a:t>
            </a:r>
          </a:p>
          <a:p>
            <a:pPr marL="0" indent="0">
              <a:buNone/>
            </a:pPr>
            <a:r>
              <a:rPr lang="es-ES" dirty="0">
                <a:latin typeface="Consolas" panose="020B0609020204030204" pitchFamily="49" charset="0"/>
              </a:rPr>
              <a:t> </a:t>
            </a:r>
          </a:p>
          <a:p>
            <a:pPr marL="0" indent="0">
              <a:buNone/>
            </a:pPr>
            <a:r>
              <a:rPr lang="es-ES" dirty="0">
                <a:latin typeface="Consolas" panose="020B0609020204030204" pitchFamily="49" charset="0"/>
              </a:rPr>
              <a:t>&gt; </a:t>
            </a:r>
            <a:r>
              <a:rPr lang="es-ES" dirty="0" err="1">
                <a:latin typeface="Consolas" panose="020B0609020204030204" pitchFamily="49" charset="0"/>
              </a:rPr>
              <a:t>p_valor</a:t>
            </a:r>
            <a:r>
              <a:rPr lang="es-ES" dirty="0">
                <a:latin typeface="Consolas" panose="020B0609020204030204" pitchFamily="49" charset="0"/>
              </a:rPr>
              <a:t> &lt; a</a:t>
            </a:r>
          </a:p>
          <a:p>
            <a:pPr marL="0" indent="0">
              <a:buNone/>
            </a:pPr>
            <a:r>
              <a:rPr lang="es-ES"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6945005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es-ES" sz="2400" dirty="0">
                <a:latin typeface="Consolas" panose="020B0609020204030204" pitchFamily="49" charset="0"/>
              </a:rPr>
              <a:t>&gt; #Calcular Error tipo II</a:t>
            </a:r>
          </a:p>
          <a:p>
            <a:pPr marL="0" indent="0">
              <a:buNone/>
            </a:pPr>
            <a:r>
              <a:rPr lang="es-ES" sz="2400" dirty="0">
                <a:latin typeface="Consolas" panose="020B0609020204030204" pitchFamily="49" charset="0"/>
              </a:rPr>
              <a:t>&gt; #P(p_hat &gt; 0.2143879 | p_0 = 0.20)</a:t>
            </a:r>
          </a:p>
          <a:p>
            <a:pPr marL="0" indent="0">
              <a:buNone/>
            </a:pPr>
            <a:r>
              <a:rPr lang="es-ES" sz="2400" dirty="0">
                <a:latin typeface="Consolas" panose="020B0609020204030204" pitchFamily="49" charset="0"/>
              </a:rPr>
              <a:t>&gt; </a:t>
            </a:r>
            <a:r>
              <a:rPr lang="es-ES" sz="2400" dirty="0" err="1">
                <a:latin typeface="Consolas" panose="020B0609020204030204" pitchFamily="49" charset="0"/>
              </a:rPr>
              <a:t>p_hat</a:t>
            </a:r>
            <a:r>
              <a:rPr lang="es-ES" sz="2400" dirty="0">
                <a:latin typeface="Consolas" panose="020B0609020204030204" pitchFamily="49" charset="0"/>
              </a:rPr>
              <a:t> &lt;- x/n</a:t>
            </a:r>
          </a:p>
          <a:p>
            <a:pPr marL="0" indent="0">
              <a:buNone/>
            </a:pPr>
            <a:endParaRPr lang="es-ES" sz="2400" dirty="0">
              <a:latin typeface="Consolas" panose="020B0609020204030204" pitchFamily="49" charset="0"/>
            </a:endParaRPr>
          </a:p>
          <a:p>
            <a:pPr marL="0" indent="0">
              <a:buNone/>
            </a:pPr>
            <a:r>
              <a:rPr lang="es-ES" sz="2400" dirty="0">
                <a:latin typeface="Consolas" panose="020B0609020204030204" pitchFamily="49" charset="0"/>
              </a:rPr>
              <a:t>&gt; </a:t>
            </a:r>
            <a:r>
              <a:rPr lang="es-ES" sz="2400" dirty="0" err="1">
                <a:latin typeface="Consolas" panose="020B0609020204030204" pitchFamily="49" charset="0"/>
              </a:rPr>
              <a:t>zb</a:t>
            </a:r>
            <a:r>
              <a:rPr lang="es-ES" sz="2400" dirty="0">
                <a:latin typeface="Consolas" panose="020B0609020204030204" pitchFamily="49" charset="0"/>
              </a:rPr>
              <a:t> &lt;- (h-</a:t>
            </a:r>
            <a:r>
              <a:rPr lang="es-ES" sz="2400" dirty="0" err="1">
                <a:latin typeface="Consolas" panose="020B0609020204030204" pitchFamily="49" charset="0"/>
              </a:rPr>
              <a:t>p_anterior</a:t>
            </a:r>
            <a:r>
              <a:rPr lang="es-ES" sz="2400" dirty="0">
                <a:latin typeface="Consolas" panose="020B0609020204030204" pitchFamily="49" charset="0"/>
              </a:rPr>
              <a:t>)/</a:t>
            </a:r>
            <a:r>
              <a:rPr lang="es-ES" sz="2400" dirty="0" err="1">
                <a:latin typeface="Consolas" panose="020B0609020204030204" pitchFamily="49" charset="0"/>
              </a:rPr>
              <a:t>sqrt</a:t>
            </a:r>
            <a:r>
              <a:rPr lang="es-ES" sz="2400" dirty="0">
                <a:latin typeface="Consolas" panose="020B0609020204030204" pitchFamily="49" charset="0"/>
              </a:rPr>
              <a:t>(</a:t>
            </a:r>
            <a:r>
              <a:rPr lang="es-ES" sz="2400" dirty="0" err="1">
                <a:latin typeface="Consolas" panose="020B0609020204030204" pitchFamily="49" charset="0"/>
              </a:rPr>
              <a:t>p_anterior</a:t>
            </a:r>
            <a:r>
              <a:rPr lang="es-ES" sz="2400" dirty="0">
                <a:latin typeface="Consolas" panose="020B0609020204030204" pitchFamily="49" charset="0"/>
              </a:rPr>
              <a:t>*(1 - </a:t>
            </a:r>
            <a:r>
              <a:rPr lang="es-ES" sz="2400" dirty="0" err="1">
                <a:latin typeface="Consolas" panose="020B0609020204030204" pitchFamily="49" charset="0"/>
              </a:rPr>
              <a:t>p_anterior</a:t>
            </a:r>
            <a:r>
              <a:rPr lang="es-ES" sz="2400" dirty="0">
                <a:latin typeface="Consolas" panose="020B0609020204030204" pitchFamily="49" charset="0"/>
              </a:rPr>
              <a:t>)/n)</a:t>
            </a:r>
          </a:p>
          <a:p>
            <a:pPr marL="0" indent="0">
              <a:buNone/>
            </a:pPr>
            <a:r>
              <a:rPr lang="es-ES" sz="2400" dirty="0">
                <a:latin typeface="Consolas" panose="020B0609020204030204" pitchFamily="49" charset="0"/>
              </a:rPr>
              <a:t>&gt; </a:t>
            </a:r>
            <a:r>
              <a:rPr lang="es-ES" sz="2400" dirty="0" err="1">
                <a:latin typeface="Consolas" panose="020B0609020204030204" pitchFamily="49" charset="0"/>
              </a:rPr>
              <a:t>zb</a:t>
            </a:r>
            <a:endParaRPr lang="es-ES" sz="2400" dirty="0">
              <a:latin typeface="Consolas" panose="020B0609020204030204" pitchFamily="49" charset="0"/>
            </a:endParaRPr>
          </a:p>
          <a:p>
            <a:pPr marL="0" indent="0">
              <a:buNone/>
            </a:pPr>
            <a:r>
              <a:rPr lang="es-ES" sz="2400" dirty="0">
                <a:latin typeface="Consolas" panose="020B0609020204030204" pitchFamily="49" charset="0"/>
              </a:rPr>
              <a:t>[1] 0.7193937</a:t>
            </a:r>
          </a:p>
          <a:p>
            <a:pPr marL="0" indent="0">
              <a:buNone/>
            </a:pPr>
            <a:endParaRPr lang="es-ES" sz="2400" dirty="0">
              <a:latin typeface="Consolas" panose="020B0609020204030204" pitchFamily="49" charset="0"/>
            </a:endParaRPr>
          </a:p>
          <a:p>
            <a:pPr marL="0" indent="0">
              <a:buNone/>
            </a:pPr>
            <a:r>
              <a:rPr lang="es-ES" sz="2400" dirty="0">
                <a:latin typeface="Consolas" panose="020B0609020204030204" pitchFamily="49" charset="0"/>
              </a:rPr>
              <a:t>&gt; b &lt;- </a:t>
            </a:r>
            <a:r>
              <a:rPr lang="es-ES" sz="2400" dirty="0" err="1">
                <a:latin typeface="Consolas" panose="020B0609020204030204" pitchFamily="49" charset="0"/>
              </a:rPr>
              <a:t>pnorm</a:t>
            </a:r>
            <a:r>
              <a:rPr lang="es-ES" sz="2400" dirty="0">
                <a:latin typeface="Consolas" panose="020B0609020204030204" pitchFamily="49" charset="0"/>
              </a:rPr>
              <a:t>(</a:t>
            </a:r>
            <a:r>
              <a:rPr lang="es-ES" sz="2400" dirty="0" err="1">
                <a:latin typeface="Consolas" panose="020B0609020204030204" pitchFamily="49" charset="0"/>
              </a:rPr>
              <a:t>zb</a:t>
            </a:r>
            <a:r>
              <a:rPr lang="es-ES" sz="2400" dirty="0">
                <a:latin typeface="Consolas" panose="020B0609020204030204" pitchFamily="49" charset="0"/>
              </a:rPr>
              <a:t>, </a:t>
            </a:r>
            <a:r>
              <a:rPr lang="es-ES" sz="2400" dirty="0" err="1">
                <a:latin typeface="Consolas" panose="020B0609020204030204" pitchFamily="49" charset="0"/>
              </a:rPr>
              <a:t>lower.tail</a:t>
            </a:r>
            <a:r>
              <a:rPr lang="es-ES" sz="2400" dirty="0">
                <a:latin typeface="Consolas" panose="020B0609020204030204" pitchFamily="49" charset="0"/>
              </a:rPr>
              <a:t> = FALSE)</a:t>
            </a:r>
          </a:p>
          <a:p>
            <a:pPr marL="0" indent="0">
              <a:buNone/>
            </a:pPr>
            <a:r>
              <a:rPr lang="es-ES" sz="2400" dirty="0">
                <a:latin typeface="Consolas" panose="020B0609020204030204" pitchFamily="49" charset="0"/>
              </a:rPr>
              <a:t>&gt; b</a:t>
            </a:r>
          </a:p>
          <a:p>
            <a:pPr marL="0" indent="0">
              <a:buNone/>
            </a:pPr>
            <a:r>
              <a:rPr lang="es-ES" sz="2400" dirty="0">
                <a:highlight>
                  <a:srgbClr val="FFFF00"/>
                </a:highlight>
                <a:latin typeface="Consolas" panose="020B0609020204030204" pitchFamily="49" charset="0"/>
              </a:rPr>
              <a:t>[1] 0.2359492</a:t>
            </a:r>
          </a:p>
        </p:txBody>
      </p:sp>
    </p:spTree>
    <p:extLst>
      <p:ext uri="{BB962C8B-B14F-4D97-AF65-F5344CB8AC3E}">
        <p14:creationId xmlns:p14="http://schemas.microsoft.com/office/powerpoint/2010/main" val="9280360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11.32</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lstStyle/>
          <a:p>
            <a:pPr marL="0" indent="0">
              <a:lnSpc>
                <a:spcPct val="150000"/>
              </a:lnSpc>
              <a:buNone/>
            </a:pPr>
            <a:r>
              <a:rPr lang="es-VE" i="1" dirty="0"/>
              <a:t>Se desea contrastar la hipótesis de que la proporción de la población activa desocupada es 10%, contra la hipótesis alternativa de que es mayor que 10%. </a:t>
            </a:r>
          </a:p>
          <a:p>
            <a:pPr marL="0" indent="0">
              <a:lnSpc>
                <a:spcPct val="150000"/>
              </a:lnSpc>
              <a:buNone/>
            </a:pPr>
            <a:r>
              <a:rPr lang="es-VE" i="1" dirty="0"/>
              <a:t>Se desea que la probabilidad de cometer un error tipo I sea de 0,01, y la probabilidad aceptable de cometer un error tipo II es 0,0322, si la verdadera proporción es 0,05. Determinar el tamaño de la muestra.</a:t>
            </a:r>
            <a:endParaRPr lang="en-US" i="1" dirty="0"/>
          </a:p>
          <a:p>
            <a:pPr marL="0" indent="0">
              <a:buNone/>
            </a:pPr>
            <a:endParaRPr lang="en-US" dirty="0"/>
          </a:p>
        </p:txBody>
      </p:sp>
    </p:spTree>
    <p:extLst>
      <p:ext uri="{BB962C8B-B14F-4D97-AF65-F5344CB8AC3E}">
        <p14:creationId xmlns:p14="http://schemas.microsoft.com/office/powerpoint/2010/main" val="35358705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70000" lnSpcReduction="20000"/>
              </a:bodyPr>
              <a:lstStyle/>
              <a:p>
                <a:pPr marL="0" indent="0" algn="ctr">
                  <a:lnSpc>
                    <a:spcPct val="170000"/>
                  </a:lnSpc>
                  <a:buNone/>
                </a:pPr>
                <a14:m>
                  <m:oMathPara xmlns:m="http://schemas.openxmlformats.org/officeDocument/2006/math">
                    <m:oMathParaPr>
                      <m:jc m:val="centerGroup"/>
                    </m:oMathParaPr>
                    <m:oMath xmlns:m="http://schemas.openxmlformats.org/officeDocument/2006/math">
                      <m:sSub>
                        <m:sSubPr>
                          <m:ctrlPr>
                            <a:rPr lang="es-419" sz="2800" i="1" smtClean="0">
                              <a:latin typeface="Cambria Math" panose="02040503050406030204" pitchFamily="18" charset="0"/>
                            </a:rPr>
                          </m:ctrlPr>
                        </m:sSubPr>
                        <m:e>
                          <m:r>
                            <a:rPr lang="es-419" sz="2800" i="1">
                              <a:latin typeface="Cambria Math" panose="02040503050406030204" pitchFamily="18" charset="0"/>
                            </a:rPr>
                            <m:t>𝐻</m:t>
                          </m:r>
                        </m:e>
                        <m:sub>
                          <m:r>
                            <a:rPr lang="es-419" sz="2800" i="1">
                              <a:latin typeface="Cambria Math" panose="02040503050406030204" pitchFamily="18" charset="0"/>
                            </a:rPr>
                            <m:t>0</m:t>
                          </m:r>
                        </m:sub>
                      </m:sSub>
                      <m:r>
                        <a:rPr lang="es-419" sz="2800" i="1">
                          <a:latin typeface="Cambria Math" panose="02040503050406030204" pitchFamily="18" charset="0"/>
                        </a:rPr>
                        <m:t>:</m:t>
                      </m:r>
                      <m:r>
                        <a:rPr lang="es-419" sz="2800" i="1">
                          <a:latin typeface="Cambria Math" panose="02040503050406030204" pitchFamily="18" charset="0"/>
                          <a:ea typeface="Cambria Math" panose="02040503050406030204" pitchFamily="18" charset="0"/>
                        </a:rPr>
                        <m:t>𝜇</m:t>
                      </m:r>
                      <m:r>
                        <a:rPr lang="es-419" sz="2800" i="1">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ea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𝜇</m:t>
                          </m:r>
                        </m:e>
                        <m:sub>
                          <m:r>
                            <a:rPr lang="es-419" sz="2800" i="1">
                              <a:latin typeface="Cambria Math" panose="02040503050406030204" pitchFamily="18" charset="0"/>
                              <a:ea typeface="Cambria Math" panose="02040503050406030204" pitchFamily="18" charset="0"/>
                            </a:rPr>
                            <m:t>0</m:t>
                          </m:r>
                        </m:sub>
                      </m:sSub>
                      <m:r>
                        <a:rPr lang="es-419" sz="2800" b="0" i="1" smtClean="0">
                          <a:latin typeface="Cambria Math" panose="02040503050406030204" pitchFamily="18" charset="0"/>
                          <a:ea typeface="Cambria Math" panose="02040503050406030204" pitchFamily="18" charset="0"/>
                        </a:rPr>
                        <m:t>| </m:t>
                      </m:r>
                      <m:sSub>
                        <m:sSubPr>
                          <m:ctrlPr>
                            <a:rPr lang="es-419" sz="2800" i="1">
                              <a:latin typeface="Cambria Math" panose="02040503050406030204" pitchFamily="18" charset="0"/>
                            </a:rPr>
                          </m:ctrlPr>
                        </m:sSubPr>
                        <m:e>
                          <m:r>
                            <a:rPr lang="es-419" sz="2800" i="1">
                              <a:latin typeface="Cambria Math" panose="02040503050406030204" pitchFamily="18" charset="0"/>
                            </a:rPr>
                            <m:t>𝐻</m:t>
                          </m:r>
                        </m:e>
                        <m:sub>
                          <m:r>
                            <a:rPr lang="es-419" sz="2800" i="1">
                              <a:latin typeface="Cambria Math" panose="02040503050406030204" pitchFamily="18" charset="0"/>
                            </a:rPr>
                            <m:t>1</m:t>
                          </m:r>
                        </m:sub>
                      </m:sSub>
                      <m:r>
                        <a:rPr lang="es-419" sz="2800" i="1">
                          <a:latin typeface="Cambria Math" panose="02040503050406030204" pitchFamily="18" charset="0"/>
                        </a:rPr>
                        <m:t>:</m:t>
                      </m:r>
                      <m:r>
                        <a:rPr lang="es-419" sz="2800" i="1">
                          <a:latin typeface="Cambria Math" panose="02040503050406030204" pitchFamily="18" charset="0"/>
                          <a:ea typeface="Cambria Math" panose="02040503050406030204" pitchFamily="18" charset="0"/>
                        </a:rPr>
                        <m:t>𝜇</m:t>
                      </m:r>
                      <m:r>
                        <a:rPr lang="es-419" sz="2800" b="0" i="1" smtClean="0">
                          <a:latin typeface="Cambria Math" panose="02040503050406030204" pitchFamily="18" charset="0"/>
                          <a:ea typeface="Cambria Math" panose="02040503050406030204" pitchFamily="18" charset="0"/>
                        </a:rPr>
                        <m:t>&gt;</m:t>
                      </m:r>
                      <m:sSub>
                        <m:sSubPr>
                          <m:ctrlPr>
                            <a:rPr lang="es-419" sz="2800" i="1">
                              <a:latin typeface="Cambria Math" panose="02040503050406030204" pitchFamily="18" charset="0"/>
                              <a:ea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𝜇</m:t>
                          </m:r>
                        </m:e>
                        <m:sub>
                          <m:r>
                            <a:rPr lang="es-419" sz="2800" b="0" i="1" smtClean="0">
                              <a:latin typeface="Cambria Math" panose="02040503050406030204" pitchFamily="18" charset="0"/>
                              <a:ea typeface="Cambria Math" panose="02040503050406030204" pitchFamily="18" charset="0"/>
                            </a:rPr>
                            <m:t>0</m:t>
                          </m:r>
                        </m:sub>
                      </m:sSub>
                    </m:oMath>
                  </m:oMathPara>
                </a14:m>
                <a:endParaRPr lang="es-419" sz="2800" b="0" dirty="0">
                  <a:ea typeface="Cambria Math" panose="02040503050406030204" pitchFamily="18" charset="0"/>
                </a:endParaRPr>
              </a:p>
              <a:p>
                <a:pPr marL="0" indent="0" algn="ctr">
                  <a:lnSpc>
                    <a:spcPct val="17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h</m:t>
                      </m:r>
                      <m:r>
                        <a:rPr lang="es-419" b="0" i="1" smtClean="0">
                          <a:latin typeface="Cambria Math" panose="02040503050406030204" pitchFamily="18" charset="0"/>
                        </a:rPr>
                        <m:t>=</m:t>
                      </m:r>
                      <m:sSub>
                        <m:sSubPr>
                          <m:ctrlPr>
                            <a:rPr lang="es-419"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m:t>
                      </m:r>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r>
                            <a:rPr lang="es-419" b="0" i="1" smtClean="0">
                              <a:latin typeface="Cambria Math" panose="02040503050406030204" pitchFamily="18" charset="0"/>
                              <a:ea typeface="Cambria Math" panose="02040503050406030204" pitchFamily="18" charset="0"/>
                            </a:rPr>
                            <m:t>𝛼</m:t>
                          </m:r>
                        </m:sub>
                      </m:sSub>
                      <m:rad>
                        <m:radPr>
                          <m:degHide m:val="on"/>
                          <m:ctrlPr>
                            <a:rPr lang="es-419" b="0" i="1" smtClean="0">
                              <a:latin typeface="Cambria Math" panose="02040503050406030204" pitchFamily="18" charset="0"/>
                              <a:ea typeface="Cambria Math" panose="02040503050406030204" pitchFamily="18" charset="0"/>
                            </a:rPr>
                          </m:ctrlPr>
                        </m:radPr>
                        <m:deg/>
                        <m:e>
                          <m:f>
                            <m:fPr>
                              <m:ctrlPr>
                                <a:rPr lang="es-419" b="0" i="1" smtClean="0">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m:t>
                              </m:r>
                            </m:num>
                            <m:den>
                              <m:r>
                                <a:rPr lang="es-419" b="0" i="1" smtClean="0">
                                  <a:latin typeface="Cambria Math" panose="02040503050406030204" pitchFamily="18" charset="0"/>
                                  <a:ea typeface="Cambria Math" panose="02040503050406030204" pitchFamily="18" charset="0"/>
                                </a:rPr>
                                <m:t>𝑛</m:t>
                              </m:r>
                            </m:den>
                          </m:f>
                        </m:e>
                      </m:rad>
                    </m:oMath>
                  </m:oMathPara>
                </a14:m>
                <a:endParaRPr lang="es-419" dirty="0"/>
              </a:p>
              <a:p>
                <a:pPr marL="0" indent="0" algn="ctr">
                  <a:lnSpc>
                    <a:spcPct val="17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𝛽</m:t>
                      </m:r>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rPr>
                        <m:t>𝑃</m:t>
                      </m:r>
                      <m:d>
                        <m:dPr>
                          <m:begChr m:val="["/>
                          <m:endChr m:val="]"/>
                          <m:ctrlPr>
                            <a:rPr lang="es-419" i="1">
                              <a:latin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rPr>
                            <m:t>&lt;</m:t>
                          </m:r>
                          <m:r>
                            <a:rPr lang="es-419" b="0" i="1" smtClean="0">
                              <a:latin typeface="Cambria Math" panose="02040503050406030204" pitchFamily="18" charset="0"/>
                            </a:rPr>
                            <m:t>h</m:t>
                          </m:r>
                        </m:e>
                        <m:e>
                          <m:r>
                            <a:rPr lang="es-419" b="0" i="1" smtClean="0">
                              <a:latin typeface="Cambria Math" panose="02040503050406030204" pitchFamily="18" charset="0"/>
                            </a:rPr>
                            <m:t>𝑝</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1</m:t>
                              </m:r>
                            </m:sub>
                          </m:sSub>
                        </m:e>
                      </m:d>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𝑃</m:t>
                      </m:r>
                      <m:d>
                        <m:dPr>
                          <m:begChr m:val="["/>
                          <m:endChr m:val="]"/>
                          <m:ctrlPr>
                            <a:rPr lang="es-419" b="0" i="1" smtClean="0">
                              <a:latin typeface="Cambria Math" panose="02040503050406030204" pitchFamily="18" charset="0"/>
                              <a:ea typeface="Cambria Math" panose="02040503050406030204" pitchFamily="18" charset="0"/>
                            </a:rPr>
                          </m:ctrlPr>
                        </m:dPr>
                        <m:e>
                          <m:d>
                            <m:dPr>
                              <m:ctrlPr>
                                <a:rPr lang="es-419" b="0" i="1" smtClean="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1</m:t>
                                  </m:r>
                                </m:sub>
                              </m:sSub>
                            </m:e>
                          </m:d>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1</m:t>
                                      </m:r>
                                    </m:sub>
                                  </m:sSub>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1</m:t>
                                          </m:r>
                                        </m:sub>
                                      </m:sSub>
                                    </m:e>
                                  </m:d>
                                </m:num>
                                <m:den>
                                  <m:r>
                                    <a:rPr lang="es-419" i="1">
                                      <a:latin typeface="Cambria Math" panose="02040503050406030204" pitchFamily="18" charset="0"/>
                                      <a:ea typeface="Cambria Math" panose="02040503050406030204" pitchFamily="18" charset="0"/>
                                    </a:rPr>
                                    <m:t>𝑛</m:t>
                                  </m:r>
                                </m:den>
                              </m:f>
                            </m:e>
                          </m:rad>
                          <m:r>
                            <a:rPr lang="es-419" b="0" i="1" smtClean="0">
                              <a:latin typeface="Cambria Math" panose="02040503050406030204" pitchFamily="18" charset="0"/>
                              <a:ea typeface="Cambria Math" panose="02040503050406030204" pitchFamily="18" charset="0"/>
                            </a:rPr>
                            <m:t>&lt;</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h</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1</m:t>
                                  </m:r>
                                </m:sub>
                              </m:sSub>
                            </m:e>
                          </m:d>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1</m:t>
                                      </m:r>
                                    </m:sub>
                                  </m:sSub>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1</m:t>
                                          </m:r>
                                        </m:sub>
                                      </m:sSub>
                                    </m:e>
                                  </m:d>
                                </m:num>
                                <m:den>
                                  <m:r>
                                    <a:rPr lang="es-419" i="1">
                                      <a:latin typeface="Cambria Math" panose="02040503050406030204" pitchFamily="18" charset="0"/>
                                      <a:ea typeface="Cambria Math" panose="02040503050406030204" pitchFamily="18" charset="0"/>
                                    </a:rPr>
                                    <m:t>𝑛</m:t>
                                  </m:r>
                                </m:den>
                              </m:f>
                            </m:e>
                          </m:rad>
                        </m:e>
                      </m:d>
                    </m:oMath>
                  </m:oMathPara>
                </a14:m>
                <a:endParaRPr lang="es-419" b="0" dirty="0">
                  <a:ea typeface="Cambria Math" panose="02040503050406030204" pitchFamily="18" charset="0"/>
                </a:endParaRPr>
              </a:p>
              <a:p>
                <a:pPr marL="0" indent="0" algn="ctr">
                  <a:lnSpc>
                    <a:spcPct val="170000"/>
                  </a:lnSpc>
                  <a:buNone/>
                </a:pPr>
                <a14:m>
                  <m:oMathPara xmlns:m="http://schemas.openxmlformats.org/officeDocument/2006/math">
                    <m:oMathParaPr>
                      <m:jc m:val="centerGroup"/>
                    </m:oMathParaPr>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m:t>
                      </m:r>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r>
                            <a:rPr lang="es-419" b="0" i="1" smtClean="0">
                              <a:latin typeface="Cambria Math" panose="02040503050406030204" pitchFamily="18" charset="0"/>
                              <a:ea typeface="Cambria Math" panose="02040503050406030204" pitchFamily="18" charset="0"/>
                            </a:rPr>
                            <m:t>𝛼</m:t>
                          </m:r>
                        </m:sub>
                      </m:sSub>
                      <m:rad>
                        <m:radPr>
                          <m:degHide m:val="on"/>
                          <m:ctrlPr>
                            <a:rPr lang="es-419" b="0" i="1" smtClean="0">
                              <a:latin typeface="Cambria Math" panose="02040503050406030204" pitchFamily="18" charset="0"/>
                              <a:ea typeface="Cambria Math" panose="02040503050406030204" pitchFamily="18" charset="0"/>
                            </a:rPr>
                          </m:ctrlPr>
                        </m:radPr>
                        <m:deg/>
                        <m:e>
                          <m:f>
                            <m:fPr>
                              <m:ctrlPr>
                                <a:rPr lang="es-419" b="0" i="1" smtClean="0">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0</m:t>
                                  </m:r>
                                </m:sub>
                              </m:sSub>
                              <m:r>
                                <a:rPr lang="es-419" b="0" i="1" smtClean="0">
                                  <a:latin typeface="Cambria Math" panose="02040503050406030204" pitchFamily="18" charset="0"/>
                                  <a:ea typeface="Cambria Math" panose="02040503050406030204" pitchFamily="18" charset="0"/>
                                </a:rPr>
                                <m:t>)</m:t>
                              </m:r>
                            </m:num>
                            <m:den>
                              <m:r>
                                <a:rPr lang="es-419" b="0" i="1" smtClean="0">
                                  <a:latin typeface="Cambria Math" panose="02040503050406030204" pitchFamily="18" charset="0"/>
                                  <a:ea typeface="Cambria Math" panose="02040503050406030204" pitchFamily="18" charset="0"/>
                                </a:rPr>
                                <m:t>𝑛</m:t>
                              </m:r>
                            </m:den>
                          </m:f>
                        </m:e>
                      </m:rad>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r>
                            <a:rPr lang="es-419" b="0" i="1" smtClean="0">
                              <a:latin typeface="Cambria Math" panose="02040503050406030204" pitchFamily="18" charset="0"/>
                              <a:ea typeface="Cambria Math" panose="02040503050406030204" pitchFamily="18" charset="0"/>
                            </a:rPr>
                            <m:t>1−</m:t>
                          </m:r>
                          <m:r>
                            <a:rPr lang="es-419" b="0" i="1" smtClean="0">
                              <a:latin typeface="Cambria Math" panose="02040503050406030204" pitchFamily="18" charset="0"/>
                              <a:ea typeface="Cambria Math" panose="02040503050406030204" pitchFamily="18" charset="0"/>
                            </a:rPr>
                            <m:t>𝛽</m:t>
                          </m:r>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num>
                            <m:den>
                              <m:r>
                                <a:rPr lang="es-419" i="1">
                                  <a:latin typeface="Cambria Math" panose="02040503050406030204" pitchFamily="18" charset="0"/>
                                  <a:ea typeface="Cambria Math" panose="02040503050406030204" pitchFamily="18" charset="0"/>
                                </a:rPr>
                                <m:t>𝑛</m:t>
                              </m:r>
                            </m:den>
                          </m:f>
                        </m:e>
                      </m:rad>
                    </m:oMath>
                  </m:oMathPara>
                </a14:m>
                <a:endParaRPr lang="es-419" dirty="0"/>
              </a:p>
            </p:txBody>
          </p:sp>
        </mc:Choice>
        <mc:Fallback xmlns="">
          <p:sp>
            <p:nvSpPr>
              <p:cNvPr id="3" name="Content Placeholder 2">
                <a:extLst>
                  <a:ext uri="{FF2B5EF4-FFF2-40B4-BE49-F238E27FC236}">
                    <a16:creationId xmlns:a16="http://schemas.microsoft.com/office/drawing/2014/main" id="{5FF01FCA-855B-4DA4-B864-3D93B9A664A7}"/>
                  </a:ext>
                </a:extLst>
              </p:cNvPr>
              <p:cNvSpPr>
                <a:spLocks noGrp="1" noRot="1" noChangeAspect="1" noMove="1" noResize="1" noEditPoints="1" noAdjustHandles="1" noChangeArrowheads="1" noChangeShapeType="1" noTextEdit="1"/>
              </p:cNvSpPr>
              <p:nvPr>
                <p:ph idx="1"/>
              </p:nvPr>
            </p:nvSpPr>
            <p:spPr>
              <a:xfrm>
                <a:off x="838200" y="749508"/>
                <a:ext cx="10515600" cy="5427455"/>
              </a:xfrm>
              <a:blipFill>
                <a:blip r:embed="rId2"/>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41329689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85000" lnSpcReduction="10000"/>
              </a:bodyPr>
              <a:lstStyle/>
              <a:p>
                <a:pPr marL="0" indent="0" algn="ctr">
                  <a:lnSpc>
                    <a:spcPct val="170000"/>
                  </a:lnSpc>
                  <a:buNone/>
                </a:pPr>
                <a14:m>
                  <m:oMathPara xmlns:m="http://schemas.openxmlformats.org/officeDocument/2006/math">
                    <m:oMathParaPr>
                      <m:jc m:val="centerGroup"/>
                    </m:oMathParaPr>
                    <m:oMath xmlns:m="http://schemas.openxmlformats.org/officeDocument/2006/math">
                      <m:sSub>
                        <m:sSubPr>
                          <m:ctrlPr>
                            <a:rPr lang="es-419" sz="2200" i="1" smtClean="0">
                              <a:latin typeface="Cambria Math" panose="02040503050406030204" pitchFamily="18" charset="0"/>
                              <a:ea typeface="Cambria Math" panose="02040503050406030204" pitchFamily="18" charset="0"/>
                            </a:rPr>
                          </m:ctrlPr>
                        </m:sSubPr>
                        <m:e>
                          <m:r>
                            <a:rPr lang="es-419" sz="2200" b="0" i="1" smtClean="0">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r>
                        <a:rPr lang="es-419" sz="2200" b="0" i="1" smtClean="0">
                          <a:latin typeface="Cambria Math" panose="02040503050406030204" pitchFamily="18" charset="0"/>
                          <a:ea typeface="Cambria Math" panose="02040503050406030204" pitchFamily="18" charset="0"/>
                        </a:rPr>
                        <m:t>+</m:t>
                      </m:r>
                      <m:sSub>
                        <m:sSubPr>
                          <m:ctrlPr>
                            <a:rPr lang="es-419" sz="2200" b="0" i="1" smtClean="0">
                              <a:latin typeface="Cambria Math" panose="02040503050406030204" pitchFamily="18" charset="0"/>
                              <a:ea typeface="Cambria Math" panose="02040503050406030204" pitchFamily="18" charset="0"/>
                            </a:rPr>
                          </m:ctrlPr>
                        </m:sSubPr>
                        <m:e>
                          <m:r>
                            <a:rPr lang="es-419" sz="2200" b="0" i="1" smtClean="0">
                              <a:latin typeface="Cambria Math" panose="02040503050406030204" pitchFamily="18" charset="0"/>
                              <a:ea typeface="Cambria Math" panose="02040503050406030204" pitchFamily="18" charset="0"/>
                            </a:rPr>
                            <m:t>𝑧</m:t>
                          </m:r>
                        </m:e>
                        <m:sub>
                          <m:r>
                            <a:rPr lang="es-419" sz="2200" b="0" i="1" smtClean="0">
                              <a:latin typeface="Cambria Math" panose="02040503050406030204" pitchFamily="18" charset="0"/>
                              <a:ea typeface="Cambria Math" panose="02040503050406030204" pitchFamily="18" charset="0"/>
                            </a:rPr>
                            <m:t>𝛼</m:t>
                          </m:r>
                        </m:sub>
                      </m:sSub>
                      <m:rad>
                        <m:radPr>
                          <m:degHide m:val="on"/>
                          <m:ctrlPr>
                            <a:rPr lang="es-419" sz="2200" b="0" i="1" smtClean="0">
                              <a:latin typeface="Cambria Math" panose="02040503050406030204" pitchFamily="18" charset="0"/>
                              <a:ea typeface="Cambria Math" panose="02040503050406030204" pitchFamily="18" charset="0"/>
                            </a:rPr>
                          </m:ctrlPr>
                        </m:radPr>
                        <m:deg/>
                        <m:e>
                          <m:f>
                            <m:fPr>
                              <m:ctrlPr>
                                <a:rPr lang="es-419" sz="2200" b="0" i="1" smtClean="0">
                                  <a:latin typeface="Cambria Math" panose="02040503050406030204" pitchFamily="18" charset="0"/>
                                  <a:ea typeface="Cambria Math" panose="02040503050406030204" pitchFamily="18" charset="0"/>
                                </a:rPr>
                              </m:ctrlPr>
                            </m:fPr>
                            <m:num>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r>
                                <a:rPr lang="es-419" sz="2200" b="0" i="1" smtClean="0">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r>
                                <a:rPr lang="es-419" sz="2200" b="0" i="1" smtClean="0">
                                  <a:latin typeface="Cambria Math" panose="02040503050406030204" pitchFamily="18" charset="0"/>
                                  <a:ea typeface="Cambria Math" panose="02040503050406030204" pitchFamily="18" charset="0"/>
                                </a:rPr>
                                <m:t>)</m:t>
                              </m:r>
                            </m:num>
                            <m:den>
                              <m:r>
                                <a:rPr lang="es-419" sz="2200" b="0" i="1" smtClean="0">
                                  <a:latin typeface="Cambria Math" panose="02040503050406030204" pitchFamily="18" charset="0"/>
                                  <a:ea typeface="Cambria Math" panose="02040503050406030204" pitchFamily="18" charset="0"/>
                                </a:rPr>
                                <m:t>𝑛</m:t>
                              </m:r>
                            </m:den>
                          </m:f>
                        </m:e>
                      </m:rad>
                      <m:r>
                        <a:rPr lang="es-419" sz="2200" b="0" i="1" smtClean="0">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b="0" i="1" smtClean="0">
                              <a:latin typeface="Cambria Math" panose="02040503050406030204" pitchFamily="18" charset="0"/>
                              <a:ea typeface="Cambria Math" panose="02040503050406030204" pitchFamily="18" charset="0"/>
                            </a:rPr>
                            <m:t>1</m:t>
                          </m:r>
                        </m:sub>
                      </m:sSub>
                      <m:r>
                        <a:rPr lang="es-419" sz="2200" i="1">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𝑧</m:t>
                          </m:r>
                        </m:e>
                        <m:sub>
                          <m:r>
                            <a:rPr lang="es-419" sz="2200" b="0" i="1" smtClean="0">
                              <a:latin typeface="Cambria Math" panose="02040503050406030204" pitchFamily="18" charset="0"/>
                              <a:ea typeface="Cambria Math" panose="02040503050406030204" pitchFamily="18" charset="0"/>
                            </a:rPr>
                            <m:t>1−</m:t>
                          </m:r>
                          <m:r>
                            <a:rPr lang="es-419" sz="2200" b="0" i="1" smtClean="0">
                              <a:latin typeface="Cambria Math" panose="02040503050406030204" pitchFamily="18" charset="0"/>
                              <a:ea typeface="Cambria Math" panose="02040503050406030204" pitchFamily="18" charset="0"/>
                            </a:rPr>
                            <m:t>𝛽</m:t>
                          </m:r>
                        </m:sub>
                      </m:sSub>
                      <m:rad>
                        <m:radPr>
                          <m:degHide m:val="on"/>
                          <m:ctrlPr>
                            <a:rPr lang="es-419" sz="2200" i="1">
                              <a:latin typeface="Cambria Math" panose="02040503050406030204" pitchFamily="18" charset="0"/>
                              <a:ea typeface="Cambria Math" panose="02040503050406030204" pitchFamily="18" charset="0"/>
                            </a:rPr>
                          </m:ctrlPr>
                        </m:radPr>
                        <m:deg/>
                        <m:e>
                          <m:f>
                            <m:fPr>
                              <m:ctrlPr>
                                <a:rPr lang="es-419" sz="2200" i="1">
                                  <a:latin typeface="Cambria Math" panose="02040503050406030204" pitchFamily="18" charset="0"/>
                                  <a:ea typeface="Cambria Math" panose="02040503050406030204" pitchFamily="18" charset="0"/>
                                </a:rPr>
                              </m:ctrlPr>
                            </m:fPr>
                            <m:num>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b="0" i="1" smtClean="0">
                                      <a:latin typeface="Cambria Math" panose="02040503050406030204" pitchFamily="18" charset="0"/>
                                      <a:ea typeface="Cambria Math" panose="02040503050406030204" pitchFamily="18" charset="0"/>
                                    </a:rPr>
                                    <m:t>1</m:t>
                                  </m:r>
                                </m:sub>
                              </m:sSub>
                              <m:r>
                                <a:rPr lang="es-419" sz="2200" i="1">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b="0" i="1" smtClean="0">
                                      <a:latin typeface="Cambria Math" panose="02040503050406030204" pitchFamily="18" charset="0"/>
                                      <a:ea typeface="Cambria Math" panose="02040503050406030204" pitchFamily="18" charset="0"/>
                                    </a:rPr>
                                    <m:t>1</m:t>
                                  </m:r>
                                </m:sub>
                              </m:sSub>
                              <m:r>
                                <a:rPr lang="es-419" sz="2200" i="1">
                                  <a:latin typeface="Cambria Math" panose="02040503050406030204" pitchFamily="18" charset="0"/>
                                  <a:ea typeface="Cambria Math" panose="02040503050406030204" pitchFamily="18" charset="0"/>
                                </a:rPr>
                                <m:t>)</m:t>
                              </m:r>
                            </m:num>
                            <m:den>
                              <m:r>
                                <a:rPr lang="es-419" sz="2200" i="1">
                                  <a:latin typeface="Cambria Math" panose="02040503050406030204" pitchFamily="18" charset="0"/>
                                  <a:ea typeface="Cambria Math" panose="02040503050406030204" pitchFamily="18" charset="0"/>
                                </a:rPr>
                                <m:t>𝑛</m:t>
                              </m:r>
                            </m:den>
                          </m:f>
                        </m:e>
                      </m:rad>
                    </m:oMath>
                  </m:oMathPara>
                </a14:m>
                <a:endParaRPr lang="es-419" sz="2200" dirty="0">
                  <a:ea typeface="Cambria Math" panose="02040503050406030204" pitchFamily="18" charset="0"/>
                </a:endParaRPr>
              </a:p>
              <a:p>
                <a:pPr marL="0" indent="0" algn="ctr">
                  <a:lnSpc>
                    <a:spcPct val="170000"/>
                  </a:lnSpc>
                  <a:buNone/>
                </a:pPr>
                <a14:m>
                  <m:oMathPara xmlns:m="http://schemas.openxmlformats.org/officeDocument/2006/math">
                    <m:oMathParaPr>
                      <m:jc m:val="centerGroup"/>
                    </m:oMathParaPr>
                    <m:oMath xmlns:m="http://schemas.openxmlformats.org/officeDocument/2006/math">
                      <m:sSub>
                        <m:sSubPr>
                          <m:ctrlPr>
                            <a:rPr lang="es-419" sz="2200" b="0" i="1" smtClean="0">
                              <a:latin typeface="Cambria Math" panose="02040503050406030204" pitchFamily="18" charset="0"/>
                              <a:ea typeface="Cambria Math" panose="02040503050406030204" pitchFamily="18" charset="0"/>
                            </a:rPr>
                          </m:ctrlPr>
                        </m:sSubPr>
                        <m:e>
                          <m:r>
                            <a:rPr lang="es-419" sz="2200" b="0" i="1" smtClean="0">
                              <a:latin typeface="Cambria Math" panose="02040503050406030204" pitchFamily="18" charset="0"/>
                              <a:ea typeface="Cambria Math" panose="02040503050406030204" pitchFamily="18" charset="0"/>
                            </a:rPr>
                            <m:t>𝑧</m:t>
                          </m:r>
                        </m:e>
                        <m:sub>
                          <m:r>
                            <a:rPr lang="es-419" sz="2200" b="0" i="1" smtClean="0">
                              <a:latin typeface="Cambria Math" panose="02040503050406030204" pitchFamily="18" charset="0"/>
                              <a:ea typeface="Cambria Math" panose="02040503050406030204" pitchFamily="18" charset="0"/>
                            </a:rPr>
                            <m:t>𝛼</m:t>
                          </m:r>
                        </m:sub>
                      </m:sSub>
                      <m:rad>
                        <m:radPr>
                          <m:degHide m:val="on"/>
                          <m:ctrlPr>
                            <a:rPr lang="es-419" sz="2200" b="0" i="1" smtClean="0">
                              <a:latin typeface="Cambria Math" panose="02040503050406030204" pitchFamily="18" charset="0"/>
                              <a:ea typeface="Cambria Math" panose="02040503050406030204" pitchFamily="18" charset="0"/>
                            </a:rPr>
                          </m:ctrlPr>
                        </m:radPr>
                        <m:deg/>
                        <m:e>
                          <m:f>
                            <m:fPr>
                              <m:ctrlPr>
                                <a:rPr lang="es-419" sz="2200" b="0" i="1" smtClean="0">
                                  <a:latin typeface="Cambria Math" panose="02040503050406030204" pitchFamily="18" charset="0"/>
                                  <a:ea typeface="Cambria Math" panose="02040503050406030204" pitchFamily="18" charset="0"/>
                                </a:rPr>
                              </m:ctrlPr>
                            </m:fPr>
                            <m:num>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r>
                                <a:rPr lang="es-419" sz="2200" b="0" i="1" smtClean="0">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r>
                                <a:rPr lang="es-419" sz="2200" b="0" i="1" smtClean="0">
                                  <a:latin typeface="Cambria Math" panose="02040503050406030204" pitchFamily="18" charset="0"/>
                                  <a:ea typeface="Cambria Math" panose="02040503050406030204" pitchFamily="18" charset="0"/>
                                </a:rPr>
                                <m:t>)</m:t>
                              </m:r>
                            </m:num>
                            <m:den>
                              <m:r>
                                <a:rPr lang="es-419" sz="2200" b="0" i="1" smtClean="0">
                                  <a:latin typeface="Cambria Math" panose="02040503050406030204" pitchFamily="18" charset="0"/>
                                  <a:ea typeface="Cambria Math" panose="02040503050406030204" pitchFamily="18" charset="0"/>
                                </a:rPr>
                                <m:t>𝑛</m:t>
                              </m:r>
                            </m:den>
                          </m:f>
                        </m:e>
                      </m:rad>
                      <m:r>
                        <a:rPr lang="es-419" sz="2200" b="0" i="1" smtClean="0">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𝑧</m:t>
                          </m:r>
                        </m:e>
                        <m:sub>
                          <m:r>
                            <a:rPr lang="es-419" sz="2200" i="1">
                              <a:latin typeface="Cambria Math" panose="02040503050406030204" pitchFamily="18" charset="0"/>
                              <a:ea typeface="Cambria Math" panose="02040503050406030204" pitchFamily="18" charset="0"/>
                            </a:rPr>
                            <m:t>1−</m:t>
                          </m:r>
                          <m:r>
                            <a:rPr lang="es-419" sz="2200" i="1">
                              <a:latin typeface="Cambria Math" panose="02040503050406030204" pitchFamily="18" charset="0"/>
                              <a:ea typeface="Cambria Math" panose="02040503050406030204" pitchFamily="18" charset="0"/>
                            </a:rPr>
                            <m:t>𝛽</m:t>
                          </m:r>
                        </m:sub>
                      </m:sSub>
                      <m:rad>
                        <m:radPr>
                          <m:degHide m:val="on"/>
                          <m:ctrlPr>
                            <a:rPr lang="es-419" sz="2200" i="1">
                              <a:latin typeface="Cambria Math" panose="02040503050406030204" pitchFamily="18" charset="0"/>
                              <a:ea typeface="Cambria Math" panose="02040503050406030204" pitchFamily="18" charset="0"/>
                            </a:rPr>
                          </m:ctrlPr>
                        </m:radPr>
                        <m:deg/>
                        <m:e>
                          <m:f>
                            <m:fPr>
                              <m:ctrlPr>
                                <a:rPr lang="es-419" sz="2200" i="1">
                                  <a:latin typeface="Cambria Math" panose="02040503050406030204" pitchFamily="18" charset="0"/>
                                  <a:ea typeface="Cambria Math" panose="02040503050406030204" pitchFamily="18" charset="0"/>
                                </a:rPr>
                              </m:ctrlPr>
                            </m:fPr>
                            <m:num>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d>
                                <m:dPr>
                                  <m:ctrlPr>
                                    <a:rPr lang="es-419" sz="2200" i="1">
                                      <a:latin typeface="Cambria Math" panose="02040503050406030204" pitchFamily="18" charset="0"/>
                                      <a:ea typeface="Cambria Math" panose="02040503050406030204" pitchFamily="18" charset="0"/>
                                    </a:rPr>
                                  </m:ctrlPr>
                                </m:dPr>
                                <m:e>
                                  <m:r>
                                    <a:rPr lang="es-419" sz="2200" i="1">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e>
                              </m:d>
                            </m:num>
                            <m:den>
                              <m:r>
                                <a:rPr lang="es-419" sz="2200" i="1">
                                  <a:latin typeface="Cambria Math" panose="02040503050406030204" pitchFamily="18" charset="0"/>
                                  <a:ea typeface="Cambria Math" panose="02040503050406030204" pitchFamily="18" charset="0"/>
                                </a:rPr>
                                <m:t>𝑛</m:t>
                              </m:r>
                            </m:den>
                          </m:f>
                        </m:e>
                      </m:rad>
                      <m:r>
                        <a:rPr lang="es-419" sz="2200" b="0" i="1" smtClean="0">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b="0" i="1" smtClean="0">
                              <a:latin typeface="Cambria Math" panose="02040503050406030204" pitchFamily="18" charset="0"/>
                              <a:ea typeface="Cambria Math" panose="02040503050406030204" pitchFamily="18" charset="0"/>
                            </a:rPr>
                            <m:t>1</m:t>
                          </m:r>
                        </m:sub>
                      </m:sSub>
                      <m:r>
                        <a:rPr lang="es-419" sz="2200" b="0" i="1" smtClean="0">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oMath>
                  </m:oMathPara>
                </a14:m>
                <a:endParaRPr lang="es-419" sz="2200" i="1" dirty="0">
                  <a:latin typeface="Cambria Math" panose="02040503050406030204" pitchFamily="18" charset="0"/>
                  <a:ea typeface="Cambria Math" panose="02040503050406030204" pitchFamily="18" charset="0"/>
                </a:endParaRPr>
              </a:p>
              <a:p>
                <a:pPr marL="0" indent="0" algn="ctr">
                  <a:lnSpc>
                    <a:spcPct val="170000"/>
                  </a:lnSpc>
                  <a:buNone/>
                </a:pPr>
                <a14:m>
                  <m:oMathPara xmlns:m="http://schemas.openxmlformats.org/officeDocument/2006/math">
                    <m:oMathParaPr>
                      <m:jc m:val="centerGroup"/>
                    </m:oMathParaPr>
                    <m:oMath xmlns:m="http://schemas.openxmlformats.org/officeDocument/2006/math">
                      <m:f>
                        <m:fPr>
                          <m:ctrlPr>
                            <a:rPr lang="es-419" sz="2200" i="1">
                              <a:latin typeface="Cambria Math" panose="02040503050406030204" pitchFamily="18" charset="0"/>
                              <a:ea typeface="Cambria Math" panose="02040503050406030204" pitchFamily="18" charset="0"/>
                            </a:rPr>
                          </m:ctrlPr>
                        </m:fPr>
                        <m:num>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𝑧</m:t>
                              </m:r>
                            </m:e>
                            <m:sub>
                              <m:r>
                                <a:rPr lang="es-419" sz="2200" i="1">
                                  <a:latin typeface="Cambria Math" panose="02040503050406030204" pitchFamily="18" charset="0"/>
                                  <a:ea typeface="Cambria Math" panose="02040503050406030204" pitchFamily="18" charset="0"/>
                                </a:rPr>
                                <m:t>𝛼</m:t>
                              </m:r>
                            </m:sub>
                          </m:sSub>
                          <m:rad>
                            <m:radPr>
                              <m:degHide m:val="on"/>
                              <m:ctrlPr>
                                <a:rPr lang="es-419" sz="2200" i="1">
                                  <a:latin typeface="Cambria Math" panose="02040503050406030204" pitchFamily="18" charset="0"/>
                                  <a:ea typeface="Cambria Math" panose="02040503050406030204" pitchFamily="18" charset="0"/>
                                </a:rPr>
                              </m:ctrlPr>
                            </m:radPr>
                            <m:deg/>
                            <m:e>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r>
                                <a:rPr lang="es-419" sz="2200" i="1">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r>
                                <a:rPr lang="es-419" sz="2200" i="1">
                                  <a:latin typeface="Cambria Math" panose="02040503050406030204" pitchFamily="18" charset="0"/>
                                  <a:ea typeface="Cambria Math" panose="02040503050406030204" pitchFamily="18" charset="0"/>
                                </a:rPr>
                                <m:t>)</m:t>
                              </m:r>
                            </m:e>
                          </m:rad>
                          <m:r>
                            <a:rPr lang="es-419" sz="2200" i="1">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𝑧</m:t>
                              </m:r>
                            </m:e>
                            <m:sub>
                              <m:r>
                                <a:rPr lang="es-419" sz="2200" i="1">
                                  <a:latin typeface="Cambria Math" panose="02040503050406030204" pitchFamily="18" charset="0"/>
                                  <a:ea typeface="Cambria Math" panose="02040503050406030204" pitchFamily="18" charset="0"/>
                                </a:rPr>
                                <m:t>1−</m:t>
                              </m:r>
                              <m:r>
                                <a:rPr lang="es-419" sz="2200" i="1">
                                  <a:latin typeface="Cambria Math" panose="02040503050406030204" pitchFamily="18" charset="0"/>
                                  <a:ea typeface="Cambria Math" panose="02040503050406030204" pitchFamily="18" charset="0"/>
                                </a:rPr>
                                <m:t>𝛽</m:t>
                              </m:r>
                            </m:sub>
                          </m:sSub>
                          <m:rad>
                            <m:radPr>
                              <m:degHide m:val="on"/>
                              <m:ctrlPr>
                                <a:rPr lang="es-419" sz="2200" i="1">
                                  <a:latin typeface="Cambria Math" panose="02040503050406030204" pitchFamily="18" charset="0"/>
                                  <a:ea typeface="Cambria Math" panose="02040503050406030204" pitchFamily="18" charset="0"/>
                                </a:rPr>
                              </m:ctrlPr>
                            </m:radPr>
                            <m:deg/>
                            <m:e>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r>
                                <a:rPr lang="es-419" sz="2200" i="1">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r>
                                <a:rPr lang="es-419" sz="2200" i="1">
                                  <a:latin typeface="Cambria Math" panose="02040503050406030204" pitchFamily="18" charset="0"/>
                                  <a:ea typeface="Cambria Math" panose="02040503050406030204" pitchFamily="18" charset="0"/>
                                </a:rPr>
                                <m:t>)</m:t>
                              </m:r>
                            </m:e>
                          </m:rad>
                        </m:num>
                        <m:den>
                          <m:rad>
                            <m:radPr>
                              <m:degHide m:val="on"/>
                              <m:ctrlPr>
                                <a:rPr lang="es-419" sz="2200" i="1">
                                  <a:latin typeface="Cambria Math" panose="02040503050406030204" pitchFamily="18" charset="0"/>
                                  <a:ea typeface="Cambria Math" panose="02040503050406030204" pitchFamily="18" charset="0"/>
                                </a:rPr>
                              </m:ctrlPr>
                            </m:radPr>
                            <m:deg/>
                            <m:e>
                              <m:r>
                                <a:rPr lang="es-419" sz="2200" i="1">
                                  <a:latin typeface="Cambria Math" panose="02040503050406030204" pitchFamily="18" charset="0"/>
                                  <a:ea typeface="Cambria Math" panose="02040503050406030204" pitchFamily="18" charset="0"/>
                                </a:rPr>
                                <m:t>𝑛</m:t>
                              </m:r>
                            </m:e>
                          </m:rad>
                        </m:den>
                      </m:f>
                      <m:r>
                        <a:rPr lang="es-419" sz="2200" i="1">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r>
                        <a:rPr lang="es-419" sz="2200" i="1">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oMath>
                  </m:oMathPara>
                </a14:m>
                <a:endParaRPr lang="es-419" sz="2200" i="1" dirty="0">
                  <a:latin typeface="Cambria Math" panose="02040503050406030204" pitchFamily="18" charset="0"/>
                  <a:ea typeface="Cambria Math" panose="02040503050406030204" pitchFamily="18" charset="0"/>
                </a:endParaRPr>
              </a:p>
              <a:p>
                <a:pPr marL="0" indent="0" algn="ctr">
                  <a:lnSpc>
                    <a:spcPct val="170000"/>
                  </a:lnSpc>
                  <a:buNone/>
                </a:pPr>
                <a14:m>
                  <m:oMathPara xmlns:m="http://schemas.openxmlformats.org/officeDocument/2006/math">
                    <m:oMathParaPr>
                      <m:jc m:val="centerGroup"/>
                    </m:oMathParaPr>
                    <m:oMath xmlns:m="http://schemas.openxmlformats.org/officeDocument/2006/math">
                      <m:r>
                        <a:rPr lang="es-419" sz="2200" b="0" i="1" smtClean="0">
                          <a:latin typeface="Cambria Math" panose="02040503050406030204" pitchFamily="18" charset="0"/>
                        </a:rPr>
                        <m:t>𝑛</m:t>
                      </m:r>
                      <m:r>
                        <a:rPr lang="es-419" sz="2200" b="0" i="1" smtClean="0">
                          <a:latin typeface="Cambria Math" panose="02040503050406030204" pitchFamily="18" charset="0"/>
                        </a:rPr>
                        <m:t>=</m:t>
                      </m:r>
                      <m:sSup>
                        <m:sSupPr>
                          <m:ctrlPr>
                            <a:rPr lang="es-419" sz="2200" b="0" i="1" smtClean="0">
                              <a:latin typeface="Cambria Math" panose="02040503050406030204" pitchFamily="18" charset="0"/>
                            </a:rPr>
                          </m:ctrlPr>
                        </m:sSupPr>
                        <m:e>
                          <m:r>
                            <a:rPr lang="es-419" sz="2200" i="1">
                              <a:latin typeface="Cambria Math" panose="02040503050406030204" pitchFamily="18" charset="0"/>
                              <a:ea typeface="Cambria Math" panose="02040503050406030204" pitchFamily="18" charset="0"/>
                            </a:rPr>
                            <m:t>[</m:t>
                          </m:r>
                          <m:f>
                            <m:fPr>
                              <m:ctrlPr>
                                <a:rPr lang="es-419" sz="2200" i="1">
                                  <a:latin typeface="Cambria Math" panose="02040503050406030204" pitchFamily="18" charset="0"/>
                                  <a:ea typeface="Cambria Math" panose="02040503050406030204" pitchFamily="18" charset="0"/>
                                </a:rPr>
                              </m:ctrlPr>
                            </m:fPr>
                            <m:num>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𝑧</m:t>
                                  </m:r>
                                </m:e>
                                <m:sub>
                                  <m:r>
                                    <a:rPr lang="es-419" sz="2200" i="1">
                                      <a:latin typeface="Cambria Math" panose="02040503050406030204" pitchFamily="18" charset="0"/>
                                      <a:ea typeface="Cambria Math" panose="02040503050406030204" pitchFamily="18" charset="0"/>
                                    </a:rPr>
                                    <m:t>𝛼</m:t>
                                  </m:r>
                                </m:sub>
                              </m:sSub>
                              <m:rad>
                                <m:radPr>
                                  <m:degHide m:val="on"/>
                                  <m:ctrlPr>
                                    <a:rPr lang="es-419" sz="2200" i="1">
                                      <a:latin typeface="Cambria Math" panose="02040503050406030204" pitchFamily="18" charset="0"/>
                                      <a:ea typeface="Cambria Math" panose="02040503050406030204" pitchFamily="18" charset="0"/>
                                    </a:rPr>
                                  </m:ctrlPr>
                                </m:radPr>
                                <m:deg/>
                                <m:e>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d>
                                    <m:dPr>
                                      <m:ctrlPr>
                                        <a:rPr lang="es-419" sz="2200" i="1">
                                          <a:latin typeface="Cambria Math" panose="02040503050406030204" pitchFamily="18" charset="0"/>
                                          <a:ea typeface="Cambria Math" panose="02040503050406030204" pitchFamily="18" charset="0"/>
                                        </a:rPr>
                                      </m:ctrlPr>
                                    </m:dPr>
                                    <m:e>
                                      <m:r>
                                        <a:rPr lang="es-419" sz="2200" i="1">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e>
                                  </m:d>
                                </m:e>
                              </m:rad>
                              <m:r>
                                <a:rPr lang="es-419" sz="2200" i="1">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𝑧</m:t>
                                  </m:r>
                                </m:e>
                                <m:sub>
                                  <m:r>
                                    <a:rPr lang="es-419" sz="2200" i="1">
                                      <a:latin typeface="Cambria Math" panose="02040503050406030204" pitchFamily="18" charset="0"/>
                                      <a:ea typeface="Cambria Math" panose="02040503050406030204" pitchFamily="18" charset="0"/>
                                    </a:rPr>
                                    <m:t>1−</m:t>
                                  </m:r>
                                  <m:r>
                                    <a:rPr lang="es-419" sz="2200" i="1">
                                      <a:latin typeface="Cambria Math" panose="02040503050406030204" pitchFamily="18" charset="0"/>
                                      <a:ea typeface="Cambria Math" panose="02040503050406030204" pitchFamily="18" charset="0"/>
                                    </a:rPr>
                                    <m:t>𝛽</m:t>
                                  </m:r>
                                </m:sub>
                              </m:sSub>
                              <m:rad>
                                <m:radPr>
                                  <m:degHide m:val="on"/>
                                  <m:ctrlPr>
                                    <a:rPr lang="es-419" sz="2200" i="1">
                                      <a:latin typeface="Cambria Math" panose="02040503050406030204" pitchFamily="18" charset="0"/>
                                      <a:ea typeface="Cambria Math" panose="02040503050406030204" pitchFamily="18" charset="0"/>
                                    </a:rPr>
                                  </m:ctrlPr>
                                </m:radPr>
                                <m:deg/>
                                <m:e>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d>
                                    <m:dPr>
                                      <m:ctrlPr>
                                        <a:rPr lang="es-419" sz="2200" i="1">
                                          <a:latin typeface="Cambria Math" panose="02040503050406030204" pitchFamily="18" charset="0"/>
                                          <a:ea typeface="Cambria Math" panose="02040503050406030204" pitchFamily="18" charset="0"/>
                                        </a:rPr>
                                      </m:ctrlPr>
                                    </m:dPr>
                                    <m:e>
                                      <m:r>
                                        <a:rPr lang="es-419" sz="2200" i="1">
                                          <a:latin typeface="Cambria Math" panose="02040503050406030204" pitchFamily="18" charset="0"/>
                                          <a:ea typeface="Cambria Math" panose="02040503050406030204" pitchFamily="18" charset="0"/>
                                        </a:rPr>
                                        <m:t>1−</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e>
                                  </m:d>
                                </m:e>
                              </m:rad>
                            </m:num>
                            <m:den>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1</m:t>
                                  </m:r>
                                </m:sub>
                              </m:sSub>
                              <m:r>
                                <a:rPr lang="es-419" sz="2200" i="1">
                                  <a:latin typeface="Cambria Math" panose="02040503050406030204" pitchFamily="18" charset="0"/>
                                  <a:ea typeface="Cambria Math" panose="02040503050406030204" pitchFamily="18" charset="0"/>
                                </a:rPr>
                                <m:t>−</m:t>
                              </m:r>
                              <m:sSub>
                                <m:sSubPr>
                                  <m:ctrlPr>
                                    <a:rPr lang="es-419" sz="2200" i="1">
                                      <a:latin typeface="Cambria Math" panose="02040503050406030204" pitchFamily="18" charset="0"/>
                                      <a:ea typeface="Cambria Math" panose="02040503050406030204" pitchFamily="18" charset="0"/>
                                    </a:rPr>
                                  </m:ctrlPr>
                                </m:sSubPr>
                                <m:e>
                                  <m:r>
                                    <a:rPr lang="es-419" sz="2200" i="1">
                                      <a:latin typeface="Cambria Math" panose="02040503050406030204" pitchFamily="18" charset="0"/>
                                      <a:ea typeface="Cambria Math" panose="02040503050406030204" pitchFamily="18" charset="0"/>
                                    </a:rPr>
                                    <m:t>𝑝</m:t>
                                  </m:r>
                                </m:e>
                                <m:sub>
                                  <m:r>
                                    <a:rPr lang="es-419" sz="2200" i="1">
                                      <a:latin typeface="Cambria Math" panose="02040503050406030204" pitchFamily="18" charset="0"/>
                                      <a:ea typeface="Cambria Math" panose="02040503050406030204" pitchFamily="18" charset="0"/>
                                    </a:rPr>
                                    <m:t>0</m:t>
                                  </m:r>
                                </m:sub>
                              </m:sSub>
                            </m:den>
                          </m:f>
                          <m:r>
                            <a:rPr lang="es-419" sz="2200" i="1">
                              <a:latin typeface="Cambria Math" panose="02040503050406030204" pitchFamily="18" charset="0"/>
                              <a:ea typeface="Cambria Math" panose="02040503050406030204" pitchFamily="18" charset="0"/>
                            </a:rPr>
                            <m:t>]</m:t>
                          </m:r>
                          <m:r>
                            <m:rPr>
                              <m:nor/>
                            </m:rPr>
                            <a:rPr lang="es-419" sz="2200" dirty="0"/>
                            <m:t> </m:t>
                          </m:r>
                        </m:e>
                        <m:sup>
                          <m:r>
                            <a:rPr lang="es-419" sz="2200" b="0" i="1" smtClean="0">
                              <a:latin typeface="Cambria Math" panose="02040503050406030204" pitchFamily="18" charset="0"/>
                            </a:rPr>
                            <m:t>2</m:t>
                          </m:r>
                        </m:sup>
                      </m:sSup>
                    </m:oMath>
                  </m:oMathPara>
                </a14:m>
                <a:endParaRPr lang="es-419" sz="2200" dirty="0"/>
              </a:p>
              <a:p>
                <a:pPr marL="0" indent="0" algn="ctr">
                  <a:lnSpc>
                    <a:spcPct val="170000"/>
                  </a:lnSpc>
                  <a:buNone/>
                </a:pPr>
                <a:endParaRPr lang="es-419" dirty="0"/>
              </a:p>
            </p:txBody>
          </p:sp>
        </mc:Choice>
        <mc:Fallback xmlns="">
          <p:sp>
            <p:nvSpPr>
              <p:cNvPr id="3" name="Content Placeholder 2">
                <a:extLst>
                  <a:ext uri="{FF2B5EF4-FFF2-40B4-BE49-F238E27FC236}">
                    <a16:creationId xmlns:a16="http://schemas.microsoft.com/office/drawing/2014/main" id="{5FF01FCA-855B-4DA4-B864-3D93B9A664A7}"/>
                  </a:ext>
                </a:extLst>
              </p:cNvPr>
              <p:cNvSpPr>
                <a:spLocks noGrp="1" noRot="1" noChangeAspect="1" noMove="1" noResize="1" noEditPoints="1" noAdjustHandles="1" noChangeArrowheads="1" noChangeShapeType="1" noTextEdit="1"/>
              </p:cNvSpPr>
              <p:nvPr>
                <p:ph idx="1"/>
              </p:nvPr>
            </p:nvSpPr>
            <p:spPr>
              <a:xfrm>
                <a:off x="838200" y="749508"/>
                <a:ext cx="10515600" cy="5427455"/>
              </a:xfrm>
              <a:blipFill>
                <a:blip r:embed="rId2"/>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22877141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11.32</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es-ES" sz="1100" dirty="0">
                <a:latin typeface="Consolas" panose="020B0609020204030204" pitchFamily="49" charset="0"/>
              </a:rPr>
              <a:t>&gt; p_0 &lt;- 0.10</a:t>
            </a:r>
          </a:p>
          <a:p>
            <a:pPr marL="0" indent="0">
              <a:buNone/>
            </a:pPr>
            <a:r>
              <a:rPr lang="es-ES" sz="1100" dirty="0">
                <a:latin typeface="Consolas" panose="020B0609020204030204" pitchFamily="49" charset="0"/>
              </a:rPr>
              <a:t>&gt; a &lt;- 0.01</a:t>
            </a:r>
          </a:p>
          <a:p>
            <a:pPr marL="0" indent="0">
              <a:buNone/>
            </a:pPr>
            <a:r>
              <a:rPr lang="es-ES" sz="1100" dirty="0">
                <a:latin typeface="Consolas" panose="020B0609020204030204" pitchFamily="49" charset="0"/>
              </a:rPr>
              <a:t>&gt; b &lt;- 0.0322</a:t>
            </a:r>
          </a:p>
          <a:p>
            <a:pPr marL="0" indent="0">
              <a:buNone/>
            </a:pPr>
            <a:r>
              <a:rPr lang="es-ES" sz="1100" dirty="0">
                <a:latin typeface="Consolas" panose="020B0609020204030204" pitchFamily="49" charset="0"/>
              </a:rPr>
              <a:t>&gt; </a:t>
            </a:r>
            <a:r>
              <a:rPr lang="es-ES" sz="1100" dirty="0" err="1">
                <a:latin typeface="Consolas" panose="020B0609020204030204" pitchFamily="49" charset="0"/>
              </a:rPr>
              <a:t>p_v</a:t>
            </a:r>
            <a:r>
              <a:rPr lang="es-ES" sz="1100" dirty="0">
                <a:latin typeface="Consolas" panose="020B0609020204030204" pitchFamily="49" charset="0"/>
              </a:rPr>
              <a:t> &lt;- 0.50</a:t>
            </a:r>
          </a:p>
          <a:p>
            <a:pPr marL="0" indent="0">
              <a:buNone/>
            </a:pPr>
            <a:r>
              <a:rPr lang="es-ES" sz="1100" dirty="0">
                <a:latin typeface="Consolas" panose="020B0609020204030204" pitchFamily="49" charset="0"/>
              </a:rPr>
              <a:t>&gt; #H0: p = 0.10 | H1: p &gt; 0.10</a:t>
            </a:r>
          </a:p>
          <a:p>
            <a:pPr marL="0" indent="0">
              <a:buNone/>
            </a:pPr>
            <a:r>
              <a:rPr lang="es-ES" sz="1100" dirty="0">
                <a:latin typeface="Consolas" panose="020B0609020204030204" pitchFamily="49" charset="0"/>
              </a:rPr>
              <a:t>&gt; #B = P(</a:t>
            </a:r>
            <a:r>
              <a:rPr lang="es-ES" sz="1100" dirty="0" err="1">
                <a:latin typeface="Consolas" panose="020B0609020204030204" pitchFamily="49" charset="0"/>
              </a:rPr>
              <a:t>p_hat</a:t>
            </a:r>
            <a:r>
              <a:rPr lang="es-ES" sz="1100" dirty="0">
                <a:latin typeface="Consolas" panose="020B0609020204030204" pitchFamily="49" charset="0"/>
              </a:rPr>
              <a:t> &lt; h | p = 0.50)</a:t>
            </a:r>
          </a:p>
          <a:p>
            <a:pPr marL="0" indent="0">
              <a:buNone/>
            </a:pPr>
            <a:endParaRPr lang="es-ES" sz="1100" dirty="0">
              <a:latin typeface="Consolas" panose="020B0609020204030204" pitchFamily="49" charset="0"/>
            </a:endParaRPr>
          </a:p>
          <a:p>
            <a:pPr marL="0" indent="0">
              <a:buNone/>
            </a:pPr>
            <a:r>
              <a:rPr lang="es-ES" sz="1100" dirty="0">
                <a:latin typeface="Consolas" panose="020B0609020204030204" pitchFamily="49" charset="0"/>
              </a:rPr>
              <a:t>&gt; n &lt;- ((</a:t>
            </a:r>
            <a:r>
              <a:rPr lang="es-ES" sz="1100" dirty="0" err="1">
                <a:latin typeface="Consolas" panose="020B0609020204030204" pitchFamily="49" charset="0"/>
              </a:rPr>
              <a:t>qnorm</a:t>
            </a:r>
            <a:r>
              <a:rPr lang="es-ES" sz="1100" dirty="0">
                <a:latin typeface="Consolas" panose="020B0609020204030204" pitchFamily="49" charset="0"/>
              </a:rPr>
              <a:t>(a, </a:t>
            </a:r>
            <a:r>
              <a:rPr lang="es-ES" sz="1100" dirty="0" err="1">
                <a:latin typeface="Consolas" panose="020B0609020204030204" pitchFamily="49" charset="0"/>
              </a:rPr>
              <a:t>lower.tail</a:t>
            </a:r>
            <a:r>
              <a:rPr lang="es-ES" sz="1100" dirty="0">
                <a:latin typeface="Consolas" panose="020B0609020204030204" pitchFamily="49" charset="0"/>
              </a:rPr>
              <a:t> = FALSE)*</a:t>
            </a:r>
            <a:r>
              <a:rPr lang="es-ES" sz="1100" dirty="0" err="1">
                <a:latin typeface="Consolas" panose="020B0609020204030204" pitchFamily="49" charset="0"/>
              </a:rPr>
              <a:t>sqrt</a:t>
            </a:r>
            <a:r>
              <a:rPr lang="es-ES" sz="1100" dirty="0">
                <a:latin typeface="Consolas" panose="020B0609020204030204" pitchFamily="49" charset="0"/>
              </a:rPr>
              <a:t>(p_0*(1-p_0)) - </a:t>
            </a:r>
            <a:r>
              <a:rPr lang="es-ES" sz="1100" dirty="0" err="1">
                <a:latin typeface="Consolas" panose="020B0609020204030204" pitchFamily="49" charset="0"/>
              </a:rPr>
              <a:t>qnorm</a:t>
            </a:r>
            <a:r>
              <a:rPr lang="es-ES" sz="1100" dirty="0">
                <a:latin typeface="Consolas" panose="020B0609020204030204" pitchFamily="49" charset="0"/>
              </a:rPr>
              <a:t>(1-b, </a:t>
            </a:r>
            <a:r>
              <a:rPr lang="es-ES" sz="1100" dirty="0" err="1">
                <a:latin typeface="Consolas" panose="020B0609020204030204" pitchFamily="49" charset="0"/>
              </a:rPr>
              <a:t>lower.tail</a:t>
            </a:r>
            <a:r>
              <a:rPr lang="es-ES" sz="1100" dirty="0">
                <a:latin typeface="Consolas" panose="020B0609020204030204" pitchFamily="49" charset="0"/>
              </a:rPr>
              <a:t> = FALSE)*</a:t>
            </a:r>
            <a:r>
              <a:rPr lang="es-ES" sz="1100" dirty="0" err="1">
                <a:latin typeface="Consolas" panose="020B0609020204030204" pitchFamily="49" charset="0"/>
              </a:rPr>
              <a:t>sqrt</a:t>
            </a:r>
            <a:r>
              <a:rPr lang="es-ES" sz="1100" dirty="0">
                <a:latin typeface="Consolas" panose="020B0609020204030204" pitchFamily="49" charset="0"/>
              </a:rPr>
              <a:t>(</a:t>
            </a:r>
            <a:r>
              <a:rPr lang="es-ES" sz="1100" dirty="0" err="1">
                <a:latin typeface="Consolas" panose="020B0609020204030204" pitchFamily="49" charset="0"/>
              </a:rPr>
              <a:t>p_v</a:t>
            </a:r>
            <a:r>
              <a:rPr lang="es-ES" sz="1100" dirty="0">
                <a:latin typeface="Consolas" panose="020B0609020204030204" pitchFamily="49" charset="0"/>
              </a:rPr>
              <a:t>*(1 - </a:t>
            </a:r>
            <a:r>
              <a:rPr lang="es-ES" sz="1100" dirty="0" err="1">
                <a:latin typeface="Consolas" panose="020B0609020204030204" pitchFamily="49" charset="0"/>
              </a:rPr>
              <a:t>p_v</a:t>
            </a:r>
            <a:r>
              <a:rPr lang="es-ES" sz="1100" dirty="0">
                <a:latin typeface="Consolas" panose="020B0609020204030204" pitchFamily="49" charset="0"/>
              </a:rPr>
              <a:t>)))/(</a:t>
            </a:r>
            <a:r>
              <a:rPr lang="es-ES" sz="1100" dirty="0" err="1">
                <a:latin typeface="Consolas" panose="020B0609020204030204" pitchFamily="49" charset="0"/>
              </a:rPr>
              <a:t>p_v</a:t>
            </a:r>
            <a:r>
              <a:rPr lang="es-ES" sz="1100" dirty="0">
                <a:latin typeface="Consolas" panose="020B0609020204030204" pitchFamily="49" charset="0"/>
              </a:rPr>
              <a:t> - p_0))^2</a:t>
            </a:r>
          </a:p>
          <a:p>
            <a:pPr marL="0" indent="0">
              <a:buNone/>
            </a:pPr>
            <a:r>
              <a:rPr lang="es-ES" sz="1100" dirty="0">
                <a:latin typeface="Consolas" panose="020B0609020204030204" pitchFamily="49" charset="0"/>
              </a:rPr>
              <a:t>&gt; n</a:t>
            </a:r>
          </a:p>
          <a:p>
            <a:pPr marL="0" indent="0">
              <a:buNone/>
            </a:pPr>
            <a:r>
              <a:rPr lang="es-ES" sz="1100" dirty="0">
                <a:highlight>
                  <a:srgbClr val="FFFF00"/>
                </a:highlight>
                <a:latin typeface="Consolas" panose="020B0609020204030204" pitchFamily="49" charset="0"/>
              </a:rPr>
              <a:t>[1] 16.45529</a:t>
            </a:r>
          </a:p>
          <a:p>
            <a:pPr marL="0" indent="0">
              <a:buNone/>
            </a:pPr>
            <a:endParaRPr lang="es-ES" sz="1100" dirty="0">
              <a:latin typeface="Consolas" panose="020B0609020204030204" pitchFamily="49" charset="0"/>
            </a:endParaRPr>
          </a:p>
          <a:p>
            <a:pPr marL="0" indent="0">
              <a:buNone/>
            </a:pPr>
            <a:r>
              <a:rPr lang="es-ES" sz="1100" dirty="0">
                <a:latin typeface="Consolas" panose="020B0609020204030204" pitchFamily="49" charset="0"/>
              </a:rPr>
              <a:t>&gt; round(n, </a:t>
            </a:r>
            <a:r>
              <a:rPr lang="es-ES" sz="1100" dirty="0" err="1">
                <a:latin typeface="Consolas" panose="020B0609020204030204" pitchFamily="49" charset="0"/>
              </a:rPr>
              <a:t>digits</a:t>
            </a:r>
            <a:r>
              <a:rPr lang="es-ES" sz="1100" dirty="0">
                <a:latin typeface="Consolas" panose="020B0609020204030204" pitchFamily="49" charset="0"/>
              </a:rPr>
              <a:t> = 0)</a:t>
            </a:r>
          </a:p>
          <a:p>
            <a:pPr marL="0" indent="0">
              <a:buNone/>
            </a:pPr>
            <a:r>
              <a:rPr lang="es-ES" sz="1100" dirty="0">
                <a:latin typeface="Consolas" panose="020B0609020204030204" pitchFamily="49" charset="0"/>
              </a:rPr>
              <a:t>[1] 16</a:t>
            </a:r>
          </a:p>
          <a:p>
            <a:pPr marL="0" indent="0">
              <a:buNone/>
            </a:pPr>
            <a:r>
              <a:rPr lang="es-ES" sz="1100" dirty="0">
                <a:latin typeface="Consolas" panose="020B0609020204030204" pitchFamily="49" charset="0"/>
              </a:rPr>
              <a:t>&gt; </a:t>
            </a:r>
            <a:r>
              <a:rPr lang="es-ES" sz="1100" dirty="0" err="1">
                <a:latin typeface="Consolas" panose="020B0609020204030204" pitchFamily="49" charset="0"/>
              </a:rPr>
              <a:t>ceiling</a:t>
            </a:r>
            <a:r>
              <a:rPr lang="es-ES" sz="1100" dirty="0">
                <a:latin typeface="Consolas" panose="020B0609020204030204" pitchFamily="49" charset="0"/>
              </a:rPr>
              <a:t>(n)</a:t>
            </a:r>
          </a:p>
          <a:p>
            <a:pPr marL="0" indent="0">
              <a:buNone/>
            </a:pPr>
            <a:r>
              <a:rPr lang="es-ES" sz="1100" dirty="0">
                <a:highlight>
                  <a:srgbClr val="FFFF00"/>
                </a:highlight>
                <a:latin typeface="Consolas" panose="020B0609020204030204" pitchFamily="49" charset="0"/>
              </a:rPr>
              <a:t>[1] 17</a:t>
            </a:r>
          </a:p>
        </p:txBody>
      </p:sp>
    </p:spTree>
    <p:extLst>
      <p:ext uri="{BB962C8B-B14F-4D97-AF65-F5344CB8AC3E}">
        <p14:creationId xmlns:p14="http://schemas.microsoft.com/office/powerpoint/2010/main" val="39462147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88FDA7-7F95-48AB-BA14-43466AAD17C7}"/>
              </a:ext>
            </a:extLst>
          </p:cNvPr>
          <p:cNvSpPr>
            <a:spLocks noGrp="1"/>
          </p:cNvSpPr>
          <p:nvPr>
            <p:ph type="title"/>
          </p:nvPr>
        </p:nvSpPr>
        <p:spPr/>
        <p:txBody>
          <a:bodyPr>
            <a:normAutofit/>
          </a:bodyPr>
          <a:lstStyle/>
          <a:p>
            <a:r>
              <a:rPr lang="es-419" sz="4800" dirty="0"/>
              <a:t>Contraste para diferencia de proporciones poblacionales</a:t>
            </a:r>
          </a:p>
        </p:txBody>
      </p:sp>
      <p:sp>
        <p:nvSpPr>
          <p:cNvPr id="5" name="Text Placeholder 4">
            <a:extLst>
              <a:ext uri="{FF2B5EF4-FFF2-40B4-BE49-F238E27FC236}">
                <a16:creationId xmlns:a16="http://schemas.microsoft.com/office/drawing/2014/main" id="{F39C5933-CAFC-46D8-AC24-39A264C2D41F}"/>
              </a:ext>
            </a:extLst>
          </p:cNvPr>
          <p:cNvSpPr>
            <a:spLocks noGrp="1"/>
          </p:cNvSpPr>
          <p:nvPr>
            <p:ph type="body" idx="1"/>
          </p:nvPr>
        </p:nvSpPr>
        <p:spPr/>
        <p:txBody>
          <a:bodyPr/>
          <a:lstStyle/>
          <a:p>
            <a:r>
              <a:rPr lang="es-419" dirty="0"/>
              <a:t>Fórmulas y variantes</a:t>
            </a:r>
          </a:p>
        </p:txBody>
      </p:sp>
    </p:spTree>
    <p:extLst>
      <p:ext uri="{BB962C8B-B14F-4D97-AF65-F5344CB8AC3E}">
        <p14:creationId xmlns:p14="http://schemas.microsoft.com/office/powerpoint/2010/main" val="18682022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diferencia de proporciones poblacionales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a:lnSpc>
                    <a:spcPct val="150000"/>
                  </a:lnSpc>
                </a:pPr>
                <a:r>
                  <a:rPr lang="es-419" dirty="0">
                    <a:ea typeface="Cambria Math" panose="02040503050406030204" pitchFamily="18" charset="0"/>
                  </a:rPr>
                  <a:t>Conociendo la distribución del estadístico </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smtClean="0">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b="0" i="1" smtClean="0">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𝑁</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r>
                            <a:rPr lang="es-419" b="0" i="1" smtClean="0">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r>
                            <a:rPr lang="es-419" b="0" i="1" smtClean="0">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r>
                        <a:rPr lang="es-419" i="1">
                          <a:latin typeface="Cambria Math" panose="02040503050406030204" pitchFamily="18" charset="0"/>
                          <a:ea typeface="Cambria Math" panose="02040503050406030204" pitchFamily="18" charset="0"/>
                        </a:rPr>
                        <m:t>)</m:t>
                      </m:r>
                    </m:oMath>
                  </m:oMathPara>
                </a14:m>
                <a:endParaRPr lang="es-419" i="1" dirty="0">
                  <a:latin typeface="Cambria Math" panose="02040503050406030204" pitchFamily="18" charset="0"/>
                </a:endParaRPr>
              </a:p>
              <a:p>
                <a:pPr>
                  <a:lnSpc>
                    <a:spcPct val="150000"/>
                  </a:lnSpc>
                </a:pPr>
                <a:r>
                  <a:rPr lang="es-419" dirty="0">
                    <a:latin typeface="Cambria Math" panose="02040503050406030204" pitchFamily="18" charset="0"/>
                  </a:rPr>
                  <a:t>Planteamos un contraste genérico</a:t>
                </a:r>
              </a:p>
              <a:p>
                <a:pPr lvl="1">
                  <a:lnSpc>
                    <a:spcPct val="150000"/>
                  </a:lnSpc>
                </a:pPr>
                <a14:m>
                  <m:oMath xmlns:m="http://schemas.openxmlformats.org/officeDocument/2006/math">
                    <m:sSub>
                      <m:sSubPr>
                        <m:ctrlPr>
                          <a:rPr lang="es-419" i="1" smtClean="0">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0</m:t>
                        </m:r>
                      </m:sub>
                    </m:sSub>
                    <m:r>
                      <a:rPr lang="es-419" i="1">
                        <a:latin typeface="Cambria Math" panose="02040503050406030204" pitchFamily="18" charset="0"/>
                      </a:rPr>
                      <m:t>:</m:t>
                    </m:r>
                    <m:sSub>
                      <m:sSubPr>
                        <m:ctrlPr>
                          <a:rPr lang="es-419" i="1" smtClean="0">
                            <a:latin typeface="Cambria Math" panose="02040503050406030204" pitchFamily="18" charset="0"/>
                          </a:rPr>
                        </m:ctrlPr>
                      </m:sSubPr>
                      <m:e>
                        <m:r>
                          <a:rPr lang="es-419" b="0" i="1" smtClean="0">
                            <a:latin typeface="Cambria Math" panose="02040503050406030204" pitchFamily="18" charset="0"/>
                          </a:rPr>
                          <m:t>𝑝</m:t>
                        </m:r>
                      </m:e>
                      <m:sub>
                        <m:r>
                          <a:rPr lang="es-419" b="0" i="1" smtClean="0">
                            <a:latin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b="0" i="1" smtClean="0">
                            <a:latin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𝑥</m:t>
                        </m:r>
                      </m:sub>
                    </m:sSub>
                    <m:r>
                      <a:rPr lang="es-419" b="0" i="1" smtClean="0">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=0</m:t>
                    </m:r>
                  </m:oMath>
                </a14:m>
                <a:endParaRPr lang="es-419" i="1" dirty="0">
                  <a:latin typeface="Cambria Math" panose="02040503050406030204" pitchFamily="18" charset="0"/>
                  <a:ea typeface="Cambria Math" panose="02040503050406030204" pitchFamily="18" charset="0"/>
                </a:endParaRPr>
              </a:p>
              <a:p>
                <a:pPr lvl="1">
                  <a:lnSpc>
                    <a:spcPct val="150000"/>
                  </a:lnSpc>
                </a:pPr>
                <a14:m>
                  <m:oMath xmlns:m="http://schemas.openxmlformats.org/officeDocument/2006/math">
                    <m:sSub>
                      <m:sSubPr>
                        <m:ctrlPr>
                          <a:rPr lang="es-419" i="1">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1</m:t>
                        </m:r>
                      </m:sub>
                    </m:sSub>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𝑥</m:t>
                        </m:r>
                      </m:sub>
                    </m:sSub>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𝑥</m:t>
                        </m:r>
                      </m:sub>
                    </m:sSub>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𝑝</m:t>
                        </m:r>
                      </m:e>
                      <m:sub>
                        <m:r>
                          <a:rPr lang="es-419" i="1">
                            <a:latin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≠0</m:t>
                    </m:r>
                  </m:oMath>
                </a14:m>
                <a:endParaRPr lang="es-419" i="1" dirty="0">
                  <a:latin typeface="Cambria Math" panose="02040503050406030204" pitchFamily="18" charset="0"/>
                  <a:ea typeface="Cambria Math" panose="02040503050406030204" pitchFamily="18" charset="0"/>
                </a:endParaRPr>
              </a:p>
              <a:p>
                <a:pPr>
                  <a:lnSpc>
                    <a:spcPct val="150000"/>
                  </a:lnSpc>
                </a:pPr>
                <a:r>
                  <a:rPr lang="es-419" dirty="0">
                    <a:latin typeface="Cambria Math" panose="02040503050406030204" pitchFamily="18" charset="0"/>
                  </a:rPr>
                  <a:t>Evaluado mediante el estadístico de prueba</a:t>
                </a:r>
                <a:endParaRPr lang="es-419" i="1" dirty="0">
                  <a:latin typeface="Cambria Math" panose="02040503050406030204" pitchFamily="18" charset="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a:latin typeface="Cambria Math" panose="02040503050406030204" pitchFamily="18" charset="0"/>
                            </a:rPr>
                          </m:ctrlPr>
                        </m:accPr>
                        <m:e>
                          <m:r>
                            <a:rPr lang="es-419" i="1">
                              <a:latin typeface="Cambria Math" panose="02040503050406030204" pitchFamily="18" charset="0"/>
                            </a:rPr>
                            <m:t>𝑍</m:t>
                          </m:r>
                        </m:e>
                      </m:acc>
                      <m:r>
                        <a:rPr lang="es-419" b="0" i="1" smtClean="0">
                          <a:latin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r>
                            <a:rPr lang="es-419" i="1">
                              <a:latin typeface="Cambria Math" panose="02040503050406030204" pitchFamily="18" charset="0"/>
                              <a:ea typeface="Cambria Math" panose="02040503050406030204" pitchFamily="18" charset="0"/>
                            </a:rPr>
                            <m:t>)−</m:t>
                          </m:r>
                          <m:r>
                            <a:rPr lang="es-419" i="1" smtClean="0">
                              <a:solidFill>
                                <a:srgbClr val="003A5D"/>
                              </a:solidFill>
                              <a:latin typeface="Cambria Math" panose="02040503050406030204" pitchFamily="18" charset="0"/>
                              <a:ea typeface="Cambria Math" panose="02040503050406030204" pitchFamily="18" charset="0"/>
                            </a:rPr>
                            <m:t>(</m:t>
                          </m:r>
                          <m:sSub>
                            <m:sSubPr>
                              <m:ctrlPr>
                                <a:rPr lang="es-419" i="1">
                                  <a:solidFill>
                                    <a:srgbClr val="003A5D"/>
                                  </a:solidFill>
                                  <a:latin typeface="Cambria Math" panose="02040503050406030204" pitchFamily="18" charset="0"/>
                                  <a:ea typeface="Cambria Math" panose="02040503050406030204" pitchFamily="18" charset="0"/>
                                </a:rPr>
                              </m:ctrlPr>
                            </m:sSubPr>
                            <m:e>
                              <m:r>
                                <a:rPr lang="es-419" i="1">
                                  <a:solidFill>
                                    <a:srgbClr val="003A5D"/>
                                  </a:solidFill>
                                  <a:latin typeface="Cambria Math" panose="02040503050406030204" pitchFamily="18" charset="0"/>
                                  <a:ea typeface="Cambria Math" panose="02040503050406030204" pitchFamily="18" charset="0"/>
                                </a:rPr>
                                <m:t>𝑝</m:t>
                              </m:r>
                            </m:e>
                            <m:sub>
                              <m:r>
                                <a:rPr lang="es-419" i="1">
                                  <a:solidFill>
                                    <a:srgbClr val="003A5D"/>
                                  </a:solidFill>
                                  <a:latin typeface="Cambria Math" panose="02040503050406030204" pitchFamily="18" charset="0"/>
                                  <a:ea typeface="Cambria Math" panose="02040503050406030204" pitchFamily="18" charset="0"/>
                                </a:rPr>
                                <m:t>𝑥</m:t>
                              </m:r>
                            </m:sub>
                          </m:sSub>
                          <m:r>
                            <a:rPr lang="es-419" i="1">
                              <a:solidFill>
                                <a:srgbClr val="003A5D"/>
                              </a:solidFill>
                              <a:latin typeface="Cambria Math" panose="02040503050406030204" pitchFamily="18" charset="0"/>
                              <a:ea typeface="Cambria Math" panose="02040503050406030204" pitchFamily="18" charset="0"/>
                            </a:rPr>
                            <m:t>−</m:t>
                          </m:r>
                          <m:sSub>
                            <m:sSubPr>
                              <m:ctrlPr>
                                <a:rPr lang="es-419" i="1">
                                  <a:solidFill>
                                    <a:srgbClr val="003A5D"/>
                                  </a:solidFill>
                                  <a:latin typeface="Cambria Math" panose="02040503050406030204" pitchFamily="18" charset="0"/>
                                  <a:ea typeface="Cambria Math" panose="02040503050406030204" pitchFamily="18" charset="0"/>
                                </a:rPr>
                              </m:ctrlPr>
                            </m:sSubPr>
                            <m:e>
                              <m:r>
                                <a:rPr lang="es-419" i="1">
                                  <a:solidFill>
                                    <a:srgbClr val="003A5D"/>
                                  </a:solidFill>
                                  <a:latin typeface="Cambria Math" panose="02040503050406030204" pitchFamily="18" charset="0"/>
                                  <a:ea typeface="Cambria Math" panose="02040503050406030204" pitchFamily="18" charset="0"/>
                                </a:rPr>
                                <m:t>𝑝</m:t>
                              </m:r>
                            </m:e>
                            <m:sub>
                              <m:r>
                                <a:rPr lang="es-419" i="1">
                                  <a:solidFill>
                                    <a:srgbClr val="003A5D"/>
                                  </a:solidFill>
                                  <a:latin typeface="Cambria Math" panose="02040503050406030204" pitchFamily="18" charset="0"/>
                                  <a:ea typeface="Cambria Math" panose="02040503050406030204" pitchFamily="18" charset="0"/>
                                </a:rPr>
                                <m:t>𝑦</m:t>
                              </m:r>
                            </m:sub>
                          </m:sSub>
                          <m:r>
                            <a:rPr lang="es-419" i="1">
                              <a:solidFill>
                                <a:srgbClr val="003A5D"/>
                              </a:solidFill>
                              <a:latin typeface="Cambria Math" panose="02040503050406030204" pitchFamily="18" charset="0"/>
                              <a:ea typeface="Cambria Math" panose="02040503050406030204" pitchFamily="18" charset="0"/>
                            </a:rPr>
                            <m:t>)</m:t>
                          </m:r>
                          <m:r>
                            <m:rPr>
                              <m:nor/>
                            </m:rPr>
                            <a:rPr lang="es-419" dirty="0">
                              <a:solidFill>
                                <a:srgbClr val="003A5D"/>
                              </a:solidFill>
                              <a:ea typeface="Cambria Math" panose="02040503050406030204" pitchFamily="18" charset="0"/>
                            </a:rPr>
                            <m:t> </m:t>
                          </m:r>
                        </m:num>
                        <m:den>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r>
                            <a:rPr lang="es-419" i="1">
                              <a:latin typeface="Cambria Math" panose="02040503050406030204" pitchFamily="18" charset="0"/>
                              <a:ea typeface="Cambria Math" panose="02040503050406030204" pitchFamily="18" charset="0"/>
                            </a:rPr>
                            <m:t>)</m:t>
                          </m:r>
                          <m:r>
                            <a:rPr lang="es-419" i="1" smtClean="0">
                              <a:latin typeface="Cambria Math" panose="02040503050406030204" pitchFamily="18" charset="0"/>
                              <a:ea typeface="Cambria Math" panose="02040503050406030204" pitchFamily="18" charset="0"/>
                            </a:rPr>
                            <m:t> </m:t>
                          </m:r>
                        </m:num>
                        <m:den>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den>
                      </m:f>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(0,1)</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Que sigue una distribución </a:t>
                </a:r>
                <a:r>
                  <a:rPr lang="es-419" b="1" dirty="0">
                    <a:solidFill>
                      <a:srgbClr val="003A5D"/>
                    </a:solidFill>
                    <a:ea typeface="Cambria Math" panose="02040503050406030204" pitchFamily="18" charset="0"/>
                  </a:rPr>
                  <a:t>normal estandarizada </a:t>
                </a:r>
                <a:r>
                  <a:rPr lang="es-419" dirty="0">
                    <a:ea typeface="Cambria Math" panose="02040503050406030204" pitchFamily="18" charset="0"/>
                  </a:rPr>
                  <a:t>bajo la hipótesis nula.</a:t>
                </a: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s-419">
                    <a:noFill/>
                  </a:rPr>
                  <a:t> </a:t>
                </a:r>
              </a:p>
            </p:txBody>
          </p:sp>
        </mc:Fallback>
      </mc:AlternateContent>
    </p:spTree>
    <p:extLst>
      <p:ext uri="{BB962C8B-B14F-4D97-AF65-F5344CB8AC3E}">
        <p14:creationId xmlns:p14="http://schemas.microsoft.com/office/powerpoint/2010/main" val="18019685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Contraste para diferencia de proporciones poblacionales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85000" lnSpcReduction="10000"/>
              </a:bodyPr>
              <a:lstStyle/>
              <a:p>
                <a:pPr>
                  <a:lnSpc>
                    <a:spcPct val="150000"/>
                  </a:lnSpc>
                </a:pPr>
                <a14:m>
                  <m:oMath xmlns:m="http://schemas.openxmlformats.org/officeDocument/2006/math">
                    <m:sSub>
                      <m:sSubPr>
                        <m:ctrlPr>
                          <a:rPr lang="es-419" i="1" smtClean="0">
                            <a:latin typeface="Cambria Math" panose="02040503050406030204" pitchFamily="18" charset="0"/>
                          </a:rPr>
                        </m:ctrlPr>
                      </m:sSubPr>
                      <m:e>
                        <m:r>
                          <a:rPr lang="es-419" i="1">
                            <a:latin typeface="Cambria Math" panose="02040503050406030204" pitchFamily="18" charset="0"/>
                          </a:rPr>
                          <m:t>𝐻</m:t>
                        </m:r>
                      </m:e>
                      <m:sub>
                        <m:r>
                          <a:rPr lang="es-419" i="1">
                            <a:latin typeface="Cambria Math" panose="02040503050406030204" pitchFamily="18" charset="0"/>
                          </a:rPr>
                          <m:t>0</m:t>
                        </m:r>
                      </m:sub>
                    </m:sSub>
                  </m:oMath>
                </a14:m>
                <a:r>
                  <a:rPr lang="es-419" dirty="0">
                    <a:ea typeface="Cambria Math" panose="02040503050406030204" pitchFamily="18" charset="0"/>
                  </a:rPr>
                  <a:t> asume que las proporciones son iguales, </a:t>
                </a:r>
              </a:p>
              <a:p>
                <a:pPr>
                  <a:lnSpc>
                    <a:spcPct val="150000"/>
                  </a:lnSpc>
                </a:pPr>
                <a:r>
                  <a:rPr lang="es-419" dirty="0">
                    <a:ea typeface="Cambria Math" panose="02040503050406030204" pitchFamily="18" charset="0"/>
                  </a:rPr>
                  <a:t>Empleamos el siguiente estadístico en ausencia de información de </a:t>
                </a:r>
                <a14:m>
                  <m:oMath xmlns:m="http://schemas.openxmlformats.org/officeDocument/2006/math">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oMath>
                </a14:m>
                <a:r>
                  <a:rPr lang="es-419" dirty="0">
                    <a:ea typeface="Cambria Math" panose="02040503050406030204" pitchFamily="18" charset="0"/>
                  </a:rPr>
                  <a:t> o </a:t>
                </a:r>
                <a14:m>
                  <m:oMath xmlns:m="http://schemas.openxmlformats.org/officeDocument/2006/math">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oMath>
                </a14:m>
                <a:r>
                  <a:rPr lang="es-419" dirty="0">
                    <a:ea typeface="Cambria Math" panose="02040503050406030204" pitchFamily="18" charset="0"/>
                  </a:rPr>
                  <a:t>:</a:t>
                </a:r>
              </a:p>
              <a:p>
                <a:pPr marL="0" indent="0" algn="ctr">
                  <a:lnSpc>
                    <a:spcPct val="150000"/>
                  </a:lnSpc>
                  <a:buNone/>
                </a:pPr>
                <a14:m>
                  <m:oMath xmlns:m="http://schemas.openxmlformats.org/officeDocument/2006/math">
                    <m:acc>
                      <m:accPr>
                        <m:chr m:val="̃"/>
                        <m:ctrlPr>
                          <a:rPr lang="es-419" i="1" smtClean="0">
                            <a:latin typeface="Cambria Math" panose="02040503050406030204" pitchFamily="18" charset="0"/>
                            <a:ea typeface="Cambria Math" panose="02040503050406030204" pitchFamily="18" charset="0"/>
                          </a:rPr>
                        </m:ctrlPr>
                      </m:accPr>
                      <m:e>
                        <m:r>
                          <a:rPr lang="es-419" b="0" i="1" smtClean="0">
                            <a:latin typeface="Cambria Math" panose="02040503050406030204" pitchFamily="18" charset="0"/>
                            <a:ea typeface="Cambria Math" panose="02040503050406030204" pitchFamily="18" charset="0"/>
                          </a:rPr>
                          <m:t>𝑝</m:t>
                        </m:r>
                      </m:e>
                    </m:acc>
                    <m:r>
                      <a:rPr lang="es-419" b="0" i="1" smtClean="0">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𝑥</m:t>
                        </m:r>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𝑦</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r>
                      <a:rPr lang="es-419" b="0" i="0" smtClean="0">
                        <a:latin typeface="Cambria Math" panose="02040503050406030204" pitchFamily="18" charset="0"/>
                        <a:ea typeface="Cambria Math" panose="02040503050406030204" pitchFamily="18" charset="0"/>
                      </a:rPr>
                      <m:t>, </m:t>
                    </m:r>
                    <m:r>
                      <m:rPr>
                        <m:sty m:val="p"/>
                      </m:rPr>
                      <a:rPr lang="es-419" b="0" i="0" smtClean="0">
                        <a:latin typeface="Cambria Math" panose="02040503050406030204" pitchFamily="18" charset="0"/>
                        <a:ea typeface="Cambria Math" panose="02040503050406030204" pitchFamily="18" charset="0"/>
                      </a:rPr>
                      <m:t>a</m:t>
                    </m:r>
                    <m:r>
                      <a:rPr lang="es-419" b="0" i="0" smtClean="0">
                        <a:latin typeface="Cambria Math" panose="02040503050406030204" pitchFamily="18" charset="0"/>
                        <a:ea typeface="Cambria Math" panose="02040503050406030204" pitchFamily="18" charset="0"/>
                      </a:rPr>
                      <m:t> </m:t>
                    </m:r>
                    <m:r>
                      <m:rPr>
                        <m:sty m:val="p"/>
                      </m:rPr>
                      <a:rPr lang="es-419" b="0" i="0" smtClean="0">
                        <a:latin typeface="Cambria Math" panose="02040503050406030204" pitchFamily="18" charset="0"/>
                        <a:ea typeface="Cambria Math" panose="02040503050406030204" pitchFamily="18" charset="0"/>
                      </a:rPr>
                      <m:t>sabiendas</m:t>
                    </m:r>
                    <m:r>
                      <a:rPr lang="es-419" b="0" i="0" smtClean="0">
                        <a:latin typeface="Cambria Math" panose="02040503050406030204" pitchFamily="18" charset="0"/>
                        <a:ea typeface="Cambria Math" panose="02040503050406030204" pitchFamily="18" charset="0"/>
                      </a:rPr>
                      <m:t> </m:t>
                    </m:r>
                    <m:r>
                      <m:rPr>
                        <m:sty m:val="p"/>
                      </m:rPr>
                      <a:rPr lang="es-419" b="0" i="0" smtClean="0">
                        <a:latin typeface="Cambria Math" panose="02040503050406030204" pitchFamily="18" charset="0"/>
                        <a:ea typeface="Cambria Math" panose="02040503050406030204" pitchFamily="18" charset="0"/>
                      </a:rPr>
                      <m:t>que</m:t>
                    </m:r>
                    <m:acc>
                      <m:accPr>
                        <m:chr m:val="̂"/>
                        <m:ctrlPr>
                          <a:rPr lang="es-419" i="1">
                            <a:latin typeface="Cambria Math" panose="02040503050406030204" pitchFamily="18" charset="0"/>
                            <a:ea typeface="Cambria Math" panose="02040503050406030204" pitchFamily="18" charset="0"/>
                          </a:rPr>
                        </m:ctrlPr>
                      </m:accPr>
                      <m:e>
                        <m:r>
                          <a:rPr lang="es-419" b="0" i="1" smtClean="0">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𝑥</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b="0" i="1" smtClean="0">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𝑦</m:t>
                            </m:r>
                          </m:sub>
                        </m:sSub>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𝑦</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b="0" i="1" smtClean="0">
                                <a:latin typeface="Cambria Math" panose="02040503050406030204" pitchFamily="18" charset="0"/>
                                <a:ea typeface="Cambria Math" panose="02040503050406030204" pitchFamily="18" charset="0"/>
                              </a:rPr>
                              <m:t>𝑦</m:t>
                            </m:r>
                          </m:sub>
                        </m:sSub>
                      </m:den>
                    </m:f>
                  </m:oMath>
                </a14:m>
                <a:r>
                  <a:rPr lang="es-419" dirty="0">
                    <a:ea typeface="Cambria Math" panose="02040503050406030204" pitchFamily="18" charset="0"/>
                  </a:rPr>
                  <a:t>; </a:t>
                </a:r>
              </a:p>
              <a:p>
                <a:pPr>
                  <a:lnSpc>
                    <a:spcPct val="150000"/>
                  </a:lnSpc>
                </a:pPr>
                <a:r>
                  <a:rPr lang="es-419" dirty="0">
                    <a:ea typeface="Cambria Math" panose="02040503050406030204" pitchFamily="18" charset="0"/>
                  </a:rPr>
                  <a:t>Por lo tanto: </a:t>
                </a:r>
                <a:endParaRPr lang="es-419" b="0" i="1" dirty="0">
                  <a:latin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a:latin typeface="Cambria Math" panose="02040503050406030204" pitchFamily="18" charset="0"/>
                            </a:rPr>
                          </m:ctrlPr>
                        </m:accPr>
                        <m:e>
                          <m:r>
                            <a:rPr lang="es-419" i="1">
                              <a:latin typeface="Cambria Math" panose="02040503050406030204" pitchFamily="18" charset="0"/>
                            </a:rPr>
                            <m:t>𝑍</m:t>
                          </m:r>
                        </m:e>
                      </m:acc>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r>
                            <a:rPr lang="es-419" i="1">
                              <a:latin typeface="Cambria Math" panose="02040503050406030204" pitchFamily="18" charset="0"/>
                              <a:ea typeface="Cambria Math" panose="02040503050406030204" pitchFamily="18" charset="0"/>
                            </a:rPr>
                            <m:t>)</m:t>
                          </m:r>
                          <m:r>
                            <a:rPr lang="es-419" i="1" smtClean="0">
                              <a:latin typeface="Cambria Math" panose="02040503050406030204" pitchFamily="18" charset="0"/>
                              <a:ea typeface="Cambria Math" panose="02040503050406030204" pitchFamily="18" charset="0"/>
                            </a:rPr>
                            <m:t> </m:t>
                          </m:r>
                        </m:num>
                        <m:den>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r>
                            <a:rPr lang="es-419" i="1">
                              <a:latin typeface="Cambria Math" panose="02040503050406030204" pitchFamily="18" charset="0"/>
                              <a:ea typeface="Cambria Math" panose="02040503050406030204" pitchFamily="18" charset="0"/>
                            </a:rPr>
                            <m:t>) </m:t>
                          </m:r>
                        </m:num>
                        <m:den>
                          <m:rad>
                            <m:radPr>
                              <m:degHide m:val="on"/>
                              <m:ctrlPr>
                                <a:rPr lang="es-419" i="1">
                                  <a:latin typeface="Cambria Math" panose="02040503050406030204" pitchFamily="18" charset="0"/>
                                  <a:ea typeface="Cambria Math" panose="02040503050406030204" pitchFamily="18" charset="0"/>
                                </a:rPr>
                              </m:ctrlPr>
                            </m:radPr>
                            <m:deg/>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e>
                              </m:d>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1</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b="0" i="1" smtClean="0">
                                          <a:latin typeface="Cambria Math" panose="02040503050406030204" pitchFamily="18" charset="0"/>
                                          <a:ea typeface="Cambria Math" panose="02040503050406030204" pitchFamily="18" charset="0"/>
                                        </a:rPr>
                                        <m:t>𝑥</m:t>
                                      </m:r>
                                    </m:sub>
                                  </m:sSub>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1</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r>
                                <a:rPr lang="es-419" b="0" i="1" smtClean="0">
                                  <a:latin typeface="Cambria Math" panose="02040503050406030204" pitchFamily="18" charset="0"/>
                                  <a:ea typeface="Cambria Math" panose="02040503050406030204" pitchFamily="18" charset="0"/>
                                </a:rPr>
                                <m:t>)</m:t>
                              </m:r>
                            </m:e>
                          </m:rad>
                        </m:den>
                      </m:f>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0,1</m:t>
                          </m:r>
                        </m:e>
                      </m:d>
                    </m:oMath>
                  </m:oMathPara>
                </a14:m>
                <a:endParaRPr lang="es-419"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s-419">
                    <a:noFill/>
                  </a:rPr>
                  <a:t> </a:t>
                </a:r>
              </a:p>
            </p:txBody>
          </p:sp>
        </mc:Fallback>
      </mc:AlternateContent>
    </p:spTree>
    <p:extLst>
      <p:ext uri="{BB962C8B-B14F-4D97-AF65-F5344CB8AC3E}">
        <p14:creationId xmlns:p14="http://schemas.microsoft.com/office/powerpoint/2010/main" val="27731357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C5A1-DE84-43AE-A501-47E70BB9E1F7}"/>
              </a:ext>
            </a:extLst>
          </p:cNvPr>
          <p:cNvSpPr>
            <a:spLocks noGrp="1"/>
          </p:cNvSpPr>
          <p:nvPr>
            <p:ph type="title"/>
          </p:nvPr>
        </p:nvSpPr>
        <p:spPr/>
        <p:txBody>
          <a:bodyPr>
            <a:normAutofit/>
          </a:bodyPr>
          <a:lstStyle/>
          <a:p>
            <a:r>
              <a:rPr lang="es-419" dirty="0"/>
              <a:t>Contraste para proporción poblacional</a:t>
            </a:r>
          </a:p>
        </p:txBody>
      </p:sp>
      <p:pic>
        <p:nvPicPr>
          <p:cNvPr id="3" name="Imagen 2">
            <a:extLst>
              <a:ext uri="{FF2B5EF4-FFF2-40B4-BE49-F238E27FC236}">
                <a16:creationId xmlns:a16="http://schemas.microsoft.com/office/drawing/2014/main" id="{DDE1CAF2-CB2A-99EB-1513-BA1F8F217F1E}"/>
              </a:ext>
            </a:extLst>
          </p:cNvPr>
          <p:cNvPicPr>
            <a:picLocks noChangeAspect="1"/>
          </p:cNvPicPr>
          <p:nvPr/>
        </p:nvPicPr>
        <p:blipFill>
          <a:blip r:embed="rId2"/>
          <a:stretch>
            <a:fillRect/>
          </a:stretch>
        </p:blipFill>
        <p:spPr>
          <a:xfrm>
            <a:off x="2390630" y="1089000"/>
            <a:ext cx="7410740" cy="46800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D1FA2D1-6450-6CB0-A8EA-29B0ECAD75CC}"/>
                  </a:ext>
                </a:extLst>
              </p:cNvPr>
              <p:cNvSpPr txBox="1"/>
              <p:nvPr/>
            </p:nvSpPr>
            <p:spPr>
              <a:xfrm>
                <a:off x="3405042" y="1192162"/>
                <a:ext cx="1431033"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b="0" i="1" smtClean="0">
                              <a:latin typeface="Cambria Math" panose="02040503050406030204" pitchFamily="18" charset="0"/>
                            </a:rPr>
                            <m:t>𝐻</m:t>
                          </m:r>
                        </m:e>
                        <m:sub>
                          <m:r>
                            <a:rPr lang="es-419" sz="1400" b="0" i="1" smtClean="0">
                              <a:latin typeface="Cambria Math" panose="02040503050406030204" pitchFamily="18" charset="0"/>
                            </a:rPr>
                            <m:t>𝑎</m:t>
                          </m:r>
                        </m:sub>
                      </m:sSub>
                      <m:r>
                        <a:rPr lang="es-419" sz="1400" b="0" i="1" smtClean="0">
                          <a:latin typeface="Cambria Math" panose="02040503050406030204" pitchFamily="18" charset="0"/>
                        </a:rPr>
                        <m:t>:</m:t>
                      </m:r>
                      <m:sSub>
                        <m:sSubPr>
                          <m:ctrlPr>
                            <a:rPr lang="es-419" sz="1400" b="0" i="1" smtClean="0">
                              <a:latin typeface="Cambria Math" panose="02040503050406030204" pitchFamily="18" charset="0"/>
                            </a:rPr>
                          </m:ctrlPr>
                        </m:sSubPr>
                        <m:e>
                          <m:r>
                            <a:rPr lang="es-419" sz="1400" b="0" i="1" smtClean="0">
                              <a:latin typeface="Cambria Math" panose="02040503050406030204" pitchFamily="18" charset="0"/>
                            </a:rPr>
                            <m:t>𝑝</m:t>
                          </m:r>
                        </m:e>
                        <m:sub>
                          <m:r>
                            <a:rPr lang="es-419" sz="1400" b="0" i="1" smtClean="0">
                              <a:latin typeface="Cambria Math" panose="02040503050406030204" pitchFamily="18" charset="0"/>
                            </a:rPr>
                            <m:t>𝑥</m:t>
                          </m:r>
                        </m:sub>
                      </m:sSub>
                      <m:r>
                        <a:rPr lang="es-419" sz="1400" b="0" i="1" smtClean="0">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rPr>
                            <m:t>𝑝</m:t>
                          </m:r>
                        </m:e>
                        <m:sub>
                          <m:r>
                            <a:rPr lang="es-419" sz="1400" b="0" i="1" smtClean="0">
                              <a:latin typeface="Cambria Math" panose="02040503050406030204" pitchFamily="18" charset="0"/>
                            </a:rPr>
                            <m:t>𝑦</m:t>
                          </m:r>
                        </m:sub>
                      </m:sSub>
                      <m:r>
                        <a:rPr lang="es-419" sz="1400" b="0" i="1" smtClean="0">
                          <a:latin typeface="Cambria Math" panose="02040503050406030204" pitchFamily="18" charset="0"/>
                        </a:rPr>
                        <m:t>&lt;0</m:t>
                      </m:r>
                    </m:oMath>
                  </m:oMathPara>
                </a14:m>
                <a:endParaRPr lang="es-419" sz="1400" dirty="0"/>
              </a:p>
            </p:txBody>
          </p:sp>
        </mc:Choice>
        <mc:Fallback xmlns="">
          <p:sp>
            <p:nvSpPr>
              <p:cNvPr id="4" name="TextBox 3">
                <a:extLst>
                  <a:ext uri="{FF2B5EF4-FFF2-40B4-BE49-F238E27FC236}">
                    <a16:creationId xmlns:a16="http://schemas.microsoft.com/office/drawing/2014/main" id="{BD1FA2D1-6450-6CB0-A8EA-29B0ECAD75CC}"/>
                  </a:ext>
                </a:extLst>
              </p:cNvPr>
              <p:cNvSpPr txBox="1">
                <a:spLocks noRot="1" noChangeAspect="1" noMove="1" noResize="1" noEditPoints="1" noAdjustHandles="1" noChangeArrowheads="1" noChangeShapeType="1" noTextEdit="1"/>
              </p:cNvSpPr>
              <p:nvPr/>
            </p:nvSpPr>
            <p:spPr>
              <a:xfrm>
                <a:off x="3405042" y="1192162"/>
                <a:ext cx="1431033" cy="324769"/>
              </a:xfrm>
              <a:prstGeom prst="rect">
                <a:avLst/>
              </a:prstGeom>
              <a:blipFill>
                <a:blip r:embed="rId3"/>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578678-B94E-7D85-2A60-47DAD8B6B837}"/>
                  </a:ext>
                </a:extLst>
              </p:cNvPr>
              <p:cNvSpPr txBox="1"/>
              <p:nvPr/>
            </p:nvSpPr>
            <p:spPr>
              <a:xfrm>
                <a:off x="7172179" y="1169192"/>
                <a:ext cx="1431033"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b="0" i="1" smtClean="0">
                              <a:latin typeface="Cambria Math" panose="02040503050406030204" pitchFamily="18" charset="0"/>
                            </a:rPr>
                            <m:t>𝐻</m:t>
                          </m:r>
                        </m:e>
                        <m:sub>
                          <m:r>
                            <a:rPr lang="es-419" sz="1400" b="0" i="1" smtClean="0">
                              <a:latin typeface="Cambria Math" panose="02040503050406030204" pitchFamily="18" charset="0"/>
                            </a:rPr>
                            <m:t>𝑎</m:t>
                          </m:r>
                        </m:sub>
                      </m:sSub>
                      <m:r>
                        <a:rPr lang="es-419" sz="1400" b="0" i="1" smtClean="0">
                          <a:latin typeface="Cambria Math" panose="02040503050406030204" pitchFamily="18" charset="0"/>
                        </a:rPr>
                        <m:t>:</m:t>
                      </m:r>
                      <m:sSub>
                        <m:sSubPr>
                          <m:ctrlPr>
                            <a:rPr lang="es-419" sz="1400" b="0" i="1" smtClean="0">
                              <a:latin typeface="Cambria Math" panose="02040503050406030204" pitchFamily="18" charset="0"/>
                            </a:rPr>
                          </m:ctrlPr>
                        </m:sSubPr>
                        <m:e>
                          <m:r>
                            <a:rPr lang="es-419" sz="1400" b="0" i="1" smtClean="0">
                              <a:latin typeface="Cambria Math" panose="02040503050406030204" pitchFamily="18" charset="0"/>
                            </a:rPr>
                            <m:t>𝑝</m:t>
                          </m:r>
                        </m:e>
                        <m:sub>
                          <m:r>
                            <a:rPr lang="es-419" sz="1400" b="0" i="1" smtClean="0">
                              <a:latin typeface="Cambria Math" panose="02040503050406030204" pitchFamily="18" charset="0"/>
                            </a:rPr>
                            <m:t>𝑥</m:t>
                          </m:r>
                        </m:sub>
                      </m:sSub>
                      <m:r>
                        <a:rPr lang="es-419" sz="1400" b="0" i="1" smtClean="0">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rPr>
                            <m:t>𝑝</m:t>
                          </m:r>
                        </m:e>
                        <m:sub>
                          <m:r>
                            <a:rPr lang="es-419" sz="1400" b="0" i="1" smtClean="0">
                              <a:latin typeface="Cambria Math" panose="02040503050406030204" pitchFamily="18" charset="0"/>
                            </a:rPr>
                            <m:t>𝑦</m:t>
                          </m:r>
                        </m:sub>
                      </m:sSub>
                      <m:r>
                        <a:rPr lang="es-419" sz="1400" b="0" i="1" smtClean="0">
                          <a:latin typeface="Cambria Math" panose="02040503050406030204" pitchFamily="18" charset="0"/>
                        </a:rPr>
                        <m:t>&gt;0</m:t>
                      </m:r>
                    </m:oMath>
                  </m:oMathPara>
                </a14:m>
                <a:endParaRPr lang="es-419" sz="1400" dirty="0"/>
              </a:p>
            </p:txBody>
          </p:sp>
        </mc:Choice>
        <mc:Fallback xmlns="">
          <p:sp>
            <p:nvSpPr>
              <p:cNvPr id="5" name="TextBox 4">
                <a:extLst>
                  <a:ext uri="{FF2B5EF4-FFF2-40B4-BE49-F238E27FC236}">
                    <a16:creationId xmlns:a16="http://schemas.microsoft.com/office/drawing/2014/main" id="{FE578678-B94E-7D85-2A60-47DAD8B6B837}"/>
                  </a:ext>
                </a:extLst>
              </p:cNvPr>
              <p:cNvSpPr txBox="1">
                <a:spLocks noRot="1" noChangeAspect="1" noMove="1" noResize="1" noEditPoints="1" noAdjustHandles="1" noChangeArrowheads="1" noChangeShapeType="1" noTextEdit="1"/>
              </p:cNvSpPr>
              <p:nvPr/>
            </p:nvSpPr>
            <p:spPr>
              <a:xfrm>
                <a:off x="7172179" y="1169192"/>
                <a:ext cx="1431033" cy="324769"/>
              </a:xfrm>
              <a:prstGeom prst="rect">
                <a:avLst/>
              </a:prstGeom>
              <a:blipFill>
                <a:blip r:embed="rId4"/>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B90868-714B-5A05-B733-CB8A96DB84DA}"/>
                  </a:ext>
                </a:extLst>
              </p:cNvPr>
              <p:cNvSpPr txBox="1"/>
              <p:nvPr/>
            </p:nvSpPr>
            <p:spPr>
              <a:xfrm>
                <a:off x="5252891" y="3593305"/>
                <a:ext cx="1431033" cy="324769"/>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419" sz="1400" i="1" smtClean="0">
                              <a:latin typeface="Cambria Math" panose="02040503050406030204" pitchFamily="18" charset="0"/>
                            </a:rPr>
                          </m:ctrlPr>
                        </m:sSubPr>
                        <m:e>
                          <m:r>
                            <a:rPr lang="es-419" sz="1400" b="0" i="1" smtClean="0">
                              <a:latin typeface="Cambria Math" panose="02040503050406030204" pitchFamily="18" charset="0"/>
                            </a:rPr>
                            <m:t>𝐻</m:t>
                          </m:r>
                        </m:e>
                        <m:sub>
                          <m:r>
                            <a:rPr lang="es-419" sz="1400" b="0" i="1" smtClean="0">
                              <a:latin typeface="Cambria Math" panose="02040503050406030204" pitchFamily="18" charset="0"/>
                            </a:rPr>
                            <m:t>𝑎</m:t>
                          </m:r>
                        </m:sub>
                      </m:sSub>
                      <m:r>
                        <a:rPr lang="es-419" sz="1400" b="0" i="1" smtClean="0">
                          <a:latin typeface="Cambria Math" panose="02040503050406030204" pitchFamily="18" charset="0"/>
                        </a:rPr>
                        <m:t>:</m:t>
                      </m:r>
                      <m:sSub>
                        <m:sSubPr>
                          <m:ctrlPr>
                            <a:rPr lang="es-419" sz="1400" b="0" i="1" smtClean="0">
                              <a:latin typeface="Cambria Math" panose="02040503050406030204" pitchFamily="18" charset="0"/>
                            </a:rPr>
                          </m:ctrlPr>
                        </m:sSubPr>
                        <m:e>
                          <m:r>
                            <a:rPr lang="es-419" sz="1400" b="0" i="1" smtClean="0">
                              <a:latin typeface="Cambria Math" panose="02040503050406030204" pitchFamily="18" charset="0"/>
                            </a:rPr>
                            <m:t>𝑝</m:t>
                          </m:r>
                        </m:e>
                        <m:sub>
                          <m:r>
                            <a:rPr lang="es-419" sz="1400" b="0" i="1" smtClean="0">
                              <a:latin typeface="Cambria Math" panose="02040503050406030204" pitchFamily="18" charset="0"/>
                            </a:rPr>
                            <m:t>𝑥</m:t>
                          </m:r>
                        </m:sub>
                      </m:sSub>
                      <m:r>
                        <a:rPr lang="es-419" sz="1400" b="0" i="1" smtClean="0">
                          <a:latin typeface="Cambria Math" panose="02040503050406030204" pitchFamily="18" charset="0"/>
                        </a:rPr>
                        <m:t>−</m:t>
                      </m:r>
                      <m:sSub>
                        <m:sSubPr>
                          <m:ctrlPr>
                            <a:rPr lang="es-419" sz="1400" i="1">
                              <a:latin typeface="Cambria Math" panose="02040503050406030204" pitchFamily="18" charset="0"/>
                            </a:rPr>
                          </m:ctrlPr>
                        </m:sSubPr>
                        <m:e>
                          <m:r>
                            <a:rPr lang="es-419" sz="1400" i="1">
                              <a:latin typeface="Cambria Math" panose="02040503050406030204" pitchFamily="18" charset="0"/>
                            </a:rPr>
                            <m:t>𝑝</m:t>
                          </m:r>
                        </m:e>
                        <m:sub>
                          <m:r>
                            <a:rPr lang="es-419" sz="1400" b="0" i="1" smtClean="0">
                              <a:latin typeface="Cambria Math" panose="02040503050406030204" pitchFamily="18" charset="0"/>
                            </a:rPr>
                            <m:t>𝑦</m:t>
                          </m:r>
                        </m:sub>
                      </m:sSub>
                      <m:r>
                        <a:rPr lang="es-419" sz="1400" i="1">
                          <a:latin typeface="Cambria Math" panose="02040503050406030204" pitchFamily="18" charset="0"/>
                          <a:ea typeface="Cambria Math" panose="02040503050406030204" pitchFamily="18" charset="0"/>
                        </a:rPr>
                        <m:t>≠</m:t>
                      </m:r>
                      <m:r>
                        <a:rPr lang="es-419" sz="1400" b="0" i="1" smtClean="0">
                          <a:latin typeface="Cambria Math" panose="02040503050406030204" pitchFamily="18" charset="0"/>
                        </a:rPr>
                        <m:t>0</m:t>
                      </m:r>
                    </m:oMath>
                  </m:oMathPara>
                </a14:m>
                <a:endParaRPr lang="es-419" sz="1400" dirty="0"/>
              </a:p>
            </p:txBody>
          </p:sp>
        </mc:Choice>
        <mc:Fallback xmlns="">
          <p:sp>
            <p:nvSpPr>
              <p:cNvPr id="6" name="TextBox 5">
                <a:extLst>
                  <a:ext uri="{FF2B5EF4-FFF2-40B4-BE49-F238E27FC236}">
                    <a16:creationId xmlns:a16="http://schemas.microsoft.com/office/drawing/2014/main" id="{7CB90868-714B-5A05-B733-CB8A96DB84DA}"/>
                  </a:ext>
                </a:extLst>
              </p:cNvPr>
              <p:cNvSpPr txBox="1">
                <a:spLocks noRot="1" noChangeAspect="1" noMove="1" noResize="1" noEditPoints="1" noAdjustHandles="1" noChangeArrowheads="1" noChangeShapeType="1" noTextEdit="1"/>
              </p:cNvSpPr>
              <p:nvPr/>
            </p:nvSpPr>
            <p:spPr>
              <a:xfrm>
                <a:off x="5252891" y="3593305"/>
                <a:ext cx="1431033" cy="324769"/>
              </a:xfrm>
              <a:prstGeom prst="rect">
                <a:avLst/>
              </a:prstGeom>
              <a:blipFill>
                <a:blip r:embed="rId5"/>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37905037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B6CE8-5648-416C-8D52-381BD7D89F66}"/>
              </a:ext>
            </a:extLst>
          </p:cNvPr>
          <p:cNvSpPr>
            <a:spLocks noGrp="1"/>
          </p:cNvSpPr>
          <p:nvPr>
            <p:ph type="title"/>
          </p:nvPr>
        </p:nvSpPr>
        <p:spPr/>
        <p:txBody>
          <a:bodyPr>
            <a:normAutofit/>
          </a:bodyPr>
          <a:lstStyle/>
          <a:p>
            <a:r>
              <a:rPr lang="es-419" dirty="0"/>
              <a:t>Propuesto 11.42</a:t>
            </a:r>
          </a:p>
        </p:txBody>
      </p:sp>
      <p:sp>
        <p:nvSpPr>
          <p:cNvPr id="3" name="Content Placeholder 2">
            <a:extLst>
              <a:ext uri="{FF2B5EF4-FFF2-40B4-BE49-F238E27FC236}">
                <a16:creationId xmlns:a16="http://schemas.microsoft.com/office/drawing/2014/main" id="{688EB59C-4EDA-4E27-AD8A-EF43E7DBEFBF}"/>
              </a:ext>
            </a:extLst>
          </p:cNvPr>
          <p:cNvSpPr>
            <a:spLocks noGrp="1"/>
          </p:cNvSpPr>
          <p:nvPr>
            <p:ph idx="1"/>
          </p:nvPr>
        </p:nvSpPr>
        <p:spPr/>
        <p:txBody>
          <a:bodyPr/>
          <a:lstStyle/>
          <a:p>
            <a:pPr marL="0" indent="0">
              <a:lnSpc>
                <a:spcPct val="150000"/>
              </a:lnSpc>
              <a:buNone/>
            </a:pPr>
            <a:r>
              <a:rPr lang="es-ES" i="1" dirty="0"/>
              <a:t>Un estudio de mercado reveló que de 200 hombre 30 fumaban una determinada marca de cigarrillos: y de 200 mujeres 35 fumaban esa marca. ¿Hay diferencia significativa en la proporción de mujeres y hombres que prefieren esa marca? </a:t>
            </a:r>
          </a:p>
          <a:p>
            <a:pPr marL="0" indent="0">
              <a:lnSpc>
                <a:spcPct val="150000"/>
              </a:lnSpc>
              <a:buNone/>
            </a:pPr>
            <a:r>
              <a:rPr lang="es-ES" i="1" dirty="0"/>
              <a:t>α = 0,05.</a:t>
            </a:r>
          </a:p>
          <a:p>
            <a:pPr marL="0" indent="0">
              <a:lnSpc>
                <a:spcPct val="150000"/>
              </a:lnSpc>
              <a:buNone/>
            </a:pPr>
            <a:r>
              <a:rPr lang="es-ES" i="1" dirty="0"/>
              <a:t>Emplee solamente el método del p-valor</a:t>
            </a:r>
          </a:p>
        </p:txBody>
      </p:sp>
    </p:spTree>
    <p:extLst>
      <p:ext uri="{BB962C8B-B14F-4D97-AF65-F5344CB8AC3E}">
        <p14:creationId xmlns:p14="http://schemas.microsoft.com/office/powerpoint/2010/main" val="33489281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5C37-42A6-4690-89ED-F72E9605A2EA}"/>
              </a:ext>
            </a:extLst>
          </p:cNvPr>
          <p:cNvSpPr>
            <a:spLocks noGrp="1"/>
          </p:cNvSpPr>
          <p:nvPr>
            <p:ph type="title"/>
          </p:nvPr>
        </p:nvSpPr>
        <p:spPr/>
        <p:txBody>
          <a:bodyPr/>
          <a:lstStyle/>
          <a:p>
            <a:r>
              <a:rPr lang="es-419" dirty="0"/>
              <a:t>Propuesto 11.42</a:t>
            </a:r>
          </a:p>
        </p:txBody>
      </p:sp>
      <p:sp>
        <p:nvSpPr>
          <p:cNvPr id="3" name="Content Placeholder 2">
            <a:extLst>
              <a:ext uri="{FF2B5EF4-FFF2-40B4-BE49-F238E27FC236}">
                <a16:creationId xmlns:a16="http://schemas.microsoft.com/office/drawing/2014/main" id="{0065E2F9-9197-4690-A364-1E1C1827C995}"/>
              </a:ext>
            </a:extLst>
          </p:cNvPr>
          <p:cNvSpPr>
            <a:spLocks noGrp="1"/>
          </p:cNvSpPr>
          <p:nvPr>
            <p:ph idx="1"/>
          </p:nvPr>
        </p:nvSpPr>
        <p:spPr>
          <a:solidFill>
            <a:srgbClr val="E7E6E6">
              <a:alpha val="50196"/>
            </a:srgbClr>
          </a:solidFill>
        </p:spPr>
        <p:txBody>
          <a:bodyPr vert="horz" lIns="91440" tIns="45720" rIns="91440" bIns="45720" rtlCol="0">
            <a:normAutofit fontScale="62500" lnSpcReduction="20000"/>
          </a:bodyPr>
          <a:lstStyle/>
          <a:p>
            <a:pPr marL="0" indent="0">
              <a:lnSpc>
                <a:spcPct val="120000"/>
              </a:lnSpc>
              <a:buNone/>
            </a:pPr>
            <a:r>
              <a:rPr lang="es-419" dirty="0">
                <a:latin typeface="Consolas" panose="020B0609020204030204" pitchFamily="49" charset="0"/>
              </a:rPr>
              <a:t>&gt; </a:t>
            </a:r>
            <a:r>
              <a:rPr lang="es-419" dirty="0" err="1">
                <a:latin typeface="Consolas" panose="020B0609020204030204" pitchFamily="49" charset="0"/>
              </a:rPr>
              <a:t>nh</a:t>
            </a:r>
            <a:r>
              <a:rPr lang="es-419" dirty="0">
                <a:latin typeface="Consolas" panose="020B0609020204030204" pitchFamily="49" charset="0"/>
              </a:rPr>
              <a:t> &lt;- 200</a:t>
            </a:r>
          </a:p>
          <a:p>
            <a:pPr marL="0" indent="0">
              <a:lnSpc>
                <a:spcPct val="120000"/>
              </a:lnSpc>
              <a:buNone/>
            </a:pPr>
            <a:r>
              <a:rPr lang="es-419" dirty="0">
                <a:latin typeface="Consolas" panose="020B0609020204030204" pitchFamily="49" charset="0"/>
              </a:rPr>
              <a:t>&gt; </a:t>
            </a:r>
            <a:r>
              <a:rPr lang="es-419" dirty="0" err="1">
                <a:latin typeface="Consolas" panose="020B0609020204030204" pitchFamily="49" charset="0"/>
              </a:rPr>
              <a:t>xh</a:t>
            </a:r>
            <a:r>
              <a:rPr lang="es-419" dirty="0">
                <a:latin typeface="Consolas" panose="020B0609020204030204" pitchFamily="49" charset="0"/>
              </a:rPr>
              <a:t> &lt;- 30</a:t>
            </a:r>
          </a:p>
          <a:p>
            <a:pPr marL="0" indent="0">
              <a:lnSpc>
                <a:spcPct val="120000"/>
              </a:lnSpc>
              <a:buNone/>
            </a:pPr>
            <a:r>
              <a:rPr lang="es-419" dirty="0">
                <a:latin typeface="Consolas" panose="020B0609020204030204" pitchFamily="49" charset="0"/>
              </a:rPr>
              <a:t>&gt; </a:t>
            </a:r>
            <a:r>
              <a:rPr lang="es-419" dirty="0" err="1">
                <a:latin typeface="Consolas" panose="020B0609020204030204" pitchFamily="49" charset="0"/>
              </a:rPr>
              <a:t>ph_hat</a:t>
            </a:r>
            <a:r>
              <a:rPr lang="es-419" dirty="0">
                <a:latin typeface="Consolas" panose="020B0609020204030204" pitchFamily="49" charset="0"/>
              </a:rPr>
              <a:t> &lt;- </a:t>
            </a:r>
            <a:r>
              <a:rPr lang="es-419" dirty="0" err="1">
                <a:latin typeface="Consolas" panose="020B0609020204030204" pitchFamily="49" charset="0"/>
              </a:rPr>
              <a:t>xh</a:t>
            </a:r>
            <a:r>
              <a:rPr lang="es-419" dirty="0">
                <a:latin typeface="Consolas" panose="020B0609020204030204" pitchFamily="49" charset="0"/>
              </a:rPr>
              <a:t>/</a:t>
            </a:r>
            <a:r>
              <a:rPr lang="es-419" dirty="0" err="1">
                <a:latin typeface="Consolas" panose="020B0609020204030204" pitchFamily="49" charset="0"/>
              </a:rPr>
              <a:t>nh</a:t>
            </a:r>
            <a:endParaRPr lang="es-419" dirty="0">
              <a:latin typeface="Consolas" panose="020B0609020204030204" pitchFamily="49" charset="0"/>
            </a:endParaRPr>
          </a:p>
          <a:p>
            <a:pPr marL="0" indent="0">
              <a:lnSpc>
                <a:spcPct val="120000"/>
              </a:lnSpc>
              <a:buNone/>
            </a:pPr>
            <a:r>
              <a:rPr lang="es-419" dirty="0">
                <a:latin typeface="Consolas" panose="020B0609020204030204" pitchFamily="49" charset="0"/>
              </a:rPr>
              <a:t>&gt; nm &lt;- 200 </a:t>
            </a:r>
          </a:p>
          <a:p>
            <a:pPr marL="0" indent="0">
              <a:lnSpc>
                <a:spcPct val="120000"/>
              </a:lnSpc>
              <a:buNone/>
            </a:pPr>
            <a:r>
              <a:rPr lang="es-419" dirty="0">
                <a:latin typeface="Consolas" panose="020B0609020204030204" pitchFamily="49" charset="0"/>
              </a:rPr>
              <a:t>&gt; </a:t>
            </a:r>
            <a:r>
              <a:rPr lang="es-419" dirty="0" err="1">
                <a:latin typeface="Consolas" panose="020B0609020204030204" pitchFamily="49" charset="0"/>
              </a:rPr>
              <a:t>ym</a:t>
            </a:r>
            <a:r>
              <a:rPr lang="es-419" dirty="0">
                <a:latin typeface="Consolas" panose="020B0609020204030204" pitchFamily="49" charset="0"/>
              </a:rPr>
              <a:t> &lt;- 35</a:t>
            </a:r>
          </a:p>
          <a:p>
            <a:pPr marL="0" indent="0">
              <a:lnSpc>
                <a:spcPct val="120000"/>
              </a:lnSpc>
              <a:buNone/>
            </a:pPr>
            <a:r>
              <a:rPr lang="es-419" dirty="0">
                <a:latin typeface="Consolas" panose="020B0609020204030204" pitchFamily="49" charset="0"/>
              </a:rPr>
              <a:t>&gt; </a:t>
            </a:r>
            <a:r>
              <a:rPr lang="es-419" dirty="0" err="1">
                <a:latin typeface="Consolas" panose="020B0609020204030204" pitchFamily="49" charset="0"/>
              </a:rPr>
              <a:t>pm_hat</a:t>
            </a:r>
            <a:r>
              <a:rPr lang="es-419" dirty="0">
                <a:latin typeface="Consolas" panose="020B0609020204030204" pitchFamily="49" charset="0"/>
              </a:rPr>
              <a:t> &lt;- </a:t>
            </a:r>
            <a:r>
              <a:rPr lang="es-419" dirty="0" err="1">
                <a:latin typeface="Consolas" panose="020B0609020204030204" pitchFamily="49" charset="0"/>
              </a:rPr>
              <a:t>ym</a:t>
            </a:r>
            <a:r>
              <a:rPr lang="es-419" dirty="0">
                <a:latin typeface="Consolas" panose="020B0609020204030204" pitchFamily="49" charset="0"/>
              </a:rPr>
              <a:t>/nm</a:t>
            </a:r>
          </a:p>
          <a:p>
            <a:pPr marL="0" indent="0">
              <a:lnSpc>
                <a:spcPct val="120000"/>
              </a:lnSpc>
              <a:buNone/>
            </a:pPr>
            <a:r>
              <a:rPr lang="es-419" dirty="0">
                <a:latin typeface="Consolas" panose="020B0609020204030204" pitchFamily="49" charset="0"/>
              </a:rPr>
              <a:t>&gt; a &lt;- 0.05</a:t>
            </a:r>
          </a:p>
          <a:p>
            <a:pPr marL="0" indent="0">
              <a:lnSpc>
                <a:spcPct val="120000"/>
              </a:lnSpc>
              <a:buNone/>
            </a:pPr>
            <a:endParaRPr lang="es-419" dirty="0">
              <a:latin typeface="Consolas" panose="020B0609020204030204" pitchFamily="49" charset="0"/>
            </a:endParaRPr>
          </a:p>
          <a:p>
            <a:pPr marL="0" indent="0">
              <a:lnSpc>
                <a:spcPct val="120000"/>
              </a:lnSpc>
              <a:buNone/>
            </a:pPr>
            <a:r>
              <a:rPr lang="es-419" dirty="0">
                <a:latin typeface="Consolas" panose="020B0609020204030204" pitchFamily="49" charset="0"/>
              </a:rPr>
              <a:t>&gt; #H0 </a:t>
            </a:r>
            <a:r>
              <a:rPr lang="es-419" dirty="0" err="1">
                <a:latin typeface="Consolas" panose="020B0609020204030204" pitchFamily="49" charset="0"/>
              </a:rPr>
              <a:t>ph</a:t>
            </a:r>
            <a:r>
              <a:rPr lang="es-419" dirty="0">
                <a:latin typeface="Consolas" panose="020B0609020204030204" pitchFamily="49" charset="0"/>
              </a:rPr>
              <a:t> = pm | H1 </a:t>
            </a:r>
            <a:r>
              <a:rPr lang="es-419" dirty="0" err="1">
                <a:latin typeface="Consolas" panose="020B0609020204030204" pitchFamily="49" charset="0"/>
              </a:rPr>
              <a:t>ph</a:t>
            </a:r>
            <a:r>
              <a:rPr lang="es-419" dirty="0">
                <a:latin typeface="Consolas" panose="020B0609020204030204" pitchFamily="49" charset="0"/>
              </a:rPr>
              <a:t> =/= pm</a:t>
            </a:r>
          </a:p>
          <a:p>
            <a:pPr marL="0" indent="0">
              <a:lnSpc>
                <a:spcPct val="120000"/>
              </a:lnSpc>
              <a:buNone/>
            </a:pPr>
            <a:endParaRPr lang="es-419" dirty="0">
              <a:latin typeface="Consolas" panose="020B0609020204030204" pitchFamily="49" charset="0"/>
            </a:endParaRPr>
          </a:p>
          <a:p>
            <a:pPr marL="0" indent="0">
              <a:lnSpc>
                <a:spcPct val="120000"/>
              </a:lnSpc>
              <a:buNone/>
            </a:pPr>
            <a:r>
              <a:rPr lang="es-419" dirty="0">
                <a:latin typeface="Consolas" panose="020B0609020204030204" pitchFamily="49" charset="0"/>
              </a:rPr>
              <a:t>&gt; p_0 &lt;- (</a:t>
            </a:r>
            <a:r>
              <a:rPr lang="es-419" dirty="0" err="1">
                <a:latin typeface="Consolas" panose="020B0609020204030204" pitchFamily="49" charset="0"/>
              </a:rPr>
              <a:t>xh+ym</a:t>
            </a:r>
            <a:r>
              <a:rPr lang="es-419" dirty="0">
                <a:latin typeface="Consolas" panose="020B0609020204030204" pitchFamily="49" charset="0"/>
              </a:rPr>
              <a:t>)/(</a:t>
            </a:r>
            <a:r>
              <a:rPr lang="es-419" dirty="0" err="1">
                <a:latin typeface="Consolas" panose="020B0609020204030204" pitchFamily="49" charset="0"/>
              </a:rPr>
              <a:t>nh+nm</a:t>
            </a:r>
            <a:r>
              <a:rPr lang="es-419" dirty="0">
                <a:latin typeface="Consolas" panose="020B0609020204030204" pitchFamily="49" charset="0"/>
              </a:rPr>
              <a:t>)</a:t>
            </a:r>
          </a:p>
          <a:p>
            <a:pPr marL="0" indent="0">
              <a:lnSpc>
                <a:spcPct val="120000"/>
              </a:lnSpc>
              <a:buNone/>
            </a:pPr>
            <a:r>
              <a:rPr lang="es-419" dirty="0">
                <a:latin typeface="Consolas" panose="020B0609020204030204" pitchFamily="49" charset="0"/>
              </a:rPr>
              <a:t>&gt; p_0</a:t>
            </a:r>
          </a:p>
          <a:p>
            <a:pPr marL="0" indent="0">
              <a:lnSpc>
                <a:spcPct val="120000"/>
              </a:lnSpc>
              <a:buNone/>
            </a:pPr>
            <a:r>
              <a:rPr lang="es-419" dirty="0">
                <a:latin typeface="Consolas" panose="020B0609020204030204" pitchFamily="49" charset="0"/>
              </a:rPr>
              <a:t>[1] 0.1625</a:t>
            </a:r>
          </a:p>
        </p:txBody>
      </p:sp>
    </p:spTree>
    <p:extLst>
      <p:ext uri="{BB962C8B-B14F-4D97-AF65-F5344CB8AC3E}">
        <p14:creationId xmlns:p14="http://schemas.microsoft.com/office/powerpoint/2010/main" val="24099842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5C37-42A6-4690-89ED-F72E9605A2EA}"/>
              </a:ext>
            </a:extLst>
          </p:cNvPr>
          <p:cNvSpPr>
            <a:spLocks noGrp="1"/>
          </p:cNvSpPr>
          <p:nvPr>
            <p:ph type="title"/>
          </p:nvPr>
        </p:nvSpPr>
        <p:spPr/>
        <p:txBody>
          <a:bodyPr/>
          <a:lstStyle/>
          <a:p>
            <a:r>
              <a:rPr lang="es-419" dirty="0"/>
              <a:t>Propuesto 11.42</a:t>
            </a:r>
          </a:p>
        </p:txBody>
      </p:sp>
      <p:sp>
        <p:nvSpPr>
          <p:cNvPr id="3" name="Content Placeholder 2">
            <a:extLst>
              <a:ext uri="{FF2B5EF4-FFF2-40B4-BE49-F238E27FC236}">
                <a16:creationId xmlns:a16="http://schemas.microsoft.com/office/drawing/2014/main" id="{0065E2F9-9197-4690-A364-1E1C1827C995}"/>
              </a:ext>
            </a:extLst>
          </p:cNvPr>
          <p:cNvSpPr>
            <a:spLocks noGrp="1"/>
          </p:cNvSpPr>
          <p:nvPr>
            <p:ph idx="1"/>
          </p:nvPr>
        </p:nvSpPr>
        <p:spPr>
          <a:solidFill>
            <a:srgbClr val="E7E6E6">
              <a:alpha val="50196"/>
            </a:srgbClr>
          </a:solidFill>
        </p:spPr>
        <p:txBody>
          <a:bodyPr vert="horz" lIns="91440" tIns="45720" rIns="91440" bIns="45720" rtlCol="0">
            <a:normAutofit fontScale="47500" lnSpcReduction="20000"/>
          </a:bodyPr>
          <a:lstStyle/>
          <a:p>
            <a:pPr marL="0" indent="0">
              <a:lnSpc>
                <a:spcPct val="120000"/>
              </a:lnSpc>
              <a:buNone/>
            </a:pPr>
            <a:r>
              <a:rPr lang="es-419" dirty="0">
                <a:latin typeface="Consolas" panose="020B0609020204030204" pitchFamily="49" charset="0"/>
              </a:rPr>
              <a:t>&gt; #Metodo </a:t>
            </a:r>
            <a:r>
              <a:rPr lang="es-419" dirty="0" err="1">
                <a:latin typeface="Consolas" panose="020B0609020204030204" pitchFamily="49" charset="0"/>
              </a:rPr>
              <a:t>areas</a:t>
            </a:r>
            <a:r>
              <a:rPr lang="es-419" dirty="0">
                <a:latin typeface="Consolas" panose="020B0609020204030204" pitchFamily="49" charset="0"/>
              </a:rPr>
              <a:t> de </a:t>
            </a:r>
            <a:r>
              <a:rPr lang="es-419" dirty="0" err="1">
                <a:latin typeface="Consolas" panose="020B0609020204030204" pitchFamily="49" charset="0"/>
              </a:rPr>
              <a:t>rachazo</a:t>
            </a:r>
            <a:r>
              <a:rPr lang="es-419" dirty="0">
                <a:latin typeface="Consolas" panose="020B0609020204030204" pitchFamily="49" charset="0"/>
              </a:rPr>
              <a:t>: </a:t>
            </a:r>
            <a:r>
              <a:rPr lang="es-419" dirty="0" err="1">
                <a:latin typeface="Consolas" panose="020B0609020204030204" pitchFamily="49" charset="0"/>
              </a:rPr>
              <a:t>estadistico</a:t>
            </a:r>
            <a:endParaRPr lang="es-419" dirty="0">
              <a:latin typeface="Consolas" panose="020B0609020204030204" pitchFamily="49" charset="0"/>
            </a:endParaRPr>
          </a:p>
          <a:p>
            <a:pPr marL="0" indent="0">
              <a:lnSpc>
                <a:spcPct val="120000"/>
              </a:lnSpc>
              <a:buNone/>
            </a:pPr>
            <a:r>
              <a:rPr lang="es-419" dirty="0">
                <a:latin typeface="Consolas" panose="020B0609020204030204" pitchFamily="49" charset="0"/>
              </a:rPr>
              <a:t>&gt; z &lt;- (</a:t>
            </a:r>
            <a:r>
              <a:rPr lang="es-419" dirty="0" err="1">
                <a:latin typeface="Consolas" panose="020B0609020204030204" pitchFamily="49" charset="0"/>
              </a:rPr>
              <a:t>ph_hat</a:t>
            </a:r>
            <a:r>
              <a:rPr lang="es-419" dirty="0">
                <a:latin typeface="Consolas" panose="020B0609020204030204" pitchFamily="49" charset="0"/>
              </a:rPr>
              <a:t> - </a:t>
            </a:r>
            <a:r>
              <a:rPr lang="es-419" dirty="0" err="1">
                <a:latin typeface="Consolas" panose="020B0609020204030204" pitchFamily="49" charset="0"/>
              </a:rPr>
              <a:t>pm_hat</a:t>
            </a:r>
            <a:r>
              <a:rPr lang="es-419" dirty="0">
                <a:latin typeface="Consolas" panose="020B0609020204030204" pitchFamily="49" charset="0"/>
              </a:rPr>
              <a:t>)/</a:t>
            </a:r>
            <a:r>
              <a:rPr lang="es-419" dirty="0" err="1">
                <a:latin typeface="Consolas" panose="020B0609020204030204" pitchFamily="49" charset="0"/>
              </a:rPr>
              <a:t>sqrt</a:t>
            </a:r>
            <a:r>
              <a:rPr lang="es-419" dirty="0">
                <a:latin typeface="Consolas" panose="020B0609020204030204" pitchFamily="49" charset="0"/>
              </a:rPr>
              <a:t>(p_0*(1-p_0)*(1/</a:t>
            </a:r>
            <a:r>
              <a:rPr lang="es-419" dirty="0" err="1">
                <a:latin typeface="Consolas" panose="020B0609020204030204" pitchFamily="49" charset="0"/>
              </a:rPr>
              <a:t>nh</a:t>
            </a:r>
            <a:r>
              <a:rPr lang="es-419" dirty="0">
                <a:latin typeface="Consolas" panose="020B0609020204030204" pitchFamily="49" charset="0"/>
              </a:rPr>
              <a:t> + 1/nm))</a:t>
            </a:r>
          </a:p>
          <a:p>
            <a:pPr marL="0" indent="0">
              <a:lnSpc>
                <a:spcPct val="120000"/>
              </a:lnSpc>
              <a:buNone/>
            </a:pPr>
            <a:r>
              <a:rPr lang="es-419" dirty="0">
                <a:latin typeface="Consolas" panose="020B0609020204030204" pitchFamily="49" charset="0"/>
              </a:rPr>
              <a:t>&gt; z</a:t>
            </a:r>
          </a:p>
          <a:p>
            <a:pPr marL="0" indent="0">
              <a:lnSpc>
                <a:spcPct val="120000"/>
              </a:lnSpc>
              <a:buNone/>
            </a:pPr>
            <a:r>
              <a:rPr lang="es-419" dirty="0">
                <a:highlight>
                  <a:srgbClr val="FFFF00"/>
                </a:highlight>
                <a:latin typeface="Consolas" panose="020B0609020204030204" pitchFamily="49" charset="0"/>
              </a:rPr>
              <a:t>[1] -0.6776741</a:t>
            </a:r>
          </a:p>
          <a:p>
            <a:pPr marL="0" indent="0">
              <a:lnSpc>
                <a:spcPct val="120000"/>
              </a:lnSpc>
              <a:buNone/>
            </a:pPr>
            <a:endParaRPr lang="es-419" dirty="0">
              <a:latin typeface="Consolas" panose="020B0609020204030204" pitchFamily="49" charset="0"/>
            </a:endParaRPr>
          </a:p>
          <a:p>
            <a:pPr marL="0" indent="0">
              <a:lnSpc>
                <a:spcPct val="120000"/>
              </a:lnSpc>
              <a:buNone/>
            </a:pPr>
            <a:r>
              <a:rPr lang="es-419" dirty="0">
                <a:latin typeface="Consolas" panose="020B0609020204030204" pitchFamily="49" charset="0"/>
              </a:rPr>
              <a:t>&gt; lim_1 &lt;- </a:t>
            </a:r>
            <a:r>
              <a:rPr lang="es-419" dirty="0" err="1">
                <a:latin typeface="Consolas" panose="020B0609020204030204" pitchFamily="49" charset="0"/>
              </a:rPr>
              <a:t>qnorm</a:t>
            </a:r>
            <a:r>
              <a:rPr lang="es-419" dirty="0">
                <a:latin typeface="Consolas" panose="020B0609020204030204" pitchFamily="49" charset="0"/>
              </a:rPr>
              <a:t>(a/2, </a:t>
            </a:r>
            <a:r>
              <a:rPr lang="es-419" dirty="0" err="1">
                <a:latin typeface="Consolas" panose="020B0609020204030204" pitchFamily="49" charset="0"/>
              </a:rPr>
              <a:t>lower.tail</a:t>
            </a:r>
            <a:r>
              <a:rPr lang="es-419" dirty="0">
                <a:latin typeface="Consolas" panose="020B0609020204030204" pitchFamily="49" charset="0"/>
              </a:rPr>
              <a:t> = TRUE)</a:t>
            </a:r>
          </a:p>
          <a:p>
            <a:pPr marL="0" indent="0">
              <a:lnSpc>
                <a:spcPct val="120000"/>
              </a:lnSpc>
              <a:buNone/>
            </a:pPr>
            <a:r>
              <a:rPr lang="es-419" dirty="0">
                <a:latin typeface="Consolas" panose="020B0609020204030204" pitchFamily="49" charset="0"/>
              </a:rPr>
              <a:t>&gt; lim_1</a:t>
            </a:r>
          </a:p>
          <a:p>
            <a:pPr marL="0" indent="0">
              <a:lnSpc>
                <a:spcPct val="120000"/>
              </a:lnSpc>
              <a:buNone/>
            </a:pPr>
            <a:r>
              <a:rPr lang="es-419" dirty="0">
                <a:highlight>
                  <a:srgbClr val="FFFF00"/>
                </a:highlight>
                <a:latin typeface="Consolas" panose="020B0609020204030204" pitchFamily="49" charset="0"/>
              </a:rPr>
              <a:t>[1] -1.959964</a:t>
            </a:r>
          </a:p>
          <a:p>
            <a:pPr marL="0" indent="0">
              <a:lnSpc>
                <a:spcPct val="120000"/>
              </a:lnSpc>
              <a:buNone/>
            </a:pPr>
            <a:r>
              <a:rPr lang="es-419" dirty="0">
                <a:latin typeface="Consolas" panose="020B0609020204030204" pitchFamily="49" charset="0"/>
              </a:rPr>
              <a:t>&gt; lim_2 &lt;- </a:t>
            </a:r>
            <a:r>
              <a:rPr lang="es-419" dirty="0" err="1">
                <a:latin typeface="Consolas" panose="020B0609020204030204" pitchFamily="49" charset="0"/>
              </a:rPr>
              <a:t>qnorm</a:t>
            </a:r>
            <a:r>
              <a:rPr lang="es-419" dirty="0">
                <a:latin typeface="Consolas" panose="020B0609020204030204" pitchFamily="49" charset="0"/>
              </a:rPr>
              <a:t>(a/2, </a:t>
            </a:r>
            <a:r>
              <a:rPr lang="es-419" dirty="0" err="1">
                <a:latin typeface="Consolas" panose="020B0609020204030204" pitchFamily="49" charset="0"/>
              </a:rPr>
              <a:t>lower.tail</a:t>
            </a:r>
            <a:r>
              <a:rPr lang="es-419" dirty="0">
                <a:latin typeface="Consolas" panose="020B0609020204030204" pitchFamily="49" charset="0"/>
              </a:rPr>
              <a:t> = FALSE)</a:t>
            </a:r>
          </a:p>
          <a:p>
            <a:pPr marL="0" indent="0">
              <a:lnSpc>
                <a:spcPct val="120000"/>
              </a:lnSpc>
              <a:buNone/>
            </a:pPr>
            <a:r>
              <a:rPr lang="es-419" dirty="0">
                <a:latin typeface="Consolas" panose="020B0609020204030204" pitchFamily="49" charset="0"/>
              </a:rPr>
              <a:t>&gt; lim_2</a:t>
            </a:r>
          </a:p>
          <a:p>
            <a:pPr marL="0" indent="0">
              <a:lnSpc>
                <a:spcPct val="120000"/>
              </a:lnSpc>
              <a:buNone/>
            </a:pPr>
            <a:r>
              <a:rPr lang="es-419" dirty="0">
                <a:highlight>
                  <a:srgbClr val="FFFF00"/>
                </a:highlight>
                <a:latin typeface="Consolas" panose="020B0609020204030204" pitchFamily="49" charset="0"/>
              </a:rPr>
              <a:t>[1] 1.959964</a:t>
            </a:r>
          </a:p>
          <a:p>
            <a:pPr marL="0" indent="0">
              <a:lnSpc>
                <a:spcPct val="120000"/>
              </a:lnSpc>
              <a:buNone/>
            </a:pPr>
            <a:endParaRPr lang="es-419" dirty="0">
              <a:latin typeface="Consolas" panose="020B0609020204030204" pitchFamily="49" charset="0"/>
            </a:endParaRPr>
          </a:p>
          <a:p>
            <a:pPr marL="0" indent="0">
              <a:lnSpc>
                <a:spcPct val="120000"/>
              </a:lnSpc>
              <a:buNone/>
            </a:pPr>
            <a:r>
              <a:rPr lang="es-419" dirty="0">
                <a:latin typeface="Consolas" panose="020B0609020204030204" pitchFamily="49" charset="0"/>
              </a:rPr>
              <a:t>&gt; z &gt; lim_2</a:t>
            </a:r>
          </a:p>
          <a:p>
            <a:pPr marL="0" indent="0">
              <a:lnSpc>
                <a:spcPct val="120000"/>
              </a:lnSpc>
              <a:buNone/>
            </a:pPr>
            <a:r>
              <a:rPr lang="es-419" dirty="0">
                <a:latin typeface="Consolas" panose="020B0609020204030204" pitchFamily="49" charset="0"/>
              </a:rPr>
              <a:t>[1] FALSE</a:t>
            </a:r>
          </a:p>
          <a:p>
            <a:pPr marL="0" indent="0">
              <a:lnSpc>
                <a:spcPct val="120000"/>
              </a:lnSpc>
              <a:buNone/>
            </a:pPr>
            <a:r>
              <a:rPr lang="es-419" dirty="0">
                <a:latin typeface="Consolas" panose="020B0609020204030204" pitchFamily="49" charset="0"/>
              </a:rPr>
              <a:t>&gt; z &lt; lim_1</a:t>
            </a:r>
          </a:p>
          <a:p>
            <a:pPr marL="0" indent="0">
              <a:lnSpc>
                <a:spcPct val="120000"/>
              </a:lnSpc>
              <a:buNone/>
            </a:pPr>
            <a:r>
              <a:rPr lang="es-419" dirty="0">
                <a:latin typeface="Consolas" panose="020B0609020204030204" pitchFamily="49" charset="0"/>
              </a:rPr>
              <a:t>[1] FALSE</a:t>
            </a:r>
          </a:p>
        </p:txBody>
      </p:sp>
    </p:spTree>
    <p:extLst>
      <p:ext uri="{BB962C8B-B14F-4D97-AF65-F5344CB8AC3E}">
        <p14:creationId xmlns:p14="http://schemas.microsoft.com/office/powerpoint/2010/main" val="33175334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5C37-42A6-4690-89ED-F72E9605A2EA}"/>
              </a:ext>
            </a:extLst>
          </p:cNvPr>
          <p:cNvSpPr>
            <a:spLocks noGrp="1"/>
          </p:cNvSpPr>
          <p:nvPr>
            <p:ph type="title"/>
          </p:nvPr>
        </p:nvSpPr>
        <p:spPr/>
        <p:txBody>
          <a:bodyPr/>
          <a:lstStyle/>
          <a:p>
            <a:r>
              <a:rPr lang="es-419" dirty="0"/>
              <a:t>Propuesto 11.42</a:t>
            </a:r>
          </a:p>
        </p:txBody>
      </p:sp>
      <p:sp>
        <p:nvSpPr>
          <p:cNvPr id="3" name="Content Placeholder 2">
            <a:extLst>
              <a:ext uri="{FF2B5EF4-FFF2-40B4-BE49-F238E27FC236}">
                <a16:creationId xmlns:a16="http://schemas.microsoft.com/office/drawing/2014/main" id="{0065E2F9-9197-4690-A364-1E1C1827C995}"/>
              </a:ext>
            </a:extLst>
          </p:cNvPr>
          <p:cNvSpPr>
            <a:spLocks noGrp="1"/>
          </p:cNvSpPr>
          <p:nvPr>
            <p:ph idx="1"/>
          </p:nvPr>
        </p:nvSpPr>
        <p:spPr>
          <a:solidFill>
            <a:srgbClr val="E7E6E6">
              <a:alpha val="50196"/>
            </a:srgbClr>
          </a:solidFill>
        </p:spPr>
        <p:txBody>
          <a:bodyPr vert="horz" lIns="91440" tIns="45720" rIns="91440" bIns="45720" rtlCol="0">
            <a:normAutofit fontScale="85000" lnSpcReduction="20000"/>
          </a:bodyPr>
          <a:lstStyle/>
          <a:p>
            <a:pPr marL="0" indent="0">
              <a:lnSpc>
                <a:spcPct val="120000"/>
              </a:lnSpc>
              <a:buNone/>
            </a:pPr>
            <a:r>
              <a:rPr lang="es-419" sz="2700" dirty="0">
                <a:latin typeface="Consolas" panose="020B0609020204030204" pitchFamily="49" charset="0"/>
              </a:rPr>
              <a:t>&gt; #Metodo p-valor</a:t>
            </a:r>
          </a:p>
          <a:p>
            <a:pPr marL="0" indent="0">
              <a:lnSpc>
                <a:spcPct val="120000"/>
              </a:lnSpc>
              <a:buNone/>
            </a:pPr>
            <a:r>
              <a:rPr lang="es-419" sz="2700" dirty="0">
                <a:latin typeface="Consolas" panose="020B0609020204030204" pitchFamily="49" charset="0"/>
              </a:rPr>
              <a:t>&gt; z &lt;- (</a:t>
            </a:r>
            <a:r>
              <a:rPr lang="es-419" sz="2700" dirty="0" err="1">
                <a:latin typeface="Consolas" panose="020B0609020204030204" pitchFamily="49" charset="0"/>
              </a:rPr>
              <a:t>ph_hat</a:t>
            </a:r>
            <a:r>
              <a:rPr lang="es-419" sz="2700" dirty="0">
                <a:latin typeface="Consolas" panose="020B0609020204030204" pitchFamily="49" charset="0"/>
              </a:rPr>
              <a:t> - </a:t>
            </a:r>
            <a:r>
              <a:rPr lang="es-419" sz="2700" dirty="0" err="1">
                <a:latin typeface="Consolas" panose="020B0609020204030204" pitchFamily="49" charset="0"/>
              </a:rPr>
              <a:t>pm_hat</a:t>
            </a:r>
            <a:r>
              <a:rPr lang="es-419" sz="2700" dirty="0">
                <a:latin typeface="Consolas" panose="020B0609020204030204" pitchFamily="49" charset="0"/>
              </a:rPr>
              <a:t>)/</a:t>
            </a:r>
            <a:r>
              <a:rPr lang="es-419" sz="2700" dirty="0" err="1">
                <a:latin typeface="Consolas" panose="020B0609020204030204" pitchFamily="49" charset="0"/>
              </a:rPr>
              <a:t>sqrt</a:t>
            </a:r>
            <a:r>
              <a:rPr lang="es-419" sz="2700" dirty="0">
                <a:latin typeface="Consolas" panose="020B0609020204030204" pitchFamily="49" charset="0"/>
              </a:rPr>
              <a:t>(p_0*(1-p_0)*(1/</a:t>
            </a:r>
            <a:r>
              <a:rPr lang="es-419" sz="2700" dirty="0" err="1">
                <a:latin typeface="Consolas" panose="020B0609020204030204" pitchFamily="49" charset="0"/>
              </a:rPr>
              <a:t>nh</a:t>
            </a:r>
            <a:r>
              <a:rPr lang="es-419" sz="2700" dirty="0">
                <a:latin typeface="Consolas" panose="020B0609020204030204" pitchFamily="49" charset="0"/>
              </a:rPr>
              <a:t> + 1/nm))</a:t>
            </a:r>
          </a:p>
          <a:p>
            <a:pPr marL="0" indent="0">
              <a:lnSpc>
                <a:spcPct val="120000"/>
              </a:lnSpc>
              <a:buNone/>
            </a:pPr>
            <a:r>
              <a:rPr lang="es-419" sz="2700" dirty="0">
                <a:latin typeface="Consolas" panose="020B0609020204030204" pitchFamily="49" charset="0"/>
              </a:rPr>
              <a:t>&gt; z</a:t>
            </a:r>
          </a:p>
          <a:p>
            <a:pPr marL="0" indent="0">
              <a:lnSpc>
                <a:spcPct val="120000"/>
              </a:lnSpc>
              <a:buNone/>
            </a:pPr>
            <a:r>
              <a:rPr lang="es-419" sz="2700" dirty="0">
                <a:latin typeface="Consolas" panose="020B0609020204030204" pitchFamily="49" charset="0"/>
              </a:rPr>
              <a:t>[1] -0.6776741</a:t>
            </a:r>
          </a:p>
          <a:p>
            <a:pPr marL="0" indent="0">
              <a:lnSpc>
                <a:spcPct val="120000"/>
              </a:lnSpc>
              <a:buNone/>
            </a:pPr>
            <a:endParaRPr lang="es-419" sz="2700" dirty="0">
              <a:latin typeface="Consolas" panose="020B0609020204030204" pitchFamily="49" charset="0"/>
            </a:endParaRPr>
          </a:p>
          <a:p>
            <a:pPr marL="0" indent="0">
              <a:lnSpc>
                <a:spcPct val="120000"/>
              </a:lnSpc>
              <a:buNone/>
            </a:pPr>
            <a:r>
              <a:rPr lang="es-419" sz="2700" dirty="0">
                <a:latin typeface="Consolas" panose="020B0609020204030204" pitchFamily="49" charset="0"/>
              </a:rPr>
              <a:t>&gt; </a:t>
            </a:r>
            <a:r>
              <a:rPr lang="es-419" sz="2700" dirty="0" err="1">
                <a:latin typeface="Consolas" panose="020B0609020204030204" pitchFamily="49" charset="0"/>
              </a:rPr>
              <a:t>p_valor</a:t>
            </a:r>
            <a:r>
              <a:rPr lang="es-419" sz="2700" dirty="0">
                <a:latin typeface="Consolas" panose="020B0609020204030204" pitchFamily="49" charset="0"/>
              </a:rPr>
              <a:t> &lt;- </a:t>
            </a:r>
            <a:r>
              <a:rPr lang="es-419" sz="2700" dirty="0" err="1">
                <a:latin typeface="Consolas" panose="020B0609020204030204" pitchFamily="49" charset="0"/>
              </a:rPr>
              <a:t>pnorm</a:t>
            </a:r>
            <a:r>
              <a:rPr lang="es-419" sz="2700" dirty="0">
                <a:latin typeface="Consolas" panose="020B0609020204030204" pitchFamily="49" charset="0"/>
              </a:rPr>
              <a:t>(z, </a:t>
            </a:r>
            <a:r>
              <a:rPr lang="es-419" sz="2700" dirty="0" err="1">
                <a:latin typeface="Consolas" panose="020B0609020204030204" pitchFamily="49" charset="0"/>
              </a:rPr>
              <a:t>lower.tail</a:t>
            </a:r>
            <a:r>
              <a:rPr lang="es-419" sz="2700" dirty="0">
                <a:latin typeface="Consolas" panose="020B0609020204030204" pitchFamily="49" charset="0"/>
              </a:rPr>
              <a:t> = TRUE)*2</a:t>
            </a:r>
          </a:p>
          <a:p>
            <a:pPr marL="0" indent="0">
              <a:lnSpc>
                <a:spcPct val="120000"/>
              </a:lnSpc>
              <a:buNone/>
            </a:pPr>
            <a:r>
              <a:rPr lang="es-419" sz="2700" dirty="0">
                <a:latin typeface="Consolas" panose="020B0609020204030204" pitchFamily="49" charset="0"/>
              </a:rPr>
              <a:t>&gt; </a:t>
            </a:r>
            <a:r>
              <a:rPr lang="es-419" sz="2700" dirty="0" err="1">
                <a:latin typeface="Consolas" panose="020B0609020204030204" pitchFamily="49" charset="0"/>
              </a:rPr>
              <a:t>p_valor</a:t>
            </a:r>
            <a:endParaRPr lang="es-419" sz="2700" dirty="0">
              <a:latin typeface="Consolas" panose="020B0609020204030204" pitchFamily="49" charset="0"/>
            </a:endParaRPr>
          </a:p>
          <a:p>
            <a:pPr marL="0" indent="0">
              <a:lnSpc>
                <a:spcPct val="120000"/>
              </a:lnSpc>
              <a:buNone/>
            </a:pPr>
            <a:r>
              <a:rPr lang="es-419" sz="2700" dirty="0">
                <a:highlight>
                  <a:srgbClr val="FFFF00"/>
                </a:highlight>
                <a:latin typeface="Consolas" panose="020B0609020204030204" pitchFamily="49" charset="0"/>
              </a:rPr>
              <a:t>[1] 0.4979783</a:t>
            </a:r>
          </a:p>
          <a:p>
            <a:pPr marL="0" indent="0">
              <a:lnSpc>
                <a:spcPct val="120000"/>
              </a:lnSpc>
              <a:buNone/>
            </a:pPr>
            <a:endParaRPr lang="es-419" sz="2700" dirty="0">
              <a:latin typeface="Consolas" panose="020B0609020204030204" pitchFamily="49" charset="0"/>
            </a:endParaRPr>
          </a:p>
          <a:p>
            <a:pPr marL="0" indent="0">
              <a:lnSpc>
                <a:spcPct val="120000"/>
              </a:lnSpc>
              <a:buNone/>
            </a:pPr>
            <a:r>
              <a:rPr lang="es-419" sz="2700" dirty="0">
                <a:latin typeface="Consolas" panose="020B0609020204030204" pitchFamily="49" charset="0"/>
              </a:rPr>
              <a:t>&gt; </a:t>
            </a:r>
            <a:r>
              <a:rPr lang="es-419" sz="2700" dirty="0" err="1">
                <a:latin typeface="Consolas" panose="020B0609020204030204" pitchFamily="49" charset="0"/>
              </a:rPr>
              <a:t>p_valor</a:t>
            </a:r>
            <a:r>
              <a:rPr lang="es-419" sz="2700" dirty="0">
                <a:latin typeface="Consolas" panose="020B0609020204030204" pitchFamily="49" charset="0"/>
              </a:rPr>
              <a:t> &lt; a</a:t>
            </a:r>
          </a:p>
          <a:p>
            <a:pPr marL="0" indent="0">
              <a:lnSpc>
                <a:spcPct val="120000"/>
              </a:lnSpc>
              <a:buNone/>
            </a:pPr>
            <a:r>
              <a:rPr lang="es-419" sz="2700" dirty="0">
                <a:highlight>
                  <a:srgbClr val="FFFF00"/>
                </a:highlight>
                <a:latin typeface="Consolas" panose="020B0609020204030204" pitchFamily="49" charset="0"/>
              </a:rPr>
              <a:t>[1] FALSE</a:t>
            </a:r>
          </a:p>
        </p:txBody>
      </p:sp>
    </p:spTree>
    <p:extLst>
      <p:ext uri="{BB962C8B-B14F-4D97-AF65-F5344CB8AC3E}">
        <p14:creationId xmlns:p14="http://schemas.microsoft.com/office/powerpoint/2010/main" val="37293423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4357B-7739-64ED-CF4A-BEB18B31C762}"/>
              </a:ext>
            </a:extLst>
          </p:cNvPr>
          <p:cNvSpPr>
            <a:spLocks noGrp="1"/>
          </p:cNvSpPr>
          <p:nvPr>
            <p:ph type="title"/>
          </p:nvPr>
        </p:nvSpPr>
        <p:spPr/>
        <p:txBody>
          <a:bodyPr/>
          <a:lstStyle/>
          <a:p>
            <a:r>
              <a:rPr lang="es-VE" dirty="0"/>
              <a:t>Mensaje principal</a:t>
            </a:r>
          </a:p>
        </p:txBody>
      </p:sp>
      <p:sp>
        <p:nvSpPr>
          <p:cNvPr id="3" name="Marcador de contenido 2">
            <a:extLst>
              <a:ext uri="{FF2B5EF4-FFF2-40B4-BE49-F238E27FC236}">
                <a16:creationId xmlns:a16="http://schemas.microsoft.com/office/drawing/2014/main" id="{9478D337-D951-332A-AC1D-6135DA1A7AA2}"/>
              </a:ext>
            </a:extLst>
          </p:cNvPr>
          <p:cNvSpPr>
            <a:spLocks noGrp="1"/>
          </p:cNvSpPr>
          <p:nvPr>
            <p:ph idx="1"/>
          </p:nvPr>
        </p:nvSpPr>
        <p:spPr/>
        <p:txBody>
          <a:bodyPr>
            <a:normAutofit/>
          </a:bodyPr>
          <a:lstStyle/>
          <a:p>
            <a:pPr marL="0" indent="0" algn="ctr">
              <a:lnSpc>
                <a:spcPct val="150000"/>
              </a:lnSpc>
              <a:buNone/>
            </a:pPr>
            <a:endParaRPr lang="es-VE" sz="2400" i="1" dirty="0"/>
          </a:p>
          <a:p>
            <a:pPr marL="0" indent="0" algn="ctr">
              <a:lnSpc>
                <a:spcPct val="150000"/>
              </a:lnSpc>
              <a:buNone/>
            </a:pPr>
            <a:endParaRPr lang="es-VE" sz="2400" i="1" dirty="0"/>
          </a:p>
          <a:p>
            <a:pPr marL="0" indent="0" algn="ctr">
              <a:lnSpc>
                <a:spcPct val="150000"/>
              </a:lnSpc>
              <a:buNone/>
            </a:pPr>
            <a:r>
              <a:rPr lang="es-VE" sz="2400" i="1" dirty="0"/>
              <a:t>Para muchos parámetros poblacionales, se pueden plantear contrastes a partir de estadísticos con distribuciones conocidas y trabajar con ellos de forma estandarizada.</a:t>
            </a:r>
          </a:p>
          <a:p>
            <a:pPr marL="0" indent="0" algn="ctr">
              <a:lnSpc>
                <a:spcPct val="150000"/>
              </a:lnSpc>
              <a:buNone/>
            </a:pPr>
            <a:endParaRPr lang="es-VE" i="1" dirty="0"/>
          </a:p>
          <a:p>
            <a:pPr marL="0" indent="0" algn="ctr">
              <a:lnSpc>
                <a:spcPct val="150000"/>
              </a:lnSpc>
              <a:buNone/>
            </a:pPr>
            <a:endParaRPr lang="es-VE" i="1" dirty="0"/>
          </a:p>
        </p:txBody>
      </p:sp>
    </p:spTree>
    <p:extLst>
      <p:ext uri="{BB962C8B-B14F-4D97-AF65-F5344CB8AC3E}">
        <p14:creationId xmlns:p14="http://schemas.microsoft.com/office/powerpoint/2010/main" val="28871191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1CB5B7C-2524-4454-BA98-4C573E5FA2D4}"/>
              </a:ext>
            </a:extLst>
          </p:cNvPr>
          <p:cNvSpPr>
            <a:spLocks noGrp="1"/>
          </p:cNvSpPr>
          <p:nvPr>
            <p:ph idx="1"/>
          </p:nvPr>
        </p:nvSpPr>
        <p:spPr/>
        <p:txBody>
          <a:bodyPr/>
          <a:lstStyle/>
          <a:p>
            <a:pPr marL="0" indent="0" algn="ctr">
              <a:buNone/>
            </a:pPr>
            <a:endParaRPr lang="es-419" dirty="0"/>
          </a:p>
          <a:p>
            <a:pPr marL="0" indent="0" algn="ctr">
              <a:buNone/>
            </a:pPr>
            <a:endParaRPr lang="es-419" dirty="0"/>
          </a:p>
          <a:p>
            <a:pPr marL="0" indent="0" algn="ctr">
              <a:buNone/>
            </a:pPr>
            <a:endParaRPr lang="es-419" dirty="0"/>
          </a:p>
          <a:p>
            <a:pPr marL="0" indent="0" algn="ctr">
              <a:buNone/>
            </a:pPr>
            <a:endParaRPr lang="es-419" dirty="0"/>
          </a:p>
          <a:p>
            <a:pPr marL="0" indent="0" algn="ctr">
              <a:buNone/>
            </a:pPr>
            <a:r>
              <a:rPr lang="es-419" dirty="0"/>
              <a:t>Giorgio Cunto Morales</a:t>
            </a:r>
          </a:p>
          <a:p>
            <a:pPr marL="0" indent="0" algn="ctr">
              <a:buNone/>
            </a:pPr>
            <a:r>
              <a:rPr lang="es-419" sz="2400" dirty="0">
                <a:hlinkClick r:id="rId2"/>
              </a:rPr>
              <a:t>gcuntomo@ucab.edu.ve</a:t>
            </a:r>
            <a:r>
              <a:rPr lang="es-419" sz="2400" dirty="0"/>
              <a:t> | </a:t>
            </a:r>
            <a:r>
              <a:rPr lang="en-US" sz="2400" dirty="0">
                <a:hlinkClick r:id="rId3"/>
              </a:rPr>
              <a:t>https://www.linkedin.com/in/giorgiocmorales/</a:t>
            </a:r>
            <a:endParaRPr lang="en-US" sz="2400" dirty="0"/>
          </a:p>
        </p:txBody>
      </p:sp>
    </p:spTree>
    <p:extLst>
      <p:ext uri="{BB962C8B-B14F-4D97-AF65-F5344CB8AC3E}">
        <p14:creationId xmlns:p14="http://schemas.microsoft.com/office/powerpoint/2010/main" val="1398922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29756</TotalTime>
  <Words>6023</Words>
  <Application>Microsoft Office PowerPoint</Application>
  <PresentationFormat>Widescreen</PresentationFormat>
  <Paragraphs>725</Paragraphs>
  <Slides>85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Cambria Math</vt:lpstr>
      <vt:lpstr>Consolas</vt:lpstr>
      <vt:lpstr>Georgia</vt:lpstr>
      <vt:lpstr>Office Theme</vt:lpstr>
      <vt:lpstr>PowerPoint Presentation</vt:lpstr>
      <vt:lpstr>Mensaje principal</vt:lpstr>
      <vt:lpstr>Contrastes para parámetros determinados</vt:lpstr>
      <vt:lpstr>Pasos a tener en cuenta cuando se realiza un contraste</vt:lpstr>
      <vt:lpstr>Contraste para la media de una población</vt:lpstr>
      <vt:lpstr>Contraste para la media de una población</vt:lpstr>
      <vt:lpstr>Contraste para la media de una población (σ^2 conocida)</vt:lpstr>
      <vt:lpstr>Contraste para la media de una población</vt:lpstr>
      <vt:lpstr>Contraste para la media de una población (σ^2 desconocida)</vt:lpstr>
      <vt:lpstr>Ejemplo 11.1</vt:lpstr>
      <vt:lpstr>Ejemplo 11.1</vt:lpstr>
      <vt:lpstr>Ejemplo 11.1</vt:lpstr>
      <vt:lpstr>Ejemplo 11.1</vt:lpstr>
      <vt:lpstr>Resuelto 11.4</vt:lpstr>
      <vt:lpstr>Resuelto 11.4</vt:lpstr>
      <vt:lpstr>Resuelto 11.4</vt:lpstr>
      <vt:lpstr>Determinar tamaño de muestra</vt:lpstr>
      <vt:lpstr>Determinar tamaño de muestra</vt:lpstr>
      <vt:lpstr>Determinar tamaño de muestra</vt:lpstr>
      <vt:lpstr>Determinar tamaño de muestra</vt:lpstr>
      <vt:lpstr>Determinar tamaño de muestra</vt:lpstr>
      <vt:lpstr>Determinar tamaño de muestra</vt:lpstr>
      <vt:lpstr>Determinar tamaño de muestra</vt:lpstr>
      <vt:lpstr>Contraste para diferencia de medias poblacionales</vt:lpstr>
      <vt:lpstr>Contraste para la diferencia de medias poblacionales</vt:lpstr>
      <vt:lpstr>Contraste para la diferencia de medias poblacionales</vt:lpstr>
      <vt:lpstr>Resuelto 11.10</vt:lpstr>
      <vt:lpstr>Resuelto 11.10</vt:lpstr>
      <vt:lpstr>Resuelto 11.10</vt:lpstr>
      <vt:lpstr>Contraste para la diferencia de medias poblacionales</vt:lpstr>
      <vt:lpstr>Contraste para la diferencia de medias poblacionales</vt:lpstr>
      <vt:lpstr>Propuesto 11.27</vt:lpstr>
      <vt:lpstr>Resuelto 11.27</vt:lpstr>
      <vt:lpstr>Resuelto 11.27</vt:lpstr>
      <vt:lpstr>Contraste para la diferencia de medias poblacionales</vt:lpstr>
      <vt:lpstr>Contraste para la diferencia de medias poblacionales</vt:lpstr>
      <vt:lpstr>Propuesto 11.19</vt:lpstr>
      <vt:lpstr>Propuesto 11.19</vt:lpstr>
      <vt:lpstr>Propuesto 11.19</vt:lpstr>
      <vt:lpstr>Contraste para varianza de una población</vt:lpstr>
      <vt:lpstr>Contraste para la varianza poblacional (normal)</vt:lpstr>
      <vt:lpstr>Contraste para la varianza poblacional (normal)</vt:lpstr>
      <vt:lpstr>Contraste para la diferencias de varianzas poblacionales</vt:lpstr>
      <vt:lpstr>Propuesto 11.24</vt:lpstr>
      <vt:lpstr>Propuesto 11.24</vt:lpstr>
      <vt:lpstr>Propuesto 11.24</vt:lpstr>
      <vt:lpstr>Propuesto 11.24</vt:lpstr>
      <vt:lpstr>Propuesto 11.61</vt:lpstr>
      <vt:lpstr>Propuesto 11.61</vt:lpstr>
      <vt:lpstr>Propuesto 11.61</vt:lpstr>
      <vt:lpstr>Contraste para diferencia de varianzas poblacionales</vt:lpstr>
      <vt:lpstr>Contraste para la diferencias de varianzas poblacionales</vt:lpstr>
      <vt:lpstr>Contraste para la diferencias de varianzas poblacionales</vt:lpstr>
      <vt:lpstr>Propuesto 11.62</vt:lpstr>
      <vt:lpstr>Propuesto 11.62</vt:lpstr>
      <vt:lpstr>Propuesto 11.62</vt:lpstr>
      <vt:lpstr>Propuesto 11.63</vt:lpstr>
      <vt:lpstr>Propuesto 11.63</vt:lpstr>
      <vt:lpstr>Propuesto 11.63</vt:lpstr>
      <vt:lpstr>Contraste para una proporción poblacional</vt:lpstr>
      <vt:lpstr>Contraste para proporción poblacional</vt:lpstr>
      <vt:lpstr>Contraste para proporción poblacional</vt:lpstr>
      <vt:lpstr>Propuesto 11.39</vt:lpstr>
      <vt:lpstr>Propuesto 11.39</vt:lpstr>
      <vt:lpstr>Propuesto 11.39</vt:lpstr>
      <vt:lpstr>Propuesto 11.39</vt:lpstr>
      <vt:lpstr>Propuesto 11.30</vt:lpstr>
      <vt:lpstr>Propuesto 11.30</vt:lpstr>
      <vt:lpstr>Propuesto 11.30</vt:lpstr>
      <vt:lpstr>Propuesto 11.30</vt:lpstr>
      <vt:lpstr>Propuesto 11.30</vt:lpstr>
      <vt:lpstr>Propuesto 11.32</vt:lpstr>
      <vt:lpstr>Propuesto 11.32</vt:lpstr>
      <vt:lpstr>Propuesto 11.32</vt:lpstr>
      <vt:lpstr>Propuesto 11.32</vt:lpstr>
      <vt:lpstr>Contraste para diferencia de proporciones poblacionales</vt:lpstr>
      <vt:lpstr>Contraste para diferencia de proporciones poblacionales</vt:lpstr>
      <vt:lpstr>Contraste para diferencia de proporciones poblacionales</vt:lpstr>
      <vt:lpstr>Contraste para proporción poblacional</vt:lpstr>
      <vt:lpstr>Propuesto 11.42</vt:lpstr>
      <vt:lpstr>Propuesto 11.42</vt:lpstr>
      <vt:lpstr>Propuesto 11.42</vt:lpstr>
      <vt:lpstr>Propuesto 11.42</vt:lpstr>
      <vt:lpstr>Mensaje principal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Giorgio C Morales</dc:creator>
  <cp:lastModifiedBy>Giorgio Cunto Morales</cp:lastModifiedBy>
  <cp:revision>433</cp:revision>
  <dcterms:created xsi:type="dcterms:W3CDTF">2020-04-17T00:45:03Z</dcterms:created>
  <dcterms:modified xsi:type="dcterms:W3CDTF">2023-06-18T20:21:07Z</dcterms:modified>
</cp:coreProperties>
</file>