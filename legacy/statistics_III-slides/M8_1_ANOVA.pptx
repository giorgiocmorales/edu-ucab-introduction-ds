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80" r:id="rId3"/>
    <p:sldId id="295" r:id="rId4"/>
    <p:sldId id="462" r:id="rId5"/>
    <p:sldId id="257" r:id="rId6"/>
    <p:sldId id="280" r:id="rId7"/>
    <p:sldId id="285" r:id="rId8"/>
    <p:sldId id="292" r:id="rId9"/>
    <p:sldId id="296" r:id="rId10"/>
    <p:sldId id="279" r:id="rId11"/>
    <p:sldId id="282" r:id="rId12"/>
    <p:sldId id="287" r:id="rId13"/>
    <p:sldId id="290" r:id="rId14"/>
    <p:sldId id="293" r:id="rId15"/>
    <p:sldId id="294" r:id="rId16"/>
    <p:sldId id="298" r:id="rId17"/>
    <p:sldId id="299" r:id="rId18"/>
    <p:sldId id="300" r:id="rId19"/>
    <p:sldId id="286" r:id="rId20"/>
    <p:sldId id="463" r:id="rId21"/>
    <p:sldId id="281" r:id="rId22"/>
    <p:sldId id="291" r:id="rId23"/>
    <p:sldId id="301" r:id="rId24"/>
    <p:sldId id="303" r:id="rId25"/>
    <p:sldId id="284" r:id="rId26"/>
    <p:sldId id="304" r:id="rId27"/>
    <p:sldId id="305" r:id="rId28"/>
    <p:sldId id="306" r:id="rId29"/>
    <p:sldId id="307" r:id="rId30"/>
    <p:sldId id="308" r:id="rId31"/>
    <p:sldId id="283" r:id="rId32"/>
    <p:sldId id="278" r:id="rId33"/>
    <p:sldId id="309" r:id="rId34"/>
    <p:sldId id="311" r:id="rId35"/>
    <p:sldId id="312" r:id="rId36"/>
    <p:sldId id="313" r:id="rId37"/>
    <p:sldId id="314" r:id="rId38"/>
    <p:sldId id="315" r:id="rId39"/>
    <p:sldId id="316" r:id="rId40"/>
    <p:sldId id="464" r:id="rId41"/>
    <p:sldId id="317" r:id="rId42"/>
    <p:sldId id="318" r:id="rId43"/>
    <p:sldId id="319" r:id="rId44"/>
    <p:sldId id="465" r:id="rId45"/>
    <p:sldId id="581" r:id="rId46"/>
    <p:sldId id="27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5D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4" autoAdjust="0"/>
    <p:restoredTop sz="94206" autoAdjust="0"/>
  </p:normalViewPr>
  <p:slideViewPr>
    <p:cSldViewPr snapToGrid="0">
      <p:cViewPr varScale="1">
        <p:scale>
          <a:sx n="67" d="100"/>
          <a:sy n="67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Análisis de Varianza (ANOVA)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Contraste para comparar varias medias poblacionales a la vez analizando la variabilidad de grupos muestrales.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 Esa variabilidad puedes descomponerse entre grupos y dentro de grupos.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Operativamente, volvemos a (des)probar una hipótesis nula.</a:t>
            </a: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124192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ANOVA y la suma de cuadrados</a:t>
            </a:r>
          </a:p>
        </p:txBody>
      </p:sp>
    </p:spTree>
    <p:extLst>
      <p:ext uri="{BB962C8B-B14F-4D97-AF65-F5344CB8AC3E}">
        <p14:creationId xmlns:p14="http://schemas.microsoft.com/office/powerpoint/2010/main" val="198674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¿Qué es ANOVA y cuál es su objetivo?</a:t>
            </a:r>
          </a:p>
        </p:txBody>
      </p:sp>
    </p:spTree>
    <p:extLst>
      <p:ext uri="{BB962C8B-B14F-4D97-AF65-F5344CB8AC3E}">
        <p14:creationId xmlns:p14="http://schemas.microsoft.com/office/powerpoint/2010/main" val="202201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al análisis</a:t>
            </a:r>
            <a:r>
              <a:rPr lang="en-US" dirty="0"/>
              <a:t> de </a:t>
            </a:r>
            <a:r>
              <a:rPr lang="es-419" dirty="0"/>
              <a:t>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419" sz="2000" dirty="0"/>
              <a:t>En capítulos anteriores se trató la estimación y contraste de hipótesis para comparar dos medias poblacionales </a:t>
            </a:r>
            <a:r>
              <a:rPr lang="el-GR" sz="2000" i="1" dirty="0"/>
              <a:t>μ</a:t>
            </a:r>
            <a:r>
              <a:rPr lang="en-US" sz="2000" i="1" baseline="-25000" dirty="0"/>
              <a:t>x</a:t>
            </a:r>
            <a:r>
              <a:rPr lang="en-US" sz="2000" i="1" dirty="0"/>
              <a:t> </a:t>
            </a:r>
            <a:r>
              <a:rPr lang="en-US" sz="2000" dirty="0"/>
              <a:t>y </a:t>
            </a:r>
            <a:r>
              <a:rPr lang="el-GR" sz="2000" i="1" dirty="0"/>
              <a:t>μ</a:t>
            </a:r>
            <a:r>
              <a:rPr lang="en-US" sz="2000" i="1" baseline="-25000" dirty="0"/>
              <a:t>y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s-419" sz="2000" dirty="0"/>
              <a:t>Repetir el mismo proceso de análisis por pares para más medias es tedioso y propenso a error.</a:t>
            </a:r>
          </a:p>
          <a:p>
            <a:pPr>
              <a:lnSpc>
                <a:spcPct val="150000"/>
              </a:lnSpc>
            </a:pPr>
            <a:r>
              <a:rPr lang="es-419" sz="2000" dirty="0"/>
              <a:t>Se puede formalizar un método para analizar de forma simultánea varias medias </a:t>
            </a:r>
            <a:r>
              <a:rPr lang="el-GR" sz="2000" i="1" dirty="0"/>
              <a:t>μ</a:t>
            </a:r>
            <a:r>
              <a:rPr lang="en-US" sz="2000" i="1" baseline="-25000" dirty="0"/>
              <a:t>1, </a:t>
            </a:r>
            <a:r>
              <a:rPr lang="el-GR" sz="2000" i="1" dirty="0"/>
              <a:t>μ</a:t>
            </a:r>
            <a:r>
              <a:rPr lang="en-US" sz="2000" i="1" baseline="-25000" dirty="0"/>
              <a:t>2, </a:t>
            </a:r>
            <a:r>
              <a:rPr lang="el-GR" sz="2000" i="1" dirty="0"/>
              <a:t>μ</a:t>
            </a:r>
            <a:r>
              <a:rPr lang="en-US" sz="2000" i="1" baseline="-25000" dirty="0"/>
              <a:t>3 …. </a:t>
            </a:r>
            <a:r>
              <a:rPr lang="el-GR" sz="2000" i="1" dirty="0"/>
              <a:t>μ</a:t>
            </a:r>
            <a:r>
              <a:rPr lang="en-US" sz="2000" i="1" baseline="-25000" dirty="0"/>
              <a:t>k.</a:t>
            </a:r>
            <a:r>
              <a:rPr lang="es-419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s-419" sz="2000" dirty="0"/>
              <a:t>Se emplea de una técnica llamada </a:t>
            </a:r>
            <a:r>
              <a:rPr lang="es-419" sz="2000" i="1" dirty="0"/>
              <a:t>análisis de varianza </a:t>
            </a:r>
            <a:r>
              <a:rPr lang="es-419" sz="2000" dirty="0"/>
              <a:t>o</a:t>
            </a:r>
            <a:r>
              <a:rPr lang="es-419" sz="2000" i="1" dirty="0"/>
              <a:t> </a:t>
            </a:r>
            <a:r>
              <a:rPr lang="es-419" sz="2000" b="1" i="1" dirty="0">
                <a:solidFill>
                  <a:srgbClr val="003A5D"/>
                </a:solidFill>
              </a:rPr>
              <a:t>ANOVA </a:t>
            </a:r>
            <a:r>
              <a:rPr lang="es-419" sz="2000" dirty="0"/>
              <a:t>por sus siglas en inglés. (“</a:t>
            </a:r>
            <a:r>
              <a:rPr lang="es-419" sz="2000" b="1" dirty="0" err="1"/>
              <a:t>AN</a:t>
            </a:r>
            <a:r>
              <a:rPr lang="es-419" sz="2000" dirty="0" err="1"/>
              <a:t>alysis</a:t>
            </a:r>
            <a:r>
              <a:rPr lang="es-419" sz="2000" dirty="0"/>
              <a:t> </a:t>
            </a:r>
            <a:r>
              <a:rPr lang="es-419" sz="2000" b="1" dirty="0" err="1"/>
              <a:t>O</a:t>
            </a:r>
            <a:r>
              <a:rPr lang="es-419" sz="2000" dirty="0" err="1"/>
              <a:t>f</a:t>
            </a:r>
            <a:r>
              <a:rPr lang="es-419" sz="2000" dirty="0"/>
              <a:t> </a:t>
            </a:r>
            <a:r>
              <a:rPr lang="es-419" sz="2000" b="1" dirty="0" err="1"/>
              <a:t>Va</a:t>
            </a:r>
            <a:r>
              <a:rPr lang="es-419" sz="2000" dirty="0" err="1"/>
              <a:t>riance</a:t>
            </a:r>
            <a:r>
              <a:rPr lang="es-419" sz="2000" dirty="0"/>
              <a:t>”).</a:t>
            </a:r>
          </a:p>
          <a:p>
            <a:pPr>
              <a:lnSpc>
                <a:spcPct val="150000"/>
              </a:lnSpc>
            </a:pPr>
            <a:r>
              <a:rPr lang="es-419" sz="2000" dirty="0"/>
              <a:t>¿Por qué se llama análisis de varianza si lo que se comparan son medias?</a:t>
            </a:r>
          </a:p>
          <a:p>
            <a:pPr lvl="1">
              <a:lnSpc>
                <a:spcPct val="150000"/>
              </a:lnSpc>
            </a:pPr>
            <a:r>
              <a:rPr lang="es-419" sz="1800" dirty="0"/>
              <a:t>Porque el nombre de la técnica se refiere más a</a:t>
            </a:r>
            <a:r>
              <a:rPr lang="es-419" sz="1800" b="1" dirty="0"/>
              <a:t> </a:t>
            </a:r>
            <a:r>
              <a:rPr lang="es-419" sz="1800" b="1" dirty="0">
                <a:solidFill>
                  <a:srgbClr val="003A5D"/>
                </a:solidFill>
              </a:rPr>
              <a:t>cómo lo hace </a:t>
            </a:r>
            <a:r>
              <a:rPr lang="es-419" sz="1800" dirty="0"/>
              <a:t>y no solo a </a:t>
            </a:r>
            <a:r>
              <a:rPr lang="es-419" sz="1800" b="1" dirty="0">
                <a:solidFill>
                  <a:srgbClr val="003A5D"/>
                </a:solidFill>
              </a:rPr>
              <a:t>lo qué hace</a:t>
            </a:r>
            <a:r>
              <a:rPr lang="es-419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s-419" sz="2400" dirty="0"/>
              <a:t>En esencia </a:t>
            </a:r>
            <a:r>
              <a:rPr lang="es-419" sz="2400" i="1" dirty="0"/>
              <a:t>“ANOVA usa varianzas muestrales para detectar diferencias entre medias poblacionales”</a:t>
            </a:r>
          </a:p>
        </p:txBody>
      </p:sp>
    </p:spTree>
    <p:extLst>
      <p:ext uri="{BB962C8B-B14F-4D97-AF65-F5344CB8AC3E}">
        <p14:creationId xmlns:p14="http://schemas.microsoft.com/office/powerpoint/2010/main" val="351203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419" sz="1800" dirty="0"/>
              <a:t>ANOVA es un método es un método estadístico que prueba la igualdad de medias comparando la variabilidad </a:t>
            </a:r>
            <a:r>
              <a:rPr lang="es-419" sz="1800" b="1" dirty="0">
                <a:solidFill>
                  <a:srgbClr val="003A5D"/>
                </a:solidFill>
              </a:rPr>
              <a:t>entre</a:t>
            </a:r>
            <a:r>
              <a:rPr lang="es-419" sz="1800" dirty="0"/>
              <a:t> muestras o grupos (también conocidos como </a:t>
            </a:r>
            <a:r>
              <a:rPr lang="es-419" sz="1800" i="1" dirty="0"/>
              <a:t>tratamientos</a:t>
            </a:r>
            <a:r>
              <a:rPr lang="es-419" sz="1800" dirty="0"/>
              <a:t>) con la variabilidad </a:t>
            </a:r>
            <a:r>
              <a:rPr lang="es-419" sz="1800" b="1" dirty="0">
                <a:solidFill>
                  <a:srgbClr val="003A5D"/>
                </a:solidFill>
              </a:rPr>
              <a:t>dentro</a:t>
            </a:r>
            <a:r>
              <a:rPr lang="es-419" sz="1800" dirty="0"/>
              <a:t> de grupos.</a:t>
            </a:r>
          </a:p>
          <a:p>
            <a:pPr marL="0" indent="0">
              <a:lnSpc>
                <a:spcPct val="170000"/>
              </a:lnSpc>
              <a:buNone/>
            </a:pPr>
            <a:endParaRPr lang="es-419" sz="2000" dirty="0"/>
          </a:p>
          <a:p>
            <a:pPr marL="0" indent="0">
              <a:lnSpc>
                <a:spcPct val="170000"/>
              </a:lnSpc>
              <a:buNone/>
            </a:pPr>
            <a:endParaRPr lang="es-419" sz="2000" dirty="0"/>
          </a:p>
          <a:p>
            <a:pPr>
              <a:lnSpc>
                <a:spcPct val="170000"/>
              </a:lnSpc>
            </a:pPr>
            <a:endParaRPr lang="es-419" sz="2000" dirty="0"/>
          </a:p>
          <a:p>
            <a:pPr>
              <a:lnSpc>
                <a:spcPct val="170000"/>
              </a:lnSpc>
            </a:pPr>
            <a:endParaRPr lang="es-419" sz="2000" dirty="0"/>
          </a:p>
          <a:p>
            <a:pPr>
              <a:lnSpc>
                <a:spcPct val="170000"/>
              </a:lnSpc>
            </a:pPr>
            <a:endParaRPr lang="es-419" sz="2000" dirty="0"/>
          </a:p>
          <a:p>
            <a:pPr marL="0" indent="0">
              <a:lnSpc>
                <a:spcPct val="170000"/>
              </a:lnSpc>
              <a:buNone/>
            </a:pPr>
            <a:endParaRPr lang="es-419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2653766-3128-4F70-B631-E82FFCC4C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9" b="4653"/>
          <a:stretch/>
        </p:blipFill>
        <p:spPr bwMode="auto">
          <a:xfrm>
            <a:off x="1001938" y="2942116"/>
            <a:ext cx="480517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A34EB49-D718-4269-AB29-CE4D3A3D8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9" b="4653"/>
          <a:stretch/>
        </p:blipFill>
        <p:spPr bwMode="auto">
          <a:xfrm>
            <a:off x="6549084" y="2942116"/>
            <a:ext cx="480517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al análisis</a:t>
            </a:r>
            <a:r>
              <a:rPr lang="en-US" dirty="0"/>
              <a:t> de </a:t>
            </a:r>
            <a:r>
              <a:rPr lang="es-419" dirty="0"/>
              <a:t>varianza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59118-898C-4029-8088-5AD0B8DD5047}"/>
              </a:ext>
            </a:extLst>
          </p:cNvPr>
          <p:cNvSpPr txBox="1"/>
          <p:nvPr/>
        </p:nvSpPr>
        <p:spPr>
          <a:xfrm>
            <a:off x="2146807" y="2424030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u="sng" dirty="0">
                <a:latin typeface="Georgia" panose="02040502050405020303" pitchFamily="18" charset="0"/>
              </a:rPr>
              <a:t>Variación entre grupos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EAF002-CEF9-4D4B-8D0F-C363C57F90D7}"/>
              </a:ext>
            </a:extLst>
          </p:cNvPr>
          <p:cNvCxnSpPr>
            <a:cxnSpLocks/>
          </p:cNvCxnSpPr>
          <p:nvPr/>
        </p:nvCxnSpPr>
        <p:spPr>
          <a:xfrm>
            <a:off x="2936607" y="3919651"/>
            <a:ext cx="187166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198056-B9A7-4293-975D-94B93D36DC48}"/>
              </a:ext>
            </a:extLst>
          </p:cNvPr>
          <p:cNvCxnSpPr>
            <a:cxnSpLocks/>
          </p:cNvCxnSpPr>
          <p:nvPr/>
        </p:nvCxnSpPr>
        <p:spPr>
          <a:xfrm>
            <a:off x="8209449" y="4627032"/>
            <a:ext cx="576000" cy="0"/>
          </a:xfrm>
          <a:prstGeom prst="straightConnector1">
            <a:avLst/>
          </a:prstGeom>
          <a:ln w="28575">
            <a:solidFill>
              <a:srgbClr val="003A5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2D2CE9-E8D4-49A3-A8E5-1956F1FAEE4A}"/>
              </a:ext>
            </a:extLst>
          </p:cNvPr>
          <p:cNvCxnSpPr>
            <a:cxnSpLocks/>
          </p:cNvCxnSpPr>
          <p:nvPr/>
        </p:nvCxnSpPr>
        <p:spPr>
          <a:xfrm>
            <a:off x="2000775" y="3919651"/>
            <a:ext cx="93583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AA1FAF-951F-4E08-A520-D948464B9A8A}"/>
              </a:ext>
            </a:extLst>
          </p:cNvPr>
          <p:cNvCxnSpPr>
            <a:cxnSpLocks/>
          </p:cNvCxnSpPr>
          <p:nvPr/>
        </p:nvCxnSpPr>
        <p:spPr>
          <a:xfrm>
            <a:off x="2000775" y="4330903"/>
            <a:ext cx="280749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B45A78-6379-4138-9247-88EE47FDF519}"/>
              </a:ext>
            </a:extLst>
          </p:cNvPr>
          <p:cNvSpPr txBox="1"/>
          <p:nvPr/>
        </p:nvSpPr>
        <p:spPr>
          <a:xfrm>
            <a:off x="7474464" y="2402449"/>
            <a:ext cx="26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u="sng" dirty="0">
                <a:latin typeface="Georgia" panose="02040502050405020303" pitchFamily="18" charset="0"/>
              </a:rPr>
              <a:t>Variación dentro grupos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F2297AB-B2FF-46BC-9B9B-03704F259D2C}"/>
              </a:ext>
            </a:extLst>
          </p:cNvPr>
          <p:cNvCxnSpPr>
            <a:cxnSpLocks/>
          </p:cNvCxnSpPr>
          <p:nvPr/>
        </p:nvCxnSpPr>
        <p:spPr>
          <a:xfrm>
            <a:off x="7247008" y="4627032"/>
            <a:ext cx="5760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59602E-1EEB-4690-B782-B89C8050D0FE}"/>
              </a:ext>
            </a:extLst>
          </p:cNvPr>
          <p:cNvCxnSpPr>
            <a:cxnSpLocks/>
          </p:cNvCxnSpPr>
          <p:nvPr/>
        </p:nvCxnSpPr>
        <p:spPr>
          <a:xfrm>
            <a:off x="10135770" y="4585392"/>
            <a:ext cx="576000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7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al análisis</a:t>
            </a:r>
            <a:r>
              <a:rPr lang="en-US" dirty="0"/>
              <a:t> de </a:t>
            </a:r>
            <a:r>
              <a:rPr lang="es-419" dirty="0"/>
              <a:t>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El centro del análisis radica en implementar nociones implícitas en el cálculo de varianzas: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Especialmente el componente del numerador o la </a:t>
                </a:r>
                <a:r>
                  <a:rPr lang="es-419" b="1" dirty="0">
                    <a:solidFill>
                      <a:srgbClr val="003A5D"/>
                    </a:solidFill>
                  </a:rPr>
                  <a:t>suma de cuadrados</a:t>
                </a:r>
                <a:r>
                  <a:rPr lang="es-419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 esencia, aplicaremos esa suma de cuadrados para toda la muestra, entre grupos, y dentro de grupos.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07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499E-BD34-4ED9-B9D6-1ADBAD44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La Suma de Cuadrados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34FB03-B65F-444C-B76B-F03A81A20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El centro del análisis parte de la </a:t>
                </a:r>
                <a:r>
                  <a:rPr lang="es-419" b="1" dirty="0">
                    <a:solidFill>
                      <a:srgbClr val="003A5D"/>
                    </a:solidFill>
                  </a:rPr>
                  <a:t>suma de cuadrados total (SCT)</a:t>
                </a:r>
                <a:r>
                  <a:rPr lang="es-419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de todas las observaciones.</a:t>
                </a:r>
                <a:endParaRPr lang="es-419" b="1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𝑆𝐶𝑇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41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419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419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dirty="0"/>
                  <a:t>Ejemplos: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i="1" dirty="0">
                    <a:solidFill>
                      <a:schemeClr val="tx1"/>
                    </a:solidFill>
                  </a:rPr>
                  <a:t>A{2, 2, 3, 5}</a:t>
                </a: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419" i="1" dirty="0">
                  <a:solidFill>
                    <a:schemeClr val="tx1"/>
                  </a:solidFill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𝑆𝑇𝐶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419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i="1" dirty="0">
                    <a:solidFill>
                      <a:schemeClr val="tx1"/>
                    </a:solidFill>
                  </a:rPr>
                  <a:t>B{4, 10, 13}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s-419" b="0" i="1" dirty="0">
                  <a:solidFill>
                    <a:schemeClr val="tx1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𝑆𝑇𝐶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(−5)</m:t>
                          </m:r>
                        </m:e>
                        <m:sup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=42</m:t>
                      </m:r>
                    </m:oMath>
                  </m:oMathPara>
                </a14:m>
                <a:endParaRPr lang="es-419" i="1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s-419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34FB03-B65F-444C-B76B-F03A81A20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80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ANOVA de un factor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Conceptos esenciales</a:t>
            </a:r>
          </a:p>
        </p:txBody>
      </p:sp>
    </p:spTree>
    <p:extLst>
      <p:ext uri="{BB962C8B-B14F-4D97-AF65-F5344CB8AC3E}">
        <p14:creationId xmlns:p14="http://schemas.microsoft.com/office/powerpoint/2010/main" val="258591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One-Way</a:t>
            </a:r>
            <a:r>
              <a:rPr lang="es-419" dirty="0"/>
              <a:t> ANOVA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/>
                  <a:t>Hay varios modelos de ANOVA, para este curso veremos solamente uno de “clasificación simple”,  “un solo criterio (o factor) de clasificación” o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one-way</a:t>
                </a:r>
                <a:r>
                  <a:rPr lang="es-419" dirty="0"/>
                  <a:t> ANOVA.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Se parten de </a:t>
                </a:r>
                <a:r>
                  <a:rPr lang="es-419" b="1" i="1" dirty="0">
                    <a:solidFill>
                      <a:srgbClr val="003A5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s-419" dirty="0"/>
                  <a:t>  poblaciones con medias </a:t>
                </a:r>
                <a:r>
                  <a:rPr lang="el-GR" sz="2800" i="1" dirty="0"/>
                  <a:t>μ</a:t>
                </a:r>
                <a:r>
                  <a:rPr lang="en-US" sz="2800" i="1" baseline="-25000" dirty="0"/>
                  <a:t>1, </a:t>
                </a:r>
                <a:r>
                  <a:rPr lang="el-GR" sz="2800" i="1" dirty="0"/>
                  <a:t>μ</a:t>
                </a:r>
                <a:r>
                  <a:rPr lang="en-US" sz="2800" i="1" baseline="-25000" dirty="0"/>
                  <a:t>2, </a:t>
                </a:r>
                <a:r>
                  <a:rPr lang="el-GR" sz="2800" i="1" dirty="0"/>
                  <a:t>μ</a:t>
                </a:r>
                <a:r>
                  <a:rPr lang="en-US" sz="2800" i="1" baseline="-25000" dirty="0"/>
                  <a:t>3 …. </a:t>
                </a:r>
                <a:r>
                  <a:rPr lang="el-GR" sz="2800" i="1" dirty="0"/>
                  <a:t>μ</a:t>
                </a:r>
                <a:r>
                  <a:rPr lang="en-US" i="1" baseline="-25000" dirty="0"/>
                  <a:t>k, </a:t>
                </a:r>
                <a:r>
                  <a:rPr lang="en-US" dirty="0"/>
                  <a:t>para las </a:t>
                </a:r>
                <a:r>
                  <a:rPr lang="es-419" dirty="0"/>
                  <a:t>cuales se contrastan las hipótesis: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𝑝𝑜𝑟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𝑚𝑒𝑛𝑜𝑠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𝑑𝑜𝑠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𝑚𝑒𝑑𝑖𝑎𝑠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𝑠𝑜𝑛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𝑑𝑖𝑓𝑒𝑟𝑒𝑛𝑡𝑒𝑠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Se toma de cada población una muestra aleatoria, cuyo tamaño puede ser igual o diferente), obteniendo </a:t>
                </a:r>
                <a:r>
                  <a:rPr lang="es-419" b="1" i="1" dirty="0">
                    <a:solidFill>
                      <a:srgbClr val="003A5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s-419" dirty="0"/>
                  <a:t>  muestras independientes con cierto tamaño cada una.</a:t>
                </a:r>
              </a:p>
              <a:p>
                <a:pPr>
                  <a:lnSpc>
                    <a:spcPct val="170000"/>
                  </a:lnSpc>
                </a:pPr>
                <a:endParaRPr lang="es-419" dirty="0"/>
              </a:p>
              <a:p>
                <a:pPr>
                  <a:lnSpc>
                    <a:spcPct val="17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94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One-Way</a:t>
            </a:r>
            <a:r>
              <a:rPr lang="es-419" dirty="0"/>
              <a:t> ANOVA: Definiciones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/>
                  <a:t>A efectos de nomenclatura definimos: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419" dirty="0"/>
                  <a:t> representará al número de grupos o muestras.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419" dirty="0"/>
                  <a:t> representa a la </a:t>
                </a:r>
                <a:r>
                  <a:rPr lang="es-419" i="1" dirty="0">
                    <a:latin typeface="Cambria Math" panose="02040503050406030204" pitchFamily="18" charset="0"/>
                  </a:rPr>
                  <a:t>i-</a:t>
                </a:r>
                <a:r>
                  <a:rPr lang="es-419" i="1" dirty="0" err="1">
                    <a:latin typeface="Cambria Math" panose="02040503050406030204" pitchFamily="18" charset="0"/>
                  </a:rPr>
                  <a:t>ésima</a:t>
                </a:r>
                <a:r>
                  <a:rPr lang="es-419" dirty="0"/>
                  <a:t> observación en el </a:t>
                </a:r>
                <a:r>
                  <a:rPr lang="es-419" i="1" dirty="0">
                    <a:latin typeface="Cambria Math" panose="02040503050406030204" pitchFamily="18" charset="0"/>
                  </a:rPr>
                  <a:t>j-</a:t>
                </a:r>
                <a:r>
                  <a:rPr lang="es-419" i="1" dirty="0" err="1">
                    <a:latin typeface="Cambria Math" panose="02040503050406030204" pitchFamily="18" charset="0"/>
                  </a:rPr>
                  <a:t>ésimo</a:t>
                </a:r>
                <a:r>
                  <a:rPr lang="es-419" dirty="0"/>
                  <a:t> grupo.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419" dirty="0"/>
                  <a:t> representa la media muestral del </a:t>
                </a:r>
                <a:r>
                  <a:rPr lang="es-419" i="1" dirty="0">
                    <a:latin typeface="Cambria Math" panose="02040503050406030204" pitchFamily="18" charset="0"/>
                  </a:rPr>
                  <a:t>j-</a:t>
                </a:r>
                <a:r>
                  <a:rPr lang="es-419" i="1" dirty="0" err="1">
                    <a:latin typeface="Cambria Math" panose="02040503050406030204" pitchFamily="18" charset="0"/>
                  </a:rPr>
                  <a:t>ésimo</a:t>
                </a:r>
                <a:r>
                  <a:rPr lang="es-419" i="1" dirty="0">
                    <a:latin typeface="Cambria Math" panose="02040503050406030204" pitchFamily="18" charset="0"/>
                  </a:rPr>
                  <a:t> </a:t>
                </a:r>
                <a:r>
                  <a:rPr lang="es-419" dirty="0">
                    <a:latin typeface="Cambria Math" panose="02040503050406030204" pitchFamily="18" charset="0"/>
                  </a:rPr>
                  <a:t>grupo.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419" dirty="0"/>
                  <a:t> representa la media total de todas las observaciones o la “gran media”.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419" dirty="0"/>
                  <a:t> corresponde a la varianza muestral (insesgada) del </a:t>
                </a:r>
                <a:r>
                  <a:rPr lang="es-419" i="1" dirty="0">
                    <a:latin typeface="Cambria Math" panose="02040503050406030204" pitchFamily="18" charset="0"/>
                  </a:rPr>
                  <a:t>j-</a:t>
                </a:r>
                <a:r>
                  <a:rPr lang="es-419" i="1" dirty="0" err="1">
                    <a:latin typeface="Cambria Math" panose="02040503050406030204" pitchFamily="18" charset="0"/>
                  </a:rPr>
                  <a:t>ésimo</a:t>
                </a:r>
                <a:r>
                  <a:rPr lang="es-419" i="1" dirty="0">
                    <a:latin typeface="Cambria Math" panose="02040503050406030204" pitchFamily="18" charset="0"/>
                  </a:rPr>
                  <a:t> </a:t>
                </a:r>
                <a:r>
                  <a:rPr lang="es-419" dirty="0">
                    <a:latin typeface="Cambria Math" panose="02040503050406030204" pitchFamily="18" charset="0"/>
                  </a:rPr>
                  <a:t>grupo, con lo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419" dirty="0"/>
                  <a:t> será su respectiva desviación típica.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419" dirty="0"/>
                  <a:t> se refiere al tamaño muestral de cada grupo.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419" dirty="0"/>
                  <a:t> será el número total de observaciones.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Nota: La nomenclatura empleada aquí difiere ligeramente de la empleada en el </a:t>
                </a:r>
                <a:r>
                  <a:rPr lang="es-419" dirty="0" err="1"/>
                  <a:t>Lopez</a:t>
                </a:r>
                <a:r>
                  <a:rPr lang="es-419" dirty="0"/>
                  <a:t>-Casuso, pero en la práctica se hace referencia a los mismos conceptos.</a:t>
                </a:r>
              </a:p>
              <a:p>
                <a:pPr lvl="1">
                  <a:lnSpc>
                    <a:spcPct val="170000"/>
                  </a:lnSpc>
                </a:pPr>
                <a:endParaRPr lang="es-419" dirty="0"/>
              </a:p>
              <a:p>
                <a:pPr lvl="1">
                  <a:lnSpc>
                    <a:spcPct val="170000"/>
                  </a:lnSpc>
                </a:pPr>
                <a:endParaRPr lang="es-419" dirty="0"/>
              </a:p>
              <a:p>
                <a:pPr>
                  <a:lnSpc>
                    <a:spcPct val="170000"/>
                  </a:lnSpc>
                </a:pPr>
                <a:endParaRPr lang="es-419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89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AAD4-09D3-424F-8DD9-D8C2612A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One-Way</a:t>
            </a:r>
            <a:r>
              <a:rPr lang="es-419" dirty="0"/>
              <a:t> ANOVA: Información muestral y medias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14">
                <a:extLst>
                  <a:ext uri="{FF2B5EF4-FFF2-40B4-BE49-F238E27FC236}">
                    <a16:creationId xmlns:a16="http://schemas.microsoft.com/office/drawing/2014/main" id="{0240631F-671B-4772-A185-60D7CC5F0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35538"/>
                  </p:ext>
                </p:extLst>
              </p:nvPr>
            </p:nvGraphicFramePr>
            <p:xfrm>
              <a:off x="1664493" y="1249171"/>
              <a:ext cx="8863014" cy="43596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276476">
                      <a:extLst>
                        <a:ext uri="{9D8B030D-6E8A-4147-A177-3AD203B41FA5}">
                          <a16:colId xmlns:a16="http://schemas.microsoft.com/office/drawing/2014/main" val="2182685190"/>
                        </a:ext>
                      </a:extLst>
                    </a:gridCol>
                    <a:gridCol w="1728788">
                      <a:extLst>
                        <a:ext uri="{9D8B030D-6E8A-4147-A177-3AD203B41FA5}">
                          <a16:colId xmlns:a16="http://schemas.microsoft.com/office/drawing/2014/main" val="2461316878"/>
                        </a:ext>
                      </a:extLst>
                    </a:gridCol>
                    <a:gridCol w="1700212">
                      <a:extLst>
                        <a:ext uri="{9D8B030D-6E8A-4147-A177-3AD203B41FA5}">
                          <a16:colId xmlns:a16="http://schemas.microsoft.com/office/drawing/2014/main" val="1672333820"/>
                        </a:ext>
                      </a:extLst>
                    </a:gridCol>
                    <a:gridCol w="1628775">
                      <a:extLst>
                        <a:ext uri="{9D8B030D-6E8A-4147-A177-3AD203B41FA5}">
                          <a16:colId xmlns:a16="http://schemas.microsoft.com/office/drawing/2014/main" val="1735721831"/>
                        </a:ext>
                      </a:extLst>
                    </a:gridCol>
                    <a:gridCol w="1528763">
                      <a:extLst>
                        <a:ext uri="{9D8B030D-6E8A-4147-A177-3AD203B41FA5}">
                          <a16:colId xmlns:a16="http://schemas.microsoft.com/office/drawing/2014/main" val="16632229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000" b="1" i="1" kern="120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419" sz="20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Muestra 1</a:t>
                          </a:r>
                          <a:endParaRPr lang="es-419" sz="2000" b="1" i="1" kern="1200" noProof="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i="1" dirty="0">
                              <a:latin typeface="Georgia" panose="02040502050405020303" pitchFamily="18" charset="0"/>
                            </a:rPr>
                            <a:t>Muestra 2</a:t>
                          </a:r>
                          <a:endParaRPr lang="en-US" sz="20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i="1" dirty="0">
                              <a:latin typeface="Georgia" panose="02040502050405020303" pitchFamily="18" charset="0"/>
                            </a:rPr>
                            <a:t>…</a:t>
                          </a:r>
                          <a:endParaRPr lang="en-US" sz="18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1" kern="1200" dirty="0" err="1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Muestra</a:t>
                          </a:r>
                          <a:r>
                            <a:rPr lang="en-US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 k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82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831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0060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kern="12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vert="vert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kern="12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vert="vert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vert="vert" anchor="ctr"/>
                    </a:tc>
                    <a:extLst>
                      <a:ext uri="{0D108BD9-81ED-4DB2-BD59-A6C34878D82A}">
                        <a16:rowId xmlns:a16="http://schemas.microsoft.com/office/drawing/2014/main" val="871375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kern="120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135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Sumas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419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𝑖𝑘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9289761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Medias muestrales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20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1488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Varianzas muestrales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s-419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s-419" sz="2000" dirty="0"/>
                            <a:t> 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s-419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s-419" sz="2000" dirty="0"/>
                            <a:t> 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s-419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  <m:sup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s-419" sz="2000" dirty="0"/>
                            <a:t> 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947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14">
                <a:extLst>
                  <a:ext uri="{FF2B5EF4-FFF2-40B4-BE49-F238E27FC236}">
                    <a16:creationId xmlns:a16="http://schemas.microsoft.com/office/drawing/2014/main" id="{0240631F-671B-4772-A185-60D7CC5F0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35538"/>
                  </p:ext>
                </p:extLst>
              </p:nvPr>
            </p:nvGraphicFramePr>
            <p:xfrm>
              <a:off x="1664493" y="1249171"/>
              <a:ext cx="8863014" cy="43596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276476">
                      <a:extLst>
                        <a:ext uri="{9D8B030D-6E8A-4147-A177-3AD203B41FA5}">
                          <a16:colId xmlns:a16="http://schemas.microsoft.com/office/drawing/2014/main" val="2182685190"/>
                        </a:ext>
                      </a:extLst>
                    </a:gridCol>
                    <a:gridCol w="1728788">
                      <a:extLst>
                        <a:ext uri="{9D8B030D-6E8A-4147-A177-3AD203B41FA5}">
                          <a16:colId xmlns:a16="http://schemas.microsoft.com/office/drawing/2014/main" val="2461316878"/>
                        </a:ext>
                      </a:extLst>
                    </a:gridCol>
                    <a:gridCol w="1700212">
                      <a:extLst>
                        <a:ext uri="{9D8B030D-6E8A-4147-A177-3AD203B41FA5}">
                          <a16:colId xmlns:a16="http://schemas.microsoft.com/office/drawing/2014/main" val="1672333820"/>
                        </a:ext>
                      </a:extLst>
                    </a:gridCol>
                    <a:gridCol w="1628775">
                      <a:extLst>
                        <a:ext uri="{9D8B030D-6E8A-4147-A177-3AD203B41FA5}">
                          <a16:colId xmlns:a16="http://schemas.microsoft.com/office/drawing/2014/main" val="1735721831"/>
                        </a:ext>
                      </a:extLst>
                    </a:gridCol>
                    <a:gridCol w="1528763">
                      <a:extLst>
                        <a:ext uri="{9D8B030D-6E8A-4147-A177-3AD203B41FA5}">
                          <a16:colId xmlns:a16="http://schemas.microsoft.com/office/drawing/2014/main" val="166322291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000" b="1" i="1" kern="120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419" sz="20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Muestra 1</a:t>
                          </a:r>
                          <a:endParaRPr lang="es-419" sz="2000" b="1" i="1" kern="1200" noProof="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i="1" dirty="0">
                              <a:latin typeface="Georgia" panose="02040502050405020303" pitchFamily="18" charset="0"/>
                            </a:rPr>
                            <a:t>Muestra 2</a:t>
                          </a:r>
                          <a:endParaRPr lang="en-US" sz="20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i="1" dirty="0">
                              <a:latin typeface="Georgia" panose="02040502050405020303" pitchFamily="18" charset="0"/>
                            </a:rPr>
                            <a:t>…</a:t>
                          </a:r>
                          <a:endParaRPr lang="en-US" sz="18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1" kern="1200" dirty="0" err="1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Muestra</a:t>
                          </a:r>
                          <a:r>
                            <a:rPr lang="en-US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 k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82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1690" t="-109231" r="-282394" b="-9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842" t="-109231" r="-187455" b="-9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9681" t="-109231" r="-1992" b="-9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8317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1690" t="-209231" r="-282394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842" t="-209231" r="-187455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9681" t="-209231" r="-1992" b="-8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060126"/>
                      </a:ext>
                    </a:extLst>
                  </a:tr>
                  <a:tr h="420688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kern="12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vert="vert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kern="12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kern="12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vert="vert"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0936" t="-287143" r="-95880" b="-66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vert="vert" anchor="ctr"/>
                    </a:tc>
                    <a:extLst>
                      <a:ext uri="{0D108BD9-81ED-4DB2-BD59-A6C34878D82A}">
                        <a16:rowId xmlns:a16="http://schemas.microsoft.com/office/drawing/2014/main" val="871375458"/>
                      </a:ext>
                    </a:extLst>
                  </a:tr>
                  <a:tr h="424561">
                    <a:tc>
                      <a:txBody>
                        <a:bodyPr/>
                        <a:lstStyle/>
                        <a:p>
                          <a:pPr algn="ctr"/>
                          <a:endParaRPr lang="es-419" sz="2000" b="0" kern="1200" noProof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1690" t="-387143" r="-282394" b="-56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5842" t="-387143" r="-187455" b="-56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9681" t="-387143" r="-1992" b="-56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135345"/>
                      </a:ext>
                    </a:extLst>
                  </a:tr>
                  <a:tr h="923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Sumas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31690" t="-225828" r="-282394" b="-163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35842" t="-225828" r="-187455" b="-163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479681" t="-225828" r="-1992" b="-163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89761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Medias muestrales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1690" t="-424138" r="-282394" b="-1129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842" t="-424138" r="-187455" b="-1129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9681" t="-424138" r="-1992" b="-1129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148819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2000" b="0" kern="1200" noProof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Varianzas muestrales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1690" t="-528696" r="-282394" b="-1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842" t="-528696" r="-187455" b="-1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…</a:t>
                          </a:r>
                        </a:p>
                        <a:p>
                          <a:pPr algn="ctr"/>
                          <a:endParaRPr lang="en-US" sz="20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V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9681" t="-528696" r="-1992" b="-1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9470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970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938E-F38A-45D5-B27A-2904C9FB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One-Way</a:t>
            </a:r>
            <a:r>
              <a:rPr lang="es-419" dirty="0"/>
              <a:t> ANOVA: Información muestral y medias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4F79D-CC20-47C5-9864-0B624D0869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200" dirty="0"/>
                  <a:t>Medias muestrales: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419" sz="2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419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s-419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419" sz="2200" dirty="0"/>
              </a:p>
              <a:p>
                <a:pPr>
                  <a:lnSpc>
                    <a:spcPct val="150000"/>
                  </a:lnSpc>
                </a:pPr>
                <a:r>
                  <a:rPr lang="es-419" sz="2200" dirty="0"/>
                  <a:t>Varianzas muestrales (insesgadas):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419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s-419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sz="2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s-419" sz="22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419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419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2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2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s-419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419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sz="2200" dirty="0"/>
              </a:p>
              <a:p>
                <a:pPr>
                  <a:lnSpc>
                    <a:spcPct val="150000"/>
                  </a:lnSpc>
                </a:pPr>
                <a:r>
                  <a:rPr lang="es-419" sz="2200" dirty="0"/>
                  <a:t>“Gran media”: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419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s-419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s-419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sz="2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s-419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sz="22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num>
                      <m:den>
                        <m:r>
                          <a:rPr lang="es-419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419" sz="2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419" sz="22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419" sz="2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4F79D-CC20-47C5-9864-0B624D086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0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F0F-A047-4F0E-AE67-5FB1FCB33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One-Way</a:t>
            </a:r>
            <a:r>
              <a:rPr lang="es-419" dirty="0"/>
              <a:t> ANOVA: La Gran Media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212F8-8833-4766-950E-2B8FB7674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800" dirty="0"/>
                  <a:t>“Gran media”: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419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s-419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s-419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sz="2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s-419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num>
                      <m:den>
                        <m:r>
                          <a:rPr lang="es-419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419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419" sz="28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419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sz="2800" dirty="0"/>
              </a:p>
              <a:p>
                <a:pPr>
                  <a:lnSpc>
                    <a:spcPct val="150000"/>
                  </a:lnSpc>
                </a:pPr>
                <a:r>
                  <a:rPr lang="es-419" sz="2800" dirty="0"/>
                  <a:t>El símbolo de doble sumatoria puede confundir al lector, pero simplemente implica que se suman todos las observaciones.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También es equivalente al promedio ponderado de medias muestrales: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sz="2800" dirty="0"/>
              </a:p>
              <a:p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212F8-8833-4766-950E-2B8FB7674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25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CA1D-3AA5-4067-99E8-C0C4F89C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6B65-7DE5-4EB4-B7CB-A7FFFC3FE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“En una industria se escogen 3 grupos de 5 obreros cada uno, y se les da entrenamiento con base en 3 diferentes métodos. Las productividades de los obreros después del entrenamiento fueron las siguientes:”</a:t>
            </a:r>
          </a:p>
          <a:p>
            <a:pPr marL="0" indent="0">
              <a:lnSpc>
                <a:spcPct val="150000"/>
              </a:lnSpc>
              <a:buNone/>
            </a:pPr>
            <a:endParaRPr lang="es-419" dirty="0"/>
          </a:p>
          <a:p>
            <a:pPr>
              <a:lnSpc>
                <a:spcPct val="150000"/>
              </a:lnSpc>
            </a:pPr>
            <a:endParaRPr lang="es-419" dirty="0"/>
          </a:p>
          <a:p>
            <a:pPr>
              <a:lnSpc>
                <a:spcPct val="150000"/>
              </a:lnSpc>
            </a:pPr>
            <a:endParaRPr lang="es-419" dirty="0"/>
          </a:p>
          <a:p>
            <a:pPr>
              <a:lnSpc>
                <a:spcPct val="150000"/>
              </a:lnSpc>
            </a:pPr>
            <a:endParaRPr lang="es-419" dirty="0"/>
          </a:p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Calcular magnitudes definidas anteriormente.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dirty="0"/>
              <a:t>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AD50125-41A7-4ED2-8598-709FCE87E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901947"/>
              </p:ext>
            </p:extLst>
          </p:nvPr>
        </p:nvGraphicFramePr>
        <p:xfrm>
          <a:off x="2160587" y="2460466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041918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5827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32898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4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14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1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125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34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413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447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#Definir variables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metodo_1 &lt;- c(20, 25, 23, 18, 19)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metodo_2 &lt;- c(25, 26, 20, 29, 30)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metodo_3 &lt;- c(16, 18, 15, 20, 21)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#Medias muestrales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mean(metodo_1)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21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mean(metodo_2)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26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mean(metodo_3)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18</a:t>
            </a:r>
          </a:p>
        </p:txBody>
      </p:sp>
    </p:spTree>
    <p:extLst>
      <p:ext uri="{BB962C8B-B14F-4D97-AF65-F5344CB8AC3E}">
        <p14:creationId xmlns:p14="http://schemas.microsoft.com/office/powerpoint/2010/main" val="5612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#Varianzas muestrales (insesgadas)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(metodo_1)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8.5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(metodo_2)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15.5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(metodo_3)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6.5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#Varianzas muestrales (sesgadas)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(metodo_1)*(5-1)/5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6.8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(metodo_2)*(5-1)/5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12.4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var</a:t>
            </a:r>
            <a:r>
              <a:rPr lang="es-419" dirty="0">
                <a:latin typeface="Consolas" panose="020B0609020204030204" pitchFamily="49" charset="0"/>
              </a:rPr>
              <a:t>(metodo_3)*(5-1)/5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5.2</a:t>
            </a:r>
          </a:p>
        </p:txBody>
      </p:sp>
    </p:spTree>
    <p:extLst>
      <p:ext uri="{BB962C8B-B14F-4D97-AF65-F5344CB8AC3E}">
        <p14:creationId xmlns:p14="http://schemas.microsoft.com/office/powerpoint/2010/main" val="1075723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#Gran media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mean(c(metodo_1, metodo_2, metodo_3))</a:t>
            </a:r>
          </a:p>
          <a:p>
            <a:pPr marL="0" indent="0">
              <a:buNone/>
            </a:pPr>
            <a:r>
              <a:rPr lang="it-IT" dirty="0">
                <a:highlight>
                  <a:srgbClr val="FFFF00"/>
                </a:highlight>
                <a:latin typeface="Consolas" panose="020B0609020204030204" pitchFamily="49" charset="0"/>
              </a:rPr>
              <a:t>[1] 21.66667</a:t>
            </a:r>
          </a:p>
          <a:p>
            <a:pPr marL="0" indent="0">
              <a:buNone/>
            </a:pPr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mean(c(21, 26, 18))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[1] 21.66667</a:t>
            </a:r>
            <a:endParaRPr lang="es-419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5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0A78E-3CD0-47C2-868F-B8FEB8B7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Modelo matemático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4DA6D-37B8-4E8F-BBBC-5EDED2817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El modelo matemático subyacente en este tipo de diseño corresponde 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 es la media general. </a:t>
                </a: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419" dirty="0"/>
                  <a:t> es el efecto diferencial del </a:t>
                </a:r>
                <a:r>
                  <a:rPr lang="es-419" i="1" dirty="0">
                    <a:latin typeface="Cambria Math" panose="02040503050406030204" pitchFamily="18" charset="0"/>
                  </a:rPr>
                  <a:t>j-</a:t>
                </a:r>
                <a:r>
                  <a:rPr lang="es-419" i="1" dirty="0" err="1">
                    <a:latin typeface="Cambria Math" panose="02040503050406030204" pitchFamily="18" charset="0"/>
                  </a:rPr>
                  <a:t>ésimo</a:t>
                </a:r>
                <a:r>
                  <a:rPr lang="es-419" i="1" dirty="0">
                    <a:latin typeface="Cambria Math" panose="02040503050406030204" pitchFamily="18" charset="0"/>
                  </a:rPr>
                  <a:t> </a:t>
                </a:r>
                <a:r>
                  <a:rPr lang="es-419" dirty="0"/>
                  <a:t>grupo.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419" dirty="0"/>
                  <a:t> es el error aleatorio de la observación. Estos son independientes y normalmente distribuidos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(0; 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Esto quiere decir que se pueden rescribir las hipótesis: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𝐴𝑙𝑚𝑒𝑛𝑜𝑠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𝑑𝑖𝑓𝑒𝑟𝑒𝑛𝑡𝑒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Es una hipótesis equivalente al de las medias.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4DA6D-37B8-4E8F-BBBC-5EDED2817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956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descompondríamos la variabilidad de las </a:t>
            </a:r>
            <a:r>
              <a:rPr lang="es-VE" i="1"/>
              <a:t>observaciones empleando </a:t>
            </a:r>
            <a:r>
              <a:rPr lang="es-VE" i="1" dirty="0"/>
              <a:t>los conceptos que ya vimos?</a:t>
            </a:r>
          </a:p>
        </p:txBody>
      </p:sp>
    </p:spTree>
    <p:extLst>
      <p:ext uri="{BB962C8B-B14F-4D97-AF65-F5344CB8AC3E}">
        <p14:creationId xmlns:p14="http://schemas.microsoft.com/office/powerpoint/2010/main" val="1018866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Descomponiendo de variabilidad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sz="1600" dirty="0"/>
                  <a:t>ANOVA está basado en la descomposición de la variabilidad total de las observaciones en dos partes. 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1600" dirty="0"/>
                  <a:t>Una parte debida a la variabilidad </a:t>
                </a:r>
                <a:r>
                  <a:rPr lang="es-419" sz="1600" i="1" dirty="0">
                    <a:solidFill>
                      <a:srgbClr val="003A5D"/>
                    </a:solidFill>
                  </a:rPr>
                  <a:t>entre</a:t>
                </a:r>
                <a:r>
                  <a:rPr lang="es-419" sz="1600" dirty="0"/>
                  <a:t> grupos y otra por la variabilidad </a:t>
                </a:r>
                <a:r>
                  <a:rPr lang="es-419" sz="1600" i="1" dirty="0">
                    <a:solidFill>
                      <a:srgbClr val="003A5D"/>
                    </a:solidFill>
                  </a:rPr>
                  <a:t>dentro</a:t>
                </a:r>
                <a:r>
                  <a:rPr lang="es-419" sz="1600" dirty="0"/>
                  <a:t> de grupos.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s-419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419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s-419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92653766-3128-4F70-B631-E82FFCC4C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9" b="4653"/>
          <a:stretch/>
        </p:blipFill>
        <p:spPr bwMode="auto">
          <a:xfrm>
            <a:off x="2915534" y="2917904"/>
            <a:ext cx="6178070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715203-3E1A-4C81-8D00-B806F14EE0D2}"/>
              </a:ext>
            </a:extLst>
          </p:cNvPr>
          <p:cNvCxnSpPr>
            <a:cxnSpLocks/>
          </p:cNvCxnSpPr>
          <p:nvPr/>
        </p:nvCxnSpPr>
        <p:spPr>
          <a:xfrm>
            <a:off x="6089846" y="2554732"/>
            <a:ext cx="1" cy="35489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059118-898C-4029-8088-5AD0B8DD5047}"/>
              </a:ext>
            </a:extLst>
          </p:cNvPr>
          <p:cNvSpPr txBox="1"/>
          <p:nvPr/>
        </p:nvSpPr>
        <p:spPr>
          <a:xfrm>
            <a:off x="5395585" y="222380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Gran media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EAF002-CEF9-4D4B-8D0F-C363C57F90D7}"/>
              </a:ext>
            </a:extLst>
          </p:cNvPr>
          <p:cNvCxnSpPr>
            <a:cxnSpLocks/>
          </p:cNvCxnSpPr>
          <p:nvPr/>
        </p:nvCxnSpPr>
        <p:spPr>
          <a:xfrm>
            <a:off x="6074145" y="2876133"/>
            <a:ext cx="2999272" cy="10811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59DB6-A9C0-42B3-AE16-8923203C6CB6}"/>
              </a:ext>
            </a:extLst>
          </p:cNvPr>
          <p:cNvSpPr txBox="1"/>
          <p:nvPr/>
        </p:nvSpPr>
        <p:spPr>
          <a:xfrm>
            <a:off x="7022277" y="2529513"/>
            <a:ext cx="1524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Variación total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198056-B9A7-4293-975D-94B93D36DC48}"/>
              </a:ext>
            </a:extLst>
          </p:cNvPr>
          <p:cNvCxnSpPr>
            <a:cxnSpLocks/>
          </p:cNvCxnSpPr>
          <p:nvPr/>
        </p:nvCxnSpPr>
        <p:spPr>
          <a:xfrm>
            <a:off x="6059867" y="3853231"/>
            <a:ext cx="1769683" cy="0"/>
          </a:xfrm>
          <a:prstGeom prst="straightConnector1">
            <a:avLst/>
          </a:prstGeom>
          <a:ln w="28575">
            <a:solidFill>
              <a:srgbClr val="003A5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B2C8C2-EC01-46A3-9EF3-71953FB31697}"/>
              </a:ext>
            </a:extLst>
          </p:cNvPr>
          <p:cNvSpPr txBox="1"/>
          <p:nvPr/>
        </p:nvSpPr>
        <p:spPr>
          <a:xfrm>
            <a:off x="6249361" y="3957052"/>
            <a:ext cx="1324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400" dirty="0">
                <a:latin typeface="Georgia" panose="02040502050405020303" pitchFamily="18" charset="0"/>
              </a:rPr>
              <a:t>Variabilidad entre grupos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6790EC-3DEC-43AC-AA19-BEB41ABB03C0}"/>
              </a:ext>
            </a:extLst>
          </p:cNvPr>
          <p:cNvCxnSpPr>
            <a:cxnSpLocks/>
          </p:cNvCxnSpPr>
          <p:nvPr/>
        </p:nvCxnSpPr>
        <p:spPr>
          <a:xfrm>
            <a:off x="7829550" y="3853231"/>
            <a:ext cx="126405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5CAC7D0-D44B-4F98-838B-B45E662308F0}"/>
              </a:ext>
            </a:extLst>
          </p:cNvPr>
          <p:cNvSpPr txBox="1"/>
          <p:nvPr/>
        </p:nvSpPr>
        <p:spPr>
          <a:xfrm>
            <a:off x="8066785" y="3957940"/>
            <a:ext cx="1324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400" dirty="0">
                <a:latin typeface="Georgia" panose="02040502050405020303" pitchFamily="18" charset="0"/>
              </a:rPr>
              <a:t>Variabilidad dentro grupos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93614A-637D-4647-92FD-7FF327124D00}"/>
                  </a:ext>
                </a:extLst>
              </p:cNvPr>
              <p:cNvSpPr txBox="1"/>
              <p:nvPr/>
            </p:nvSpPr>
            <p:spPr>
              <a:xfrm>
                <a:off x="8821574" y="2157428"/>
                <a:ext cx="495457" cy="358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419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s-419" sz="16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93614A-637D-4647-92FD-7FF327124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574" y="2157428"/>
                <a:ext cx="495457" cy="358368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316BDE-0F4F-4B3E-952A-360830FA93F8}"/>
              </a:ext>
            </a:extLst>
          </p:cNvPr>
          <p:cNvCxnSpPr>
            <a:cxnSpLocks/>
          </p:cNvCxnSpPr>
          <p:nvPr/>
        </p:nvCxnSpPr>
        <p:spPr>
          <a:xfrm>
            <a:off x="9089117" y="2562358"/>
            <a:ext cx="1" cy="3548944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767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7B53-713F-4DC7-8A31-2DC7F544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Descomponiendo la suma de cuadrados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19909-20A2-43EF-896D-63D385481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endParaRPr lang="es-419" b="0" dirty="0">
                  <a:solidFill>
                    <a:schemeClr val="tx1"/>
                  </a:solidFill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𝑆𝐶𝑇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𝑆𝐶𝑇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e>
                    </m:nary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𝑆𝐶𝑇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+2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𝑆𝐶𝑇</m:t>
                    </m:r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+2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nary>
                          <m:naryPr>
                            <m:chr m:val="∑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r>
                              <a:rPr lang="en-US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419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419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solidFill>
                                            <a:srgbClr val="003A5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solidFill>
                                            <a:srgbClr val="003A5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419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419" b="0" i="0" smtClean="0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nary>
                        <m:naryPr>
                          <m:chr m:val="∑"/>
                          <m:ctrlPr>
                            <a:rPr lang="es-419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r>
                            <a:rPr lang="en-US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b="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rgbClr val="FF0000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𝑆𝐶𝑇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sz="2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s-419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19909-20A2-43EF-896D-63D385481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751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7B53-713F-4DC7-8A31-2DC7F544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Descomponiendo la suma de cuadrados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19909-20A2-43EF-896D-63D385481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419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419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419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419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s-419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s-419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s-419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419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419" sz="2400" b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sz="2400" b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sz="2400" b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sz="2400" b="1" dirty="0">
                    <a:solidFill>
                      <a:srgbClr val="003A5D"/>
                    </a:solidFill>
                  </a:rPr>
                  <a:t>SCT: </a:t>
                </a:r>
                <a:r>
                  <a:rPr lang="es-419" sz="2400" dirty="0"/>
                  <a:t>Variabilidad total de las observaciones. Equivalente a tomar todos los elementos analizados, sin importar su grupo o muestra específica, calcular su promedio y sumar diferencias al cuadrado respecto a ese promedio.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400" b="1" dirty="0">
                    <a:solidFill>
                      <a:srgbClr val="003A5D"/>
                    </a:solidFill>
                  </a:rPr>
                  <a:t>SCD: </a:t>
                </a:r>
                <a:r>
                  <a:rPr lang="es-419" sz="2400" dirty="0"/>
                  <a:t>Variabilidad dentro de grupos alrededor de su media correspondiente. Su magnitud no está influenciada por la igualdad o desigualdad entre medias.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400" b="1" dirty="0">
                    <a:solidFill>
                      <a:srgbClr val="003A5D"/>
                    </a:solidFill>
                  </a:rPr>
                  <a:t>SCE: </a:t>
                </a:r>
                <a:r>
                  <a:rPr lang="es-419" sz="2400" dirty="0"/>
                  <a:t>Variabilidad o dispersión entre las medias muestrales respecto a la media total, ajustado por el tamaño de cada muestra.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sz="2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s-419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19909-20A2-43EF-896D-63D385481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FD1E3BE8-9F3A-4C6F-AF31-47A8698F2780}"/>
              </a:ext>
            </a:extLst>
          </p:cNvPr>
          <p:cNvSpPr/>
          <p:nvPr/>
        </p:nvSpPr>
        <p:spPr>
          <a:xfrm rot="5400000">
            <a:off x="3755857" y="1065250"/>
            <a:ext cx="481263" cy="2099511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2F6D0FF-7554-4DE9-87E5-1A24CB8D0991}"/>
              </a:ext>
            </a:extLst>
          </p:cNvPr>
          <p:cNvSpPr/>
          <p:nvPr/>
        </p:nvSpPr>
        <p:spPr>
          <a:xfrm rot="5400000">
            <a:off x="5883441" y="1308450"/>
            <a:ext cx="481263" cy="1636297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E710DF6-6FC2-4F37-92E1-5FAB18E0A332}"/>
              </a:ext>
            </a:extLst>
          </p:cNvPr>
          <p:cNvSpPr/>
          <p:nvPr/>
        </p:nvSpPr>
        <p:spPr>
          <a:xfrm rot="5400000">
            <a:off x="7667624" y="1460842"/>
            <a:ext cx="481263" cy="1412710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2FA67-ED49-40C3-93C3-6B01A387915C}"/>
              </a:ext>
            </a:extLst>
          </p:cNvPr>
          <p:cNvSpPr txBox="1"/>
          <p:nvPr/>
        </p:nvSpPr>
        <p:spPr>
          <a:xfrm>
            <a:off x="2775785" y="2420524"/>
            <a:ext cx="2441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latin typeface="Georgia" panose="02040502050405020303" pitchFamily="18" charset="0"/>
              </a:rPr>
              <a:t>Suma de cuadrados total</a:t>
            </a:r>
          </a:p>
          <a:p>
            <a:pPr algn="ctr"/>
            <a:r>
              <a:rPr lang="es-419" sz="1200" dirty="0">
                <a:latin typeface="Georgia" panose="02040502050405020303" pitchFamily="18" charset="0"/>
              </a:rPr>
              <a:t> (SCT)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685A7-7555-4970-A9C8-FDDB015291E9}"/>
              </a:ext>
            </a:extLst>
          </p:cNvPr>
          <p:cNvSpPr txBox="1"/>
          <p:nvPr/>
        </p:nvSpPr>
        <p:spPr>
          <a:xfrm>
            <a:off x="4798341" y="2385734"/>
            <a:ext cx="265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latin typeface="Georgia" panose="02040502050405020303" pitchFamily="18" charset="0"/>
              </a:rPr>
              <a:t>Suma de cuadrados dentro</a:t>
            </a:r>
          </a:p>
          <a:p>
            <a:pPr algn="ctr"/>
            <a:r>
              <a:rPr lang="es-419" sz="1200" dirty="0">
                <a:latin typeface="Georgia" panose="02040502050405020303" pitchFamily="18" charset="0"/>
              </a:rPr>
              <a:t> (SCD)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A6385-4928-441C-AE00-13D99E5DB471}"/>
              </a:ext>
            </a:extLst>
          </p:cNvPr>
          <p:cNvSpPr txBox="1"/>
          <p:nvPr/>
        </p:nvSpPr>
        <p:spPr>
          <a:xfrm>
            <a:off x="7082966" y="2403129"/>
            <a:ext cx="1898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latin typeface="Georgia" panose="02040502050405020303" pitchFamily="18" charset="0"/>
              </a:rPr>
              <a:t>Suma de cuadrados entre</a:t>
            </a:r>
          </a:p>
          <a:p>
            <a:pPr algn="ctr"/>
            <a:r>
              <a:rPr lang="es-419" sz="1200" dirty="0">
                <a:latin typeface="Georgia" panose="02040502050405020303" pitchFamily="18" charset="0"/>
              </a:rPr>
              <a:t> (SCE)</a:t>
            </a:r>
          </a:p>
        </p:txBody>
      </p:sp>
    </p:spTree>
    <p:extLst>
      <p:ext uri="{BB962C8B-B14F-4D97-AF65-F5344CB8AC3E}">
        <p14:creationId xmlns:p14="http://schemas.microsoft.com/office/powerpoint/2010/main" val="2917633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Realizando el contraste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Supuestos y operaciones</a:t>
            </a:r>
          </a:p>
        </p:txBody>
      </p:sp>
    </p:spTree>
    <p:extLst>
      <p:ext uri="{BB962C8B-B14F-4D97-AF65-F5344CB8AC3E}">
        <p14:creationId xmlns:p14="http://schemas.microsoft.com/office/powerpoint/2010/main" val="3897935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Supuestos iniciales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/>
                  <a:t>Supuestos generales para realización de ANOVA de un factor: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Las muestras son independientes y aleatorias.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Las poblaciones son normalmente distribuidas.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Las varianzas poblacionales son iguales.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Sup>
                        <m:sSub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Esto puede ser un factor limitante, pero en muchos casos prácticos el supuesto de normalidad es razonable.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Supuesto de normalidad puede corroborarse usando contrastes no paramétrico.</a:t>
                </a:r>
              </a:p>
              <a:p>
                <a:pPr>
                  <a:lnSpc>
                    <a:spcPct val="17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2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273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8EAE-9A18-44E0-9CE0-3C48D712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Los cuadrados medios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C0649-879A-47E7-BF63-06413BA56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El contraste realizado en análisis de varianza consiste en la comparación de estimadores insesgados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dirty="0"/>
                  <a:t> y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construidos a partir de SCD y SCE.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Estos estimadores son elaborados con </a:t>
                </a:r>
                <a:r>
                  <a:rPr lang="es-419" b="1" dirty="0">
                    <a:solidFill>
                      <a:srgbClr val="003A5D"/>
                    </a:solidFill>
                  </a:rPr>
                  <a:t>cuadrados medios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𝐶𝑢𝑎𝑑𝑟𝑎𝑑𝑜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𝑚𝑒𝑑𝑖𝑜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𝑆𝑢𝑚𝑎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𝑐𝑢𝑎𝑑𝑟𝑎𝑑𝑜𝑠</m:t>
                          </m:r>
                        </m:num>
                        <m:den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𝐺𝑟𝑎𝑑𝑜𝑠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𝑙𝑖𝑏𝑒𝑟𝑡𝑎𝑑</m:t>
                          </m:r>
                        </m:den>
                      </m:f>
                    </m:oMath>
                  </m:oMathPara>
                </a14:m>
                <a:endParaRPr lang="es-419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Aprovechamos el principio de que la descomposición de suma de cuadrados también aplica para los grados de libertad.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𝑆𝐶𝑇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𝑆𝐶𝐷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𝑆𝐶𝐸</m:t>
                      </m:r>
                    </m:oMath>
                  </m:oMathPara>
                </a14:m>
                <a:endParaRPr lang="es-419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𝑔𝑙𝑡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𝑔𝑙𝑑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𝑔𝑙𝑒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s-419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C0649-879A-47E7-BF63-06413BA56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44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1278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8EAE-9A18-44E0-9CE0-3C48D712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Los cuadrados medios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C0649-879A-47E7-BF63-06413BA56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Por lo tanto podemos plantear cuadrados medios de forma tal que: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𝐶𝑀𝐸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𝑆𝐶𝐸</m:t>
                          </m:r>
                        </m:num>
                        <m:den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419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𝐶𝑀𝐷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𝑆𝐶𝐷</m:t>
                          </m:r>
                        </m:num>
                        <m:den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s-419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s-419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CMD también se conoce como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Error Cuadrado Medio (MSE)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b="0" dirty="0">
                    <a:solidFill>
                      <a:schemeClr val="tx1"/>
                    </a:solidFill>
                  </a:rPr>
                  <a:t>También podemos estimar cuadrado medio total: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𝐶𝑀𝑇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𝑆𝐶𝑇</m:t>
                          </m:r>
                        </m:num>
                        <m:den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C0649-879A-47E7-BF63-06413BA56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178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9487-FC3F-4A69-BE9E-93141BB2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El estadístico de prueba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Bajo las hipótesis (y supuestos):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𝑚𝑒𝑑𝑖𝑎𝑠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𝑠𝑜𝑛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𝑖𝑔𝑢𝑎𝑙𝑒𝑠</m:t>
                    </m:r>
                    <m:r>
                      <a:rPr lang="es-V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VE" sz="20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𝐴𝑙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𝑚𝑒𝑛𝑜𝑠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𝑑𝑜𝑠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𝑚𝑒𝑑𝑖𝑎𝑠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𝑠𝑜𝑛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𝑑𝑖𝑓𝑒𝑟𝑒𝑛𝑡𝑒𝑠</m:t>
                    </m:r>
                  </m:oMath>
                </a14:m>
                <a:endParaRPr lang="es-419" sz="2000" b="0" dirty="0"/>
              </a:p>
              <a:p>
                <a:pPr>
                  <a:lnSpc>
                    <a:spcPct val="170000"/>
                  </a:lnSpc>
                </a:pPr>
                <a:r>
                  <a:rPr lang="es-419" sz="2400" dirty="0"/>
                  <a:t>Se construye un estadístico </a:t>
                </a:r>
                <a:r>
                  <a:rPr lang="es-419" sz="2400" b="1" i="1" dirty="0">
                    <a:solidFill>
                      <a:srgbClr val="003A5D"/>
                    </a:solidFill>
                  </a:rPr>
                  <a:t>F</a:t>
                </a:r>
                <a:r>
                  <a:rPr lang="es-419" sz="2400" dirty="0"/>
                  <a:t> a partir del ratio de cuadrados medios entre grupos y dentro de grupos.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419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419" sz="2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s-419" sz="2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es-419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s-419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s-419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s-419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num>
                            <m:den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s-419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𝑆𝐶𝐸</m:t>
                              </m:r>
                            </m:num>
                            <m:den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s-419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𝑆𝐶𝐷</m:t>
                              </m:r>
                            </m:num>
                            <m:den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419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𝐶𝑀𝐸</m:t>
                          </m:r>
                        </m:num>
                        <m:den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𝐶𝑀𝐷</m:t>
                          </m:r>
                        </m:den>
                      </m:f>
                      <m:r>
                        <a:rPr lang="es-419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−1;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40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419" sz="2400" b="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473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9487-FC3F-4A69-BE9E-93141BB2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El estadístico de prueba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𝐶𝑀𝐸</m:t>
                          </m:r>
                        </m:num>
                        <m:den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𝐶𝑀𝐷</m:t>
                          </m:r>
                        </m:den>
                      </m:f>
                      <m:r>
                        <a:rPr lang="es-419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−1;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400" dirty="0"/>
              </a:p>
              <a:p>
                <a:pPr>
                  <a:lnSpc>
                    <a:spcPct val="170000"/>
                  </a:lnSpc>
                </a:pPr>
                <a:r>
                  <a:rPr lang="es-419" sz="2400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sz="2400" dirty="0"/>
                  <a:t> es </a:t>
                </a:r>
                <a:r>
                  <a:rPr lang="es-419" sz="2400" b="1" dirty="0">
                    <a:solidFill>
                      <a:srgbClr val="003A5D"/>
                    </a:solidFill>
                  </a:rPr>
                  <a:t>verdadera</a:t>
                </a:r>
                <a:r>
                  <a:rPr lang="es-419" sz="2400" dirty="0"/>
                  <a:t> (las medias son iguales) tanto numerador (CME) como denominador (CMD) son estimadores insesgados e independientes de la misma varianza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2400" dirty="0"/>
                  <a:t>). Su valor tiende (o se acerca) a la unidad.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2400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sz="2400" dirty="0"/>
                  <a:t> es </a:t>
                </a:r>
                <a:r>
                  <a:rPr lang="es-419" sz="2400" b="1" dirty="0">
                    <a:solidFill>
                      <a:srgbClr val="003A5D"/>
                    </a:solidFill>
                  </a:rPr>
                  <a:t>falsa</a:t>
                </a:r>
                <a:r>
                  <a:rPr lang="es-419" sz="2400" dirty="0"/>
                  <a:t> (las medias son diferentes) el CME tenderá a ser mayor que  CMD, y el valor del estadístico tenderá a ser mayor.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2400" b="0" dirty="0"/>
                  <a:t>Mientras mayor sea el estadístico, mayor será la evidencia en contra de la hipótesis nula.</a:t>
                </a:r>
              </a:p>
              <a:p>
                <a:pPr>
                  <a:lnSpc>
                    <a:spcPct val="170000"/>
                  </a:lnSpc>
                </a:pPr>
                <a:endParaRPr lang="es-419" sz="2400" b="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168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9487-FC3F-4A69-BE9E-93141BB2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El contraste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sz="1800" dirty="0"/>
                  <a:t>Podemos evaluar la hipótesis nula para un nivel de significancia </a:t>
                </a:r>
                <a14:m>
                  <m:oMath xmlns:m="http://schemas.openxmlformats.org/officeDocument/2006/math">
                    <m:r>
                      <a:rPr lang="es-419" sz="1800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s-419" sz="1800" b="1" dirty="0"/>
                  <a:t> </a:t>
                </a:r>
                <a:r>
                  <a:rPr lang="es-419" sz="1800" dirty="0"/>
                  <a:t>con un contraste de una cola por la derecha.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1800" dirty="0"/>
                  <a:t>Rechazaremos la hipótesis nula dependiendo del valor del estadístico </a:t>
                </a:r>
                <a:r>
                  <a:rPr lang="es-419" sz="1800" i="1" dirty="0"/>
                  <a:t>F</a:t>
                </a:r>
                <a:r>
                  <a:rPr lang="es-419" sz="1800" dirty="0"/>
                  <a:t>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1800" dirty="0"/>
                  <a:t>También podemos también calcular un </a:t>
                </a:r>
                <a:r>
                  <a:rPr lang="es-419" sz="1800" b="1" dirty="0">
                    <a:solidFill>
                      <a:srgbClr val="003A5D"/>
                    </a:solidFill>
                  </a:rPr>
                  <a:t>p-valor</a:t>
                </a:r>
                <a:r>
                  <a:rPr lang="es-419" sz="1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154CE-3362-4E3B-B988-55885F20A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C3B3F18-EEFD-420C-A938-FEC4C6442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" t="6718" r="56119" b="52919"/>
          <a:stretch/>
        </p:blipFill>
        <p:spPr bwMode="auto">
          <a:xfrm>
            <a:off x="3157158" y="3080963"/>
            <a:ext cx="5877683" cy="3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710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854D-2B96-4BD6-A71B-5EE2D35E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Cuadro ANOVA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9D26F-43C4-464F-BDE8-0170139A0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400" dirty="0"/>
                  <a:t>Los resultados de ANOVA tienden a resumirse en una tabla como esta:</a:t>
                </a:r>
              </a:p>
              <a:p>
                <a:pPr>
                  <a:lnSpc>
                    <a:spcPct val="150000"/>
                  </a:lnSpc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endParaRPr lang="es-419" sz="2400" dirty="0"/>
              </a:p>
              <a:p>
                <a:pPr>
                  <a:lnSpc>
                    <a:spcPct val="150000"/>
                  </a:lnSpc>
                </a:pPr>
                <a:r>
                  <a:rPr lang="es-419" sz="2400" dirty="0"/>
                  <a:t>CMD también se emplea también como estimador de la varianza de los errores aleatorios en el modelo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419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s-419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9D26F-43C4-464F-BDE8-0170139A0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14">
                <a:extLst>
                  <a:ext uri="{FF2B5EF4-FFF2-40B4-BE49-F238E27FC236}">
                    <a16:creationId xmlns:a16="http://schemas.microsoft.com/office/drawing/2014/main" id="{69E345C1-09E0-44DA-A36D-05B7ECD0B5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213305"/>
                  </p:ext>
                </p:extLst>
              </p:nvPr>
            </p:nvGraphicFramePr>
            <p:xfrm>
              <a:off x="838200" y="1355657"/>
              <a:ext cx="10515601" cy="333832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10604">
                      <a:extLst>
                        <a:ext uri="{9D8B030D-6E8A-4147-A177-3AD203B41FA5}">
                          <a16:colId xmlns:a16="http://schemas.microsoft.com/office/drawing/2014/main" val="2182685190"/>
                        </a:ext>
                      </a:extLst>
                    </a:gridCol>
                    <a:gridCol w="3234520">
                      <a:extLst>
                        <a:ext uri="{9D8B030D-6E8A-4147-A177-3AD203B41FA5}">
                          <a16:colId xmlns:a16="http://schemas.microsoft.com/office/drawing/2014/main" val="2461316878"/>
                        </a:ext>
                      </a:extLst>
                    </a:gridCol>
                    <a:gridCol w="982638">
                      <a:extLst>
                        <a:ext uri="{9D8B030D-6E8A-4147-A177-3AD203B41FA5}">
                          <a16:colId xmlns:a16="http://schemas.microsoft.com/office/drawing/2014/main" val="1672333820"/>
                        </a:ext>
                      </a:extLst>
                    </a:gridCol>
                    <a:gridCol w="1815153">
                      <a:extLst>
                        <a:ext uri="{9D8B030D-6E8A-4147-A177-3AD203B41FA5}">
                          <a16:colId xmlns:a16="http://schemas.microsoft.com/office/drawing/2014/main" val="1735721831"/>
                        </a:ext>
                      </a:extLst>
                    </a:gridCol>
                    <a:gridCol w="1282889">
                      <a:extLst>
                        <a:ext uri="{9D8B030D-6E8A-4147-A177-3AD203B41FA5}">
                          <a16:colId xmlns:a16="http://schemas.microsoft.com/office/drawing/2014/main" val="1663222917"/>
                        </a:ext>
                      </a:extLst>
                    </a:gridCol>
                    <a:gridCol w="1389797">
                      <a:extLst>
                        <a:ext uri="{9D8B030D-6E8A-4147-A177-3AD203B41FA5}">
                          <a16:colId xmlns:a16="http://schemas.microsoft.com/office/drawing/2014/main" val="1171496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419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Fuente de variación</a:t>
                          </a:r>
                          <a:endParaRPr lang="en-US" sz="1800" b="1" i="1" kern="120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Sumas de </a:t>
                          </a:r>
                          <a:r>
                            <a:rPr lang="es-419" sz="1800" b="1" i="1" kern="1200" noProof="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cuadrados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i="1" dirty="0" err="1">
                              <a:latin typeface="Georgia" panose="02040502050405020303" pitchFamily="18" charset="0"/>
                            </a:rPr>
                            <a:t>gls</a:t>
                          </a:r>
                          <a:endParaRPr lang="en-US" sz="18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i="1" dirty="0">
                              <a:latin typeface="Georgia" panose="02040502050405020303" pitchFamily="18" charset="0"/>
                            </a:rPr>
                            <a:t>Cuadrados medios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F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P-valor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82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Entre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Grupos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(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Tratamiento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𝑆𝐶𝐸</m:t>
                                </m:r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419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𝐶𝑀𝐸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𝑆𝐶𝐸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𝐶𝑀𝐸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𝐶𝑀𝐷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831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Dentro de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grupos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 (Error)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𝑆𝐶𝐷</m:t>
                                </m:r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𝑖𝑗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s-419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s-419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𝑋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s-419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𝐶𝑀𝐷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𝑆𝐶𝐷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0060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𝑆𝐶𝑇</m:t>
                                </m:r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419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8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419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419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𝐶𝑀𝑇</m:t>
                                </m:r>
                                <m:r>
                                  <a:rPr lang="es-419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𝑆𝐶𝑇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713754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14">
                <a:extLst>
                  <a:ext uri="{FF2B5EF4-FFF2-40B4-BE49-F238E27FC236}">
                    <a16:creationId xmlns:a16="http://schemas.microsoft.com/office/drawing/2014/main" id="{69E345C1-09E0-44DA-A36D-05B7ECD0B5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213305"/>
                  </p:ext>
                </p:extLst>
              </p:nvPr>
            </p:nvGraphicFramePr>
            <p:xfrm>
              <a:off x="838200" y="1355657"/>
              <a:ext cx="10515601" cy="333832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10604">
                      <a:extLst>
                        <a:ext uri="{9D8B030D-6E8A-4147-A177-3AD203B41FA5}">
                          <a16:colId xmlns:a16="http://schemas.microsoft.com/office/drawing/2014/main" val="2182685190"/>
                        </a:ext>
                      </a:extLst>
                    </a:gridCol>
                    <a:gridCol w="3234520">
                      <a:extLst>
                        <a:ext uri="{9D8B030D-6E8A-4147-A177-3AD203B41FA5}">
                          <a16:colId xmlns:a16="http://schemas.microsoft.com/office/drawing/2014/main" val="2461316878"/>
                        </a:ext>
                      </a:extLst>
                    </a:gridCol>
                    <a:gridCol w="982638">
                      <a:extLst>
                        <a:ext uri="{9D8B030D-6E8A-4147-A177-3AD203B41FA5}">
                          <a16:colId xmlns:a16="http://schemas.microsoft.com/office/drawing/2014/main" val="1672333820"/>
                        </a:ext>
                      </a:extLst>
                    </a:gridCol>
                    <a:gridCol w="1815153">
                      <a:extLst>
                        <a:ext uri="{9D8B030D-6E8A-4147-A177-3AD203B41FA5}">
                          <a16:colId xmlns:a16="http://schemas.microsoft.com/office/drawing/2014/main" val="1735721831"/>
                        </a:ext>
                      </a:extLst>
                    </a:gridCol>
                    <a:gridCol w="1282889">
                      <a:extLst>
                        <a:ext uri="{9D8B030D-6E8A-4147-A177-3AD203B41FA5}">
                          <a16:colId xmlns:a16="http://schemas.microsoft.com/office/drawing/2014/main" val="1663222917"/>
                        </a:ext>
                      </a:extLst>
                    </a:gridCol>
                    <a:gridCol w="1389797">
                      <a:extLst>
                        <a:ext uri="{9D8B030D-6E8A-4147-A177-3AD203B41FA5}">
                          <a16:colId xmlns:a16="http://schemas.microsoft.com/office/drawing/2014/main" val="117149625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419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Fuente de variación</a:t>
                          </a:r>
                          <a:endParaRPr lang="en-US" sz="1800" b="1" i="1" kern="1200" dirty="0">
                            <a:solidFill>
                              <a:schemeClr val="lt1"/>
                            </a:solidFill>
                            <a:latin typeface="Georgia" panose="02040502050405020303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Sumas de </a:t>
                          </a:r>
                          <a:r>
                            <a:rPr lang="es-419" sz="1800" b="1" i="1" kern="1200" noProof="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cuadrados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i="1" dirty="0" err="1">
                              <a:latin typeface="Georgia" panose="02040502050405020303" pitchFamily="18" charset="0"/>
                            </a:rPr>
                            <a:t>gls</a:t>
                          </a:r>
                          <a:endParaRPr lang="en-US" sz="18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i="1" dirty="0">
                              <a:latin typeface="Georgia" panose="02040502050405020303" pitchFamily="18" charset="0"/>
                            </a:rPr>
                            <a:t>Cuadrados medios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F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i="1" kern="1200" dirty="0">
                              <a:solidFill>
                                <a:schemeClr val="lt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P-valor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820005"/>
                      </a:ext>
                    </a:extLst>
                  </a:tr>
                  <a:tr h="8994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Entre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Grupos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(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Tratamiento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121" t="-74324" r="-169868" b="-2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14907" t="-74324" r="-460248" b="-2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2215" t="-74324" r="-148658" b="-2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0427" t="-74324" r="-109953" b="-2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57456" t="-74324" r="-1754" b="-2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831772"/>
                      </a:ext>
                    </a:extLst>
                  </a:tr>
                  <a:tr h="8994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Dentro de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grupos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 (Error)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121" t="-174324" r="-169868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14907" t="-174324" r="-460248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2215" t="-174324" r="-148658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0060126"/>
                      </a:ext>
                    </a:extLst>
                  </a:tr>
                  <a:tr h="8994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121" t="-274324" r="-169868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14907" t="-274324" r="-460248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2215" t="-274324" r="-148658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713754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7423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523B-CA9F-4F2A-BA98-A35CD960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Realización de ejercicios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495B-A136-4304-B544-E81005B6B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s-419" dirty="0"/>
              <a:t>ANOVA es relativamente fácil de realizar ya sea con Excel o R, aunque con algunas cautelas.</a:t>
            </a:r>
          </a:p>
          <a:p>
            <a:pPr>
              <a:lnSpc>
                <a:spcPct val="170000"/>
              </a:lnSpc>
            </a:pPr>
            <a:r>
              <a:rPr lang="es-419" dirty="0"/>
              <a:t>En </a:t>
            </a:r>
            <a:r>
              <a:rPr lang="es-419" b="1" dirty="0">
                <a:solidFill>
                  <a:srgbClr val="003A5D"/>
                </a:solidFill>
              </a:rPr>
              <a:t>Excel</a:t>
            </a:r>
            <a:r>
              <a:rPr lang="es-419" dirty="0"/>
              <a:t> se puede hacer de forma expedita cálculos manuales de todos los pasos usando funciones básicas hasta el cálculo del p-valor. De igual como existe una función especializada.</a:t>
            </a:r>
          </a:p>
          <a:p>
            <a:pPr lvl="1">
              <a:lnSpc>
                <a:spcPct val="170000"/>
              </a:lnSpc>
            </a:pPr>
            <a:r>
              <a:rPr lang="es-419" dirty="0"/>
              <a:t>Único inconveniente siendo si la versión tiene los comandos analíticos.</a:t>
            </a:r>
          </a:p>
          <a:p>
            <a:pPr>
              <a:lnSpc>
                <a:spcPct val="170000"/>
              </a:lnSpc>
            </a:pPr>
            <a:r>
              <a:rPr lang="es-419" dirty="0"/>
              <a:t>En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se puede igualmente calcular manualmente todos los pasos para realizar el contraste siguiendo el método </a:t>
            </a:r>
            <a:r>
              <a:rPr lang="es-419" dirty="0" err="1"/>
              <a:t>Casuso</a:t>
            </a:r>
            <a:r>
              <a:rPr lang="es-419" dirty="0"/>
              <a:t>. A la vez que se pueden emplear funciones especializadas para el mismo.</a:t>
            </a:r>
          </a:p>
          <a:p>
            <a:pPr lvl="1">
              <a:lnSpc>
                <a:spcPct val="170000"/>
              </a:lnSpc>
            </a:pPr>
            <a:r>
              <a:rPr lang="es-419" dirty="0"/>
              <a:t>Para uso de estas funciones se requiere preparar los datos de antemano.</a:t>
            </a:r>
          </a:p>
        </p:txBody>
      </p:sp>
    </p:spTree>
    <p:extLst>
      <p:ext uri="{BB962C8B-B14F-4D97-AF65-F5344CB8AC3E}">
        <p14:creationId xmlns:p14="http://schemas.microsoft.com/office/powerpoint/2010/main" val="1380689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B793-C65F-436D-94D0-005AD623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B3B8F-24A2-4C18-AD42-83280C5AD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1600" i="1" dirty="0"/>
              <a:t>“Los miembros de un equipo ciclista se dividen al azar en tres grupos que entrenan con métodos diferentes. El primer grupo realiza largos recorridos a ritmo pausado, el segundo grupo realiza series cortas de alta intensidad y el tercero trabaja en el gimnasio con pesas y se ejercita en el pedaleo de alta frecuencia.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600" i="1" dirty="0"/>
              <a:t>Después de un mes de entrenamiento se realiza un test de rendimiento consistente en un recorrido cronometrado de 9 Km. A un nivel de significación del 5% ¿Puede considerarse que los tres métodos producen resultados equivalentes?”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600" i="1" dirty="0"/>
              <a:t>Los tiempos empleados fueron los siguientes:</a:t>
            </a:r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ES" i="1" dirty="0"/>
          </a:p>
          <a:p>
            <a:pPr marL="0" indent="0">
              <a:lnSpc>
                <a:spcPct val="150000"/>
              </a:lnSpc>
              <a:buNone/>
            </a:pPr>
            <a:endParaRPr lang="es-419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254D58E-140E-49E3-85BF-BD6F1FAB0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301224"/>
              </p:ext>
            </p:extLst>
          </p:nvPr>
        </p:nvGraphicFramePr>
        <p:xfrm>
          <a:off x="2032000" y="3753531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041918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5827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32898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Método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4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14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1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125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34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413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532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&gt;#Cargar </a:t>
            </a:r>
            <a:r>
              <a:rPr lang="es-419" dirty="0" err="1">
                <a:latin typeface="Consolas" panose="020B0609020204030204" pitchFamily="49" charset="0"/>
              </a:rPr>
              <a:t>tidyverse</a:t>
            </a:r>
            <a:r>
              <a:rPr lang="es-419" dirty="0">
                <a:latin typeface="Consolas" panose="020B0609020204030204" pitchFamily="49" charset="0"/>
              </a:rPr>
              <a:t> para manipular datos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</a:t>
            </a:r>
            <a:r>
              <a:rPr lang="es-419" dirty="0" err="1">
                <a:latin typeface="Consolas" panose="020B0609020204030204" pitchFamily="49" charset="0"/>
              </a:rPr>
              <a:t>library</a:t>
            </a:r>
            <a:r>
              <a:rPr lang="es-419" dirty="0">
                <a:latin typeface="Consolas" panose="020B0609020204030204" pitchFamily="49" charset="0"/>
              </a:rPr>
              <a:t>(</a:t>
            </a:r>
            <a:r>
              <a:rPr lang="es-419" dirty="0" err="1">
                <a:latin typeface="Consolas" panose="020B0609020204030204" pitchFamily="49" charset="0"/>
              </a:rPr>
              <a:t>tidyverse</a:t>
            </a:r>
            <a:r>
              <a:rPr lang="es-419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#Datos básicos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metodo_1 &lt;- c(15, 16, 14, 15, 17)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metodo_2 &lt;- c(14, 13, 15, 16, 14)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metodo_3 &lt;- c(13, 12, 11, 14, 11)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k &lt;- 3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a &lt;- 0.05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944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##Tamaños de muestra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n1 &lt;- </a:t>
            </a:r>
            <a:r>
              <a:rPr lang="es-419" dirty="0" err="1">
                <a:latin typeface="Consolas" panose="020B0609020204030204" pitchFamily="49" charset="0"/>
              </a:rPr>
              <a:t>length</a:t>
            </a:r>
            <a:r>
              <a:rPr lang="es-419" dirty="0">
                <a:latin typeface="Consolas" panose="020B0609020204030204" pitchFamily="49" charset="0"/>
              </a:rPr>
              <a:t>(metodo_1)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n2 &lt;- </a:t>
            </a:r>
            <a:r>
              <a:rPr lang="es-419" dirty="0" err="1">
                <a:latin typeface="Consolas" panose="020B0609020204030204" pitchFamily="49" charset="0"/>
              </a:rPr>
              <a:t>length</a:t>
            </a:r>
            <a:r>
              <a:rPr lang="es-419" dirty="0">
                <a:latin typeface="Consolas" panose="020B0609020204030204" pitchFamily="49" charset="0"/>
              </a:rPr>
              <a:t>(metodo_2)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n3 &lt;- </a:t>
            </a:r>
            <a:r>
              <a:rPr lang="es-419" dirty="0" err="1">
                <a:latin typeface="Consolas" panose="020B0609020204030204" pitchFamily="49" charset="0"/>
              </a:rPr>
              <a:t>length</a:t>
            </a:r>
            <a:r>
              <a:rPr lang="es-419" dirty="0">
                <a:latin typeface="Consolas" panose="020B0609020204030204" pitchFamily="49" charset="0"/>
              </a:rPr>
              <a:t>(metodo_3)</a:t>
            </a:r>
          </a:p>
          <a:p>
            <a:pPr marL="0" indent="0">
              <a:lnSpc>
                <a:spcPct val="120000"/>
              </a:lnSpc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 &lt;- n1 + n2 + n3</a:t>
            </a:r>
          </a:p>
          <a:p>
            <a:pPr marL="0" indent="0">
              <a:lnSpc>
                <a:spcPct val="120000"/>
              </a:lnSpc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[1] 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[1] 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[1] 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&gt; 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419" dirty="0">
                <a:latin typeface="Consolas" panose="020B0609020204030204" pitchFamily="49" charset="0"/>
              </a:rPr>
              <a:t>[1] 15</a:t>
            </a:r>
          </a:p>
        </p:txBody>
      </p:sp>
    </p:spTree>
    <p:extLst>
      <p:ext uri="{BB962C8B-B14F-4D97-AF65-F5344CB8AC3E}">
        <p14:creationId xmlns:p14="http://schemas.microsoft.com/office/powerpoint/2010/main" val="57947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##Medias muestrales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x_hat_1 &lt;- mean(metodo_1)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x_hat_2 &lt;- mean(metodo_2)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x_hat_3 &lt;- mean(metodo_3)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r>
              <a:rPr lang="es-419" dirty="0">
                <a:latin typeface="Consolas" panose="020B0609020204030204" pitchFamily="49" charset="0"/>
              </a:rPr>
              <a:t> &lt;- mean(c(metodo_1, metodo_2, metodo_3))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x_hat_1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15.4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x_hat_2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14.4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x_hat_3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12.2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14</a:t>
            </a:r>
          </a:p>
        </p:txBody>
      </p:sp>
    </p:spTree>
    <p:extLst>
      <p:ext uri="{BB962C8B-B14F-4D97-AF65-F5344CB8AC3E}">
        <p14:creationId xmlns:p14="http://schemas.microsoft.com/office/powerpoint/2010/main" val="65746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##Sumas de cuadrados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sct</a:t>
            </a:r>
            <a:r>
              <a:rPr lang="es-419" dirty="0">
                <a:latin typeface="Consolas" panose="020B0609020204030204" pitchFamily="49" charset="0"/>
              </a:rPr>
              <a:t> &lt;- sum((c(metodo_1, metodo_2, metodo_3) -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r>
              <a:rPr lang="es-419" dirty="0">
                <a:latin typeface="Consolas" panose="020B0609020204030204" pitchFamily="49" charset="0"/>
              </a:rPr>
              <a:t>)^2)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sct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44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scd</a:t>
            </a:r>
            <a:r>
              <a:rPr lang="es-419" dirty="0">
                <a:latin typeface="Consolas" panose="020B0609020204030204" pitchFamily="49" charset="0"/>
              </a:rPr>
              <a:t> &lt;- sum(c((metodo_1 - x_hat_1)^2,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+              (metodo_2 - x_hat_2)^2,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+              (metodo_3 - x_hat_3)^2))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scd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17.2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sce</a:t>
            </a:r>
            <a:r>
              <a:rPr lang="es-419" dirty="0">
                <a:latin typeface="Consolas" panose="020B0609020204030204" pitchFamily="49" charset="0"/>
              </a:rPr>
              <a:t> &lt;- sum(c(n1*(x_hat_1 -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r>
              <a:rPr lang="es-419" dirty="0">
                <a:latin typeface="Consolas" panose="020B0609020204030204" pitchFamily="49" charset="0"/>
              </a:rPr>
              <a:t>)^2,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+              n2*(x_hat_2 -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r>
              <a:rPr lang="es-419" dirty="0">
                <a:latin typeface="Consolas" panose="020B0609020204030204" pitchFamily="49" charset="0"/>
              </a:rPr>
              <a:t>)^2,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+              n3*(x_hat_3 - </a:t>
            </a:r>
            <a:r>
              <a:rPr lang="es-419" dirty="0" err="1">
                <a:latin typeface="Consolas" panose="020B0609020204030204" pitchFamily="49" charset="0"/>
              </a:rPr>
              <a:t>x_hat_t</a:t>
            </a:r>
            <a:r>
              <a:rPr lang="es-419" dirty="0">
                <a:latin typeface="Consolas" panose="020B0609020204030204" pitchFamily="49" charset="0"/>
              </a:rPr>
              <a:t>)^2))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sce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26.8</a:t>
            </a:r>
          </a:p>
        </p:txBody>
      </p:sp>
    </p:spTree>
    <p:extLst>
      <p:ext uri="{BB962C8B-B14F-4D97-AF65-F5344CB8AC3E}">
        <p14:creationId xmlns:p14="http://schemas.microsoft.com/office/powerpoint/2010/main" val="1286661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##Cuadrados medios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cme</a:t>
            </a:r>
            <a:r>
              <a:rPr lang="es-419" dirty="0">
                <a:latin typeface="Consolas" panose="020B0609020204030204" pitchFamily="49" charset="0"/>
              </a:rPr>
              <a:t> &lt;- </a:t>
            </a:r>
            <a:r>
              <a:rPr lang="es-419" dirty="0" err="1">
                <a:latin typeface="Consolas" panose="020B0609020204030204" pitchFamily="49" charset="0"/>
              </a:rPr>
              <a:t>sce</a:t>
            </a:r>
            <a:r>
              <a:rPr lang="es-419" dirty="0">
                <a:latin typeface="Consolas" panose="020B0609020204030204" pitchFamily="49" charset="0"/>
              </a:rPr>
              <a:t>/(k - 1)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cme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13.4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cmd</a:t>
            </a:r>
            <a:r>
              <a:rPr lang="es-419" dirty="0">
                <a:latin typeface="Consolas" panose="020B0609020204030204" pitchFamily="49" charset="0"/>
              </a:rPr>
              <a:t> &lt;- </a:t>
            </a:r>
            <a:r>
              <a:rPr lang="es-419" dirty="0" err="1">
                <a:latin typeface="Consolas" panose="020B0609020204030204" pitchFamily="49" charset="0"/>
              </a:rPr>
              <a:t>scd</a:t>
            </a:r>
            <a:r>
              <a:rPr lang="es-419" dirty="0">
                <a:latin typeface="Consolas" panose="020B0609020204030204" pitchFamily="49" charset="0"/>
              </a:rPr>
              <a:t>/(n - k)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cmd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1.433333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##Estadistico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f &lt;- </a:t>
            </a:r>
            <a:r>
              <a:rPr lang="es-419" dirty="0" err="1">
                <a:latin typeface="Consolas" panose="020B0609020204030204" pitchFamily="49" charset="0"/>
              </a:rPr>
              <a:t>cme</a:t>
            </a:r>
            <a:r>
              <a:rPr lang="es-419" dirty="0">
                <a:latin typeface="Consolas" panose="020B0609020204030204" pitchFamily="49" charset="0"/>
              </a:rPr>
              <a:t>/</a:t>
            </a:r>
            <a:r>
              <a:rPr lang="es-419" dirty="0" err="1">
                <a:latin typeface="Consolas" panose="020B0609020204030204" pitchFamily="49" charset="0"/>
              </a:rPr>
              <a:t>cmd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f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9.348837</a:t>
            </a:r>
          </a:p>
        </p:txBody>
      </p:sp>
    </p:spTree>
    <p:extLst>
      <p:ext uri="{BB962C8B-B14F-4D97-AF65-F5344CB8AC3E}">
        <p14:creationId xmlns:p14="http://schemas.microsoft.com/office/powerpoint/2010/main" val="2572149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###Área de </a:t>
            </a:r>
            <a:r>
              <a:rPr lang="es-419" dirty="0" err="1">
                <a:latin typeface="Consolas" panose="020B0609020204030204" pitchFamily="49" charset="0"/>
              </a:rPr>
              <a:t>rechaso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h &lt;- </a:t>
            </a:r>
            <a:r>
              <a:rPr lang="es-419" dirty="0" err="1">
                <a:latin typeface="Consolas" panose="020B0609020204030204" pitchFamily="49" charset="0"/>
              </a:rPr>
              <a:t>qf</a:t>
            </a:r>
            <a:r>
              <a:rPr lang="es-419" dirty="0">
                <a:latin typeface="Consolas" panose="020B0609020204030204" pitchFamily="49" charset="0"/>
              </a:rPr>
              <a:t>(a, df1 = k - 1, df2 = n - k, </a:t>
            </a:r>
            <a:r>
              <a:rPr lang="es-419" dirty="0" err="1">
                <a:latin typeface="Consolas" panose="020B0609020204030204" pitchFamily="49" charset="0"/>
              </a:rPr>
              <a:t>lower.tail</a:t>
            </a:r>
            <a:r>
              <a:rPr lang="es-419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h</a:t>
            </a: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3.885294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f &gt; h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TRUE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###P-valor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p_valor</a:t>
            </a:r>
            <a:r>
              <a:rPr lang="es-419" dirty="0">
                <a:latin typeface="Consolas" panose="020B0609020204030204" pitchFamily="49" charset="0"/>
              </a:rPr>
              <a:t> &lt;- </a:t>
            </a:r>
            <a:r>
              <a:rPr lang="es-419" dirty="0" err="1">
                <a:latin typeface="Consolas" panose="020B0609020204030204" pitchFamily="49" charset="0"/>
              </a:rPr>
              <a:t>pf</a:t>
            </a:r>
            <a:r>
              <a:rPr lang="es-419" dirty="0">
                <a:latin typeface="Consolas" panose="020B0609020204030204" pitchFamily="49" charset="0"/>
              </a:rPr>
              <a:t>(f, df1 = k - 1, df2 = n - k, </a:t>
            </a:r>
            <a:r>
              <a:rPr lang="es-419" dirty="0" err="1">
                <a:latin typeface="Consolas" panose="020B0609020204030204" pitchFamily="49" charset="0"/>
              </a:rPr>
              <a:t>lower.tail</a:t>
            </a:r>
            <a:r>
              <a:rPr lang="es-419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p_valor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highlight>
                  <a:srgbClr val="FFFF00"/>
                </a:highlight>
                <a:latin typeface="Consolas" panose="020B0609020204030204" pitchFamily="49" charset="0"/>
              </a:rPr>
              <a:t>[1] 0.003568245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p_valor</a:t>
            </a:r>
            <a:r>
              <a:rPr lang="es-419" dirty="0">
                <a:latin typeface="Consolas" panose="020B0609020204030204" pitchFamily="49" charset="0"/>
              </a:rPr>
              <a:t> &lt; a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[1] TRUE</a:t>
            </a:r>
          </a:p>
        </p:txBody>
      </p:sp>
    </p:spTree>
    <p:extLst>
      <p:ext uri="{BB962C8B-B14F-4D97-AF65-F5344CB8AC3E}">
        <p14:creationId xmlns:p14="http://schemas.microsoft.com/office/powerpoint/2010/main" val="1572651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lo resolveríamos usando R?</a:t>
            </a:r>
          </a:p>
        </p:txBody>
      </p:sp>
    </p:spTree>
    <p:extLst>
      <p:ext uri="{BB962C8B-B14F-4D97-AF65-F5344CB8AC3E}">
        <p14:creationId xmlns:p14="http://schemas.microsoft.com/office/powerpoint/2010/main" val="687408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 usando función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aov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##Arrelgando datos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datos &lt;- </a:t>
            </a:r>
            <a:r>
              <a:rPr lang="es-419" sz="2000" dirty="0" err="1">
                <a:latin typeface="Consolas" panose="020B0609020204030204" pitchFamily="49" charset="0"/>
              </a:rPr>
              <a:t>tibble</a:t>
            </a:r>
            <a:r>
              <a:rPr lang="es-419" sz="2000" dirty="0">
                <a:latin typeface="Consolas" panose="020B0609020204030204" pitchFamily="49" charset="0"/>
              </a:rPr>
              <a:t>(metodo_1, metodo_2, metodo_3) %&gt;%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+   </a:t>
            </a:r>
            <a:r>
              <a:rPr lang="es-419" sz="2000" dirty="0" err="1">
                <a:latin typeface="Consolas" panose="020B0609020204030204" pitchFamily="49" charset="0"/>
              </a:rPr>
              <a:t>pivot_longer</a:t>
            </a:r>
            <a:r>
              <a:rPr lang="es-419" sz="2000" dirty="0">
                <a:latin typeface="Consolas" panose="020B0609020204030204" pitchFamily="49" charset="0"/>
              </a:rPr>
              <a:t>(., </a:t>
            </a:r>
            <a:r>
              <a:rPr lang="es-419" sz="2000" dirty="0" err="1">
                <a:latin typeface="Consolas" panose="020B0609020204030204" pitchFamily="49" charset="0"/>
              </a:rPr>
              <a:t>cols</a:t>
            </a:r>
            <a:r>
              <a:rPr lang="es-419" sz="2000" dirty="0">
                <a:latin typeface="Consolas" panose="020B0609020204030204" pitchFamily="49" charset="0"/>
              </a:rPr>
              <a:t> = 1:3, </a:t>
            </a:r>
            <a:r>
              <a:rPr lang="es-419" sz="2000" dirty="0" err="1">
                <a:latin typeface="Consolas" panose="020B0609020204030204" pitchFamily="49" charset="0"/>
              </a:rPr>
              <a:t>names_to</a:t>
            </a:r>
            <a:r>
              <a:rPr lang="es-419" sz="2000" dirty="0">
                <a:latin typeface="Consolas" panose="020B0609020204030204" pitchFamily="49" charset="0"/>
              </a:rPr>
              <a:t> = "</a:t>
            </a:r>
            <a:r>
              <a:rPr lang="es-419" sz="2000" dirty="0" err="1">
                <a:latin typeface="Consolas" panose="020B0609020204030204" pitchFamily="49" charset="0"/>
              </a:rPr>
              <a:t>metodo</a:t>
            </a:r>
            <a:r>
              <a:rPr lang="es-419" sz="2000" dirty="0">
                <a:latin typeface="Consolas" panose="020B0609020204030204" pitchFamily="49" charset="0"/>
              </a:rPr>
              <a:t>", </a:t>
            </a:r>
            <a:r>
              <a:rPr lang="es-419" sz="2000" dirty="0" err="1">
                <a:latin typeface="Consolas" panose="020B0609020204030204" pitchFamily="49" charset="0"/>
              </a:rPr>
              <a:t>values_to</a:t>
            </a:r>
            <a:r>
              <a:rPr lang="es-419" sz="2000" dirty="0">
                <a:latin typeface="Consolas" panose="020B0609020204030204" pitchFamily="49" charset="0"/>
              </a:rPr>
              <a:t> = "valor")</a:t>
            </a:r>
          </a:p>
          <a:p>
            <a:pPr marL="0" indent="0">
              <a:buNone/>
            </a:pPr>
            <a:endParaRPr lang="es-419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head(datos)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# A </a:t>
            </a:r>
            <a:r>
              <a:rPr lang="es-419" sz="2000" dirty="0" err="1">
                <a:latin typeface="Consolas" panose="020B0609020204030204" pitchFamily="49" charset="0"/>
              </a:rPr>
              <a:t>tibble</a:t>
            </a:r>
            <a:r>
              <a:rPr lang="es-419" sz="2000" dirty="0">
                <a:latin typeface="Consolas" panose="020B0609020204030204" pitchFamily="49" charset="0"/>
              </a:rPr>
              <a:t>: 6 x 2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  </a:t>
            </a:r>
            <a:r>
              <a:rPr lang="es-419" sz="2000" dirty="0" err="1">
                <a:latin typeface="Consolas" panose="020B0609020204030204" pitchFamily="49" charset="0"/>
              </a:rPr>
              <a:t>metodo</a:t>
            </a:r>
            <a:r>
              <a:rPr lang="es-419" sz="2000" dirty="0">
                <a:latin typeface="Consolas" panose="020B0609020204030204" pitchFamily="49" charset="0"/>
              </a:rPr>
              <a:t>   valor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  &lt;</a:t>
            </a:r>
            <a:r>
              <a:rPr lang="es-419" sz="2000" dirty="0" err="1">
                <a:latin typeface="Consolas" panose="020B0609020204030204" pitchFamily="49" charset="0"/>
              </a:rPr>
              <a:t>chr</a:t>
            </a:r>
            <a:r>
              <a:rPr lang="es-419" sz="2000" dirty="0">
                <a:latin typeface="Consolas" panose="020B0609020204030204" pitchFamily="49" charset="0"/>
              </a:rPr>
              <a:t>&gt;    &lt;</a:t>
            </a:r>
            <a:r>
              <a:rPr lang="es-419" sz="2000" dirty="0" err="1">
                <a:latin typeface="Consolas" panose="020B0609020204030204" pitchFamily="49" charset="0"/>
              </a:rPr>
              <a:t>dbl</a:t>
            </a:r>
            <a:r>
              <a:rPr lang="es-419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1 metodo_1    15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2 metodo_2    14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3 metodo_3    13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4 metodo_1    16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5 metodo_2    13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6 metodo_3    12</a:t>
            </a:r>
          </a:p>
        </p:txBody>
      </p:sp>
    </p:spTree>
    <p:extLst>
      <p:ext uri="{BB962C8B-B14F-4D97-AF65-F5344CB8AC3E}">
        <p14:creationId xmlns:p14="http://schemas.microsoft.com/office/powerpoint/2010/main" val="642492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13.1: Resolución en R usando función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aov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##Usando la </a:t>
            </a:r>
            <a:r>
              <a:rPr lang="es-419" sz="2000" dirty="0" err="1">
                <a:latin typeface="Consolas" panose="020B0609020204030204" pitchFamily="49" charset="0"/>
              </a:rPr>
              <a:t>funcion</a:t>
            </a:r>
            <a:r>
              <a:rPr lang="es-419" sz="2000" dirty="0">
                <a:latin typeface="Consolas" panose="020B0609020204030204" pitchFamily="49" charset="0"/>
              </a:rPr>
              <a:t> </a:t>
            </a:r>
            <a:r>
              <a:rPr lang="es-419" sz="2000" dirty="0" err="1">
                <a:latin typeface="Consolas" panose="020B0609020204030204" pitchFamily="49" charset="0"/>
              </a:rPr>
              <a:t>aov</a:t>
            </a:r>
            <a:endParaRPr lang="es-419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?</a:t>
            </a:r>
            <a:r>
              <a:rPr lang="es-419" sz="2000" dirty="0" err="1">
                <a:latin typeface="Consolas" panose="020B0609020204030204" pitchFamily="49" charset="0"/>
              </a:rPr>
              <a:t>aov</a:t>
            </a:r>
            <a:r>
              <a:rPr lang="es-419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</a:t>
            </a:r>
            <a:r>
              <a:rPr lang="es-419" sz="2000" dirty="0" err="1">
                <a:latin typeface="Consolas" panose="020B0609020204030204" pitchFamily="49" charset="0"/>
              </a:rPr>
              <a:t>anova_resultado</a:t>
            </a:r>
            <a:r>
              <a:rPr lang="es-419" sz="2000" dirty="0">
                <a:latin typeface="Consolas" panose="020B0609020204030204" pitchFamily="49" charset="0"/>
              </a:rPr>
              <a:t> &lt;- </a:t>
            </a:r>
            <a:r>
              <a:rPr lang="es-419" sz="2000" dirty="0" err="1">
                <a:latin typeface="Consolas" panose="020B0609020204030204" pitchFamily="49" charset="0"/>
              </a:rPr>
              <a:t>aov</a:t>
            </a:r>
            <a:r>
              <a:rPr lang="es-419" sz="2000" dirty="0">
                <a:latin typeface="Consolas" panose="020B0609020204030204" pitchFamily="49" charset="0"/>
              </a:rPr>
              <a:t>(formula = valor ~ </a:t>
            </a:r>
            <a:r>
              <a:rPr lang="es-419" sz="2000" dirty="0" err="1">
                <a:latin typeface="Consolas" panose="020B0609020204030204" pitchFamily="49" charset="0"/>
              </a:rPr>
              <a:t>metodo</a:t>
            </a:r>
            <a:r>
              <a:rPr lang="es-419" sz="2000" dirty="0">
                <a:latin typeface="Consolas" panose="020B0609020204030204" pitchFamily="49" charset="0"/>
              </a:rPr>
              <a:t> , data = datos)</a:t>
            </a:r>
          </a:p>
          <a:p>
            <a:pPr marL="0" indent="0">
              <a:buNone/>
            </a:pPr>
            <a:endParaRPr lang="es-419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</a:t>
            </a:r>
            <a:r>
              <a:rPr lang="es-419" sz="2000" dirty="0" err="1">
                <a:latin typeface="Consolas" panose="020B0609020204030204" pitchFamily="49" charset="0"/>
              </a:rPr>
              <a:t>summary</a:t>
            </a:r>
            <a:r>
              <a:rPr lang="es-419" sz="2000" dirty="0">
                <a:latin typeface="Consolas" panose="020B0609020204030204" pitchFamily="49" charset="0"/>
              </a:rPr>
              <a:t>(</a:t>
            </a:r>
            <a:r>
              <a:rPr lang="es-419" sz="2000" dirty="0" err="1">
                <a:latin typeface="Consolas" panose="020B0609020204030204" pitchFamily="49" charset="0"/>
              </a:rPr>
              <a:t>anova_resultado</a:t>
            </a:r>
            <a:r>
              <a:rPr lang="es-419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Df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Sum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Sq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Mean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Sq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F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Pr(&gt;F)   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metodo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   2   26.8  13.400   9.349 0.00357 **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Residuals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12   17.2   1.433                   </a:t>
            </a: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---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Signif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.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codes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810157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E15-30F7-4940-9F03-4B031C4F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Ejemplo 13.1: Resolución en R usando función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anova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(), lm()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C2DB-34B1-4E1D-BBA1-7946A897D1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?lm()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?</a:t>
            </a:r>
            <a:r>
              <a:rPr lang="es-419" sz="2000" dirty="0" err="1">
                <a:latin typeface="Consolas" panose="020B0609020204030204" pitchFamily="49" charset="0"/>
              </a:rPr>
              <a:t>anova</a:t>
            </a:r>
            <a:r>
              <a:rPr lang="es-419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</a:t>
            </a:r>
            <a:r>
              <a:rPr lang="es-419" sz="2000" dirty="0" err="1">
                <a:latin typeface="Consolas" panose="020B0609020204030204" pitchFamily="49" charset="0"/>
              </a:rPr>
              <a:t>anova</a:t>
            </a:r>
            <a:r>
              <a:rPr lang="es-419" sz="2000" dirty="0">
                <a:latin typeface="Consolas" panose="020B0609020204030204" pitchFamily="49" charset="0"/>
              </a:rPr>
              <a:t>(lm(valor ~ </a:t>
            </a:r>
            <a:r>
              <a:rPr lang="es-419" sz="2000" dirty="0" err="1">
                <a:latin typeface="Consolas" panose="020B0609020204030204" pitchFamily="49" charset="0"/>
              </a:rPr>
              <a:t>metodo</a:t>
            </a:r>
            <a:r>
              <a:rPr lang="es-419" sz="2000" dirty="0">
                <a:latin typeface="Consolas" panose="020B0609020204030204" pitchFamily="49" charset="0"/>
              </a:rPr>
              <a:t>, data = datos))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Analysis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of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Variance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Table</a:t>
            </a:r>
          </a:p>
          <a:p>
            <a:pPr marL="0" indent="0">
              <a:buNone/>
            </a:pPr>
            <a:endParaRPr lang="es-419" sz="20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Response: valor</a:t>
            </a: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     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Df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Sum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Sq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Mean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Sq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F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Pr(&gt;F)   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metodo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 2   26.8 13.4000  9.3488 0.003568 **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Residuals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 12   17.2  1.4333                    </a:t>
            </a: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---</a:t>
            </a:r>
          </a:p>
          <a:p>
            <a:pPr marL="0" indent="0">
              <a:buNone/>
            </a:pP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Signif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. </a:t>
            </a:r>
            <a:r>
              <a:rPr lang="es-419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codes</a:t>
            </a: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2054172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lo resolveríamos usando Excel?</a:t>
            </a:r>
          </a:p>
        </p:txBody>
      </p:sp>
    </p:spTree>
    <p:extLst>
      <p:ext uri="{BB962C8B-B14F-4D97-AF65-F5344CB8AC3E}">
        <p14:creationId xmlns:p14="http://schemas.microsoft.com/office/powerpoint/2010/main" val="1192027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Contraste para comparar varias medias poblacionales a la vez analizando la variabilidad de grupos muestrales.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 Esa variabilidad puedes descomponerse entre grupos y dentro de grupos.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Operativamente, volvemos a (des)probar una hipótesis nula.</a:t>
            </a: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201336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7801</TotalTime>
  <Words>3102</Words>
  <Application>Microsoft Office PowerPoint</Application>
  <PresentationFormat>Widescreen</PresentationFormat>
  <Paragraphs>493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Mensaje principal</vt:lpstr>
      <vt:lpstr>Introducción</vt:lpstr>
      <vt:lpstr>Espacio de intervención: 30 segundos</vt:lpstr>
      <vt:lpstr>Introducción al análisis de varianza</vt:lpstr>
      <vt:lpstr>Introducción al análisis de varianza</vt:lpstr>
      <vt:lpstr>Introducción al análisis de varianza</vt:lpstr>
      <vt:lpstr>La Suma de Cuadrados</vt:lpstr>
      <vt:lpstr>ANOVA de un factor</vt:lpstr>
      <vt:lpstr>One-Way ANOVA</vt:lpstr>
      <vt:lpstr>One-Way ANOVA: Definiciones</vt:lpstr>
      <vt:lpstr>One-Way ANOVA: Información muestral y medias</vt:lpstr>
      <vt:lpstr>One-Way ANOVA: Información muestral y medias</vt:lpstr>
      <vt:lpstr>One-Way ANOVA: La Gran Media</vt:lpstr>
      <vt:lpstr>Ejemplo 13.1</vt:lpstr>
      <vt:lpstr>Ejemplo 13.1: Resolución en R</vt:lpstr>
      <vt:lpstr>Ejemplo 13.1: Resolución en R</vt:lpstr>
      <vt:lpstr>Ejemplo 13.1: Resolución en R</vt:lpstr>
      <vt:lpstr>Modelo matemático</vt:lpstr>
      <vt:lpstr>Espacio de intervención: 30 segundos</vt:lpstr>
      <vt:lpstr>Descomponiendo de variabilidad</vt:lpstr>
      <vt:lpstr>Descomponiendo la suma de cuadrados</vt:lpstr>
      <vt:lpstr>Descomponiendo la suma de cuadrados</vt:lpstr>
      <vt:lpstr>Realizando el contraste</vt:lpstr>
      <vt:lpstr>Supuestos iniciales</vt:lpstr>
      <vt:lpstr>Los cuadrados medios</vt:lpstr>
      <vt:lpstr>Los cuadrados medios</vt:lpstr>
      <vt:lpstr>El estadístico de prueba</vt:lpstr>
      <vt:lpstr>El estadístico de prueba</vt:lpstr>
      <vt:lpstr>El contraste</vt:lpstr>
      <vt:lpstr>Cuadro ANOVA</vt:lpstr>
      <vt:lpstr>Realización de ejercicios</vt:lpstr>
      <vt:lpstr>Ejemplo</vt:lpstr>
      <vt:lpstr>Ejemplo 13.1: Resolución en R</vt:lpstr>
      <vt:lpstr>Ejemplo 13.1: Resolución en R</vt:lpstr>
      <vt:lpstr>Ejemplo 13.1: Resolución en R</vt:lpstr>
      <vt:lpstr>Ejemplo 13.1: Resolución en R</vt:lpstr>
      <vt:lpstr>Ejemplo 13.1: Resolución en R</vt:lpstr>
      <vt:lpstr>Ejemplo 13.1: Resolución en R</vt:lpstr>
      <vt:lpstr>Espacio de intervención: 30 segundos</vt:lpstr>
      <vt:lpstr>Ejemplo 13.1: Resolución en R usando función aov()</vt:lpstr>
      <vt:lpstr>Ejemplo 13.1: Resolución en R usando función aov()</vt:lpstr>
      <vt:lpstr>Ejemplo 13.1: Resolución en R usando función anova(), lm()</vt:lpstr>
      <vt:lpstr>Espacio de intervención: 30 segundos</vt:lpstr>
      <vt:lpstr>Mensaje principal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68</cp:revision>
  <dcterms:created xsi:type="dcterms:W3CDTF">2020-04-17T00:45:03Z</dcterms:created>
  <dcterms:modified xsi:type="dcterms:W3CDTF">2022-12-07T01:04:27Z</dcterms:modified>
</cp:coreProperties>
</file>