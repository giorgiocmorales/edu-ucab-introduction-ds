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02" r:id="rId3"/>
    <p:sldId id="330" r:id="rId4"/>
    <p:sldId id="257" r:id="rId5"/>
    <p:sldId id="277" r:id="rId6"/>
    <p:sldId id="327" r:id="rId7"/>
    <p:sldId id="423" r:id="rId8"/>
    <p:sldId id="338" r:id="rId9"/>
    <p:sldId id="424" r:id="rId10"/>
    <p:sldId id="278" r:id="rId11"/>
    <p:sldId id="425" r:id="rId12"/>
    <p:sldId id="279" r:id="rId13"/>
    <p:sldId id="280" r:id="rId14"/>
    <p:sldId id="281" r:id="rId15"/>
    <p:sldId id="282" r:id="rId16"/>
    <p:sldId id="331" r:id="rId17"/>
    <p:sldId id="283" r:id="rId18"/>
    <p:sldId id="284" r:id="rId19"/>
    <p:sldId id="332" r:id="rId20"/>
    <p:sldId id="285" r:id="rId21"/>
    <p:sldId id="431" r:id="rId22"/>
    <p:sldId id="309" r:id="rId23"/>
    <p:sldId id="310" r:id="rId24"/>
    <p:sldId id="311" r:id="rId25"/>
    <p:sldId id="312" r:id="rId26"/>
    <p:sldId id="426" r:id="rId27"/>
    <p:sldId id="333" r:id="rId28"/>
    <p:sldId id="286" r:id="rId29"/>
    <p:sldId id="290" r:id="rId30"/>
    <p:sldId id="432" r:id="rId31"/>
    <p:sldId id="388" r:id="rId32"/>
    <p:sldId id="315" r:id="rId33"/>
    <p:sldId id="316" r:id="rId34"/>
    <p:sldId id="317" r:id="rId35"/>
    <p:sldId id="318" r:id="rId36"/>
    <p:sldId id="319" r:id="rId37"/>
    <p:sldId id="287" r:id="rId38"/>
    <p:sldId id="291" r:id="rId39"/>
    <p:sldId id="427" r:id="rId40"/>
    <p:sldId id="322" r:id="rId41"/>
    <p:sldId id="325" r:id="rId42"/>
    <p:sldId id="324" r:id="rId43"/>
    <p:sldId id="326" r:id="rId44"/>
    <p:sldId id="335" r:id="rId45"/>
    <p:sldId id="288" r:id="rId46"/>
    <p:sldId id="292" r:id="rId47"/>
    <p:sldId id="293" r:id="rId48"/>
    <p:sldId id="314" r:id="rId49"/>
    <p:sldId id="336" r:id="rId50"/>
    <p:sldId id="289" r:id="rId51"/>
    <p:sldId id="295" r:id="rId52"/>
    <p:sldId id="430" r:id="rId53"/>
    <p:sldId id="320" r:id="rId54"/>
    <p:sldId id="337" r:id="rId55"/>
    <p:sldId id="296" r:id="rId56"/>
    <p:sldId id="297" r:id="rId57"/>
    <p:sldId id="298" r:id="rId58"/>
    <p:sldId id="300" r:id="rId59"/>
    <p:sldId id="299" r:id="rId60"/>
    <p:sldId id="328" r:id="rId61"/>
    <p:sldId id="301" r:id="rId62"/>
    <p:sldId id="302" r:id="rId63"/>
    <p:sldId id="433" r:id="rId64"/>
    <p:sldId id="435" r:id="rId65"/>
    <p:sldId id="436" r:id="rId66"/>
    <p:sldId id="434" r:id="rId67"/>
    <p:sldId id="437" r:id="rId68"/>
    <p:sldId id="303" r:id="rId69"/>
    <p:sldId id="304" r:id="rId70"/>
    <p:sldId id="429" r:id="rId71"/>
    <p:sldId id="306" r:id="rId72"/>
    <p:sldId id="307" r:id="rId73"/>
    <p:sldId id="308" r:id="rId74"/>
    <p:sldId id="428" r:id="rId75"/>
    <p:sldId id="321" r:id="rId76"/>
    <p:sldId id="323" r:id="rId77"/>
    <p:sldId id="329" r:id="rId78"/>
    <p:sldId id="503" r:id="rId79"/>
    <p:sldId id="276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A5D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206" autoAdjust="0"/>
  </p:normalViewPr>
  <p:slideViewPr>
    <p:cSldViewPr snapToGrid="0">
      <p:cViewPr varScale="1">
        <p:scale>
          <a:sx n="80" d="100"/>
          <a:sy n="80" d="100"/>
        </p:scale>
        <p:origin x="7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FDA-64E3-4AE2-8866-4624A7B52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F877-47BE-4588-88BA-8CB06EF954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ESTADÍ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8BE2-9CB5-4C5E-8562-2E2F398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42264-421F-4D62-B951-6F2CA84F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6052C-8ACB-49D8-B8EF-3B485F1F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3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BDA8-E557-4626-86BA-56B3E1FD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0CC3-0AE0-407B-AA10-92B5CA69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B793-7AFA-4089-A3A8-6F5D861A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FA07-C55D-41EC-A7F6-0D9213E7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8243-5F9D-4E5D-A01D-354E1EF0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37F-6BD1-4AAD-9C8A-82F79552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0E71-BEAA-4E89-9F9B-8D341D3E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1FB1-360D-4C6B-A023-DCAB577B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68ED-D1DC-4D87-BF60-77747EFB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893A-50E5-4DE3-9F41-A593BD95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2B31-20AA-4B71-8958-20712FE7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06AA-4B6F-43A3-89E7-B7AD5DB2D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1F21-E287-4135-8D73-3856EB17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2E284-D29E-4263-9B92-14E81D63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AAE-6263-43B5-B6D0-A04C09A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0485-671F-481D-A078-CC6F9C7F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8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756B-B1FD-4858-8717-BF0654D2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432-76DA-4E5E-9D92-1FB6A4A5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45127-11B6-4861-A9DF-76B9382CF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4DE2B-E6EC-47B4-8D56-743BDF7B6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8FE8-2E69-44C5-96AD-36FCEF14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E675A-6736-4C8E-A9EE-9DCBE935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2B57B-8AF2-4A15-B4AB-1BE127C6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74B8D-E941-4327-989C-EF590E7B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7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E511-F376-4864-963C-822DE639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292F6-7361-495F-B87A-97CFCF45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D667-FA23-4238-9DC9-603C681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204F2-440D-421C-A4F3-993CC7D3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81DA9-86E2-446F-97B1-95945B32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1814C-C49F-4B1A-8D5A-E76A917D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9687-9812-4C8F-B4CC-5F937D8B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3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BEF-82BA-4669-9E7B-5131988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EEAB-C165-4C1E-8D50-A5404E01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983C-47E0-45A6-AF00-81B08CE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A8D8-6B93-41B3-BEE8-E4CD53C9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4811-32C8-45C8-BACE-14B782A7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FE574-1E14-46C1-9D0E-93C544CF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4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6A9-8C1D-43E1-88AA-91D262B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912B1-A51A-4595-A017-4DD32A003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5B3A8-74B0-4DBC-B6A3-50091F74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C9DFA-2481-4F4D-AB20-BAB63513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0A896-D462-4798-B918-D8D61CA3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2D00F-802A-4AE9-9E23-8CE855E8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8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78CE-E55C-4180-A5C8-9D020B4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56904-45A5-4B44-95EE-236498EDF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1A5B-A008-4021-9A06-54018233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4A92-A4D6-44F8-91CC-AA47B6B8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0C67-F949-4EF9-A5E4-0D3DD082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6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3A273-84A6-45E5-AEDE-1EE145C1B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47B9-E8B5-4E2B-8DB3-58F5ECC68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29D8-B941-4F10-BAA8-BBB0C608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8421-F993-4FE9-AC55-80526D9A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208D-A169-4843-9917-E9B7D94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8040-58BC-42CF-B0E1-4021AAE0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5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1C751-C9B4-420E-9FC2-17D52143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8816"/>
            <a:ext cx="10515600" cy="5488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C5EBC2-48FF-4AE7-8A93-8A46A84D23FA}"/>
              </a:ext>
            </a:extLst>
          </p:cNvPr>
          <p:cNvCxnSpPr>
            <a:cxnSpLocks/>
          </p:cNvCxnSpPr>
          <p:nvPr userDrawn="1"/>
        </p:nvCxnSpPr>
        <p:spPr>
          <a:xfrm>
            <a:off x="838200" y="723559"/>
            <a:ext cx="10515600" cy="0"/>
          </a:xfrm>
          <a:prstGeom prst="line">
            <a:avLst/>
          </a:prstGeom>
          <a:ln w="3810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252427-CE25-435F-B457-304E4F500EFE}"/>
              </a:ext>
            </a:extLst>
          </p:cNvPr>
          <p:cNvCxnSpPr/>
          <p:nvPr userDrawn="1"/>
        </p:nvCxnSpPr>
        <p:spPr>
          <a:xfrm>
            <a:off x="838200" y="6192520"/>
            <a:ext cx="10515600" cy="0"/>
          </a:xfrm>
          <a:prstGeom prst="line">
            <a:avLst/>
          </a:prstGeom>
          <a:ln w="1905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5ACB22-8E4D-401A-A3BA-16BB52BD29C5}"/>
              </a:ext>
            </a:extLst>
          </p:cNvPr>
          <p:cNvSpPr txBox="1"/>
          <p:nvPr userDrawn="1"/>
        </p:nvSpPr>
        <p:spPr>
          <a:xfrm>
            <a:off x="838200" y="6192520"/>
            <a:ext cx="1051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Giorgio Cunto Morales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1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iorgiocmorales/" TargetMode="External"/><Relationship Id="rId2" Type="http://schemas.openxmlformats.org/officeDocument/2006/relationships/hyperlink" Target="mailto:gcuntomo@ucab.edu.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43B509-C3AB-4D18-8154-6C185FB4D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419" sz="2800" b="1" dirty="0">
                <a:solidFill>
                  <a:srgbClr val="003A5D"/>
                </a:solidFill>
                <a:latin typeface="Georgia" panose="02040502050405020303" pitchFamily="18" charset="0"/>
              </a:rPr>
              <a:t>ESTADÍSTICA III</a:t>
            </a:r>
          </a:p>
          <a:p>
            <a:r>
              <a:rPr lang="es-419" dirty="0"/>
              <a:t>Estimación Puntual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6C2B5-519A-412E-8AF8-57C867BD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28" y="1908313"/>
            <a:ext cx="8909144" cy="13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0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VE" sz="2400" i="1" dirty="0"/>
              <a:t>El objetivo de la estimación es aproximarse a valores poblaciones empelando estimadores que usan información muestral.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400" i="1" dirty="0"/>
              <a:t>En la práctica, la estimación puntual resulta en un número concreto.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400" i="1" dirty="0"/>
              <a:t>El estudio de propiedades del estimador puntual nos dice qué tan bueno es ese número.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400" i="1" dirty="0"/>
              <a:t>Los mejores estimadores son los que más puedan acercarse a los parámetros poblacionales desconocidos.</a:t>
            </a: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26174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Estimación Puntual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Conceptos básicos</a:t>
            </a:r>
          </a:p>
        </p:txBody>
      </p:sp>
    </p:spTree>
    <p:extLst>
      <p:ext uri="{BB962C8B-B14F-4D97-AF65-F5344CB8AC3E}">
        <p14:creationId xmlns:p14="http://schemas.microsoft.com/office/powerpoint/2010/main" val="923609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Estimación Puntual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2400" dirty="0"/>
                  <a:t>La inferencia estadística trata de acercarse al valor de un </a:t>
                </a:r>
                <a:r>
                  <a:rPr lang="es-419" sz="2400" b="1" dirty="0">
                    <a:solidFill>
                      <a:srgbClr val="003A5D"/>
                    </a:solidFill>
                  </a:rPr>
                  <a:t>parámetro poblacional </a:t>
                </a:r>
                <a:r>
                  <a:rPr lang="es-419" sz="2400" dirty="0"/>
                  <a:t>(desconocido) a través de información contenida en la muestra.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2400" dirty="0"/>
                  <a:t>El proceso de estimación se centra alrededor del uso </a:t>
                </a:r>
                <a:r>
                  <a:rPr lang="es-419" sz="2400" b="1" dirty="0">
                    <a:solidFill>
                      <a:srgbClr val="003A5D"/>
                    </a:solidFill>
                  </a:rPr>
                  <a:t>estimadores </a:t>
                </a:r>
                <a:r>
                  <a:rPr lang="es-419" sz="2400" dirty="0"/>
                  <a:t>para acercarse a ese parámetro poblacional con cierto grado de precisión.</a:t>
                </a:r>
                <a:endParaRPr lang="es-419" sz="2400" b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sz="2400" b="1" dirty="0">
                    <a:solidFill>
                      <a:srgbClr val="003A5D"/>
                    </a:solidFill>
                  </a:rPr>
                  <a:t>Estimación por puntos: </a:t>
                </a:r>
                <a:r>
                  <a:rPr lang="es-419" sz="2400" dirty="0"/>
                  <a:t>usar estimador para calcular una magnitud simple.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s-419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419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sz="2400" dirty="0"/>
              </a:p>
              <a:p>
                <a:pPr>
                  <a:lnSpc>
                    <a:spcPct val="150000"/>
                  </a:lnSpc>
                </a:pPr>
                <a:r>
                  <a:rPr lang="es-419" sz="2400" b="1" dirty="0">
                    <a:solidFill>
                      <a:srgbClr val="003A5D"/>
                    </a:solidFill>
                  </a:rPr>
                  <a:t>Estimación por intervalos: </a:t>
                </a:r>
                <a:r>
                  <a:rPr lang="es-419" sz="2400" dirty="0"/>
                  <a:t>Usar estimador para calcular una rango de valores donde podría encontrarse el parámetro con una determinada confianza.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2400" dirty="0"/>
                  <a:t>En esta sesión nos enfocaremos en la </a:t>
                </a:r>
                <a:r>
                  <a:rPr lang="es-419" sz="2400" b="1" dirty="0">
                    <a:solidFill>
                      <a:srgbClr val="003A5D"/>
                    </a:solidFill>
                  </a:rPr>
                  <a:t>estimación por puntos (o puntual) </a:t>
                </a:r>
                <a:r>
                  <a:rPr lang="es-419" sz="2400" dirty="0"/>
                  <a:t>en la que obtenemos valores simples como aproximación del parámetro.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159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03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7339" b="-22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Para un parámetro poblacional desconocido, el 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es una función de las variables de la muestra aleatoria.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Por lo tanto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es una variable aleatoria.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b="1" dirty="0">
                    <a:solidFill>
                      <a:srgbClr val="003A5D"/>
                    </a:solidFill>
                  </a:rPr>
                  <a:t>Valor estimado: </a:t>
                </a:r>
                <a:r>
                  <a:rPr lang="es-419" dirty="0"/>
                  <a:t>número obtenido del estimador para una muestra concreta.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En esencia es una regla expresada como fórmula: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Permite calcular valor de un parámetro poblacional mediante información contenida en la muestra.</a:t>
                </a: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r="-1275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07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Aclaratoria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Parámetro</a:t>
            </a:r>
            <a:r>
              <a:rPr lang="es-419" dirty="0"/>
              <a:t>: Magnitud o característica poblacional desconocida.</a:t>
            </a:r>
          </a:p>
          <a:p>
            <a:pPr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Estimación: </a:t>
            </a:r>
            <a:r>
              <a:rPr lang="es-419" dirty="0"/>
              <a:t>El concepto procedimental completo de acercarse a dicho parámetro vía la muestra.</a:t>
            </a:r>
          </a:p>
          <a:p>
            <a:pPr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Estimador: </a:t>
            </a:r>
            <a:r>
              <a:rPr lang="es-419" dirty="0"/>
              <a:t>Métrica (estadístico) de la muestra para acercarnos a parámetros poblacionales. </a:t>
            </a:r>
          </a:p>
          <a:p>
            <a:pPr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Valor estimado: </a:t>
            </a:r>
            <a:r>
              <a:rPr lang="es-419" dirty="0"/>
              <a:t>Valor numérico efectivo de un estimador para una muestra determinada.</a:t>
            </a:r>
          </a:p>
        </p:txBody>
      </p:sp>
    </p:spTree>
    <p:extLst>
      <p:ext uri="{BB962C8B-B14F-4D97-AF65-F5344CB8AC3E}">
        <p14:creationId xmlns:p14="http://schemas.microsoft.com/office/powerpoint/2010/main" val="4252748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¿Es razonable esperar que el valor estimado de un estimador de una muestra concreta será </a:t>
            </a:r>
            <a:r>
              <a:rPr lang="es-VE" b="1" i="1" dirty="0">
                <a:solidFill>
                  <a:srgbClr val="003A5D"/>
                </a:solidFill>
              </a:rPr>
              <a:t>exactamente</a:t>
            </a:r>
            <a:r>
              <a:rPr lang="es-VE" i="1" dirty="0"/>
              <a:t> igual al parámetro poblacional ?</a:t>
            </a:r>
          </a:p>
        </p:txBody>
      </p:sp>
    </p:spTree>
    <p:extLst>
      <p:ext uri="{BB962C8B-B14F-4D97-AF65-F5344CB8AC3E}">
        <p14:creationId xmlns:p14="http://schemas.microsoft.com/office/powerpoint/2010/main" val="1755833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Aclaratoria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Es muy difícil que un estimador particular sea exactamente igual al parámetro para una muestra.</a:t>
            </a:r>
          </a:p>
          <a:p>
            <a:pPr>
              <a:lnSpc>
                <a:spcPct val="150000"/>
              </a:lnSpc>
            </a:pPr>
            <a:r>
              <a:rPr lang="es-419" dirty="0"/>
              <a:t>La diferencia entre un estimador y el parámetro se conoce como </a:t>
            </a:r>
            <a:r>
              <a:rPr lang="es-419" b="1" dirty="0">
                <a:solidFill>
                  <a:srgbClr val="003A5D"/>
                </a:solidFill>
              </a:rPr>
              <a:t>error de estimación</a:t>
            </a:r>
            <a:r>
              <a:rPr lang="es-419" dirty="0"/>
              <a:t>.</a:t>
            </a:r>
          </a:p>
          <a:p>
            <a:pPr>
              <a:lnSpc>
                <a:spcPct val="150000"/>
              </a:lnSpc>
            </a:pPr>
            <a:r>
              <a:rPr lang="es-419" dirty="0"/>
              <a:t>La magnitud de este error es en sí </a:t>
            </a:r>
            <a:r>
              <a:rPr lang="es-419" b="1" dirty="0">
                <a:solidFill>
                  <a:srgbClr val="003A5D"/>
                </a:solidFill>
              </a:rPr>
              <a:t>desconocida</a:t>
            </a:r>
            <a:r>
              <a:rPr lang="es-419" dirty="0"/>
              <a:t>, porque el parámetro poblacional es desconocido.</a:t>
            </a:r>
          </a:p>
          <a:p>
            <a:pPr>
              <a:lnSpc>
                <a:spcPct val="150000"/>
              </a:lnSpc>
            </a:pPr>
            <a:r>
              <a:rPr lang="es-419" dirty="0"/>
              <a:t>Si se supiera de antemano, no haría falta la estimación en primer lugar.</a:t>
            </a:r>
          </a:p>
        </p:txBody>
      </p:sp>
    </p:spTree>
    <p:extLst>
      <p:ext uri="{BB962C8B-B14F-4D97-AF65-F5344CB8AC3E}">
        <p14:creationId xmlns:p14="http://schemas.microsoft.com/office/powerpoint/2010/main" val="411759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¿Puede haber más de un estimador para un parámetro poblacional desconocido?</a:t>
            </a:r>
          </a:p>
        </p:txBody>
      </p:sp>
    </p:spTree>
    <p:extLst>
      <p:ext uri="{BB962C8B-B14F-4D97-AF65-F5344CB8AC3E}">
        <p14:creationId xmlns:p14="http://schemas.microsoft.com/office/powerpoint/2010/main" val="137368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Problema de selección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Los estimadores al ser una funciones de la muestra, por lo que pueden existir potencialmente infinitos estimadores para un solo parámetro.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Algunos estimadores de la </a:t>
                </a:r>
                <a:r>
                  <a:rPr lang="es-419" b="1" dirty="0">
                    <a:solidFill>
                      <a:srgbClr val="003A5D"/>
                    </a:solidFill>
                  </a:rPr>
                  <a:t>media poblacional</a:t>
                </a:r>
                <a:r>
                  <a:rPr lang="es-419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̅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419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𝑚𝑒𝑑𝑖𝑎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𝑚𝑢𝑠𝑡𝑟𝑎𝑙</m:t>
                      </m:r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𝐸𝑙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𝑝𝑟𝑜𝑚𝑒𝑑𝑖𝑜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𝑒𝑛𝑡𝑟𝑒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𝑒𝑙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𝑝𝑟𝑖𝑚𝑒𝑟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ú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𝑙𝑡𝑖𝑚𝑜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𝑣𝑎𝑙𝑜𝑟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𝑚𝑢𝑒𝑠𝑡𝑟𝑎𝑙</m:t>
                      </m:r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𝐸𝑙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𝑝𝑟𝑖𝑚𝑒𝑟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𝑣𝑎𝑙𝑜𝑟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𝑚𝑢𝑒𝑠𝑡𝑟𝑎𝑙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¿Cuál estimador usar?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¿Cómo saber cuál estimador es mejor?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b="-155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3671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¿Cómo escogerían cual estimador es mejor?</a:t>
            </a:r>
          </a:p>
        </p:txBody>
      </p:sp>
    </p:spTree>
    <p:extLst>
      <p:ext uri="{BB962C8B-B14F-4D97-AF65-F5344CB8AC3E}">
        <p14:creationId xmlns:p14="http://schemas.microsoft.com/office/powerpoint/2010/main" val="1961294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¿Cómo saber cuál estimador es mejor?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Teóricamente: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s-419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 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≤ </m:t>
                          </m:r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419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s-419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 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≤</m:t>
                          </m:r>
                          <m:acc>
                            <m:accPr>
                              <m:chr m:val="̅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mejor estimador se acerca al valor poblacional más que cualquier otro estimador alternativo.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Los criterios más usados son: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b="1" dirty="0">
                    <a:solidFill>
                      <a:srgbClr val="003A5D"/>
                    </a:solidFill>
                  </a:rPr>
                  <a:t>Insesgado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b="1" dirty="0">
                    <a:solidFill>
                      <a:srgbClr val="003A5D"/>
                    </a:solidFill>
                  </a:rPr>
                  <a:t>Eficiente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b="1" dirty="0">
                    <a:solidFill>
                      <a:srgbClr val="003A5D"/>
                    </a:solidFill>
                  </a:rPr>
                  <a:t>Consistente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b="1" dirty="0">
                    <a:solidFill>
                      <a:srgbClr val="003A5D"/>
                    </a:solidFill>
                  </a:rPr>
                  <a:t>Suficiente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E74699DA-7358-4592-A0B5-69965127F02C}"/>
              </a:ext>
            </a:extLst>
          </p:cNvPr>
          <p:cNvSpPr/>
          <p:nvPr/>
        </p:nvSpPr>
        <p:spPr>
          <a:xfrm>
            <a:off x="3260035" y="3988904"/>
            <a:ext cx="1046922" cy="1948070"/>
          </a:xfrm>
          <a:prstGeom prst="rightBrace">
            <a:avLst/>
          </a:prstGeom>
          <a:ln w="28575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07667-DEC0-4FBF-8E33-5CD92CC82002}"/>
              </a:ext>
            </a:extLst>
          </p:cNvPr>
          <p:cNvSpPr txBox="1"/>
          <p:nvPr/>
        </p:nvSpPr>
        <p:spPr>
          <a:xfrm>
            <a:off x="4306957" y="4547440"/>
            <a:ext cx="6301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dirty="0">
                <a:latin typeface="Georgia" panose="02040502050405020303" pitchFamily="18" charset="0"/>
              </a:rPr>
              <a:t>Estimador Insesgado de Mínima Varianza (EIMV)</a:t>
            </a:r>
            <a:endParaRPr lang="en-US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83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Función de pérdida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La diferencia entre un estimador y el parámetro se llama </a:t>
                </a:r>
                <a:r>
                  <a:rPr lang="es-419" b="1" dirty="0">
                    <a:solidFill>
                      <a:srgbClr val="003A5D"/>
                    </a:solidFill>
                  </a:rPr>
                  <a:t>error de estimación</a:t>
                </a:r>
                <a:r>
                  <a:rPr lang="es-419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 puede conceptualizar </a:t>
                </a:r>
                <a:r>
                  <a:rPr lang="es-419"/>
                  <a:t>vía una la </a:t>
                </a:r>
                <a:r>
                  <a:rPr lang="es-419" dirty="0"/>
                  <a:t>función de pérdida: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Función no negativa de estimador y parámetro.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“Pérdida” de escoger 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para parámetro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dirty="0"/>
                  <a:t>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419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Cuando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419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entonces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pérdida es igual a cero.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Tratamos de minimizar la pérdida.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341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Minimizar la pérdida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La función de pérdida es una variable aleatoria.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No puede minimizarse en sí.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Lo que puede minimizarse es el valor esperado de la pérdida.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valor esperado de la función de pérdida es lo que se llama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función de riesgo</a:t>
                </a:r>
                <a:r>
                  <a:rPr lang="es-419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0229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Error cuadrado y Error cuadrado medio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Función de pérdida error cuadrado: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Función de riesgo error cuadrado medio: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Entre dos estimadores, será “mejor” el que tenga el menor error cuadrado medio.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s-419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s-419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𝑝𝑎𝑟𝑎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𝑡𝑜𝑑𝑜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419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756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Propiedades de los Estimadores</a:t>
            </a:r>
            <a:endParaRPr lang="es-419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Funciones</a:t>
            </a:r>
            <a:r>
              <a:rPr lang="en-US" dirty="0"/>
              <a:t> de </a:t>
            </a:r>
            <a:r>
              <a:rPr lang="en-US" dirty="0" err="1"/>
              <a:t>riesgo</a:t>
            </a:r>
            <a:r>
              <a:rPr lang="en-US" dirty="0"/>
              <a:t> y </a:t>
            </a:r>
            <a:r>
              <a:rPr lang="en-US" dirty="0" err="1"/>
              <a:t>errores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52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Propiedades de los estimadores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Propiedades relacionadas con función de riesgo: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419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s-419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s-419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419" i="1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419" i="1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𝑐𝑜𝑛𝑠𝑡𝑎𝑛𝑡𝑒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</m:t>
                      </m:r>
                      <m:r>
                        <a:rPr lang="es-419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s-41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s-419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419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s-419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939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Propiedades de los estimadores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El error cuadrado medio es una suma de cantidades no negativas: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 varianza del estimador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El cuadrado de diferencia entre el parámetro y la esperanza del estimador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El “sesgo” del estimador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5040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Estimadores insesgados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ejemplo</a:t>
            </a:r>
          </a:p>
        </p:txBody>
      </p:sp>
    </p:spTree>
    <p:extLst>
      <p:ext uri="{BB962C8B-B14F-4D97-AF65-F5344CB8AC3E}">
        <p14:creationId xmlns:p14="http://schemas.microsoft.com/office/powerpoint/2010/main" val="3754961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insesgados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/>
                  <a:t>es insesgado cuando su sesgo es cero, es decir, cuando el valor esperado es igual al parámetro.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En promedio, el estimador es igual al parámetro.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Puede haber varios (muchos) estimadores insesgados para el mismo parámetro.</a:t>
                </a: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681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D01EF-4CC1-3D72-8B47-F45EED00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insesgados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CFA41A-AF71-933E-889D-82AE3E648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0" b="4623"/>
          <a:stretch/>
        </p:blipFill>
        <p:spPr bwMode="auto">
          <a:xfrm>
            <a:off x="1674285" y="1089000"/>
            <a:ext cx="8843431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F0A188-06CF-1DF9-620A-899CA91E6896}"/>
                  </a:ext>
                </a:extLst>
              </p:cNvPr>
              <p:cNvSpPr txBox="1"/>
              <p:nvPr/>
            </p:nvSpPr>
            <p:spPr>
              <a:xfrm>
                <a:off x="4659405" y="5762616"/>
                <a:ext cx="988091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rgbClr val="003A5D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b="0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b="0" i="1" smtClean="0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dirty="0">
                  <a:solidFill>
                    <a:srgbClr val="003A5D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F0A188-06CF-1DF9-620A-899CA91E6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405" y="5762616"/>
                <a:ext cx="988091" cy="312650"/>
              </a:xfrm>
              <a:prstGeom prst="rect">
                <a:avLst/>
              </a:prstGeom>
              <a:blipFill>
                <a:blip r:embed="rId3"/>
                <a:stretch>
                  <a:fillRect l="-4938" t="-19231" r="-4938" b="-192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637E3A-FD1F-6B7F-B3DA-FBF834007627}"/>
                  </a:ext>
                </a:extLst>
              </p:cNvPr>
              <p:cNvSpPr txBox="1"/>
              <p:nvPr/>
            </p:nvSpPr>
            <p:spPr>
              <a:xfrm>
                <a:off x="5153450" y="812001"/>
                <a:ext cx="1894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rgbClr val="003A5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dirty="0">
                  <a:solidFill>
                    <a:srgbClr val="003A5D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637E3A-FD1F-6B7F-B3DA-FBF834007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450" y="812001"/>
                <a:ext cx="189475" cy="276999"/>
              </a:xfrm>
              <a:prstGeom prst="rect">
                <a:avLst/>
              </a:prstGeom>
              <a:blipFill>
                <a:blip r:embed="rId4"/>
                <a:stretch>
                  <a:fillRect l="-29032" r="-25806" b="-65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D0B2F2-1CBE-FCAD-A818-9C22808DDF4D}"/>
              </a:ext>
            </a:extLst>
          </p:cNvPr>
          <p:cNvCxnSpPr>
            <a:cxnSpLocks/>
          </p:cNvCxnSpPr>
          <p:nvPr/>
        </p:nvCxnSpPr>
        <p:spPr>
          <a:xfrm>
            <a:off x="5197625" y="1212185"/>
            <a:ext cx="0" cy="455043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CA82AB-AFC8-29C4-1F0B-5C7008B75372}"/>
                  </a:ext>
                </a:extLst>
              </p:cNvPr>
              <p:cNvSpPr txBox="1"/>
              <p:nvPr/>
            </p:nvSpPr>
            <p:spPr>
              <a:xfrm>
                <a:off x="3104029" y="5769000"/>
                <a:ext cx="1051442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s-419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s-419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groupChr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CA82AB-AFC8-29C4-1F0B-5C7008B75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029" y="5769000"/>
                <a:ext cx="1051442" cy="414537"/>
              </a:xfrm>
              <a:prstGeom prst="rect">
                <a:avLst/>
              </a:prstGeom>
              <a:blipFill>
                <a:blip r:embed="rId5"/>
                <a:stretch>
                  <a:fillRect l="-4624" t="-35294" r="-404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0E6008-ECBC-5A44-6995-37DE60898194}"/>
                  </a:ext>
                </a:extLst>
              </p:cNvPr>
              <p:cNvSpPr txBox="1"/>
              <p:nvPr/>
            </p:nvSpPr>
            <p:spPr>
              <a:xfrm>
                <a:off x="8226920" y="5762616"/>
                <a:ext cx="972317" cy="279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0E6008-ECBC-5A44-6995-37DE60898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6920" y="5762616"/>
                <a:ext cx="972317" cy="279885"/>
              </a:xfrm>
              <a:prstGeom prst="rect">
                <a:avLst/>
              </a:prstGeom>
              <a:blipFill>
                <a:blip r:embed="rId6"/>
                <a:stretch>
                  <a:fillRect l="-5660" t="-2174" r="-4403" b="-869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382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8.8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70000" lnSpcReduction="20000"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𝑐𝑜𝑛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i="1" dirty="0">
                    <a:latin typeface="Cambria Math" panose="02040503050406030204" pitchFamily="18" charset="0"/>
                  </a:rPr>
                  <a:t> para que sea insesgado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419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d>
                              <m:d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)−(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acc>
                              <m:accPr>
                                <m:chr m:val="̅"/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 b="-411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1580800-A992-4FC1-BD1A-DC5BFF1932A9}"/>
              </a:ext>
            </a:extLst>
          </p:cNvPr>
          <p:cNvSpPr txBox="1"/>
          <p:nvPr/>
        </p:nvSpPr>
        <p:spPr>
          <a:xfrm>
            <a:off x="5582477" y="2786558"/>
            <a:ext cx="537375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dirty="0">
                <a:latin typeface="Georgia" panose="02040502050405020303" pitchFamily="18" charset="0"/>
              </a:rPr>
              <a:t>Recordatorio de derivación en tema de Inferencia Estadística (Distribución de Estadísticos) 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449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8.8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/>
              </a:solidFill>
            </p:spPr>
            <p:txBody>
              <a:bodyPr>
                <a:normAutofit fontScale="625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d>
                          <m:d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acc>
                              <m:accPr>
                                <m:chr m:val="̅"/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−2(</m:t>
                    </m:r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−2(</m:t>
                    </m:r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s-419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 [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nary>
                          </m:num>
                          <m:den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]+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 [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 [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 [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544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47FBA4F-A6A2-4D41-86BD-B6546E7D1C37}"/>
              </a:ext>
            </a:extLst>
          </p:cNvPr>
          <p:cNvSpPr txBox="1"/>
          <p:nvPr/>
        </p:nvSpPr>
        <p:spPr>
          <a:xfrm>
            <a:off x="5980042" y="5406887"/>
            <a:ext cx="537375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dirty="0">
                <a:latin typeface="Georgia" panose="02040502050405020303" pitchFamily="18" charset="0"/>
              </a:rPr>
              <a:t>Recordatorio de derivación en tema de Inferencia Estadística (Distribución de Estadísticos) 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313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8.8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0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) 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) 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]−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) 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]−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12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12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005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8.8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) 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]−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2′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2′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1)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2′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&lt; 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2′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𝑖𝑛𝑠𝑒𝑠𝑔𝑎𝑑𝑜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16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16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859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¿Pueden existir más de un estimador insesgado para un mismo parámetro?</a:t>
            </a:r>
          </a:p>
        </p:txBody>
      </p:sp>
    </p:spTree>
    <p:extLst>
      <p:ext uri="{BB962C8B-B14F-4D97-AF65-F5344CB8AC3E}">
        <p14:creationId xmlns:p14="http://schemas.microsoft.com/office/powerpoint/2010/main" val="2430326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Estimadores eficientes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ejemplo</a:t>
            </a:r>
          </a:p>
        </p:txBody>
      </p:sp>
    </p:spTree>
    <p:extLst>
      <p:ext uri="{BB962C8B-B14F-4D97-AF65-F5344CB8AC3E}">
        <p14:creationId xmlns:p14="http://schemas.microsoft.com/office/powerpoint/2010/main" val="2849765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eficientes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Estimadores con poca desviación respecto al parámetro.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Poca varianza respecto al parámetro que hay que estimar.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s-419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b="0" dirty="0">
                    <a:ea typeface="Cambria Math" panose="02040503050406030204" pitchFamily="18" charset="0"/>
                  </a:rPr>
                  <a:t>Un estimador es más eficiente que otro si tiene menor riesgo.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Dificultad de obtención lleva a comparar varianzas.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206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eficientes (eficiencia relativa)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“Estimadores insesgados de mínima varianza”.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Estimador con varianza menor entre clase de estimadores insesgados.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Se están comparando estimadores, pueden existir otros alternativos no considerados.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171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C2D0-D64E-C385-3235-3E245167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eficientes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5FD841-A5D2-4CC8-7AE9-D593A2F967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36"/>
          <a:stretch/>
        </p:blipFill>
        <p:spPr bwMode="auto">
          <a:xfrm>
            <a:off x="2343562" y="1165129"/>
            <a:ext cx="7504875" cy="452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4B3FD1-468C-21D5-BD6C-85B814CF47A6}"/>
                  </a:ext>
                </a:extLst>
              </p:cNvPr>
              <p:cNvSpPr txBox="1"/>
              <p:nvPr/>
            </p:nvSpPr>
            <p:spPr>
              <a:xfrm>
                <a:off x="4712415" y="5692870"/>
                <a:ext cx="2632900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s-419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s-419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groupChr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solidFill>
                            <a:srgbClr val="003A5D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4B3FD1-468C-21D5-BD6C-85B814CF4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415" y="5692870"/>
                <a:ext cx="2632900" cy="414537"/>
              </a:xfrm>
              <a:prstGeom prst="rect">
                <a:avLst/>
              </a:prstGeom>
              <a:blipFill>
                <a:blip r:embed="rId3"/>
                <a:stretch>
                  <a:fillRect l="-1620" t="-36765" r="-1389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18B011-D1A3-FFD8-F289-A0DB736E9484}"/>
                  </a:ext>
                </a:extLst>
              </p:cNvPr>
              <p:cNvSpPr txBox="1"/>
              <p:nvPr/>
            </p:nvSpPr>
            <p:spPr>
              <a:xfrm>
                <a:off x="2343562" y="1165129"/>
                <a:ext cx="3186952" cy="5068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s-419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s-419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groupChr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s-419" b="0" i="1" smtClean="0">
                          <a:solidFill>
                            <a:srgbClr val="003A5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s-419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419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18B011-D1A3-FFD8-F289-A0DB736E9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562" y="1165129"/>
                <a:ext cx="3186952" cy="506870"/>
              </a:xfrm>
              <a:prstGeom prst="rect">
                <a:avLst/>
              </a:prstGeom>
              <a:blipFill>
                <a:blip r:embed="rId4"/>
                <a:stretch>
                  <a:fillRect t="-20482" r="-267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B59C34-421D-FCD9-D7FB-27058201F891}"/>
                  </a:ext>
                </a:extLst>
              </p:cNvPr>
              <p:cNvSpPr txBox="1"/>
              <p:nvPr/>
            </p:nvSpPr>
            <p:spPr>
              <a:xfrm>
                <a:off x="8027894" y="3966882"/>
                <a:ext cx="1116106" cy="37221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419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B59C34-421D-FCD9-D7FB-27058201F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894" y="3966882"/>
                <a:ext cx="1116106" cy="372218"/>
              </a:xfrm>
              <a:prstGeom prst="rect">
                <a:avLst/>
              </a:prstGeom>
              <a:blipFill>
                <a:blip r:embed="rId5"/>
                <a:stretch>
                  <a:fillRect r="-546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3A1DA4-8B61-EE53-97EB-DCAC43452BE5}"/>
                  </a:ext>
                </a:extLst>
              </p:cNvPr>
              <p:cNvSpPr txBox="1"/>
              <p:nvPr/>
            </p:nvSpPr>
            <p:spPr>
              <a:xfrm>
                <a:off x="7094853" y="3200014"/>
                <a:ext cx="1116107" cy="4049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rgbClr val="003A5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solidFill>
                                    <a:srgbClr val="003A5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419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3A1DA4-8B61-EE53-97EB-DCAC4345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853" y="3200014"/>
                <a:ext cx="1116107" cy="404983"/>
              </a:xfrm>
              <a:prstGeom prst="rect">
                <a:avLst/>
              </a:prstGeom>
              <a:blipFill>
                <a:blip r:embed="rId6"/>
                <a:stretch>
                  <a:fillRect t="-4545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5DA07D-BC59-8D91-A8D3-62FD3AD89494}"/>
                  </a:ext>
                </a:extLst>
              </p:cNvPr>
              <p:cNvSpPr txBox="1"/>
              <p:nvPr/>
            </p:nvSpPr>
            <p:spPr>
              <a:xfrm>
                <a:off x="6787261" y="1225882"/>
                <a:ext cx="1116107" cy="5068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s-419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s-419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groupChr>
                        </m:e>
                      </m:d>
                    </m:oMath>
                  </m:oMathPara>
                </a14:m>
                <a:endParaRPr lang="es-419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5DA07D-BC59-8D91-A8D3-62FD3AD89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261" y="1225882"/>
                <a:ext cx="1116107" cy="506870"/>
              </a:xfrm>
              <a:prstGeom prst="rect">
                <a:avLst/>
              </a:prstGeom>
              <a:blipFill>
                <a:blip r:embed="rId7"/>
                <a:stretch>
                  <a:fillRect t="-20482" r="-2896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829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Dada una muestra de tamaño 3 de una población con media </a:t>
                </a: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i="1" dirty="0"/>
                  <a:t> y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i="1" dirty="0"/>
                  <a:t>, se escogen dos estimadores de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s-419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419" b="0" i="1" dirty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419" i="1" dirty="0"/>
                  <a:t>En términos de riesgo ¿cuál de los estimadores es mejor?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58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848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8.16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85000" lnSpcReduction="10000"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419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s-419" i="1" dirty="0">
                    <a:latin typeface="Cambria Math" panose="02040503050406030204" pitchFamily="18" charset="0"/>
                  </a:rPr>
                  <a:t>; n = 3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+…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015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8.16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+…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+…</m:t>
                    </m:r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</m:t>
                        </m:r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𝑖𝑛𝑠𝑒𝑠𝑔𝑎𝑑𝑜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4259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8.16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𝑖𝑛𝑠𝑒𝑠𝑔𝑎𝑑𝑜</m:t>
                    </m:r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9632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8.16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5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+…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+…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</a:rPr>
                          <m:t>+…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5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461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8.16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850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9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s-419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9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9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n=3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22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33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44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22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El estimador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es preferible.</a:t>
                </a:r>
              </a:p>
              <a:p>
                <a:pPr>
                  <a:lnSpc>
                    <a:spcPct val="150000"/>
                  </a:lnSpc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4535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eficientes: Teorema de Cramer-Rao (TCR)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Desigualdad de Cramer Rao: </a:t>
                </a:r>
                <a:r>
                  <a:rPr lang="es-419" dirty="0">
                    <a:ea typeface="Cambria Math" panose="02040503050406030204" pitchFamily="18" charset="0"/>
                  </a:rPr>
                  <a:t>Encontrar varianza mínima.</a:t>
                </a:r>
                <a:endParaRPr lang="es-419" b="1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elementos de una muestra aleatoria con función de densidad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/>
                  <a:t>con parámetro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s-419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s-419" b="1" i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b="1" i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un estimador insesgado de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 plantea la desigualdad de la siguiente forma: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𝑛𝐸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𝜕𝜃</m:t>
                                  </m:r>
                                </m:den>
                              </m:f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𝑙𝑛𝑓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)]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419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159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775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eficientes: Teorema de Cramer-Rao (TCR)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𝑛𝐸</m:t>
                          </m:r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𝜕𝜃</m:t>
                                  </m:r>
                                </m:den>
                              </m:f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𝑙𝑛𝑓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)]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419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No calcula el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EIMV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Lo que obtiene es la mínima varianza del EIMV, esencialmente un límite inferior.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El EIMV es único.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1405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Hallar el límite de Cramer Rao para la varianza de los estimadores insesgados de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419" i="1" dirty="0"/>
                  <a:t> en el problema 8.20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Adelantándonos al 8.20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419" i="1" dirty="0">
                    <a:latin typeface="Cambria Math" panose="02040503050406030204" pitchFamily="18" charset="0"/>
                  </a:rPr>
                  <a:t>para x = 1,2,3…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s-419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b="1" i="1" dirty="0">
                  <a:solidFill>
                    <a:srgbClr val="003A5D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A249A4-6E98-B0F9-6DCD-357FBF105630}"/>
                  </a:ext>
                </a:extLst>
              </p:cNvPr>
              <p:cNvSpPr txBox="1"/>
              <p:nvPr/>
            </p:nvSpPr>
            <p:spPr>
              <a:xfrm>
                <a:off x="838201" y="5227517"/>
                <a:ext cx="5257800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419" sz="1600" dirty="0">
                    <a:latin typeface="Georgia" panose="02040502050405020303" pitchFamily="18" charset="0"/>
                  </a:rPr>
                  <a:t>Estructura de distribución Geométrica </a:t>
                </a:r>
                <a:endParaRPr lang="es-419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6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A249A4-6E98-B0F9-6DCD-357FBF105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227517"/>
                <a:ext cx="5257800" cy="584775"/>
              </a:xfrm>
              <a:prstGeom prst="rect">
                <a:avLst/>
              </a:prstGeom>
              <a:blipFill>
                <a:blip r:embed="rId3"/>
                <a:stretch>
                  <a:fillRect t="-2062" b="-61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EA1C9C-975C-65F1-0E76-6CF50C218EC6}"/>
                  </a:ext>
                </a:extLst>
              </p:cNvPr>
              <p:cNvSpPr txBox="1"/>
              <p:nvPr/>
            </p:nvSpPr>
            <p:spPr>
              <a:xfrm>
                <a:off x="6095999" y="5227516"/>
                <a:ext cx="5257800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419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dirty="0">
                    <a:latin typeface="Georgia" panose="02040502050405020303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419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dirty="0">
                    <a:latin typeface="Georgia" panose="02040502050405020303" pitchFamily="18" charset="0"/>
                  </a:rPr>
                  <a:t> </a:t>
                </a:r>
                <a:r>
                  <a:rPr lang="en-US" sz="1600" dirty="0" err="1">
                    <a:latin typeface="Georgia" panose="02040502050405020303" pitchFamily="18" charset="0"/>
                  </a:rPr>
                  <a:t>provienen</a:t>
                </a:r>
                <a:r>
                  <a:rPr lang="en-US" sz="1600" dirty="0">
                    <a:latin typeface="Georgia" panose="02040502050405020303" pitchFamily="18" charset="0"/>
                  </a:rPr>
                  <a:t> del </a:t>
                </a:r>
                <a:r>
                  <a:rPr lang="en-US" sz="1600" dirty="0" err="1">
                    <a:latin typeface="Georgia" panose="02040502050405020303" pitchFamily="18" charset="0"/>
                  </a:rPr>
                  <a:t>ejercicio</a:t>
                </a:r>
                <a:r>
                  <a:rPr lang="en-US" sz="1600" dirty="0">
                    <a:latin typeface="Georgia" panose="02040502050405020303" pitchFamily="18" charset="0"/>
                  </a:rPr>
                  <a:t> 8.20 </a:t>
                </a:r>
                <a:r>
                  <a:rPr lang="en-US" sz="1600" dirty="0" err="1">
                    <a:latin typeface="Georgia" panose="02040502050405020303" pitchFamily="18" charset="0"/>
                  </a:rPr>
                  <a:t>siguiendo</a:t>
                </a:r>
                <a:r>
                  <a:rPr lang="en-US" sz="1600" dirty="0">
                    <a:latin typeface="Georgia" panose="02040502050405020303" pitchFamily="18" charset="0"/>
                  </a:rPr>
                  <a:t> </a:t>
                </a:r>
                <a:r>
                  <a:rPr lang="en-US" sz="1600" dirty="0" err="1">
                    <a:latin typeface="Georgia" panose="02040502050405020303" pitchFamily="18" charset="0"/>
                  </a:rPr>
                  <a:t>método</a:t>
                </a:r>
                <a:r>
                  <a:rPr lang="en-US" sz="1600" dirty="0">
                    <a:latin typeface="Georgia" panose="02040502050405020303" pitchFamily="18" charset="0"/>
                  </a:rPr>
                  <a:t> de </a:t>
                </a:r>
                <a:r>
                  <a:rPr lang="en-US" sz="1600" b="1" dirty="0" err="1">
                    <a:solidFill>
                      <a:srgbClr val="003A5D"/>
                    </a:solidFill>
                    <a:latin typeface="Georgia" panose="02040502050405020303" pitchFamily="18" charset="0"/>
                  </a:rPr>
                  <a:t>Máxima</a:t>
                </a:r>
                <a:r>
                  <a:rPr lang="en-US" sz="1600" b="1" dirty="0">
                    <a:solidFill>
                      <a:srgbClr val="003A5D"/>
                    </a:solidFill>
                    <a:latin typeface="Georgia" panose="02040502050405020303" pitchFamily="18" charset="0"/>
                  </a:rPr>
                  <a:t> </a:t>
                </a:r>
                <a:r>
                  <a:rPr lang="en-US" sz="1600" b="1" dirty="0" err="1">
                    <a:solidFill>
                      <a:srgbClr val="003A5D"/>
                    </a:solidFill>
                    <a:latin typeface="Georgia" panose="02040502050405020303" pitchFamily="18" charset="0"/>
                  </a:rPr>
                  <a:t>Verosimilitud</a:t>
                </a:r>
                <a:r>
                  <a:rPr lang="en-US" sz="1600" b="1" dirty="0">
                    <a:solidFill>
                      <a:srgbClr val="003A5D"/>
                    </a:solidFill>
                    <a:latin typeface="Georgia" panose="020405020504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EA1C9C-975C-65F1-0E76-6CF50C218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5227516"/>
                <a:ext cx="5257800" cy="584775"/>
              </a:xfrm>
              <a:prstGeom prst="rect">
                <a:avLst/>
              </a:prstGeom>
              <a:blipFill>
                <a:blip r:embed="rId4"/>
                <a:stretch>
                  <a:fillRect t="-2062" b="-123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2709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8.22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47500" lnSpcReduction="20000"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f>
                        <m:fPr>
                          <m:ctrlPr>
                            <a:rPr lang="es-419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𝑛𝐸</m:t>
                          </m:r>
                          <m:sSup>
                            <m:sSupPr>
                              <m:ctrlPr>
                                <a:rPr lang="es-419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f>
                                <m:fPr>
                                  <m:ctrlPr>
                                    <a:rPr lang="es-419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s-419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𝜕𝜃</m:t>
                                  </m:r>
                                </m:den>
                              </m:f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s-419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𝑛𝑓</m:t>
                              </m:r>
                              <m:r>
                                <a:rPr lang="es-419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419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)]</m:t>
                              </m:r>
                            </m:e>
                            <m:sup>
                              <m:r>
                                <a:rPr lang="es-419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419" sz="36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sz="3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sSup>
                      <m:sSup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419" sz="3600" i="1" dirty="0">
                    <a:latin typeface="Cambria Math" panose="02040503050406030204" pitchFamily="18" charset="0"/>
                  </a:rPr>
                  <a:t>para x = 1,2,3…</a:t>
                </a:r>
                <a14:m>
                  <m:oMath xmlns:m="http://schemas.openxmlformats.org/officeDocument/2006/math">
                    <m:r>
                      <a:rPr lang="es-419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s-419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sz="36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sz="3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f>
                      <m:f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sSup>
                      <m:sSup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s-419" sz="36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sz="3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f>
                      <m:f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419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𝐿𝑛</m:t>
                    </m:r>
                    <m:sSup>
                      <m:sSup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s-419" sz="36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sz="3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(1−</m:t>
                    </m:r>
                    <m:f>
                      <m:f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sz="36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sz="3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=0−</m:t>
                    </m:r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sz="3600" i="1">
                        <a:latin typeface="Cambria Math" panose="02040503050406030204" pitchFamily="18" charset="0"/>
                      </a:rPr>
                      <m:t>(1−</m:t>
                    </m:r>
                    <m:f>
                      <m:f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sz="3600" i="1">
                        <a:latin typeface="Cambria Math" panose="02040503050406030204" pitchFamily="18" charset="0"/>
                      </a:rPr>
                      <m:t>)−</m:t>
                    </m:r>
                    <m:r>
                      <a:rPr lang="es-419" sz="3600" i="1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s-419" sz="36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𝜕𝜃</m:t>
                        </m:r>
                      </m:den>
                    </m:f>
                    <m:r>
                      <a:rPr lang="es-419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419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𝑛𝑓</m:t>
                    </m:r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s-419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s-419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s-419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s-419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s-419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0015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8.22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700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𝜕𝜃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𝜕𝜃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−1)</m:t>
                            </m:r>
                          </m:den>
                        </m:f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𝜕𝜃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−1−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𝑛𝐸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f>
                              <m:fPr>
                                <m:ctrlP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d>
                                  <m:dPr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𝑛𝐸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5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8245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8.22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775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1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𝑉𝑎𝑟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den>
                            </m:f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890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8.22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2"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699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Estimadores consistentes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ejemplo</a:t>
            </a:r>
          </a:p>
        </p:txBody>
      </p:sp>
    </p:spTree>
    <p:extLst>
      <p:ext uri="{BB962C8B-B14F-4D97-AF65-F5344CB8AC3E}">
        <p14:creationId xmlns:p14="http://schemas.microsoft.com/office/powerpoint/2010/main" val="40060019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consistentes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En la medida que aumenta el tamaño </a:t>
                </a:r>
                <a:r>
                  <a:rPr lang="es-419" b="1" i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n</a:t>
                </a:r>
                <a:r>
                  <a:rPr lang="es-419" dirty="0">
                    <a:ea typeface="Cambria Math" panose="02040503050406030204" pitchFamily="18" charset="0"/>
                  </a:rPr>
                  <a:t> de la muestra, el 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recoge mucha más información.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Por lo que el 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debería acercarse al parámetro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Formalmente: en la medida que </a:t>
                </a:r>
                <a:r>
                  <a:rPr lang="es-419" b="1" i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n</a:t>
                </a:r>
                <a:r>
                  <a:rPr lang="es-419" dirty="0">
                    <a:ea typeface="Cambria Math" panose="02040503050406030204" pitchFamily="18" charset="0"/>
                  </a:rPr>
                  <a:t> aumenta, la probabilidad de que el estimador difiera del parámetro menos que un valor infinitesimalmente pequeño crece.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Es posible tener estimadores sesgados y a la vez consistentes.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7191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consistentes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(|</m:t>
                          </m:r>
                          <m:acc>
                            <m:accPr>
                              <m:chr m:val="̂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 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 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lang="es-419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lang="es-419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Esta condición puede presentarse en términos de riesgo: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A medida que crece el número de observaciones se hace menor el riesgo del estimador.</a:t>
                </a: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145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consistentes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Usando el error cuadrado medio: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s-419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419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s-419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s-419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 varianza como el sesgo del estimador tienden a cero.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es-419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Para corroborar consistencia, en la práctica, se comprueba si la varianza y el sesgo del estimador tienden a cero.</a:t>
                </a: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960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8.13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2′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2′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𝑖𝑛𝑠𝑒𝑠𝑔𝑎𝑑𝑜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2′</m:t>
                                </m:r>
                              </m:sup>
                            </m:sSup>
                          </m:e>
                        </m:d>
                        <m:r>
                          <a:rPr lang="es-419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es-419" b="0" i="1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?</m:t>
                        </m:r>
                      </m:e>
                    </m:func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𝑛𝑆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2′</m:t>
                            </m:r>
                          </m:sup>
                        </m:s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2′</m:t>
                                </m:r>
                              </m:sup>
                            </m:sSup>
                          </m:e>
                        </m:d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2′</m:t>
                                </m:r>
                              </m:sup>
                            </m:sSup>
                          </m:e>
                        </m:d>
                        <m:r>
                          <a:rPr lang="es-419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−1)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es-419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419" i="1" dirty="0">
                    <a:latin typeface="Cambria Math" panose="02040503050406030204" pitchFamily="18" charset="0"/>
                  </a:rPr>
                  <a:t> es consistente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6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16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16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0437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Estimadores suficientes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ejemplo</a:t>
            </a:r>
          </a:p>
        </p:txBody>
      </p:sp>
    </p:spTree>
    <p:extLst>
      <p:ext uri="{BB962C8B-B14F-4D97-AF65-F5344CB8AC3E}">
        <p14:creationId xmlns:p14="http://schemas.microsoft.com/office/powerpoint/2010/main" val="37251347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suficientes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419" dirty="0">
                <a:ea typeface="Cambria Math" panose="02040503050406030204" pitchFamily="18" charset="0"/>
              </a:rPr>
              <a:t>Los estimadores utilizan toda la información que contenga la muestra para estimar el parámetro.</a:t>
            </a:r>
          </a:p>
          <a:p>
            <a:pPr>
              <a:lnSpc>
                <a:spcPct val="150000"/>
              </a:lnSpc>
            </a:pPr>
            <a:r>
              <a:rPr lang="es-419" dirty="0">
                <a:ea typeface="Cambria Math" panose="02040503050406030204" pitchFamily="18" charset="0"/>
              </a:rPr>
              <a:t>La muestra aleatoria contiene toda la información del parámetro de la población.</a:t>
            </a:r>
          </a:p>
          <a:p>
            <a:pPr>
              <a:lnSpc>
                <a:spcPct val="150000"/>
              </a:lnSpc>
            </a:pPr>
            <a:r>
              <a:rPr lang="es-419" dirty="0">
                <a:ea typeface="Cambria Math" panose="02040503050406030204" pitchFamily="18" charset="0"/>
              </a:rPr>
              <a:t>Para casos adecuados se emplea el teorema de Fisher-Newman.</a:t>
            </a:r>
          </a:p>
          <a:p>
            <a:pPr>
              <a:lnSpc>
                <a:spcPct val="150000"/>
              </a:lnSpc>
            </a:pPr>
            <a:endParaRPr lang="es-419" dirty="0">
              <a:ea typeface="Cambria Math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s-419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s-419" dirty="0">
              <a:ea typeface="Cambria Math" panose="020405030504060302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8949256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Estimadores suficientes: Teorema Fisher-Newman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Dada una muestra aleatoria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de una población con función de densidad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y parámetro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desconocido.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será suficiente sí y solo sí: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 función de densidad conjunta de las variables aleatorias de la muestra puede descomponerse en dos factores.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Uno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que depende solo del parámetro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y 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Uno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que sea independiente de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659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Es suficiente el estimador del problema anterior (8.20)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Adelantándonos al 8.20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419" i="1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Para una función: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sSup>
                        <m:sSup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s-419" b="1" i="1" dirty="0">
                  <a:solidFill>
                    <a:srgbClr val="003A5D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8266BE-E5EE-1CA0-D557-511E8C281A93}"/>
                  </a:ext>
                </a:extLst>
              </p:cNvPr>
              <p:cNvSpPr txBox="1"/>
              <p:nvPr/>
            </p:nvSpPr>
            <p:spPr>
              <a:xfrm>
                <a:off x="838200" y="5201677"/>
                <a:ext cx="10515600" cy="3489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s-419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419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 err="1">
                    <a:latin typeface="Georgia" panose="02040502050405020303" pitchFamily="18" charset="0"/>
                  </a:rPr>
                  <a:t>provienen</a:t>
                </a:r>
                <a:r>
                  <a:rPr lang="en-US" sz="1600" dirty="0">
                    <a:latin typeface="Georgia" panose="02040502050405020303" pitchFamily="18" charset="0"/>
                  </a:rPr>
                  <a:t> del </a:t>
                </a:r>
                <a:r>
                  <a:rPr lang="en-US" sz="1600" dirty="0" err="1">
                    <a:latin typeface="Georgia" panose="02040502050405020303" pitchFamily="18" charset="0"/>
                  </a:rPr>
                  <a:t>ejercicio</a:t>
                </a:r>
                <a:r>
                  <a:rPr lang="en-US" sz="1600" dirty="0">
                    <a:latin typeface="Georgia" panose="02040502050405020303" pitchFamily="18" charset="0"/>
                  </a:rPr>
                  <a:t> 8.20 </a:t>
                </a:r>
                <a:r>
                  <a:rPr lang="en-US" sz="1600" dirty="0" err="1">
                    <a:latin typeface="Georgia" panose="02040502050405020303" pitchFamily="18" charset="0"/>
                  </a:rPr>
                  <a:t>siguiendo</a:t>
                </a:r>
                <a:r>
                  <a:rPr lang="en-US" sz="1600" dirty="0">
                    <a:latin typeface="Georgia" panose="02040502050405020303" pitchFamily="18" charset="0"/>
                  </a:rPr>
                  <a:t> </a:t>
                </a:r>
                <a:r>
                  <a:rPr lang="en-US" sz="1600" dirty="0" err="1">
                    <a:latin typeface="Georgia" panose="02040502050405020303" pitchFamily="18" charset="0"/>
                  </a:rPr>
                  <a:t>método</a:t>
                </a:r>
                <a:r>
                  <a:rPr lang="en-US" sz="1600" dirty="0">
                    <a:latin typeface="Georgia" panose="02040502050405020303" pitchFamily="18" charset="0"/>
                  </a:rPr>
                  <a:t> de </a:t>
                </a:r>
                <a:r>
                  <a:rPr lang="en-US" sz="1600" b="1" dirty="0" err="1">
                    <a:solidFill>
                      <a:srgbClr val="003A5D"/>
                    </a:solidFill>
                    <a:latin typeface="Georgia" panose="02040502050405020303" pitchFamily="18" charset="0"/>
                  </a:rPr>
                  <a:t>Máxima</a:t>
                </a:r>
                <a:r>
                  <a:rPr lang="en-US" sz="1600" b="1" dirty="0">
                    <a:solidFill>
                      <a:srgbClr val="003A5D"/>
                    </a:solidFill>
                    <a:latin typeface="Georgia" panose="02040502050405020303" pitchFamily="18" charset="0"/>
                  </a:rPr>
                  <a:t> </a:t>
                </a:r>
                <a:r>
                  <a:rPr lang="en-US" sz="1600" b="1" dirty="0" err="1">
                    <a:solidFill>
                      <a:srgbClr val="003A5D"/>
                    </a:solidFill>
                    <a:latin typeface="Georgia" panose="02040502050405020303" pitchFamily="18" charset="0"/>
                  </a:rPr>
                  <a:t>Verosimilitud</a:t>
                </a:r>
                <a:r>
                  <a:rPr lang="en-US" sz="1600" b="1" dirty="0">
                    <a:solidFill>
                      <a:srgbClr val="003A5D"/>
                    </a:solidFill>
                    <a:latin typeface="Georgia" panose="020405020504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8266BE-E5EE-1CA0-D557-511E8C281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01677"/>
                <a:ext cx="10515600" cy="348942"/>
              </a:xfrm>
              <a:prstGeom prst="rect">
                <a:avLst/>
              </a:prstGeom>
              <a:blipFill>
                <a:blip r:embed="rId3"/>
                <a:stretch>
                  <a:fillRect b="-1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657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8.21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85000" lnSpcReduction="10000"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sSup>
                        <m:sSup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(1−</m:t>
                          </m:r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;</m:t>
                      </m:r>
                      <m:acc>
                        <m:accPr>
                          <m:chr m:val="̂"/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nary>
                          </m:num>
                          <m:den>
                            <m:r>
                              <a:rPr lang="es-419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419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419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s-419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s-41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acc>
                              <m:accPr>
                                <m:chr m:val="̅"/>
                                <m:ctrlP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s-41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[1]</m:t>
                    </m:r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s-419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solidFill>
                      <a:schemeClr val="tx1"/>
                    </a:solidFill>
                  </a:rPr>
                  <a:t>El estimador es suficiente.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b="-11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2372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Máxima Verosimilitud</a:t>
            </a:r>
            <a:endParaRPr lang="es-419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Definición</a:t>
            </a:r>
            <a:r>
              <a:rPr lang="en-US" dirty="0"/>
              <a:t> y </a:t>
            </a:r>
            <a:r>
              <a:rPr lang="en-US" dirty="0" err="1"/>
              <a:t>ejemplo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0353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/>
              <a:t>Cálculo de estimadores: Método de Máxima Verosimilitud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s-419" dirty="0">
                <a:ea typeface="Cambria Math" panose="02040503050406030204" pitchFamily="18" charset="0"/>
              </a:rPr>
              <a:t>Los elementos de una muestra aleatoria son variables aleatorias.</a:t>
            </a:r>
          </a:p>
          <a:p>
            <a:pPr>
              <a:lnSpc>
                <a:spcPct val="150000"/>
              </a:lnSpc>
            </a:pPr>
            <a:r>
              <a:rPr lang="es-419" dirty="0">
                <a:ea typeface="Cambria Math" panose="02040503050406030204" pitchFamily="18" charset="0"/>
              </a:rPr>
              <a:t>Los valores de dichas variables se obtienen con una determinada probabilidad.</a:t>
            </a:r>
          </a:p>
          <a:p>
            <a:pPr>
              <a:lnSpc>
                <a:spcPct val="150000"/>
              </a:lnSpc>
            </a:pPr>
            <a:r>
              <a:rPr lang="es-419" dirty="0">
                <a:ea typeface="Cambria Math" panose="02040503050406030204" pitchFamily="18" charset="0"/>
              </a:rPr>
              <a:t>La probabilidad varía de acuerdo con el valor del parámetro.</a:t>
            </a:r>
          </a:p>
          <a:p>
            <a:pPr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  <a:ea typeface="Cambria Math" panose="02040503050406030204" pitchFamily="18" charset="0"/>
              </a:rPr>
              <a:t>Máxima verosimilitud: </a:t>
            </a:r>
            <a:r>
              <a:rPr lang="es-419" dirty="0">
                <a:ea typeface="Cambria Math" panose="02040503050406030204" pitchFamily="18" charset="0"/>
              </a:rPr>
              <a:t>encontrar el parámetro para el cual sea máxima la probabilidad de haber escogido los valores muestrales encontrados.</a:t>
            </a:r>
          </a:p>
          <a:p>
            <a:pPr>
              <a:lnSpc>
                <a:spcPct val="150000"/>
              </a:lnSpc>
            </a:pPr>
            <a:r>
              <a:rPr lang="es-419" i="1" dirty="0">
                <a:ea typeface="Cambria Math" panose="02040503050406030204" pitchFamily="18" charset="0"/>
              </a:rPr>
              <a:t>“</a:t>
            </a:r>
            <a:r>
              <a:rPr lang="es-419" b="1" i="1" dirty="0">
                <a:solidFill>
                  <a:srgbClr val="003A5D"/>
                </a:solidFill>
                <a:ea typeface="Cambria Math" panose="02040503050406030204" pitchFamily="18" charset="0"/>
              </a:rPr>
              <a:t>MLE</a:t>
            </a:r>
            <a:r>
              <a:rPr lang="es-419" i="1" dirty="0">
                <a:ea typeface="Cambria Math" panose="02040503050406030204" pitchFamily="18" charset="0"/>
              </a:rPr>
              <a:t> (</a:t>
            </a:r>
            <a:r>
              <a:rPr lang="es-419" i="1" dirty="0" err="1">
                <a:ea typeface="Cambria Math" panose="02040503050406030204" pitchFamily="18" charset="0"/>
              </a:rPr>
              <a:t>Maximum</a:t>
            </a:r>
            <a:r>
              <a:rPr lang="es-419" i="1" dirty="0">
                <a:ea typeface="Cambria Math" panose="02040503050406030204" pitchFamily="18" charset="0"/>
              </a:rPr>
              <a:t> </a:t>
            </a:r>
            <a:r>
              <a:rPr lang="es-419" i="1" dirty="0" err="1">
                <a:ea typeface="Cambria Math" panose="02040503050406030204" pitchFamily="18" charset="0"/>
              </a:rPr>
              <a:t>Likelihood</a:t>
            </a:r>
            <a:r>
              <a:rPr lang="es-419" i="1" dirty="0">
                <a:ea typeface="Cambria Math" panose="02040503050406030204" pitchFamily="18" charset="0"/>
              </a:rPr>
              <a:t> </a:t>
            </a:r>
            <a:r>
              <a:rPr lang="es-419" i="1" dirty="0" err="1">
                <a:ea typeface="Cambria Math" panose="02040503050406030204" pitchFamily="18" charset="0"/>
              </a:rPr>
              <a:t>Estimation</a:t>
            </a:r>
            <a:r>
              <a:rPr lang="es-419" i="1" dirty="0">
                <a:ea typeface="Cambria Math" panose="02040503050406030204" pitchFamily="18" charset="0"/>
              </a:rPr>
              <a:t>) provee valores de parámetros que hace a la muestra observada la más probable de entre todas las muestras posibles”</a:t>
            </a:r>
          </a:p>
          <a:p>
            <a:pPr>
              <a:lnSpc>
                <a:spcPct val="150000"/>
              </a:lnSpc>
            </a:pPr>
            <a:endParaRPr lang="es-419" dirty="0">
              <a:ea typeface="Cambria Math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s-419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s-419" dirty="0">
              <a:ea typeface="Cambria Math" panose="020405030504060302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9649778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Método de Máxima Verosimilitud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Seleccionar una muestra aleatoria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de una población con parámetro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desconocido.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 probabilidad de que las variables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tomen determinados valores depende de la función de densidad conjunta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419" b="1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s-419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419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Función en que los elementos de la muestra son </a:t>
                </a:r>
                <a:r>
                  <a:rPr lang="es-419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v.a.s</a:t>
                </a:r>
                <a:r>
                  <a:rPr lang="es-419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independientes y el parámetro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es una constante dada.</a:t>
                </a:r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522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7744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Método de Máxima Verosimilitud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Si tratamos 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como fijas (tienen valores dados después de obtener la muestra), podemos tratar a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como una variable.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Se tienen tantas funciones de densidad conjunta como valores posibles de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El problema es elegir la función más verosímil de la muestra.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A la función de densidad conjunta se le da una nueva interpretación : función de verosimilitud.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22282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Método de Máxima Verosimilitud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  <a:ea typeface="Cambria Math" panose="02040503050406030204" pitchFamily="18" charset="0"/>
              </a:rPr>
              <a:t>Nota: </a:t>
            </a:r>
            <a:r>
              <a:rPr lang="es-419" dirty="0">
                <a:ea typeface="Cambria Math" panose="02040503050406030204" pitchFamily="18" charset="0"/>
              </a:rPr>
              <a:t>el criterio de máxima verosimilitud sigue siendo aplicable a variables aleatorias continuas, pese a que su función de densidad conjunta tiene probabilidad cercana a </a:t>
            </a:r>
            <a:r>
              <a:rPr lang="es-419" b="1" dirty="0">
                <a:solidFill>
                  <a:srgbClr val="003A5D"/>
                </a:solidFill>
                <a:ea typeface="Cambria Math" panose="02040503050406030204" pitchFamily="18" charset="0"/>
              </a:rPr>
              <a:t>0</a:t>
            </a:r>
            <a:r>
              <a:rPr lang="es-419" dirty="0">
                <a:ea typeface="Cambria Math" panose="02040503050406030204" pitchFamily="18" charset="0"/>
              </a:rPr>
              <a:t> de tomar un valor específico.</a:t>
            </a:r>
          </a:p>
          <a:p>
            <a:pPr>
              <a:lnSpc>
                <a:spcPct val="150000"/>
              </a:lnSpc>
            </a:pPr>
            <a:endParaRPr lang="es-419" dirty="0">
              <a:ea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s-419" dirty="0">
              <a:ea typeface="Cambria Math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s-419" dirty="0">
              <a:ea typeface="Cambria Math" panose="020405030504060302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839278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Método de Máxima Verosimilitud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Dada una muestra aleatoria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con función de densidad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, la función de verosimilitud es la función de distribución conjunta.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Que es una función del parámetro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A efectos prácticos es la multiplicación de todas las funciones de densidad.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El estimador de máxima verosimilitud, o máximo verosímil, será el que maximice esa función para todos los valores en el espacio del parámetro.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7203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</a:t>
            </a:r>
            <a:r>
              <a:rPr lang="es-419" dirty="0" err="1"/>
              <a:t>RPsychologist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CB1711-5E6A-4766-ACFA-F289D694D0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t="10025" r="13043" b="10125"/>
          <a:stretch/>
        </p:blipFill>
        <p:spPr>
          <a:xfrm>
            <a:off x="1693212" y="729000"/>
            <a:ext cx="8805575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171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Método de Máxima Verosimilitud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Diferenciado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y hallando el valor de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para el cual la primera derivada es cero.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Teniendo en cuenta condición de segundo orden.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𝑑𝐿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 función </a:t>
                </a:r>
                <a14:m>
                  <m:oMath xmlns:m="http://schemas.openxmlformats.org/officeDocument/2006/math">
                    <m:r>
                      <a:rPr lang="es-419" b="1" i="0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𝐥𝐧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⁡[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(logaritmo neperiano de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) es una función monotónica de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Tiene el máximo para el mismo valor de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y es más fácil de derivar.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Las condiciones de segundo orden tienden a cumplirse en la práctica.</a:t>
                </a: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7560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Método de Máxima Verosimilitud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En caso de que la población tenga varios parámetros desconocidos.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 función de verosimilitud será igual a una función de los parámetros.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Los estimadores de determinan derivando parcialmente respecto a cada parámetro, igualando a cero.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Se resuelve vía un sistema de ecuaciones.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Condición de 2do orden estudiada en determinante Hessiano (formado por 2das derivadas).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Menores principales alternando signos.</a:t>
                </a: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8977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8.22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5348-03DD-42CE-B1C6-3C00C43A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Hallar los estimadores de máxima verosimilitud de la media y varianza de una población normal.</a:t>
            </a:r>
          </a:p>
          <a:p>
            <a:pPr marL="0" indent="0">
              <a:lnSpc>
                <a:spcPct val="150000"/>
              </a:lnSpc>
              <a:buNone/>
            </a:pPr>
            <a:endParaRPr lang="es-419" b="1" i="1" dirty="0">
              <a:solidFill>
                <a:srgbClr val="003A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0626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8.11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𝑝𝑎𝑟𝑎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−∞&lt;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s-419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….</a:t>
                </a:r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…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s-419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𝑝𝑎𝑟𝑎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−∞&lt;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0391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8.11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𝐿𝑛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8490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8.11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Para la media</a:t>
                </a:r>
                <a:endParaRPr lang="es-419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𝑑𝐿𝑛𝐿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nary>
                    <m:r>
                      <a:rPr lang="es-419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nary>
                    <m:r>
                      <a:rPr lang="es-419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media muestral </a:t>
                </a:r>
                <a:r>
                  <a:rPr lang="es-419" dirty="0">
                    <a:ea typeface="Cambria Math" panose="02040503050406030204" pitchFamily="18" charset="0"/>
                  </a:rPr>
                  <a:t>es el EMV de la media poblacional.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n-US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4689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8.11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Para la </a:t>
                </a:r>
                <a:r>
                  <a:rPr lang="es-419" dirty="0"/>
                  <a:t>varianza</a:t>
                </a:r>
                <a:endParaRPr lang="es-419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𝑑𝐿𝑛𝐿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s-419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s-419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419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2′</m:t>
                          </m:r>
                        </m:sup>
                      </m:sSup>
                    </m:oMath>
                  </m:oMathPara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varianza muestral sesgada </a:t>
                </a:r>
                <a:r>
                  <a:rPr lang="es-419" dirty="0">
                    <a:ea typeface="Cambria Math" panose="02040503050406030204" pitchFamily="18" charset="0"/>
                  </a:rPr>
                  <a:t>es el EMV de la varianza poblacional.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n-US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B198C6-544C-7A56-D59B-759038EF582C}"/>
                  </a:ext>
                </a:extLst>
              </p:cNvPr>
              <p:cNvSpPr txBox="1"/>
              <p:nvPr/>
            </p:nvSpPr>
            <p:spPr>
              <a:xfrm>
                <a:off x="7019364" y="2509559"/>
                <a:ext cx="3751730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419" dirty="0">
                    <a:latin typeface="Georgia" panose="02040502050405020303" pitchFamily="18" charset="0"/>
                  </a:rPr>
                  <a:t>Estamos derivando respecto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>
                    <a:latin typeface="Georgia" panose="02040502050405020303" pitchFamily="18" charset="0"/>
                  </a:rPr>
                  <a:t> completo. Normas de exponentes siguen lógica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𝑒𝑥𝑝</m:t>
                        </m:r>
                      </m:sup>
                    </m:sSup>
                  </m:oMath>
                </a14:m>
                <a:r>
                  <a:rPr lang="es-419" dirty="0">
                    <a:latin typeface="Georgia" panose="02040502050405020303" pitchFamily="18" charset="0"/>
                  </a:rPr>
                  <a:t> </a:t>
                </a:r>
                <a:endParaRPr lang="es-419" b="1" dirty="0">
                  <a:solidFill>
                    <a:srgbClr val="003A5D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B198C6-544C-7A56-D59B-759038EF5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364" y="2509559"/>
                <a:ext cx="3751730" cy="923330"/>
              </a:xfrm>
              <a:prstGeom prst="rect">
                <a:avLst/>
              </a:prstGeom>
              <a:blipFill>
                <a:blip r:embed="rId3"/>
                <a:stretch>
                  <a:fillRect t="-3268" b="-91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62183E-22EF-1F31-33AE-7832F7D918AD}"/>
                  </a:ext>
                </a:extLst>
              </p:cNvPr>
              <p:cNvSpPr txBox="1"/>
              <p:nvPr/>
            </p:nvSpPr>
            <p:spPr>
              <a:xfrm>
                <a:off x="4764740" y="3915064"/>
                <a:ext cx="3751730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419" dirty="0">
                    <a:latin typeface="Georgia" panose="02040502050405020303" pitchFamily="18" charset="0"/>
                  </a:rPr>
                  <a:t>Sustituyendo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419" dirty="0">
                    <a:latin typeface="Georgia" panose="02040502050405020303" pitchFamily="18" charset="0"/>
                  </a:rPr>
                  <a:t> </a:t>
                </a:r>
                <a:endParaRPr lang="es-419" b="1" dirty="0">
                  <a:solidFill>
                    <a:srgbClr val="003A5D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62183E-22EF-1F31-33AE-7832F7D91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740" y="3915064"/>
                <a:ext cx="3751730" cy="369332"/>
              </a:xfrm>
              <a:prstGeom prst="rect">
                <a:avLst/>
              </a:prstGeom>
              <a:blipFill>
                <a:blip r:embed="rId4"/>
                <a:stretch>
                  <a:fillRect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9915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Método de Máxima Verosimilitud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Los estimadores de máxima verosimilitud: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No son </a:t>
                </a:r>
                <a:r>
                  <a:rPr lang="es-419" i="1" dirty="0">
                    <a:ea typeface="Cambria Math" panose="02040503050406030204" pitchFamily="18" charset="0"/>
                  </a:rPr>
                  <a:t>necesariamente</a:t>
                </a:r>
                <a:r>
                  <a:rPr lang="es-419" dirty="0">
                    <a:ea typeface="Cambria Math" panose="02040503050406030204" pitchFamily="18" charset="0"/>
                  </a:rPr>
                  <a:t> insesgados.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Son </a:t>
                </a:r>
                <a:r>
                  <a:rPr lang="es-419" b="1" i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asintóticamente</a:t>
                </a:r>
                <a:r>
                  <a:rPr lang="es-419" dirty="0">
                    <a:ea typeface="Cambria Math" panose="02040503050406030204" pitchFamily="18" charset="0"/>
                  </a:rPr>
                  <a:t> insesgados y consistentes.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Para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n</a:t>
                </a:r>
                <a:r>
                  <a:rPr lang="es-419" dirty="0">
                    <a:ea typeface="Cambria Math" panose="02040503050406030204" pitchFamily="18" charset="0"/>
                  </a:rPr>
                  <a:t> grandes tienden al límite inferior dado por la desigualdad de Cramer-Rao.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Asintóticamente eficientes (mínima varianza)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Su distribución asintótica es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normal</a:t>
                </a:r>
                <a:r>
                  <a:rPr lang="es-419" dirty="0"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s-419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Si existe un estimador suficiente, los estimadores de máxima verosimilitud son función de estimadores suficientes.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1412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Método de Máxima Verosimilitud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Estimadores de máxima verosimilitud gozan de invarianza: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Si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es estimador máximo verosímil del parámetro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b="1" i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es una función de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con una sola inversa.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Entonces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b="1" i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será estimador de máxima verosimilitud de </a:t>
                </a:r>
                <a14:m>
                  <m:oMath xmlns:m="http://schemas.openxmlformats.org/officeDocument/2006/math"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s-419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419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̂"/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6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93564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Calcular: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419" i="1" dirty="0">
                    <a:ea typeface="Cambria Math" panose="02040503050406030204" pitchFamily="18" charset="0"/>
                  </a:rPr>
                  <a:t>Calcular el estimador máximo verosímil de </a:t>
                </a: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419" i="1" dirty="0"/>
                  <a:t> en la función: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sSup>
                        <m:sSup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𝑝𝑎𝑟𝑎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419" i="1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es-419" i="1" dirty="0"/>
                  <a:t>El valor estimado, si en una muestra de tamaño 5 los resultados fueron: 1,1; 1,2; 2,3; 1;4; 3,5.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b="1" i="1" dirty="0">
                  <a:solidFill>
                    <a:srgbClr val="003A5D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1508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8.11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sSup>
                        <m:sSup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𝑝𝑎𝑟𝑎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419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….</a:t>
                </a:r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…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….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nary>
                          <m:naryPr>
                            <m:chr m:val="∑"/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5235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8.11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𝐿𝑛𝐿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𝐿𝑛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𝐿𝑛𝐿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𝐿𝑛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𝐿𝑛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𝐿𝑛𝐿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𝑛𝐿𝑛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𝐿𝑛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𝐿𝑛𝐿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𝑛𝐿𝑛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𝑑𝐿𝑛𝐿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3794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8.11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9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𝑑𝐿𝑛𝐿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9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𝑑𝐿𝑛𝐿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9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9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9"/>
                </a:pPr>
                <a:r>
                  <a:rPr lang="es-419" dirty="0">
                    <a:ea typeface="Cambria Math" panose="02040503050406030204" pitchFamily="18" charset="0"/>
                  </a:rPr>
                  <a:t>Para muestra de 1,1; 1,2; 2,3; 1,4; 3,5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9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419" dirty="0">
                            <a:ea typeface="Cambria Math" panose="02040503050406030204" pitchFamily="18" charset="0"/>
                          </a:rPr>
                          <m:t>1,1</m:t>
                        </m:r>
                        <m:r>
                          <m:rPr>
                            <m:nor/>
                          </m:rPr>
                          <a:rPr lang="es-419" b="0" i="0" dirty="0" smtClean="0"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s-419" dirty="0">
                            <a:ea typeface="Cambria Math" panose="02040503050406030204" pitchFamily="18" charset="0"/>
                          </a:rPr>
                          <m:t> 1,2</m:t>
                        </m:r>
                        <m:r>
                          <m:rPr>
                            <m:nor/>
                          </m:rPr>
                          <a:rPr lang="es-419" b="0" i="0" dirty="0" smtClean="0"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s-419" dirty="0">
                            <a:ea typeface="Cambria Math" panose="02040503050406030204" pitchFamily="18" charset="0"/>
                          </a:rPr>
                          <m:t> 2,3</m:t>
                        </m:r>
                        <m:r>
                          <m:rPr>
                            <m:nor/>
                          </m:rPr>
                          <a:rPr lang="es-419" b="0" i="0" dirty="0" smtClean="0"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s-419" dirty="0">
                            <a:ea typeface="Cambria Math" panose="02040503050406030204" pitchFamily="18" charset="0"/>
                          </a:rPr>
                          <m:t> 1,4</m:t>
                        </m:r>
                        <m:r>
                          <m:rPr>
                            <m:nor/>
                          </m:rPr>
                          <a:rPr lang="es-419" b="0" i="0" dirty="0" smtClean="0"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s-419" dirty="0">
                            <a:ea typeface="Cambria Math" panose="02040503050406030204" pitchFamily="18" charset="0"/>
                          </a:rPr>
                          <m:t> 3,5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=0,5263158</m:t>
                    </m:r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9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9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3461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8.20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Dada una población con función de densidad: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419" i="1" dirty="0">
                    <a:latin typeface="Cambria Math" panose="02040503050406030204" pitchFamily="18" charset="0"/>
                  </a:rPr>
                  <a:t>para x = 1,2,3…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419" i="1" dirty="0">
                    <a:ea typeface="Cambria Math" panose="02040503050406030204" pitchFamily="18" charset="0"/>
                  </a:rPr>
                  <a:t>Calcular el estimador máximo verosímil de </a:t>
                </a: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419" i="1" dirty="0"/>
                  <a:t> para una muestra de tamaño n.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419" i="1" dirty="0"/>
                  <a:t>¿Cuáles es el valor estimado de </a:t>
                </a: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419" i="1" dirty="0"/>
                  <a:t>, si en una muestra de 5, los resultados fueron 4; 5; 6; 10; 3?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b="1" i="1" dirty="0">
                  <a:solidFill>
                    <a:srgbClr val="003A5D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5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7524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8.20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70000" lnSpcReduction="20000"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419" i="1" dirty="0">
                    <a:latin typeface="Cambria Math" panose="02040503050406030204" pitchFamily="18" charset="0"/>
                  </a:rPr>
                  <a:t> para x = 1,2,3…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begChr m:val="["/>
                        <m:endChr m:val="]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es-419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1)</m:t>
                            </m:r>
                          </m:e>
                        </m:nary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𝐿𝑛</m:t>
                    </m:r>
                    <m:f>
                      <m:fPr>
                        <m:ctrlP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𝐿𝑛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s-419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𝐿𝑛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sup>
                    </m:sSup>
                  </m:oMath>
                </a14:m>
                <a:endParaRPr lang="es-419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𝐿𝑛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(1−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)−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𝑛𝐿𝑛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B17CEE-D71C-4592-A1C9-16E750DA2CE8}"/>
              </a:ext>
            </a:extLst>
          </p:cNvPr>
          <p:cNvSpPr txBox="1"/>
          <p:nvPr/>
        </p:nvSpPr>
        <p:spPr>
          <a:xfrm>
            <a:off x="8242852" y="770882"/>
            <a:ext cx="263387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419" sz="1600" dirty="0">
                <a:latin typeface="Georgia" panose="02040502050405020303" pitchFamily="18" charset="0"/>
              </a:rPr>
              <a:t>Estructura de distribución Geométrica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1695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8.20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 fontScale="250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r>
                      <a:rPr lang="es-419" sz="8000" b="0" i="1" smtClean="0">
                        <a:latin typeface="Cambria Math" panose="02040503050406030204" pitchFamily="18" charset="0"/>
                      </a:rPr>
                      <m:t>𝐿𝑛</m:t>
                    </m:r>
                    <m:r>
                      <a:rPr lang="es-419" sz="80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sz="8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419" sz="8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a:rPr lang="es-419" sz="8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𝐿𝑛</m:t>
                    </m:r>
                    <m:r>
                      <a:rPr lang="es-419" sz="8000" i="1">
                        <a:latin typeface="Cambria Math" panose="02040503050406030204" pitchFamily="18" charset="0"/>
                      </a:rPr>
                      <m:t>(1−</m:t>
                    </m:r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)−</m:t>
                    </m:r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𝑛𝐿𝑛</m:t>
                    </m:r>
                    <m:d>
                      <m:dPr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s-419" sz="80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sz="8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𝑑𝐿𝑛𝐿</m:t>
                        </m:r>
                        <m:d>
                          <m:d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s-419" sz="8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419" sz="8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e>
                    </m:d>
                    <m:f>
                      <m:fPr>
                        <m:ctrlPr>
                          <a:rPr lang="es-419" sz="8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419" sz="8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8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s-419" sz="8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sz="8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s-419" sz="8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8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s-419" sz="8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den>
                    </m:f>
                    <m:r>
                      <a:rPr lang="es-419" sz="8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d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e>
                    </m:d>
                    <m:f>
                      <m:fPr>
                        <m:ctrlPr>
                          <a:rPr lang="es-419" sz="80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sz="800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80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sz="80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s-419" sz="8000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80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s-419" sz="80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sz="80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419" sz="80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e>
                    </m:d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419" sz="800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sz="80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s-419" sz="80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s-419" sz="80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s-419" sz="80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𝑑𝐿𝑛𝐿</m:t>
                        </m:r>
                        <m:d>
                          <m:d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e>
                    </m:d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sz="800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80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s-419" sz="8000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ctrlPr>
                              <a:rPr lang="es-419" sz="80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80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sz="80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419" sz="800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s-419" sz="80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s-419" sz="80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80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sz="80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sz="80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sz="80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nary>
                          </m:e>
                        </m:d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s-419" sz="80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sz="8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s-419" sz="8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8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sz="8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sz="8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sz="8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nary>
                          </m:e>
                        </m:d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=0→</m:t>
                    </m:r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s-419" sz="8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8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sz="8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sz="8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sz="8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nary>
                          </m:e>
                        </m:d>
                        <m:r>
                          <a:rPr lang="es-419" sz="8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8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s-419" sz="8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419" sz="8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419" sz="8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8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nary>
                      </m:e>
                    </m:d>
                    <m:r>
                      <a:rPr lang="es-419" sz="8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sz="8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a:rPr lang="es-419" sz="8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sz="8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419" sz="8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419" sz="8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419" sz="8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sz="8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=0→</m:t>
                    </m:r>
                  </m:oMath>
                </a14:m>
                <a:r>
                  <a:rPr lang="es-419" sz="8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sz="8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s-419" sz="8000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8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sz="8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s-419" sz="8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8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8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419" sz="8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8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s-419" sz="8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7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7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 t="-6000" b="-55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6660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BEE6-C611-43A6-A6D6-CCA6D6F0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8.20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rgbClr val="E7E6E6">
                  <a:alpha val="50196"/>
                </a:srgbClr>
              </a:solidFill>
            </p:spPr>
            <p:txBody>
              <a:bodyPr>
                <a:normAutofit/>
              </a:bodyPr>
              <a:lstStyle/>
              <a:p>
                <a:pPr marL="1371600" indent="-1371600">
                  <a:lnSpc>
                    <a:spcPct val="150000"/>
                  </a:lnSpc>
                  <a:buFont typeface="+mj-lt"/>
                  <a:buAutoNum type="arabicPeriod" startAt="14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s-419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s-419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419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419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s-419" sz="3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371600" indent="-1371600">
                  <a:lnSpc>
                    <a:spcPct val="150000"/>
                  </a:lnSpc>
                  <a:buFont typeface="+mj-lt"/>
                  <a:buAutoNum type="arabicPeriod" startAt="14"/>
                </a:pPr>
                <a:r>
                  <a:rPr lang="es-419" sz="3000" dirty="0">
                    <a:ea typeface="Cambria Math" panose="02040503050406030204" pitchFamily="18" charset="0"/>
                  </a:rPr>
                  <a:t>Para muestra con valores de 4; 5; 6; 10; 3.</a:t>
                </a:r>
              </a:p>
              <a:p>
                <a:pPr marL="1371600" indent="-1371600">
                  <a:lnSpc>
                    <a:spcPct val="150000"/>
                  </a:lnSpc>
                  <a:buFont typeface="+mj-lt"/>
                  <a:buAutoNum type="arabicPeriod" startAt="14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4+5+6+10+3</m:t>
                        </m:r>
                      </m:num>
                      <m:den>
                        <m:r>
                          <a:rPr lang="es-419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s-419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=5,6</m:t>
                    </m:r>
                  </m:oMath>
                </a14:m>
                <a:endParaRPr lang="es-419" sz="3000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7"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7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FB10B-37BA-45D2-BB91-BC7AD6F83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5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5599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400" i="1" dirty="0"/>
              <a:t>El objetivo de la estimación es aproximarse a valores poblaciones empelando estimadores que usan información muestral.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400" i="1" dirty="0"/>
              <a:t>En la práctica, la estimación puntual resulta en un número concreto.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400" i="1" dirty="0"/>
              <a:t>El estudio de propiedades del estimador puntual nos dice qué tan bueno es ese número.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400" i="1" dirty="0"/>
              <a:t>Los mejores estimadores son los que más puedan acercarse a los parámetros poblacionales desconocidos.</a:t>
            </a: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35076161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B5B7C-2524-4454-BA98-4C573E5F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dirty="0"/>
              <a:t>Giorgio Cunto Morales</a:t>
            </a:r>
          </a:p>
          <a:p>
            <a:pPr marL="0" indent="0" algn="ctr">
              <a:buNone/>
            </a:pPr>
            <a:r>
              <a:rPr lang="es-419" sz="2400" dirty="0">
                <a:hlinkClick r:id="rId2"/>
              </a:rPr>
              <a:t>gcuntomo@ucab.edu.ve</a:t>
            </a:r>
            <a:r>
              <a:rPr lang="es-419" sz="2400" dirty="0"/>
              <a:t> | </a:t>
            </a:r>
            <a:r>
              <a:rPr lang="en-US" sz="2400" dirty="0">
                <a:hlinkClick r:id="rId3"/>
              </a:rPr>
              <a:t>https://www.linkedin.com/in/giorgiocmorales/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892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7439</TotalTime>
  <Words>3811</Words>
  <Application>Microsoft Office PowerPoint</Application>
  <PresentationFormat>Panorámica</PresentationFormat>
  <Paragraphs>718</Paragraphs>
  <Slides>79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79</vt:i4>
      </vt:variant>
    </vt:vector>
  </HeadingPairs>
  <TitlesOfParts>
    <vt:vector size="84" baseType="lpstr">
      <vt:lpstr>Arial</vt:lpstr>
      <vt:lpstr>Calibri</vt:lpstr>
      <vt:lpstr>Cambria Math</vt:lpstr>
      <vt:lpstr>Georgia</vt:lpstr>
      <vt:lpstr>Office Theme</vt:lpstr>
      <vt:lpstr>Presentación de PowerPoint</vt:lpstr>
      <vt:lpstr>Mensaje principal</vt:lpstr>
      <vt:lpstr>Estimación Puntual</vt:lpstr>
      <vt:lpstr>Estimación Puntual</vt:lpstr>
      <vt:lpstr>Estimador θ ̂</vt:lpstr>
      <vt:lpstr>Aclaratoria</vt:lpstr>
      <vt:lpstr>Espacio de intervención: 30 segundos</vt:lpstr>
      <vt:lpstr>Aclaratoria</vt:lpstr>
      <vt:lpstr>Espacio de intervención: 30 segundos</vt:lpstr>
      <vt:lpstr>Problema de selección</vt:lpstr>
      <vt:lpstr>Espacio de intervención: 30 segundos</vt:lpstr>
      <vt:lpstr>¿Cómo saber cuál estimador es mejor?</vt:lpstr>
      <vt:lpstr>Función de pérdida</vt:lpstr>
      <vt:lpstr>Minimizar la pérdida</vt:lpstr>
      <vt:lpstr>Error cuadrado y Error cuadrado medio</vt:lpstr>
      <vt:lpstr>Propiedades de los Estimadores</vt:lpstr>
      <vt:lpstr>Propiedades de los estimadores</vt:lpstr>
      <vt:lpstr>Propiedades de los estimadores</vt:lpstr>
      <vt:lpstr>Estimadores insesgados</vt:lpstr>
      <vt:lpstr>Estimadores insesgados</vt:lpstr>
      <vt:lpstr>Estimadores insesgados</vt:lpstr>
      <vt:lpstr>Ejemplo 8.8</vt:lpstr>
      <vt:lpstr>Ejemplo 8.8</vt:lpstr>
      <vt:lpstr>Ejemplo 8.8</vt:lpstr>
      <vt:lpstr>Ejemplo 8.8</vt:lpstr>
      <vt:lpstr>Espacio de intervención: 30 segundos</vt:lpstr>
      <vt:lpstr>Estimadores eficientes</vt:lpstr>
      <vt:lpstr>Estimadores eficientes</vt:lpstr>
      <vt:lpstr>Estimadores eficientes (eficiencia relativa)</vt:lpstr>
      <vt:lpstr>Estimadores eficientes</vt:lpstr>
      <vt:lpstr>Propuesto 8.16</vt:lpstr>
      <vt:lpstr>Propuesto 8.16</vt:lpstr>
      <vt:lpstr>Propuesto 8.16</vt:lpstr>
      <vt:lpstr>Propuesto 8.16</vt:lpstr>
      <vt:lpstr>Propuesto 8.16</vt:lpstr>
      <vt:lpstr>Propuesto 8.16</vt:lpstr>
      <vt:lpstr>Estimadores eficientes: Teorema de Cramer-Rao (TCR)</vt:lpstr>
      <vt:lpstr>Estimadores eficientes: Teorema de Cramer-Rao (TCR)</vt:lpstr>
      <vt:lpstr>Propuesto 8.22</vt:lpstr>
      <vt:lpstr>Propuesto 8.22</vt:lpstr>
      <vt:lpstr>Propuesto 8.22</vt:lpstr>
      <vt:lpstr>Propuesto 8.22</vt:lpstr>
      <vt:lpstr>Propuesto 8.22</vt:lpstr>
      <vt:lpstr>Estimadores consistentes</vt:lpstr>
      <vt:lpstr>Estimadores consistentes</vt:lpstr>
      <vt:lpstr>Estimadores consistentes</vt:lpstr>
      <vt:lpstr>Estimadores consistentes</vt:lpstr>
      <vt:lpstr>Ejemplo 8.13</vt:lpstr>
      <vt:lpstr>Estimadores suficientes</vt:lpstr>
      <vt:lpstr>Estimadores suficientes</vt:lpstr>
      <vt:lpstr>Estimadores suficientes: Teorema Fisher-Newman</vt:lpstr>
      <vt:lpstr>Propuesto 8.21</vt:lpstr>
      <vt:lpstr>Propuesto 8.21</vt:lpstr>
      <vt:lpstr>Máxima Verosimilitud</vt:lpstr>
      <vt:lpstr>Cálculo de estimadores: Método de Máxima Verosimilitud</vt:lpstr>
      <vt:lpstr>Método de Máxima Verosimilitud</vt:lpstr>
      <vt:lpstr>Método de Máxima Verosimilitud</vt:lpstr>
      <vt:lpstr>Método de Máxima Verosimilitud</vt:lpstr>
      <vt:lpstr>Método de Máxima Verosimilitud</vt:lpstr>
      <vt:lpstr>Ejemplo RPsychologist</vt:lpstr>
      <vt:lpstr>Método de Máxima Verosimilitud</vt:lpstr>
      <vt:lpstr>Método de Máxima Verosimilitud</vt:lpstr>
      <vt:lpstr>Ejemplo 8.22</vt:lpstr>
      <vt:lpstr>Propuesto 8.11</vt:lpstr>
      <vt:lpstr>Propuesto 8.11</vt:lpstr>
      <vt:lpstr>Propuesto 8.11</vt:lpstr>
      <vt:lpstr>Propuesto 8.11</vt:lpstr>
      <vt:lpstr>Método de Máxima Verosimilitud</vt:lpstr>
      <vt:lpstr>Método de Máxima Verosimilitud</vt:lpstr>
      <vt:lpstr>Propuesto 8.11</vt:lpstr>
      <vt:lpstr>Propuesto 8.11</vt:lpstr>
      <vt:lpstr>Propuesto 8.11</vt:lpstr>
      <vt:lpstr>Propuesto 8.11</vt:lpstr>
      <vt:lpstr>Propuesto 8.20</vt:lpstr>
      <vt:lpstr>Propuesto 8.20</vt:lpstr>
      <vt:lpstr>Propuesto 8.20</vt:lpstr>
      <vt:lpstr>Propuesto 8.20</vt:lpstr>
      <vt:lpstr>Mensaje principal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Giorgio C Morales</dc:creator>
  <cp:lastModifiedBy>Giorgio Cunto Morales</cp:lastModifiedBy>
  <cp:revision>144</cp:revision>
  <dcterms:created xsi:type="dcterms:W3CDTF">2020-04-17T00:45:03Z</dcterms:created>
  <dcterms:modified xsi:type="dcterms:W3CDTF">2022-08-15T14:19:40Z</dcterms:modified>
</cp:coreProperties>
</file>