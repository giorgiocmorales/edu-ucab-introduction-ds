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6" r:id="rId3"/>
    <p:sldId id="382" r:id="rId4"/>
    <p:sldId id="374" r:id="rId5"/>
    <p:sldId id="387" r:id="rId6"/>
    <p:sldId id="282" r:id="rId7"/>
    <p:sldId id="284" r:id="rId8"/>
    <p:sldId id="366" r:id="rId9"/>
    <p:sldId id="286" r:id="rId10"/>
    <p:sldId id="288" r:id="rId11"/>
    <p:sldId id="376" r:id="rId12"/>
    <p:sldId id="375" r:id="rId13"/>
    <p:sldId id="287" r:id="rId14"/>
    <p:sldId id="378" r:id="rId15"/>
    <p:sldId id="377" r:id="rId16"/>
    <p:sldId id="285" r:id="rId17"/>
    <p:sldId id="383" r:id="rId18"/>
    <p:sldId id="367" r:id="rId19"/>
    <p:sldId id="381" r:id="rId20"/>
    <p:sldId id="257" r:id="rId21"/>
    <p:sldId id="278" r:id="rId22"/>
    <p:sldId id="277" r:id="rId23"/>
    <p:sldId id="281" r:id="rId24"/>
    <p:sldId id="280" r:id="rId25"/>
    <p:sldId id="379" r:id="rId26"/>
    <p:sldId id="380" r:id="rId27"/>
    <p:sldId id="283" r:id="rId28"/>
    <p:sldId id="385" r:id="rId29"/>
    <p:sldId id="27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A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9FDA-64E3-4AE2-8866-4624A7B52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2F877-47BE-4588-88BA-8CB06EF954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ESTADÍ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48BE2-9CB5-4C5E-8562-2E2F3985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42264-421F-4D62-B951-6F2CA84F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6052C-8ACB-49D8-B8EF-3B485F1F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3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BDA8-E557-4626-86BA-56B3E1FD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0CC3-0AE0-407B-AA10-92B5CA698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AB793-7AFA-4089-A3A8-6F5D861A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FA07-C55D-41EC-A7F6-0D9213E7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F8243-5F9D-4E5D-A01D-354E1EF0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837F-6BD1-4AAD-9C8A-82F79552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90E71-BEAA-4E89-9F9B-8D341D3EE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1FB1-360D-4C6B-A023-DCAB577B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D68ED-D1DC-4D87-BF60-77747EFB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7893A-50E5-4DE3-9F41-A593BD95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9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2B31-20AA-4B71-8958-20712FE7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06AA-4B6F-43A3-89E7-B7AD5DB2D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51F21-E287-4135-8D73-3856EB177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2E284-D29E-4263-9B92-14E81D63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DCAAE-6263-43B5-B6D0-A04C09AE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A0485-671F-481D-A078-CC6F9C7F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8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756B-B1FD-4858-8717-BF0654D2E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DB432-76DA-4E5E-9D92-1FB6A4A5D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45127-11B6-4861-A9DF-76B9382CF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4DE2B-E6EC-47B4-8D56-743BDF7B6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D8FE8-2E69-44C5-96AD-36FCEF147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E675A-6736-4C8E-A9EE-9DCBE935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2B57B-8AF2-4A15-B4AB-1BE127C6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74B8D-E941-4327-989C-EF590E7B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7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E511-F376-4864-963C-822DE639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292F6-7361-495F-B87A-97CFCF45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ED667-FA23-4238-9DC9-603C6813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204F2-440D-421C-A4F3-993CC7D3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7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81DA9-86E2-446F-97B1-95945B32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1814C-C49F-4B1A-8D5A-E76A917D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B9687-9812-4C8F-B4CC-5F937D8B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3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CBEF-82BA-4669-9E7B-51319881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EEAB-C165-4C1E-8D50-A5404E010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6983C-47E0-45A6-AF00-81B08CEFF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6A8D8-6B93-41B3-BEE8-E4CD53C9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24811-32C8-45C8-BACE-14B782A7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FE574-1E14-46C1-9D0E-93C544CF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4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76A9-8C1D-43E1-88AA-91D262B7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912B1-A51A-4595-A017-4DD32A003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5B3A8-74B0-4DBC-B6A3-50091F74F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C9DFA-2481-4F4D-AB20-BAB63513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0A896-D462-4798-B918-D8D61CA3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2D00F-802A-4AE9-9E23-8CE855E8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8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78CE-E55C-4180-A5C8-9D020B41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56904-45A5-4B44-95EE-236498EDF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1A5B-A008-4021-9A06-5401823374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14A92-A4D6-44F8-91CC-AA47B6B8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A0C67-F949-4EF9-A5E4-0D3DD082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6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3A273-84A6-45E5-AEDE-1EE145C1B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A47B9-E8B5-4E2B-8DB3-58F5ECC68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529D8-B941-4F10-BAA8-BBB0C608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98421-F993-4FE9-AC55-80526D9A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7208D-A169-4843-9917-E9B7D94B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1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8040-58BC-42CF-B0E1-4021AAE0D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75"/>
            <a:ext cx="10515600" cy="66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1C751-C9B4-420E-9FC2-17D521431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88816"/>
            <a:ext cx="10515600" cy="5488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C5EBC2-48FF-4AE7-8A93-8A46A84D23FA}"/>
              </a:ext>
            </a:extLst>
          </p:cNvPr>
          <p:cNvCxnSpPr>
            <a:cxnSpLocks/>
          </p:cNvCxnSpPr>
          <p:nvPr userDrawn="1"/>
        </p:nvCxnSpPr>
        <p:spPr>
          <a:xfrm>
            <a:off x="838200" y="723559"/>
            <a:ext cx="10515600" cy="0"/>
          </a:xfrm>
          <a:prstGeom prst="line">
            <a:avLst/>
          </a:prstGeom>
          <a:ln w="3810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252427-CE25-435F-B457-304E4F500EFE}"/>
              </a:ext>
            </a:extLst>
          </p:cNvPr>
          <p:cNvCxnSpPr/>
          <p:nvPr userDrawn="1"/>
        </p:nvCxnSpPr>
        <p:spPr>
          <a:xfrm>
            <a:off x="838200" y="6192520"/>
            <a:ext cx="10515600" cy="0"/>
          </a:xfrm>
          <a:prstGeom prst="line">
            <a:avLst/>
          </a:prstGeom>
          <a:ln w="1905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5ACB22-8E4D-401A-A3BA-16BB52BD29C5}"/>
              </a:ext>
            </a:extLst>
          </p:cNvPr>
          <p:cNvSpPr txBox="1"/>
          <p:nvPr userDrawn="1"/>
        </p:nvSpPr>
        <p:spPr>
          <a:xfrm>
            <a:off x="838200" y="6192520"/>
            <a:ext cx="1051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dirty="0">
                <a:latin typeface="Georgia" panose="02040502050405020303" pitchFamily="18" charset="0"/>
              </a:rPr>
              <a:t>Giorgio Cunto Morales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21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iorgiocmorales/" TargetMode="External"/><Relationship Id="rId2" Type="http://schemas.openxmlformats.org/officeDocument/2006/relationships/hyperlink" Target="mailto:gcuntomo@ucab.edu.v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43B509-C3AB-4D18-8154-6C185FB4D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419" sz="2800" b="1" dirty="0">
                <a:solidFill>
                  <a:srgbClr val="003A5D"/>
                </a:solidFill>
                <a:latin typeface="Georgia" panose="02040502050405020303" pitchFamily="18" charset="0"/>
              </a:rPr>
              <a:t>ESTADÍSTICA III</a:t>
            </a:r>
          </a:p>
          <a:p>
            <a:r>
              <a:rPr lang="es-419" dirty="0"/>
              <a:t>Distribuciones en R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6C2B5-519A-412E-8AF8-57C867BD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428" y="1908313"/>
            <a:ext cx="8909144" cy="134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0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R facilita hacer operaciones que involucren distribuciones de probabilidades conocidas.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Nos permite hacer de forma expedita los cálculos principales de Estadística II.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Es importante internalizar el significado de los argumentos en las funciones.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Forma el principal pilar operativo para ejercicios de Estadística III.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3599177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Esta presentación abarca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s-VE" dirty="0"/>
              <a:t>Introducción al uso de distribuciones en </a:t>
            </a:r>
            <a:r>
              <a:rPr lang="es-VE" b="1" dirty="0">
                <a:solidFill>
                  <a:srgbClr val="003A5D"/>
                </a:solidFill>
              </a:rPr>
              <a:t>R</a:t>
            </a:r>
            <a:r>
              <a:rPr lang="es-VE" dirty="0"/>
              <a:t> y </a:t>
            </a:r>
            <a:r>
              <a:rPr lang="es-VE" b="1" dirty="0" err="1">
                <a:solidFill>
                  <a:srgbClr val="003A5D"/>
                </a:solidFill>
              </a:rPr>
              <a:t>RStudio</a:t>
            </a:r>
            <a:r>
              <a:rPr lang="es-VE" dirty="0"/>
              <a:t>.</a:t>
            </a:r>
          </a:p>
          <a:p>
            <a:pPr>
              <a:lnSpc>
                <a:spcPct val="150000"/>
              </a:lnSpc>
            </a:pPr>
            <a:r>
              <a:rPr lang="es-VE" dirty="0"/>
              <a:t>Calculo tradicional de operaciones con distribuciones conocidas según </a:t>
            </a:r>
            <a:r>
              <a:rPr lang="es-VE" b="1" dirty="0">
                <a:solidFill>
                  <a:srgbClr val="003A5D"/>
                </a:solidFill>
              </a:rPr>
              <a:t>Estadística II</a:t>
            </a:r>
            <a:r>
              <a:rPr lang="es-VE" dirty="0"/>
              <a:t>.</a:t>
            </a:r>
          </a:p>
          <a:p>
            <a:pPr>
              <a:lnSpc>
                <a:spcPct val="150000"/>
              </a:lnSpc>
            </a:pPr>
            <a:r>
              <a:rPr lang="es-VE" dirty="0"/>
              <a:t>Operaciones comunes en R: probabilidad acumulada y cuantiles.</a:t>
            </a:r>
          </a:p>
          <a:p>
            <a:pPr>
              <a:lnSpc>
                <a:spcPct val="150000"/>
              </a:lnSpc>
            </a:pPr>
            <a:r>
              <a:rPr lang="es-VE" dirty="0"/>
              <a:t>El uso del argumento </a:t>
            </a:r>
            <a:r>
              <a:rPr lang="es-VE" dirty="0" err="1">
                <a:solidFill>
                  <a:srgbClr val="003A5D"/>
                </a:solidFill>
                <a:latin typeface="Consolas" panose="020B0609020204030204" pitchFamily="49" charset="0"/>
              </a:rPr>
              <a:t>lower.tail</a:t>
            </a:r>
            <a:endParaRPr lang="es-VE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s-VE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708184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Distribuciones en 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La funcionalidad más importante para este curso</a:t>
            </a:r>
          </a:p>
        </p:txBody>
      </p:sp>
    </p:spTree>
    <p:extLst>
      <p:ext uri="{BB962C8B-B14F-4D97-AF65-F5344CB8AC3E}">
        <p14:creationId xmlns:p14="http://schemas.microsoft.com/office/powerpoint/2010/main" val="2332107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8B4D-223C-4A10-8129-15099A4D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Espacio de intervención: 3 minutos.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9A3F-CEB1-4100-9987-2A295CA6F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419" i="1" dirty="0"/>
              <a:t>¿Qué funciones de distribución de probabilidades vieron en Estadística II?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</p:txBody>
      </p:sp>
    </p:spTree>
    <p:extLst>
      <p:ext uri="{BB962C8B-B14F-4D97-AF65-F5344CB8AC3E}">
        <p14:creationId xmlns:p14="http://schemas.microsoft.com/office/powerpoint/2010/main" val="2167732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4C47-B7BC-4D9A-8118-FFD0EB226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Utilidad de usar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para </a:t>
            </a:r>
            <a:r>
              <a:rPr lang="es-419" b="1" dirty="0">
                <a:solidFill>
                  <a:srgbClr val="003A5D"/>
                </a:solidFill>
              </a:rPr>
              <a:t>Estadística III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A0867-C280-41E6-AC2B-C1A35DEB4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s-419" sz="2400" dirty="0"/>
              <a:t>Mucho de </a:t>
            </a:r>
            <a:r>
              <a:rPr lang="es-419" sz="2400" b="1" dirty="0">
                <a:solidFill>
                  <a:srgbClr val="003A5D"/>
                </a:solidFill>
              </a:rPr>
              <a:t>Estadística II </a:t>
            </a:r>
            <a:r>
              <a:rPr lang="es-419" sz="2400" dirty="0"/>
              <a:t>y </a:t>
            </a:r>
            <a:r>
              <a:rPr lang="es-419" sz="2400" b="1" dirty="0">
                <a:solidFill>
                  <a:srgbClr val="003A5D"/>
                </a:solidFill>
              </a:rPr>
              <a:t>Estadística III </a:t>
            </a:r>
            <a:r>
              <a:rPr lang="es-419" sz="2400" dirty="0"/>
              <a:t>gira alrededor de usar distribuciones de probabilidades conocidas.</a:t>
            </a:r>
          </a:p>
          <a:p>
            <a:pPr>
              <a:lnSpc>
                <a:spcPct val="170000"/>
              </a:lnSpc>
            </a:pPr>
            <a:r>
              <a:rPr lang="es-419" sz="2400" dirty="0"/>
              <a:t>En semestres anteriores, se utilizarían tablas estandarizadas al final del </a:t>
            </a:r>
            <a:r>
              <a:rPr lang="es-419" sz="2400" b="1" dirty="0" err="1">
                <a:solidFill>
                  <a:srgbClr val="003A5D"/>
                </a:solidFill>
              </a:rPr>
              <a:t>Casuso</a:t>
            </a:r>
            <a:r>
              <a:rPr lang="es-419" sz="2400" dirty="0"/>
              <a:t>.</a:t>
            </a:r>
          </a:p>
          <a:p>
            <a:pPr>
              <a:lnSpc>
                <a:spcPct val="170000"/>
              </a:lnSpc>
            </a:pPr>
            <a:r>
              <a:rPr lang="es-419" sz="2400" dirty="0"/>
              <a:t>Una vez internalizada la lógica subyacente de acumulación de áreas, el </a:t>
            </a:r>
            <a:r>
              <a:rPr lang="es-419" sz="2400"/>
              <a:t>procedimiento manual </a:t>
            </a:r>
            <a:r>
              <a:rPr lang="es-419" sz="2400" dirty="0"/>
              <a:t>se vuelve innecesariamente tedioso y mecánico.</a:t>
            </a:r>
          </a:p>
          <a:p>
            <a:pPr>
              <a:lnSpc>
                <a:spcPct val="170000"/>
              </a:lnSpc>
            </a:pPr>
            <a:r>
              <a:rPr lang="es-419" sz="2400" dirty="0"/>
              <a:t>Podemos emplear </a:t>
            </a:r>
            <a:r>
              <a:rPr lang="es-419" sz="2400" b="1" dirty="0">
                <a:solidFill>
                  <a:srgbClr val="003A5D"/>
                </a:solidFill>
              </a:rPr>
              <a:t>R</a:t>
            </a:r>
            <a:r>
              <a:rPr lang="es-419" sz="2400" dirty="0"/>
              <a:t> para agilizar este proceso en los cálculos que involucren uso de distribuciones (la mayoría en el curso).</a:t>
            </a:r>
          </a:p>
          <a:p>
            <a:pPr lvl="1">
              <a:lnSpc>
                <a:spcPct val="170000"/>
              </a:lnSpc>
            </a:pPr>
            <a:r>
              <a:rPr lang="es-419" sz="1800" dirty="0"/>
              <a:t>Esta es la mayor utilidad de </a:t>
            </a:r>
            <a:r>
              <a:rPr lang="es-419" sz="1800" b="1" dirty="0">
                <a:solidFill>
                  <a:srgbClr val="003A5D"/>
                </a:solidFill>
              </a:rPr>
              <a:t>R</a:t>
            </a:r>
            <a:r>
              <a:rPr lang="es-419" sz="1800" dirty="0"/>
              <a:t> para el curso y el principal motivo de su implementación.</a:t>
            </a:r>
          </a:p>
          <a:p>
            <a:pPr>
              <a:lnSpc>
                <a:spcPct val="170000"/>
              </a:lnSpc>
            </a:pPr>
            <a:r>
              <a:rPr lang="es-419" sz="2400" dirty="0"/>
              <a:t>Algunas funciones similares tienen equivalentes en </a:t>
            </a:r>
            <a:r>
              <a:rPr lang="es-419" sz="2400" b="1" dirty="0">
                <a:solidFill>
                  <a:srgbClr val="003A5D"/>
                </a:solidFill>
              </a:rPr>
              <a:t>Excel</a:t>
            </a:r>
            <a:r>
              <a:rPr lang="es-419" sz="2400" dirty="0"/>
              <a:t>.</a:t>
            </a:r>
          </a:p>
          <a:p>
            <a:pPr lvl="1">
              <a:lnSpc>
                <a:spcPct val="170000"/>
              </a:lnSpc>
            </a:pPr>
            <a:r>
              <a:rPr lang="es-419" sz="1800" dirty="0"/>
              <a:t>Se usarán en </a:t>
            </a:r>
            <a:r>
              <a:rPr lang="es-419" sz="1800" b="1" dirty="0">
                <a:solidFill>
                  <a:srgbClr val="003A5D"/>
                </a:solidFill>
              </a:rPr>
              <a:t>Contraste de Hipótesis No-Paramétrico</a:t>
            </a:r>
            <a:r>
              <a:rPr lang="es-419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241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7DF1-690C-4403-BF14-B52664A57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Recordando el uso de tablas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7450A-BB0D-47BD-8C36-8C8E671D7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Recordemos: </a:t>
            </a:r>
            <a:r>
              <a:rPr lang="es-419" b="1" i="1" dirty="0">
                <a:solidFill>
                  <a:srgbClr val="003A5D"/>
                </a:solidFill>
              </a:rPr>
              <a:t>distribuciones</a:t>
            </a:r>
            <a:r>
              <a:rPr lang="es-419" dirty="0"/>
              <a:t> son funciones matemáticas que nos dan la probabilidad de ocurrencia de un evento aleatorio dentro de un rango de valores.</a:t>
            </a:r>
          </a:p>
          <a:p>
            <a:pPr>
              <a:lnSpc>
                <a:spcPct val="150000"/>
              </a:lnSpc>
            </a:pPr>
            <a:r>
              <a:rPr lang="es-419" dirty="0"/>
              <a:t>Tradicionalmente, para hacer operaciones de distribuciones conocidas se utilizarían tablas </a:t>
            </a:r>
            <a:r>
              <a:rPr lang="es-419" dirty="0" err="1"/>
              <a:t>pre-calculadas</a:t>
            </a:r>
            <a:r>
              <a:rPr lang="es-419" dirty="0"/>
              <a:t>: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Ubicadas al final del </a:t>
            </a:r>
            <a:r>
              <a:rPr lang="es-419" b="1" dirty="0" err="1">
                <a:solidFill>
                  <a:srgbClr val="003A5D"/>
                </a:solidFill>
              </a:rPr>
              <a:t>Casuso</a:t>
            </a:r>
            <a:r>
              <a:rPr lang="es-419" dirty="0"/>
              <a:t> o extraídas de alguna otra fuente.</a:t>
            </a:r>
          </a:p>
          <a:p>
            <a:pPr>
              <a:lnSpc>
                <a:spcPct val="150000"/>
              </a:lnSpc>
            </a:pPr>
            <a:r>
              <a:rPr lang="es-419" dirty="0"/>
              <a:t>Pasos generales del proceso: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Tomar la información disponible del ejercicio.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“Estandarizarla” o llevarlo a la escala de la tabla. 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Determinar la probabilidad asociada a un número (cuantil) o viceversa.</a:t>
            </a:r>
          </a:p>
          <a:p>
            <a:pPr>
              <a:lnSpc>
                <a:spcPct val="150000"/>
              </a:lnSpc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080198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8B4D-223C-4A10-8129-15099A4D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Espacio de intervención: 3 minutos.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9A3F-CEB1-4100-9987-2A295CA6F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419" i="1" dirty="0"/>
              <a:t>¿Cuál es la probabilidad de que X sea menor a 14 en una distribución normal con media 10 y desviación estándar 2,5?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</p:txBody>
      </p:sp>
    </p:spTree>
    <p:extLst>
      <p:ext uri="{BB962C8B-B14F-4D97-AF65-F5344CB8AC3E}">
        <p14:creationId xmlns:p14="http://schemas.microsoft.com/office/powerpoint/2010/main" val="1983561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7AF6-808F-4439-A0E2-2DD830E87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Recordando el uso de tablas: 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10A77-5701-4E92-ACC1-0CB70B3D5A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sz="2000" dirty="0"/>
                  <a:t>Calcular probabilidad de P(X &lt; 14) para una distribución normal con media de 10 y desviación estándar de 2,5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s-419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14−10</m:t>
                          </m:r>
                        </m:num>
                        <m:den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2,5</m:t>
                          </m:r>
                        </m:den>
                      </m:f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=1,60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10A77-5701-4E92-ACC1-0CB70B3D5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178AD0D8-19C3-4B0C-8373-73EA452E3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000" y="2569184"/>
            <a:ext cx="5510000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431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D04D-1AC3-44B6-84B2-2F7446A1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Recordando el uso de tablas: Ejemplo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25FE0C-99CD-428A-BF5B-7DD1D4687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838" y="801000"/>
            <a:ext cx="3597647" cy="53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030E1E8-8F60-4B62-AA48-1F27081D0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01000"/>
            <a:ext cx="3597634" cy="53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8326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D04D-1AC3-44B6-84B2-2F7446A1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Recordando el uso de tablas: Ejemplo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25FE0C-99CD-428A-BF5B-7DD1D4687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838" y="801000"/>
            <a:ext cx="3597647" cy="53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030E1E8-8F60-4B62-AA48-1F27081D0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01000"/>
            <a:ext cx="3597634" cy="53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ABB2E06-FF59-4F8A-B487-91B44D1FCE56}"/>
              </a:ext>
            </a:extLst>
          </p:cNvPr>
          <p:cNvSpPr/>
          <p:nvPr/>
        </p:nvSpPr>
        <p:spPr>
          <a:xfrm>
            <a:off x="6467475" y="3524250"/>
            <a:ext cx="276225" cy="12382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5C8EBA-D6AF-4610-A92E-0E2F55B32E69}"/>
              </a:ext>
            </a:extLst>
          </p:cNvPr>
          <p:cNvCxnSpPr>
            <a:cxnSpLocks/>
          </p:cNvCxnSpPr>
          <p:nvPr/>
        </p:nvCxnSpPr>
        <p:spPr>
          <a:xfrm>
            <a:off x="6605587" y="1981201"/>
            <a:ext cx="0" cy="14837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211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8B4D-223C-4A10-8129-15099A4D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Espacio de intervención: 3 minutos.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9A3F-CEB1-4100-9987-2A295CA6F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419" i="1" dirty="0"/>
              <a:t>En una distribución normal estandarizada, ¿Cuál es el valor (cuantil) que tiene acumulado a la izquierda un área de 1,25%?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</p:txBody>
      </p:sp>
    </p:spTree>
    <p:extLst>
      <p:ext uri="{BB962C8B-B14F-4D97-AF65-F5344CB8AC3E}">
        <p14:creationId xmlns:p14="http://schemas.microsoft.com/office/powerpoint/2010/main" val="300043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7AF6-808F-4439-A0E2-2DD830E87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Recordando el uso de tablas: 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10A77-5701-4E92-ACC1-0CB70B3D5A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sz="2000" dirty="0"/>
                  <a:t>Calcular el valor </a:t>
                </a:r>
                <a:r>
                  <a:rPr lang="es-419" sz="2000" b="1" i="1" dirty="0">
                    <a:solidFill>
                      <a:srgbClr val="003A5D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z*</a:t>
                </a:r>
                <a:r>
                  <a:rPr lang="es-419" sz="2000" dirty="0"/>
                  <a:t> para un área de 0,0125 a la izquierda en una distribución normal estandarizada</a:t>
                </a:r>
                <a14:m>
                  <m:oMath xmlns:m="http://schemas.openxmlformats.org/officeDocument/2006/math">
                    <m:r>
                      <a:rPr lang="es-419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419" sz="2000" b="0" i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419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s-419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2000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419" sz="2000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=0,0125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419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419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20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419" sz="2000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s-419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=0,0125→</m:t>
                      </m:r>
                      <m:sSup>
                        <m:sSupPr>
                          <m:ctrlPr>
                            <a:rPr lang="es-419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20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s-419" sz="200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s-419" sz="2000" b="0" i="1" dirty="0" smtClean="0">
                          <a:latin typeface="Cambria Math" panose="02040503050406030204" pitchFamily="18" charset="0"/>
                        </a:rPr>
                        <m:t>=−2,24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10A77-5701-4E92-ACC1-0CB70B3D5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D4370B4B-40EF-4ECC-87AF-E9BD26D5F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064" y="2569184"/>
            <a:ext cx="7045872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664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D04D-1AC3-44B6-84B2-2F7446A1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Recordando el uso de tablas: Ejemplo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25FE0C-99CD-428A-BF5B-7DD1D4687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838" y="801000"/>
            <a:ext cx="3597647" cy="53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030E1E8-8F60-4B62-AA48-1F27081D0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01000"/>
            <a:ext cx="3597634" cy="53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D7E6511-6EDE-447A-AF46-3CC4F3D25F8A}"/>
              </a:ext>
            </a:extLst>
          </p:cNvPr>
          <p:cNvSpPr/>
          <p:nvPr/>
        </p:nvSpPr>
        <p:spPr>
          <a:xfrm>
            <a:off x="3782222" y="3586162"/>
            <a:ext cx="276225" cy="12382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89453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D04D-1AC3-44B6-84B2-2F7446A1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Recordando el uso de tablas: Ejemplo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25FE0C-99CD-428A-BF5B-7DD1D4687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838" y="801000"/>
            <a:ext cx="3597647" cy="53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030E1E8-8F60-4B62-AA48-1F27081D0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01000"/>
            <a:ext cx="3597634" cy="53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D7E6511-6EDE-447A-AF46-3CC4F3D25F8A}"/>
              </a:ext>
            </a:extLst>
          </p:cNvPr>
          <p:cNvSpPr/>
          <p:nvPr/>
        </p:nvSpPr>
        <p:spPr>
          <a:xfrm>
            <a:off x="3782222" y="3586162"/>
            <a:ext cx="276225" cy="12382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296790-F22F-4692-BD23-0C0C4E396E1B}"/>
              </a:ext>
            </a:extLst>
          </p:cNvPr>
          <p:cNvCxnSpPr>
            <a:cxnSpLocks/>
          </p:cNvCxnSpPr>
          <p:nvPr/>
        </p:nvCxnSpPr>
        <p:spPr>
          <a:xfrm flipH="1">
            <a:off x="2657475" y="3695699"/>
            <a:ext cx="105251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9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D04D-1AC3-44B6-84B2-2F7446A1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Recordando el uso de tablas: Ejemplo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25FE0C-99CD-428A-BF5B-7DD1D4687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838" y="801000"/>
            <a:ext cx="3597647" cy="53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030E1E8-8F60-4B62-AA48-1F27081D0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01000"/>
            <a:ext cx="3597634" cy="53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D7E6511-6EDE-447A-AF46-3CC4F3D25F8A}"/>
              </a:ext>
            </a:extLst>
          </p:cNvPr>
          <p:cNvSpPr/>
          <p:nvPr/>
        </p:nvSpPr>
        <p:spPr>
          <a:xfrm>
            <a:off x="3782222" y="3586162"/>
            <a:ext cx="276225" cy="12382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296790-F22F-4692-BD23-0C0C4E396E1B}"/>
              </a:ext>
            </a:extLst>
          </p:cNvPr>
          <p:cNvCxnSpPr>
            <a:cxnSpLocks/>
          </p:cNvCxnSpPr>
          <p:nvPr/>
        </p:nvCxnSpPr>
        <p:spPr>
          <a:xfrm flipH="1">
            <a:off x="2657475" y="3695699"/>
            <a:ext cx="105251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77BF94-0CB0-4C81-8A2F-E60E7382CCD1}"/>
              </a:ext>
            </a:extLst>
          </p:cNvPr>
          <p:cNvCxnSpPr>
            <a:cxnSpLocks/>
          </p:cNvCxnSpPr>
          <p:nvPr/>
        </p:nvCxnSpPr>
        <p:spPr>
          <a:xfrm flipV="1">
            <a:off x="3934622" y="1981199"/>
            <a:ext cx="0" cy="160496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244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8B4D-223C-4A10-8129-15099A4D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Espacio de intervención: 3 minutos.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9A3F-CEB1-4100-9987-2A295CA6F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419" i="1" dirty="0"/>
              <a:t>¿Cómo resolveríamos ese ejercicio en R?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</p:txBody>
      </p:sp>
    </p:spTree>
    <p:extLst>
      <p:ext uri="{BB962C8B-B14F-4D97-AF65-F5344CB8AC3E}">
        <p14:creationId xmlns:p14="http://schemas.microsoft.com/office/powerpoint/2010/main" val="1239232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Recordando el uso de tablas: Ejemplo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#Para encontrar P(Z&lt;14)</a:t>
            </a:r>
          </a:p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</a:t>
            </a:r>
            <a:r>
              <a:rPr lang="es-ES" sz="3200" dirty="0" err="1">
                <a:latin typeface="Consolas" panose="020B0609020204030204" pitchFamily="49" charset="0"/>
              </a:rPr>
              <a:t>pnorm</a:t>
            </a:r>
            <a:r>
              <a:rPr lang="es-ES" sz="3200" dirty="0">
                <a:latin typeface="Consolas" panose="020B0609020204030204" pitchFamily="49" charset="0"/>
              </a:rPr>
              <a:t>(q = 14, mean = 10, </a:t>
            </a:r>
            <a:r>
              <a:rPr lang="es-ES" sz="3200" dirty="0" err="1">
                <a:latin typeface="Consolas" panose="020B0609020204030204" pitchFamily="49" charset="0"/>
              </a:rPr>
              <a:t>sd</a:t>
            </a:r>
            <a:r>
              <a:rPr lang="es-ES" sz="3200" dirty="0">
                <a:latin typeface="Consolas" panose="020B0609020204030204" pitchFamily="49" charset="0"/>
              </a:rPr>
              <a:t> = 2.5) </a:t>
            </a:r>
          </a:p>
          <a:p>
            <a:pPr marL="0" indent="0">
              <a:buNone/>
            </a:pPr>
            <a:r>
              <a:rPr lang="es-ES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0.9452007</a:t>
            </a:r>
          </a:p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</a:t>
            </a:r>
            <a:r>
              <a:rPr lang="es-ES" sz="3200" dirty="0" err="1">
                <a:latin typeface="Consolas" panose="020B0609020204030204" pitchFamily="49" charset="0"/>
              </a:rPr>
              <a:t>pnorm</a:t>
            </a:r>
            <a:r>
              <a:rPr lang="es-ES" sz="3200" dirty="0">
                <a:latin typeface="Consolas" panose="020B0609020204030204" pitchFamily="49" charset="0"/>
              </a:rPr>
              <a:t>(q = 1.60) </a:t>
            </a:r>
          </a:p>
          <a:p>
            <a:pPr marL="0" indent="0">
              <a:buNone/>
            </a:pPr>
            <a:r>
              <a:rPr lang="es-ES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0.9452007</a:t>
            </a:r>
          </a:p>
          <a:p>
            <a:pPr marL="0" indent="0">
              <a:buNone/>
            </a:pPr>
            <a:endParaRPr lang="es-ES" sz="32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#Para encontrar P(Z&lt;z*)=0,0125</a:t>
            </a:r>
          </a:p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</a:t>
            </a:r>
            <a:r>
              <a:rPr lang="es-ES" sz="3200" dirty="0" err="1">
                <a:latin typeface="Consolas" panose="020B0609020204030204" pitchFamily="49" charset="0"/>
              </a:rPr>
              <a:t>qnorm</a:t>
            </a:r>
            <a:r>
              <a:rPr lang="es-ES" sz="3200" dirty="0">
                <a:latin typeface="Consolas" panose="020B0609020204030204" pitchFamily="49" charset="0"/>
              </a:rPr>
              <a:t>(p = 0.0125)</a:t>
            </a:r>
          </a:p>
          <a:p>
            <a:pPr marL="0" indent="0">
              <a:buNone/>
            </a:pPr>
            <a:r>
              <a:rPr lang="es-ES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-2.241403</a:t>
            </a:r>
          </a:p>
        </p:txBody>
      </p:sp>
    </p:spTree>
    <p:extLst>
      <p:ext uri="{BB962C8B-B14F-4D97-AF65-F5344CB8AC3E}">
        <p14:creationId xmlns:p14="http://schemas.microsoft.com/office/powerpoint/2010/main" val="2463024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Distribuciones en 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Hay para todos los gustos</a:t>
            </a:r>
          </a:p>
        </p:txBody>
      </p:sp>
    </p:spTree>
    <p:extLst>
      <p:ext uri="{BB962C8B-B14F-4D97-AF65-F5344CB8AC3E}">
        <p14:creationId xmlns:p14="http://schemas.microsoft.com/office/powerpoint/2010/main" val="847278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Distribuciones en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endParaRPr lang="en-US" b="1" dirty="0">
              <a:solidFill>
                <a:srgbClr val="003A5D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419" sz="2200" dirty="0"/>
              <a:t>Se puede consultar distribuciones disponibles utilizando el comando </a:t>
            </a:r>
            <a:r>
              <a:rPr lang="es-419" sz="2200" dirty="0" err="1">
                <a:solidFill>
                  <a:srgbClr val="003A5D"/>
                </a:solidFill>
                <a:latin typeface="Consolas" panose="020B0609020204030204" pitchFamily="49" charset="0"/>
              </a:rPr>
              <a:t>help</a:t>
            </a:r>
            <a:r>
              <a:rPr lang="es-419" sz="2200" dirty="0">
                <a:solidFill>
                  <a:srgbClr val="003A5D"/>
                </a:solidFill>
                <a:latin typeface="Consolas" panose="020B0609020204030204" pitchFamily="49" charset="0"/>
              </a:rPr>
              <a:t>(</a:t>
            </a:r>
            <a:r>
              <a:rPr lang="es-419" sz="2200" dirty="0" err="1">
                <a:solidFill>
                  <a:srgbClr val="003A5D"/>
                </a:solidFill>
                <a:latin typeface="Consolas" panose="020B0609020204030204" pitchFamily="49" charset="0"/>
              </a:rPr>
              <a:t>Distributions</a:t>
            </a:r>
            <a:r>
              <a:rPr lang="es-419" sz="2200" dirty="0">
                <a:solidFill>
                  <a:srgbClr val="003A5D"/>
                </a:solidFill>
                <a:latin typeface="Consolas" panose="020B0609020204030204" pitchFamily="49" charset="0"/>
              </a:rPr>
              <a:t>)</a:t>
            </a:r>
            <a:r>
              <a:rPr lang="es-419" sz="2200" dirty="0"/>
              <a:t> en la consola.</a:t>
            </a:r>
          </a:p>
          <a:p>
            <a:pPr>
              <a:lnSpc>
                <a:spcPct val="150000"/>
              </a:lnSpc>
            </a:pPr>
            <a:r>
              <a:rPr lang="es-419" sz="2200" b="1" dirty="0">
                <a:solidFill>
                  <a:srgbClr val="003A5D"/>
                </a:solidFill>
              </a:rPr>
              <a:t>R</a:t>
            </a:r>
            <a:r>
              <a:rPr lang="es-419" sz="2200" dirty="0"/>
              <a:t> tiene una serie de convenciones para utilizar distribuciones.</a:t>
            </a: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rgbClr val="003A5D"/>
                </a:solidFill>
                <a:latin typeface="Consolas" panose="020B0609020204030204" pitchFamily="49" charset="0"/>
              </a:rPr>
              <a:t>“p” </a:t>
            </a:r>
            <a:r>
              <a:rPr lang="es-419" sz="2200" dirty="0"/>
              <a:t>(“probabilidad”) para la </a:t>
            </a:r>
            <a:r>
              <a:rPr lang="es-419" sz="2200" dirty="0" err="1"/>
              <a:t>c.d.f</a:t>
            </a:r>
            <a:r>
              <a:rPr lang="es-419" sz="2200" dirty="0"/>
              <a:t>. o función de distribución acumulada (FDA).</a:t>
            </a: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rgbClr val="003A5D"/>
                </a:solidFill>
                <a:latin typeface="Consolas" panose="020B0609020204030204" pitchFamily="49" charset="0"/>
              </a:rPr>
              <a:t>“d” </a:t>
            </a:r>
            <a:r>
              <a:rPr lang="es-419" sz="2200" dirty="0"/>
              <a:t>(“densidad”) para </a:t>
            </a:r>
            <a:r>
              <a:rPr lang="es-419" sz="2200" dirty="0" err="1"/>
              <a:t>p.d.f</a:t>
            </a:r>
            <a:r>
              <a:rPr lang="es-419" sz="2200" dirty="0"/>
              <a:t>. </a:t>
            </a:r>
            <a:r>
              <a:rPr lang="es-419" sz="2200" dirty="0" err="1"/>
              <a:t>ó</a:t>
            </a:r>
            <a:r>
              <a:rPr lang="es-419" sz="2200" dirty="0"/>
              <a:t> función de probabilidad/densidad (FD).</a:t>
            </a: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rgbClr val="003A5D"/>
                </a:solidFill>
                <a:latin typeface="Consolas" panose="020B0609020204030204" pitchFamily="49" charset="0"/>
              </a:rPr>
              <a:t>“q” </a:t>
            </a:r>
            <a:r>
              <a:rPr lang="es-419" sz="2200" dirty="0"/>
              <a:t>(“cuantil”) para el inverso de la </a:t>
            </a:r>
            <a:r>
              <a:rPr lang="es-419" sz="2200" dirty="0" err="1"/>
              <a:t>c.d.f</a:t>
            </a:r>
            <a:r>
              <a:rPr lang="es-419" sz="2200" dirty="0"/>
              <a:t>. o el número asociado a cierta probabilidad.</a:t>
            </a: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rgbClr val="003A5D"/>
                </a:solidFill>
                <a:latin typeface="Consolas" panose="020B0609020204030204" pitchFamily="49" charset="0"/>
              </a:rPr>
              <a:t>“r” </a:t>
            </a:r>
            <a:r>
              <a:rPr lang="es-419" sz="2200" dirty="0"/>
              <a:t>(“aleatorio”) para generar una serie de números aleatorios siguiendo la distribución seleccionada.</a:t>
            </a:r>
            <a:endParaRPr lang="es-419" dirty="0"/>
          </a:p>
          <a:p>
            <a:endParaRPr lang="en-US" dirty="0">
              <a:solidFill>
                <a:srgbClr val="003A5D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033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Algunas distribuciones disponibles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s-419" dirty="0"/>
          </a:p>
          <a:p>
            <a:endParaRPr lang="en-US" dirty="0">
              <a:solidFill>
                <a:srgbClr val="003A5D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54A1005-16DC-40FF-848C-F39BF4D63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545693"/>
              </p:ext>
            </p:extLst>
          </p:nvPr>
        </p:nvGraphicFramePr>
        <p:xfrm>
          <a:off x="838200" y="688816"/>
          <a:ext cx="10515600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9255698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1017606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5684736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556655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282688"/>
                    </a:ext>
                  </a:extLst>
                </a:gridCol>
              </a:tblGrid>
              <a:tr h="391455">
                <a:tc>
                  <a:txBody>
                    <a:bodyPr/>
                    <a:lstStyle/>
                    <a:p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Distribución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p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q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r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628500"/>
                  </a:ext>
                </a:extLst>
              </a:tr>
              <a:tr h="391455">
                <a:tc>
                  <a:txBody>
                    <a:bodyPr/>
                    <a:lstStyle/>
                    <a:p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Beta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pbeta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cap="none" baseline="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qbeta</a:t>
                      </a:r>
                      <a:endParaRPr lang="en-US" sz="2000" cap="none" baseline="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dbeta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rbeta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425946"/>
                  </a:ext>
                </a:extLst>
              </a:tr>
              <a:tr h="391455">
                <a:tc>
                  <a:txBody>
                    <a:bodyPr/>
                    <a:lstStyle/>
                    <a:p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Binomial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pbinom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cap="none" baseline="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qbinom</a:t>
                      </a:r>
                      <a:endParaRPr lang="en-US" sz="2000" cap="none" baseline="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dbinom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rbinom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200839"/>
                  </a:ext>
                </a:extLst>
              </a:tr>
              <a:tr h="391455">
                <a:tc>
                  <a:txBody>
                    <a:bodyPr/>
                    <a:lstStyle/>
                    <a:p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Chi-Cuadrada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pchisq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cap="none" baseline="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qchisq</a:t>
                      </a:r>
                      <a:endParaRPr lang="en-US" sz="2000" cap="none" baseline="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dchisq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rchisq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230658"/>
                  </a:ext>
                </a:extLst>
              </a:tr>
              <a:tr h="391455">
                <a:tc>
                  <a:txBody>
                    <a:bodyPr/>
                    <a:lstStyle/>
                    <a:p>
                      <a:r>
                        <a:rPr lang="es-419" sz="200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Exponencial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pexp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cap="none" baseline="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qexp</a:t>
                      </a:r>
                      <a:endParaRPr lang="en-US" sz="2000" cap="none" baseline="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dexp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rexp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427634"/>
                  </a:ext>
                </a:extLst>
              </a:tr>
              <a:tr h="391455">
                <a:tc>
                  <a:txBody>
                    <a:bodyPr/>
                    <a:lstStyle/>
                    <a:p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F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pf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cap="none" baseline="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qf</a:t>
                      </a:r>
                      <a:endParaRPr lang="en-US" sz="2000" cap="none" baseline="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df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rf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24414"/>
                  </a:ext>
                </a:extLst>
              </a:tr>
              <a:tr h="391455">
                <a:tc>
                  <a:txBody>
                    <a:bodyPr/>
                    <a:lstStyle/>
                    <a:p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Gamma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pgamma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cap="none" baseline="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qgamma</a:t>
                      </a:r>
                      <a:endParaRPr lang="en-US" sz="2000" cap="none" baseline="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dgamma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rgamma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976495"/>
                  </a:ext>
                </a:extLst>
              </a:tr>
              <a:tr h="391455">
                <a:tc>
                  <a:txBody>
                    <a:bodyPr/>
                    <a:lstStyle/>
                    <a:p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Geométrica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pgeom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cap="none" baseline="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qgeom</a:t>
                      </a:r>
                      <a:endParaRPr lang="en-US" sz="2000" cap="none" baseline="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dgeom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rgeom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644026"/>
                  </a:ext>
                </a:extLst>
              </a:tr>
              <a:tr h="391455">
                <a:tc>
                  <a:txBody>
                    <a:bodyPr/>
                    <a:lstStyle/>
                    <a:p>
                      <a:r>
                        <a:rPr lang="es-419" sz="200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Hipergeométrica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phyper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cap="none" baseline="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qhyper</a:t>
                      </a:r>
                      <a:endParaRPr lang="en-US" sz="2000" cap="none" baseline="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dhyper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rhyper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207765"/>
                  </a:ext>
                </a:extLst>
              </a:tr>
              <a:tr h="391455">
                <a:tc>
                  <a:txBody>
                    <a:bodyPr/>
                    <a:lstStyle/>
                    <a:p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Logística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plogis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cap="none" baseline="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qlogis</a:t>
                      </a:r>
                      <a:endParaRPr lang="en-US" sz="2000" cap="none" baseline="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dlogis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rlogis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554604"/>
                  </a:ext>
                </a:extLst>
              </a:tr>
              <a:tr h="391455">
                <a:tc>
                  <a:txBody>
                    <a:bodyPr/>
                    <a:lstStyle/>
                    <a:p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Normal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pnorm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cap="none" baseline="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qnorm</a:t>
                      </a:r>
                      <a:endParaRPr lang="en-US" sz="2000" cap="none" baseline="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dnorm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rnorm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628863"/>
                  </a:ext>
                </a:extLst>
              </a:tr>
              <a:tr h="391455">
                <a:tc>
                  <a:txBody>
                    <a:bodyPr/>
                    <a:lstStyle/>
                    <a:p>
                      <a:r>
                        <a:rPr lang="es-419" sz="200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Poisson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ppois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cap="none" baseline="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qpois</a:t>
                      </a:r>
                      <a:endParaRPr lang="en-US" sz="2000" cap="none" baseline="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dpois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rpois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089848"/>
                  </a:ext>
                </a:extLst>
              </a:tr>
              <a:tr h="391455">
                <a:tc>
                  <a:txBody>
                    <a:bodyPr/>
                    <a:lstStyle/>
                    <a:p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T-</a:t>
                      </a:r>
                      <a:r>
                        <a:rPr lang="es-419" sz="2000" dirty="0" err="1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Student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pt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cap="none" baseline="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qt</a:t>
                      </a:r>
                      <a:endParaRPr lang="en-US" sz="2000" cap="none" baseline="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dt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rt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243667"/>
                  </a:ext>
                </a:extLst>
              </a:tr>
              <a:tr h="391455">
                <a:tc>
                  <a:txBody>
                    <a:bodyPr/>
                    <a:lstStyle/>
                    <a:p>
                      <a:r>
                        <a:rPr lang="es-419" sz="20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Uniforme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punif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cap="none" baseline="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qunif</a:t>
                      </a:r>
                      <a:endParaRPr lang="en-US" sz="2000" cap="none" baseline="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dunif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solidFill>
                            <a:srgbClr val="003A5D"/>
                          </a:solidFill>
                          <a:latin typeface="Consolas" panose="020B0609020204030204" pitchFamily="49" charset="0"/>
                        </a:rPr>
                        <a:t>runif</a:t>
                      </a:r>
                      <a:endParaRPr lang="en-US" sz="2000" dirty="0">
                        <a:solidFill>
                          <a:srgbClr val="003A5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10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517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Interpretación general (utilizando 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_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norm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 </a:t>
            </a:r>
            <a:r>
              <a:rPr lang="es-419" dirty="0"/>
              <a:t>y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 _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binom</a:t>
            </a:r>
            <a:r>
              <a:rPr lang="es-419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s-419" dirty="0"/>
          </a:p>
          <a:p>
            <a:endParaRPr lang="en-US" dirty="0">
              <a:solidFill>
                <a:srgbClr val="003A5D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254A1005-16DC-40FF-848C-F39BF4D633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7053167"/>
                  </p:ext>
                </p:extLst>
              </p:nvPr>
            </p:nvGraphicFramePr>
            <p:xfrm>
              <a:off x="838200" y="688815"/>
              <a:ext cx="10515600" cy="54803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18811">
                      <a:extLst>
                        <a:ext uri="{9D8B030D-6E8A-4147-A177-3AD203B41FA5}">
                          <a16:colId xmlns:a16="http://schemas.microsoft.com/office/drawing/2014/main" val="492556983"/>
                        </a:ext>
                      </a:extLst>
                    </a:gridCol>
                    <a:gridCol w="6396789">
                      <a:extLst>
                        <a:ext uri="{9D8B030D-6E8A-4147-A177-3AD203B41FA5}">
                          <a16:colId xmlns:a16="http://schemas.microsoft.com/office/drawing/2014/main" val="610176061"/>
                        </a:ext>
                      </a:extLst>
                    </a:gridCol>
                  </a:tblGrid>
                  <a:tr h="3778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Interpretación</a:t>
                          </a:r>
                          <a:endParaRPr lang="en-US" sz="18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Comando</a:t>
                          </a:r>
                          <a:endParaRPr lang="en-US" sz="18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02628500"/>
                      </a:ext>
                    </a:extLst>
                  </a:tr>
                  <a:tr h="632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“Probabilidad de valor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x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 o menos”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s-419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419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s-419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s-419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i="1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pnorm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(x, mean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μ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sd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σ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1425946"/>
                      </a:ext>
                    </a:extLst>
                  </a:tr>
                  <a:tr h="632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“Probabilidad de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x 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valor o más” </a:t>
                          </a:r>
                          <a:endParaRPr lang="es-419" sz="1600" b="0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s-419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419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s-419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s-419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pnorm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(x, mean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μ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sd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σ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lower.tail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FALSE)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200839"/>
                      </a:ext>
                    </a:extLst>
                  </a:tr>
                  <a:tr h="632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“Probabilidad de este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z-score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 o menos” </a:t>
                          </a:r>
                          <a14:m>
                            <m:oMath xmlns:m="http://schemas.openxmlformats.org/officeDocument/2006/math">
                              <m:r>
                                <a:rPr lang="es-419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s-419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s-419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s-419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s-419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6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pnorm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(z)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5230658"/>
                      </a:ext>
                    </a:extLst>
                  </a:tr>
                  <a:tr h="632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“Valor más alto asociado a un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percentil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”</a:t>
                          </a:r>
                          <a:endParaRPr lang="en-US" sz="16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qnorm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(percentil, mean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μ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sd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σ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7427634"/>
                      </a:ext>
                    </a:extLst>
                  </a:tr>
                  <a:tr h="632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“Z-score más alto asociado a un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percentil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”</a:t>
                          </a:r>
                          <a:endParaRPr lang="en-US" sz="16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qnorm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(percentil)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4424414"/>
                      </a:ext>
                    </a:extLst>
                  </a:tr>
                  <a:tr h="632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“Muestra aleatoria de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N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 valores con distribución normal”</a:t>
                          </a:r>
                          <a:endParaRPr lang="en-US" sz="16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rnorm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(N, mean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μ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sd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σ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73976495"/>
                      </a:ext>
                    </a:extLst>
                  </a:tr>
                  <a:tr h="6526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“Exactamente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k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 éxitos en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n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  intentos dada probabilidad de éxito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p</a:t>
                          </a:r>
                          <a:r>
                            <a:rPr lang="es-419" sz="1600" kern="12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”</a:t>
                          </a:r>
                          <a:endParaRPr lang="en-US" sz="1600" kern="12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dbinom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(k,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size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n, p = p)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8644026"/>
                      </a:ext>
                    </a:extLst>
                  </a:tr>
                  <a:tr h="6526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“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k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 o más éxitos en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n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 intentos dada probabilidad de éxito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p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”</a:t>
                          </a:r>
                          <a:endParaRPr lang="en-US" sz="16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sum(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dbinom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(k,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size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n, p = p))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  <a:p>
                          <a:pPr algn="ctr"/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52077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254A1005-16DC-40FF-848C-F39BF4D633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7053167"/>
                  </p:ext>
                </p:extLst>
              </p:nvPr>
            </p:nvGraphicFramePr>
            <p:xfrm>
              <a:off x="838200" y="688815"/>
              <a:ext cx="10515600" cy="54803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18811">
                      <a:extLst>
                        <a:ext uri="{9D8B030D-6E8A-4147-A177-3AD203B41FA5}">
                          <a16:colId xmlns:a16="http://schemas.microsoft.com/office/drawing/2014/main" val="492556983"/>
                        </a:ext>
                      </a:extLst>
                    </a:gridCol>
                    <a:gridCol w="6396789">
                      <a:extLst>
                        <a:ext uri="{9D8B030D-6E8A-4147-A177-3AD203B41FA5}">
                          <a16:colId xmlns:a16="http://schemas.microsoft.com/office/drawing/2014/main" val="610176061"/>
                        </a:ext>
                      </a:extLst>
                    </a:gridCol>
                  </a:tblGrid>
                  <a:tr h="3778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Interpretación</a:t>
                          </a:r>
                          <a:endParaRPr lang="en-US" sz="18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Comando</a:t>
                          </a:r>
                          <a:endParaRPr lang="en-US" sz="18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02628500"/>
                      </a:ext>
                    </a:extLst>
                  </a:tr>
                  <a:tr h="6328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" t="-64423" r="-155917" b="-7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pnorm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(x, mean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μ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sd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σ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1425946"/>
                      </a:ext>
                    </a:extLst>
                  </a:tr>
                  <a:tr h="6328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" t="-164423" r="-155917" b="-6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pnorm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(x, mean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μ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sd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σ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lower.tail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FALSE)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200839"/>
                      </a:ext>
                    </a:extLst>
                  </a:tr>
                  <a:tr h="6328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" t="-264423" r="-155917" b="-5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pnorm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(z)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5230658"/>
                      </a:ext>
                    </a:extLst>
                  </a:tr>
                  <a:tr h="632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“Valor más alto asociado a un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percentil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”</a:t>
                          </a:r>
                          <a:endParaRPr lang="en-US" sz="16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qnorm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(percentil, mean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μ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sd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σ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7427634"/>
                      </a:ext>
                    </a:extLst>
                  </a:tr>
                  <a:tr h="632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“Z-score más alto asociado a un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percentil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”</a:t>
                          </a:r>
                          <a:endParaRPr lang="en-US" sz="16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qnorm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(percentil)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4424414"/>
                      </a:ext>
                    </a:extLst>
                  </a:tr>
                  <a:tr h="632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“Muestra aleatoria de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N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 valores con distribución normal”</a:t>
                          </a:r>
                          <a:endParaRPr lang="en-US" sz="16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rnorm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(N, mean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μ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sd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</a:t>
                          </a:r>
                          <a:r>
                            <a:rPr lang="el-GR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σ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73976495"/>
                      </a:ext>
                    </a:extLst>
                  </a:tr>
                  <a:tr h="6526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“Exactamente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k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 éxitos en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n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  intentos dada probabilidad de éxito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p</a:t>
                          </a:r>
                          <a:r>
                            <a:rPr lang="es-419" sz="1600" kern="12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”</a:t>
                          </a:r>
                          <a:endParaRPr lang="en-US" sz="1600" kern="12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dbinom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(k,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size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n, p = p)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8644026"/>
                      </a:ext>
                    </a:extLst>
                  </a:tr>
                  <a:tr h="6526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“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k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 o más éxitos en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n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 intentos dada probabilidad de éxito </a:t>
                          </a:r>
                          <a:r>
                            <a:rPr lang="es-419" sz="1600" b="1" i="1" dirty="0">
                              <a:solidFill>
                                <a:srgbClr val="003A5D"/>
                              </a:solidFill>
                              <a:latin typeface="Georgia" panose="02040502050405020303" pitchFamily="18" charset="0"/>
                            </a:rPr>
                            <a:t>p</a:t>
                          </a:r>
                          <a:r>
                            <a:rPr lang="es-419" sz="1600" dirty="0">
                              <a:solidFill>
                                <a:sysClr val="windowText" lastClr="000000"/>
                              </a:solidFill>
                              <a:latin typeface="Georgia" panose="02040502050405020303" pitchFamily="18" charset="0"/>
                            </a:rPr>
                            <a:t>”</a:t>
                          </a:r>
                          <a:endParaRPr lang="en-US" sz="1600" dirty="0">
                            <a:solidFill>
                              <a:sysClr val="windowText" lastClr="000000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sum(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dbinom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(k, </a:t>
                          </a:r>
                          <a:r>
                            <a:rPr lang="es-419" sz="1600" dirty="0" err="1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size</a:t>
                          </a:r>
                          <a:r>
                            <a:rPr lang="es-419" sz="1600" dirty="0">
                              <a:solidFill>
                                <a:srgbClr val="003A5D"/>
                              </a:solidFill>
                              <a:latin typeface="Consolas" panose="020B0609020204030204" pitchFamily="49" charset="0"/>
                            </a:rPr>
                            <a:t> = n, p = p))</a:t>
                          </a:r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  <a:p>
                          <a:pPr algn="ctr"/>
                          <a:endParaRPr lang="en-US" sz="1600" dirty="0">
                            <a:solidFill>
                              <a:srgbClr val="003A5D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52077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98041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BC2D-27F5-45AB-8C27-921CC6C5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Argumento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lower.tail</a:t>
            </a:r>
            <a:r>
              <a:rPr lang="es-419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D200E-EB96-4CD4-8A0D-8011837C1B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Argumento en funciones de </a:t>
                </a:r>
                <a:r>
                  <a:rPr lang="es-419" b="1" dirty="0">
                    <a:solidFill>
                      <a:srgbClr val="003A5D"/>
                    </a:solidFill>
                  </a:rPr>
                  <a:t>R</a:t>
                </a:r>
                <a:r>
                  <a:rPr lang="es-419" b="1" dirty="0"/>
                  <a:t> </a:t>
                </a:r>
                <a:r>
                  <a:rPr lang="es-419" dirty="0"/>
                  <a:t>que especifican el sentido (o cola) al cual se acumulan áreas de probabilidades.  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 err="1">
                    <a:solidFill>
                      <a:srgbClr val="003A5D"/>
                    </a:solidFill>
                    <a:latin typeface="Consolas" panose="020B0609020204030204" pitchFamily="49" charset="0"/>
                  </a:rPr>
                  <a:t>lower.tail</a:t>
                </a:r>
                <a:r>
                  <a:rPr lang="es-419" dirty="0">
                    <a:solidFill>
                      <a:srgbClr val="003A5D"/>
                    </a:solidFill>
                    <a:latin typeface="Consolas" panose="020B0609020204030204" pitchFamily="49" charset="0"/>
                  </a:rPr>
                  <a:t> = TRUE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Equivalente a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 ≤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"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𝑖𝑧𝑞𝑢𝑖𝑒𝑟𝑑𝑎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"</m:t>
                    </m:r>
                  </m:oMath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Si no es explicitado, la función considerará </a:t>
                </a:r>
                <a:r>
                  <a:rPr lang="es-419" dirty="0">
                    <a:solidFill>
                      <a:srgbClr val="003A5D"/>
                    </a:solidFill>
                    <a:latin typeface="Consolas" panose="020B0609020204030204" pitchFamily="49" charset="0"/>
                  </a:rPr>
                  <a:t>TRUE </a:t>
                </a:r>
                <a:r>
                  <a:rPr lang="es-419" dirty="0"/>
                  <a:t>por defecto.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 err="1">
                    <a:solidFill>
                      <a:srgbClr val="003A5D"/>
                    </a:solidFill>
                    <a:latin typeface="Consolas" panose="020B0609020204030204" pitchFamily="49" charset="0"/>
                  </a:rPr>
                  <a:t>lower.tail</a:t>
                </a:r>
                <a:r>
                  <a:rPr lang="es-419" dirty="0">
                    <a:solidFill>
                      <a:srgbClr val="003A5D"/>
                    </a:solidFill>
                    <a:latin typeface="Consolas" panose="020B0609020204030204" pitchFamily="49" charset="0"/>
                  </a:rPr>
                  <a:t> = FALSE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Equivalente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 &gt;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"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𝑑𝑒𝑟𝑒𝑐h𝑎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“</m:t>
                    </m:r>
                  </m:oMath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:endParaRPr lang="es-419" dirty="0">
                  <a:solidFill>
                    <a:srgbClr val="003A5D"/>
                  </a:solidFill>
                  <a:latin typeface="Consolas" panose="020B060902020403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D200E-EB96-4CD4-8A0D-8011837C1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449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509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1880636A-2C90-4EF7-8D71-AC776DBCD3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603" r="52732" b="63026"/>
          <a:stretch/>
        </p:blipFill>
        <p:spPr bwMode="auto">
          <a:xfrm>
            <a:off x="6655446" y="2080717"/>
            <a:ext cx="469835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EBD11D7-3176-4C98-9360-0CF1826CF2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7" t="7603" b="63026"/>
          <a:stretch/>
        </p:blipFill>
        <p:spPr bwMode="auto">
          <a:xfrm>
            <a:off x="6384496" y="4128840"/>
            <a:ext cx="496930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D200E-EB96-4CD4-8A0D-8011837C1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419" sz="2400" dirty="0">
                <a:ea typeface="+mj-ea"/>
                <a:cs typeface="+mj-cs"/>
              </a:rPr>
              <a:t>Para un área alfa </a:t>
            </a:r>
            <a:r>
              <a:rPr lang="el-GR" sz="2400" b="1" dirty="0">
                <a:solidFill>
                  <a:srgbClr val="003A5D"/>
                </a:solidFill>
                <a:ea typeface="+mj-ea"/>
                <a:cs typeface="+mj-cs"/>
              </a:rPr>
              <a:t>α</a:t>
            </a:r>
            <a:r>
              <a:rPr lang="es-419" sz="2400" b="1" dirty="0">
                <a:solidFill>
                  <a:srgbClr val="003A5D"/>
                </a:solidFill>
                <a:ea typeface="+mj-ea"/>
                <a:cs typeface="+mj-cs"/>
              </a:rPr>
              <a:t> </a:t>
            </a:r>
            <a:r>
              <a:rPr lang="es-419" sz="2400" dirty="0">
                <a:ea typeface="+mj-ea"/>
                <a:cs typeface="+mj-cs"/>
              </a:rPr>
              <a:t>y cuantil</a:t>
            </a:r>
            <a:r>
              <a:rPr lang="es-419" sz="2400" b="1" dirty="0">
                <a:ea typeface="+mj-ea"/>
                <a:cs typeface="+mj-cs"/>
              </a:rPr>
              <a:t> </a:t>
            </a:r>
            <a:r>
              <a:rPr lang="es-419" sz="2400" b="1" dirty="0">
                <a:solidFill>
                  <a:srgbClr val="003A5D"/>
                </a:solidFill>
                <a:ea typeface="+mj-ea"/>
                <a:cs typeface="+mj-cs"/>
              </a:rPr>
              <a:t>z</a:t>
            </a:r>
            <a:r>
              <a:rPr lang="el-GR" sz="2400" b="1" baseline="-25000" dirty="0">
                <a:solidFill>
                  <a:srgbClr val="003A5D"/>
                </a:solidFill>
                <a:ea typeface="+mj-ea"/>
                <a:cs typeface="+mj-cs"/>
              </a:rPr>
              <a:t>α</a:t>
            </a:r>
            <a:r>
              <a:rPr lang="es-419" sz="2400" b="1" dirty="0">
                <a:solidFill>
                  <a:srgbClr val="003A5D"/>
                </a:solidFill>
                <a:ea typeface="+mj-ea"/>
                <a:cs typeface="+mj-cs"/>
              </a:rPr>
              <a:t> </a:t>
            </a:r>
            <a:r>
              <a:rPr lang="es-419" sz="2400" dirty="0">
                <a:ea typeface="+mj-ea"/>
                <a:cs typeface="+mj-cs"/>
              </a:rPr>
              <a:t>en una distribución </a:t>
            </a:r>
            <a:r>
              <a:rPr lang="es-419" sz="2400" b="1" dirty="0">
                <a:solidFill>
                  <a:srgbClr val="003A5D"/>
                </a:solidFill>
                <a:ea typeface="+mj-ea"/>
                <a:cs typeface="+mj-cs"/>
              </a:rPr>
              <a:t>normal estándar.</a:t>
            </a:r>
          </a:p>
          <a:p>
            <a:pPr>
              <a:lnSpc>
                <a:spcPct val="150000"/>
              </a:lnSpc>
            </a:pP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lower.tail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 = TRUE</a:t>
            </a:r>
          </a:p>
          <a:p>
            <a:pPr lvl="1">
              <a:lnSpc>
                <a:spcPct val="150000"/>
              </a:lnSpc>
            </a:pPr>
            <a:r>
              <a:rPr lang="el-GR" sz="2400" dirty="0">
                <a:solidFill>
                  <a:srgbClr val="003A5D"/>
                </a:solidFill>
                <a:ea typeface="+mj-ea"/>
                <a:cs typeface="+mj-cs"/>
              </a:rPr>
              <a:t>α</a:t>
            </a:r>
            <a:r>
              <a:rPr lang="es-419" sz="2400" dirty="0">
                <a:solidFill>
                  <a:srgbClr val="003A5D"/>
                </a:solidFill>
                <a:ea typeface="+mj-ea"/>
                <a:cs typeface="+mj-cs"/>
              </a:rPr>
              <a:t> =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pnorm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(-z</a:t>
            </a:r>
            <a:r>
              <a:rPr lang="el-GR" sz="2400" baseline="-25000" dirty="0">
                <a:solidFill>
                  <a:srgbClr val="003A5D"/>
                </a:solidFill>
                <a:ea typeface="+mj-ea"/>
                <a:cs typeface="+mj-cs"/>
              </a:rPr>
              <a:t>α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,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lower.tail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 = TRUE)</a:t>
            </a:r>
          </a:p>
          <a:p>
            <a:pPr lvl="1">
              <a:lnSpc>
                <a:spcPct val="150000"/>
              </a:lnSpc>
            </a:pP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  <a:ea typeface="+mj-ea"/>
                <a:cs typeface="+mj-cs"/>
              </a:rPr>
              <a:t>-z</a:t>
            </a:r>
            <a:r>
              <a:rPr lang="el-GR" baseline="-25000" dirty="0">
                <a:solidFill>
                  <a:srgbClr val="003A5D"/>
                </a:solidFill>
                <a:ea typeface="+mj-ea"/>
                <a:cs typeface="+mj-cs"/>
              </a:rPr>
              <a:t>α</a:t>
            </a:r>
            <a:r>
              <a:rPr lang="es-419" dirty="0">
                <a:solidFill>
                  <a:srgbClr val="003A5D"/>
                </a:solidFill>
                <a:ea typeface="+mj-ea"/>
                <a:cs typeface="+mj-cs"/>
              </a:rPr>
              <a:t> 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=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qnorm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(</a:t>
            </a:r>
            <a:r>
              <a:rPr lang="el-GR" sz="2400" dirty="0">
                <a:solidFill>
                  <a:srgbClr val="003A5D"/>
                </a:solidFill>
                <a:ea typeface="+mj-ea"/>
                <a:cs typeface="+mj-cs"/>
              </a:rPr>
              <a:t>α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,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lower.tail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 = TRUE)</a:t>
            </a:r>
          </a:p>
          <a:p>
            <a:pPr>
              <a:lnSpc>
                <a:spcPct val="150000"/>
              </a:lnSpc>
            </a:pP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lower.tail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 = FALSE</a:t>
            </a:r>
          </a:p>
          <a:p>
            <a:pPr lvl="1">
              <a:lnSpc>
                <a:spcPct val="150000"/>
              </a:lnSpc>
            </a:pPr>
            <a:r>
              <a:rPr lang="el-GR" sz="2400" dirty="0">
                <a:solidFill>
                  <a:srgbClr val="003A5D"/>
                </a:solidFill>
                <a:ea typeface="+mj-ea"/>
                <a:cs typeface="+mj-cs"/>
              </a:rPr>
              <a:t>α</a:t>
            </a:r>
            <a:r>
              <a:rPr lang="es-419" sz="2400" dirty="0">
                <a:solidFill>
                  <a:srgbClr val="003A5D"/>
                </a:solidFill>
                <a:ea typeface="+mj-ea"/>
                <a:cs typeface="+mj-cs"/>
              </a:rPr>
              <a:t> =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pnorm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(z</a:t>
            </a:r>
            <a:r>
              <a:rPr lang="el-GR" sz="2400" baseline="-25000" dirty="0">
                <a:solidFill>
                  <a:srgbClr val="003A5D"/>
                </a:solidFill>
                <a:ea typeface="+mj-ea"/>
                <a:cs typeface="+mj-cs"/>
              </a:rPr>
              <a:t>α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,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lower.tail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 = FALSE)</a:t>
            </a:r>
          </a:p>
          <a:p>
            <a:pPr lvl="1">
              <a:lnSpc>
                <a:spcPct val="150000"/>
              </a:lnSpc>
            </a:pP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  <a:ea typeface="+mj-ea"/>
                <a:cs typeface="+mj-cs"/>
              </a:rPr>
              <a:t>z</a:t>
            </a:r>
            <a:r>
              <a:rPr lang="el-GR" baseline="-25000" dirty="0">
                <a:solidFill>
                  <a:srgbClr val="003A5D"/>
                </a:solidFill>
                <a:ea typeface="+mj-ea"/>
                <a:cs typeface="+mj-cs"/>
              </a:rPr>
              <a:t>α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=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qnorm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(</a:t>
            </a:r>
            <a:r>
              <a:rPr lang="el-GR" sz="2400" dirty="0">
                <a:solidFill>
                  <a:srgbClr val="003A5D"/>
                </a:solidFill>
                <a:ea typeface="+mj-ea"/>
                <a:cs typeface="+mj-cs"/>
              </a:rPr>
              <a:t>α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,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lower.tail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 = FALSE)</a:t>
            </a:r>
          </a:p>
          <a:p>
            <a:pPr>
              <a:lnSpc>
                <a:spcPct val="150000"/>
              </a:lnSpc>
            </a:pPr>
            <a:endParaRPr lang="es-419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1BC2D-27F5-45AB-8C27-921CC6C5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Argumento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lower.tail</a:t>
            </a:r>
            <a:r>
              <a:rPr lang="es-419" dirty="0"/>
              <a:t> : Representación gráfica</a:t>
            </a:r>
          </a:p>
        </p:txBody>
      </p:sp>
    </p:spTree>
    <p:extLst>
      <p:ext uri="{BB962C8B-B14F-4D97-AF65-F5344CB8AC3E}">
        <p14:creationId xmlns:p14="http://schemas.microsoft.com/office/powerpoint/2010/main" val="41057852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8B4D-223C-4A10-8129-15099A4D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Espacio de intervención: 2 minutos.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9A3F-CEB1-4100-9987-2A295CA6F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419" i="1" dirty="0"/>
              <a:t>¿Cuál es la probabilidad de que X sea </a:t>
            </a:r>
            <a:r>
              <a:rPr lang="es-419" b="1" i="1" dirty="0">
                <a:solidFill>
                  <a:srgbClr val="003A5D"/>
                </a:solidFill>
              </a:rPr>
              <a:t>mayor</a:t>
            </a:r>
            <a:r>
              <a:rPr lang="es-419" i="1" dirty="0"/>
              <a:t> a 14 en una distribución normal con media 10 y desviación estándar 2,5?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419" i="1" dirty="0"/>
              <a:t>En una distribución normal estandarizada, ¿Cuál es el valor (cuantil) que tiene acumulado a la </a:t>
            </a:r>
            <a:r>
              <a:rPr lang="es-419" b="1" i="1" dirty="0">
                <a:solidFill>
                  <a:srgbClr val="003A5D"/>
                </a:solidFill>
              </a:rPr>
              <a:t>derecha</a:t>
            </a:r>
            <a:r>
              <a:rPr lang="es-419" i="1" dirty="0"/>
              <a:t> un área de 1,25%?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</p:txBody>
      </p:sp>
    </p:spTree>
    <p:extLst>
      <p:ext uri="{BB962C8B-B14F-4D97-AF65-F5344CB8AC3E}">
        <p14:creationId xmlns:p14="http://schemas.microsoft.com/office/powerpoint/2010/main" val="3693611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Recordando el uso de tablas: Ejemplo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#i)</a:t>
            </a:r>
            <a:br>
              <a:rPr lang="es-ES" sz="3200" dirty="0">
                <a:latin typeface="Consolas" panose="020B0609020204030204" pitchFamily="49" charset="0"/>
              </a:rPr>
            </a:br>
            <a:r>
              <a:rPr lang="es-ES" sz="3200" dirty="0">
                <a:latin typeface="Consolas" panose="020B0609020204030204" pitchFamily="49" charset="0"/>
              </a:rPr>
              <a:t>&gt; #Calculado convencionalmente</a:t>
            </a:r>
          </a:p>
          <a:p>
            <a:pPr marL="0" indent="0">
              <a:buNone/>
            </a:pPr>
            <a:r>
              <a:rPr lang="en-US" sz="3200" dirty="0">
                <a:latin typeface="Consolas" panose="020B0609020204030204" pitchFamily="49" charset="0"/>
              </a:rPr>
              <a:t>&gt; 1 - </a:t>
            </a:r>
            <a:r>
              <a:rPr lang="en-US" sz="3200" dirty="0" err="1">
                <a:latin typeface="Consolas" panose="020B0609020204030204" pitchFamily="49" charset="0"/>
              </a:rPr>
              <a:t>pnorm</a:t>
            </a:r>
            <a:r>
              <a:rPr lang="en-US" sz="3200" dirty="0">
                <a:latin typeface="Consolas" panose="020B0609020204030204" pitchFamily="49" charset="0"/>
              </a:rPr>
              <a:t>(q = 14, mean = 10, </a:t>
            </a:r>
            <a:r>
              <a:rPr lang="en-US" sz="3200" dirty="0" err="1">
                <a:latin typeface="Consolas" panose="020B0609020204030204" pitchFamily="49" charset="0"/>
              </a:rPr>
              <a:t>sd</a:t>
            </a:r>
            <a:r>
              <a:rPr lang="en-US" sz="3200" dirty="0">
                <a:latin typeface="Consolas" panose="020B0609020204030204" pitchFamily="49" charset="0"/>
              </a:rPr>
              <a:t> = 2.5)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0.05479929</a:t>
            </a:r>
          </a:p>
          <a:p>
            <a:pPr marL="0" indent="0">
              <a:buNone/>
            </a:pPr>
            <a:endParaRPr lang="en-US" sz="32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#Usando </a:t>
            </a:r>
            <a:r>
              <a:rPr lang="es-ES" sz="3200" dirty="0" err="1">
                <a:latin typeface="Consolas" panose="020B0609020204030204" pitchFamily="49" charset="0"/>
              </a:rPr>
              <a:t>lower.tail</a:t>
            </a:r>
            <a:endParaRPr lang="en-US" sz="32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latin typeface="Consolas" panose="020B0609020204030204" pitchFamily="49" charset="0"/>
              </a:rPr>
              <a:t>&gt; </a:t>
            </a:r>
            <a:r>
              <a:rPr lang="en-US" sz="3200" dirty="0" err="1">
                <a:latin typeface="Consolas" panose="020B0609020204030204" pitchFamily="49" charset="0"/>
              </a:rPr>
              <a:t>pnorm</a:t>
            </a:r>
            <a:r>
              <a:rPr lang="en-US" sz="3200" dirty="0">
                <a:latin typeface="Consolas" panose="020B0609020204030204" pitchFamily="49" charset="0"/>
              </a:rPr>
              <a:t>(q = 14, mean = 10, </a:t>
            </a:r>
            <a:r>
              <a:rPr lang="en-US" sz="3200" dirty="0" err="1">
                <a:latin typeface="Consolas" panose="020B0609020204030204" pitchFamily="49" charset="0"/>
              </a:rPr>
              <a:t>sd</a:t>
            </a:r>
            <a:r>
              <a:rPr lang="en-US" sz="3200" dirty="0">
                <a:latin typeface="Consolas" panose="020B0609020204030204" pitchFamily="49" charset="0"/>
              </a:rPr>
              <a:t> = 2.5, </a:t>
            </a:r>
            <a:r>
              <a:rPr lang="en-US" sz="3200" dirty="0" err="1">
                <a:latin typeface="Consolas" panose="020B0609020204030204" pitchFamily="49" charset="0"/>
              </a:rPr>
              <a:t>lower.tail</a:t>
            </a:r>
            <a:r>
              <a:rPr lang="en-US" sz="3200" dirty="0">
                <a:latin typeface="Consolas" panose="020B0609020204030204" pitchFamily="49" charset="0"/>
              </a:rPr>
              <a:t> = FALSE)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0.05479929</a:t>
            </a:r>
          </a:p>
          <a:p>
            <a:pPr marL="0" indent="0">
              <a:buNone/>
            </a:pPr>
            <a:endParaRPr lang="en-US" sz="32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#ii)</a:t>
            </a:r>
          </a:p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</a:t>
            </a:r>
            <a:r>
              <a:rPr lang="es-ES" sz="3200" dirty="0" err="1">
                <a:latin typeface="Consolas" panose="020B0609020204030204" pitchFamily="49" charset="0"/>
              </a:rPr>
              <a:t>qnorm</a:t>
            </a:r>
            <a:r>
              <a:rPr lang="es-ES" sz="3200" dirty="0">
                <a:latin typeface="Consolas" panose="020B0609020204030204" pitchFamily="49" charset="0"/>
              </a:rPr>
              <a:t>(p = 1 - 0.0125)</a:t>
            </a:r>
          </a:p>
          <a:p>
            <a:pPr marL="0" indent="0">
              <a:buNone/>
            </a:pPr>
            <a:r>
              <a:rPr lang="es-ES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2.241403</a:t>
            </a:r>
          </a:p>
          <a:p>
            <a:pPr marL="0" indent="0">
              <a:buNone/>
            </a:pPr>
            <a:endParaRPr lang="es-ES" sz="32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latin typeface="Consolas" panose="020B0609020204030204" pitchFamily="49" charset="0"/>
              </a:rPr>
              <a:t>&gt; </a:t>
            </a:r>
            <a:r>
              <a:rPr lang="en-US" sz="3200" dirty="0" err="1">
                <a:latin typeface="Consolas" panose="020B0609020204030204" pitchFamily="49" charset="0"/>
              </a:rPr>
              <a:t>qnorm</a:t>
            </a:r>
            <a:r>
              <a:rPr lang="en-US" sz="3200" dirty="0">
                <a:latin typeface="Consolas" panose="020B0609020204030204" pitchFamily="49" charset="0"/>
              </a:rPr>
              <a:t>(p = 0.0125, </a:t>
            </a:r>
            <a:r>
              <a:rPr lang="en-US" sz="3200" dirty="0" err="1">
                <a:latin typeface="Consolas" panose="020B0609020204030204" pitchFamily="49" charset="0"/>
              </a:rPr>
              <a:t>lower.tail</a:t>
            </a:r>
            <a:r>
              <a:rPr lang="en-US" sz="3200" dirty="0">
                <a:latin typeface="Consolas" panose="020B0609020204030204" pitchFamily="49" charset="0"/>
              </a:rPr>
              <a:t> = FALSE)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2.241403</a:t>
            </a:r>
            <a:endParaRPr lang="es-ES" sz="32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551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EC987-A11E-4394-95C9-FD1E3FCF4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En Resumen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7B78E-87FD-4D54-BDE6-6872E0537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Comandos de distribuciones agilizarán un número </a:t>
            </a:r>
            <a:r>
              <a:rPr lang="es-419" dirty="0" err="1"/>
              <a:t>supermayoritario</a:t>
            </a:r>
            <a:r>
              <a:rPr lang="es-419" dirty="0"/>
              <a:t> de procedimientos vistos en este curso.</a:t>
            </a:r>
          </a:p>
          <a:p>
            <a:pPr>
              <a:lnSpc>
                <a:spcPct val="150000"/>
              </a:lnSpc>
            </a:pPr>
            <a:r>
              <a:rPr lang="es-419" dirty="0"/>
              <a:t>Sintaxis estandarizada implica una estructura básica similar para casi todas las distribuciones.</a:t>
            </a:r>
          </a:p>
          <a:p>
            <a:pPr>
              <a:lnSpc>
                <a:spcPct val="150000"/>
              </a:lnSpc>
            </a:pPr>
            <a:r>
              <a:rPr lang="es-419" dirty="0"/>
              <a:t>Uso de funciones en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provee mucha más precisión que tablas impresas en el </a:t>
            </a:r>
            <a:r>
              <a:rPr lang="es-419" b="1" dirty="0" err="1">
                <a:solidFill>
                  <a:srgbClr val="003A5D"/>
                </a:solidFill>
              </a:rPr>
              <a:t>Casuso</a:t>
            </a:r>
            <a:r>
              <a:rPr lang="es-419" dirty="0"/>
              <a:t>.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Fuente de mayores diferencias entre resultados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vs </a:t>
            </a:r>
            <a:r>
              <a:rPr lang="es-419" b="1" dirty="0" err="1">
                <a:solidFill>
                  <a:srgbClr val="003A5D"/>
                </a:solidFill>
              </a:rPr>
              <a:t>Casuso</a:t>
            </a:r>
            <a:r>
              <a:rPr lang="es-419" dirty="0"/>
              <a:t>.</a:t>
            </a:r>
          </a:p>
          <a:p>
            <a:pPr>
              <a:lnSpc>
                <a:spcPct val="150000"/>
              </a:lnSpc>
            </a:pPr>
            <a:r>
              <a:rPr lang="es-419" dirty="0"/>
              <a:t>Siempre se pueden consultar detalles en la consola usando 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s-419" dirty="0"/>
              <a:t>Comprender bien estas funciones es </a:t>
            </a:r>
            <a:r>
              <a:rPr lang="es-419" b="1" i="1" dirty="0">
                <a:solidFill>
                  <a:srgbClr val="003A5D"/>
                </a:solidFill>
              </a:rPr>
              <a:t>imperativo </a:t>
            </a:r>
            <a:r>
              <a:rPr lang="es-419" dirty="0"/>
              <a:t>si el estudiante quiere sacarle provecho a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durante el curso.</a:t>
            </a:r>
          </a:p>
          <a:p>
            <a:pPr>
              <a:lnSpc>
                <a:spcPct val="150000"/>
              </a:lnSpc>
            </a:pPr>
            <a:r>
              <a:rPr lang="es-419" b="1" i="1" dirty="0">
                <a:solidFill>
                  <a:srgbClr val="003A5D"/>
                </a:solidFill>
              </a:rPr>
              <a:t>(Casi) todas</a:t>
            </a:r>
            <a:r>
              <a:rPr lang="es-419" b="1" dirty="0">
                <a:solidFill>
                  <a:srgbClr val="003A5D"/>
                </a:solidFill>
              </a:rPr>
              <a:t> </a:t>
            </a:r>
            <a:r>
              <a:rPr lang="es-419" dirty="0"/>
              <a:t>las respuestas de ejercicios cuantitativos son calculados usando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y éstas funciones.</a:t>
            </a:r>
          </a:p>
        </p:txBody>
      </p:sp>
    </p:spTree>
    <p:extLst>
      <p:ext uri="{BB962C8B-B14F-4D97-AF65-F5344CB8AC3E}">
        <p14:creationId xmlns:p14="http://schemas.microsoft.com/office/powerpoint/2010/main" val="343768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R facilita hacer operaciones que involucren distribuciones de probabilidades conocidas.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Nos permite hacer de forma expedita los cálculos principales de Estadística II.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Es importante internalizar el significado de los argumentos en las funciones.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Forma el principal pilar operativo para ejercicios de Estadística III.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737137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B5B7C-2524-4454-BA98-4C573E5FA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r>
              <a:rPr lang="es-419" dirty="0"/>
              <a:t>Giorgio Cunto Morales</a:t>
            </a:r>
          </a:p>
          <a:p>
            <a:pPr marL="0" indent="0" algn="ctr">
              <a:buNone/>
            </a:pPr>
            <a:r>
              <a:rPr lang="es-419" sz="2400" dirty="0">
                <a:hlinkClick r:id="rId2"/>
              </a:rPr>
              <a:t>gcuntomo@ucab.edu.ve</a:t>
            </a:r>
            <a:r>
              <a:rPr lang="es-419" sz="2400" dirty="0"/>
              <a:t> </a:t>
            </a:r>
            <a:r>
              <a:rPr lang="es-419" sz="2400"/>
              <a:t>| </a:t>
            </a:r>
            <a:r>
              <a:rPr lang="en-US" sz="2400">
                <a:hlinkClick r:id="rId3"/>
              </a:rPr>
              <a:t>https</a:t>
            </a:r>
            <a:r>
              <a:rPr lang="en-US" sz="2400" dirty="0">
                <a:hlinkClick r:id="rId3"/>
              </a:rPr>
              <a:t>://www.linkedin.com/in/giorgiocmorales/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8922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2450</TotalTime>
  <Words>1462</Words>
  <Application>Microsoft Office PowerPoint</Application>
  <PresentationFormat>Panorámica</PresentationFormat>
  <Paragraphs>230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 Math</vt:lpstr>
      <vt:lpstr>Consolas</vt:lpstr>
      <vt:lpstr>Georgia</vt:lpstr>
      <vt:lpstr>Office Theme</vt:lpstr>
      <vt:lpstr>Presentación de PowerPoint</vt:lpstr>
      <vt:lpstr>Mensaje principal</vt:lpstr>
      <vt:lpstr>Esta presentación abarca</vt:lpstr>
      <vt:lpstr>Distribuciones en R</vt:lpstr>
      <vt:lpstr>Espacio de intervención: 3 minutos.</vt:lpstr>
      <vt:lpstr>Utilidad de usar R para Estadística III</vt:lpstr>
      <vt:lpstr>Recordando el uso de tablas</vt:lpstr>
      <vt:lpstr>Espacio de intervención: 3 minutos.</vt:lpstr>
      <vt:lpstr>Recordando el uso de tablas: Ejemplo</vt:lpstr>
      <vt:lpstr>Recordando el uso de tablas: Ejemplo</vt:lpstr>
      <vt:lpstr>Recordando el uso de tablas: Ejemplo</vt:lpstr>
      <vt:lpstr>Espacio de intervención: 3 minutos.</vt:lpstr>
      <vt:lpstr>Recordando el uso de tablas: Ejemplo</vt:lpstr>
      <vt:lpstr>Recordando el uso de tablas: Ejemplo</vt:lpstr>
      <vt:lpstr>Recordando el uso de tablas: Ejemplo</vt:lpstr>
      <vt:lpstr>Recordando el uso de tablas: Ejemplo</vt:lpstr>
      <vt:lpstr>Espacio de intervención: 3 minutos.</vt:lpstr>
      <vt:lpstr>Recordando el uso de tablas: Ejemplo</vt:lpstr>
      <vt:lpstr>Distribuciones en R</vt:lpstr>
      <vt:lpstr>Distribuciones en R</vt:lpstr>
      <vt:lpstr>Algunas distribuciones disponibles</vt:lpstr>
      <vt:lpstr>Interpretación general (utilizando _norm y _binom)</vt:lpstr>
      <vt:lpstr>Argumento lower.tail </vt:lpstr>
      <vt:lpstr>Argumento lower.tail : Representación gráfica</vt:lpstr>
      <vt:lpstr>Espacio de intervención: 2 minutos.</vt:lpstr>
      <vt:lpstr>Recordando el uso de tablas: Ejemplo</vt:lpstr>
      <vt:lpstr>En Resumen</vt:lpstr>
      <vt:lpstr>Mensaje principal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Giorgio C Morales</dc:creator>
  <cp:lastModifiedBy>Giorgio Cunto Morales</cp:lastModifiedBy>
  <cp:revision>53</cp:revision>
  <dcterms:created xsi:type="dcterms:W3CDTF">2020-04-17T00:45:03Z</dcterms:created>
  <dcterms:modified xsi:type="dcterms:W3CDTF">2022-08-13T20:16:04Z</dcterms:modified>
</cp:coreProperties>
</file>