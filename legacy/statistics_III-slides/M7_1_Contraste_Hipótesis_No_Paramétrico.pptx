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79" r:id="rId3"/>
    <p:sldId id="303" r:id="rId4"/>
    <p:sldId id="462" r:id="rId5"/>
    <p:sldId id="280" r:id="rId6"/>
    <p:sldId id="463" r:id="rId7"/>
    <p:sldId id="474" r:id="rId8"/>
    <p:sldId id="483" r:id="rId9"/>
    <p:sldId id="481" r:id="rId10"/>
    <p:sldId id="477" r:id="rId11"/>
    <p:sldId id="478" r:id="rId12"/>
    <p:sldId id="479" r:id="rId13"/>
    <p:sldId id="480" r:id="rId14"/>
    <p:sldId id="482" r:id="rId15"/>
    <p:sldId id="476" r:id="rId16"/>
    <p:sldId id="582" r:id="rId17"/>
    <p:sldId id="583" r:id="rId18"/>
    <p:sldId id="581" r:id="rId19"/>
    <p:sldId id="584" r:id="rId20"/>
    <p:sldId id="470" r:id="rId21"/>
    <p:sldId id="277" r:id="rId22"/>
    <p:sldId id="278" r:id="rId23"/>
    <p:sldId id="279" r:id="rId24"/>
    <p:sldId id="281" r:id="rId25"/>
    <p:sldId id="282" r:id="rId26"/>
    <p:sldId id="283" r:id="rId27"/>
    <p:sldId id="284" r:id="rId28"/>
    <p:sldId id="286" r:id="rId29"/>
    <p:sldId id="257" r:id="rId30"/>
    <p:sldId id="586" r:id="rId31"/>
    <p:sldId id="472" r:id="rId32"/>
    <p:sldId id="487" r:id="rId33"/>
    <p:sldId id="486" r:id="rId34"/>
    <p:sldId id="493" r:id="rId35"/>
    <p:sldId id="258" r:id="rId36"/>
    <p:sldId id="505" r:id="rId37"/>
    <p:sldId id="466" r:id="rId38"/>
    <p:sldId id="488" r:id="rId39"/>
    <p:sldId id="489" r:id="rId40"/>
    <p:sldId id="587" r:id="rId41"/>
    <p:sldId id="491" r:id="rId42"/>
    <p:sldId id="492" r:id="rId43"/>
    <p:sldId id="469" r:id="rId44"/>
    <p:sldId id="287" r:id="rId45"/>
    <p:sldId id="288" r:id="rId46"/>
    <p:sldId id="289" r:id="rId47"/>
    <p:sldId id="471" r:id="rId48"/>
    <p:sldId id="259" r:id="rId49"/>
    <p:sldId id="498" r:id="rId50"/>
    <p:sldId id="468" r:id="rId51"/>
    <p:sldId id="494" r:id="rId52"/>
    <p:sldId id="588" r:id="rId53"/>
    <p:sldId id="592" r:id="rId54"/>
    <p:sldId id="594" r:id="rId55"/>
    <p:sldId id="591" r:id="rId56"/>
    <p:sldId id="495" r:id="rId57"/>
    <p:sldId id="306" r:id="rId58"/>
    <p:sldId id="496" r:id="rId59"/>
    <p:sldId id="290" r:id="rId60"/>
    <p:sldId id="293" r:id="rId61"/>
    <p:sldId id="292" r:id="rId62"/>
    <p:sldId id="294" r:id="rId63"/>
    <p:sldId id="295" r:id="rId64"/>
    <p:sldId id="497" r:id="rId65"/>
    <p:sldId id="296" r:id="rId66"/>
    <p:sldId id="297" r:id="rId67"/>
    <p:sldId id="298" r:id="rId68"/>
    <p:sldId id="260" r:id="rId69"/>
    <p:sldId id="499" r:id="rId70"/>
    <p:sldId id="500" r:id="rId71"/>
    <p:sldId id="501" r:id="rId72"/>
    <p:sldId id="502" r:id="rId73"/>
    <p:sldId id="503" r:id="rId74"/>
    <p:sldId id="504" r:id="rId75"/>
    <p:sldId id="589" r:id="rId76"/>
    <p:sldId id="580" r:id="rId77"/>
    <p:sldId id="276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A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74" autoAdjust="0"/>
    <p:restoredTop sz="94660"/>
  </p:normalViewPr>
  <p:slideViewPr>
    <p:cSldViewPr snapToGrid="0">
      <p:cViewPr>
        <p:scale>
          <a:sx n="160" d="100"/>
          <a:sy n="160" d="100"/>
        </p:scale>
        <p:origin x="114" y="1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9FDA-64E3-4AE2-8866-4624A7B52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2F877-47BE-4588-88BA-8CB06EF954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ESTADÍ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48BE2-9CB5-4C5E-8562-2E2F3985C3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42264-421F-4D62-B951-6F2CA84F9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6052C-8ACB-49D8-B8EF-3B485F1F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35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0BDA8-E557-4626-86BA-56B3E1FD5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80CC3-0AE0-407B-AA10-92B5CA698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AB793-7AFA-4089-A3A8-6F5D861A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AFA07-C55D-41EC-A7F6-0D9213E7D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F8243-5F9D-4E5D-A01D-354E1EF0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837F-6BD1-4AAD-9C8A-82F79552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90E71-BEAA-4E89-9F9B-8D341D3EE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B1FB1-360D-4C6B-A023-DCAB577BB6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D68ED-D1DC-4D87-BF60-77747EFB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7893A-50E5-4DE3-9F41-A593BD958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9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D2B31-20AA-4B71-8958-20712FE7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406AA-4B6F-43A3-89E7-B7AD5DB2D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51F21-E287-4135-8D73-3856EB177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2E284-D29E-4263-9B92-14E81D63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DCAAE-6263-43B5-B6D0-A04C09AE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A0485-671F-481D-A078-CC6F9C7F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86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5756B-B1FD-4858-8717-BF0654D2E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DB432-76DA-4E5E-9D92-1FB6A4A5D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45127-11B6-4861-A9DF-76B9382CF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4DE2B-E6EC-47B4-8D56-743BDF7B6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D8FE8-2E69-44C5-96AD-36FCEF147F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BE675A-6736-4C8E-A9EE-9DCBE93593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72B57B-8AF2-4A15-B4AB-1BE127C6B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374B8D-E941-4327-989C-EF590E7B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7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E511-F376-4864-963C-822DE6393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292F6-7361-495F-B87A-97CFCF45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ED667-FA23-4238-9DC9-603C6813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204F2-440D-421C-A4F3-993CC7D31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76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681DA9-86E2-446F-97B1-95945B32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61814C-C49F-4B1A-8D5A-E76A917D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B9687-9812-4C8F-B4CC-5F937D8B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3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CBEF-82BA-4669-9E7B-51319881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EEAB-C165-4C1E-8D50-A5404E010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6983C-47E0-45A6-AF00-81B08CEFF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6A8D8-6B93-41B3-BEE8-E4CD53C9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24811-32C8-45C8-BACE-14B782A7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FE574-1E14-46C1-9D0E-93C544CF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844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76A9-8C1D-43E1-88AA-91D262B7C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A912B1-A51A-4595-A017-4DD32A003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5B3A8-74B0-4DBC-B6A3-50091F74F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C9DFA-2481-4F4D-AB20-BAB6351311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0A896-D462-4798-B918-D8D61CA3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2D00F-802A-4AE9-9E23-8CE855E87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788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378CE-E55C-4180-A5C8-9D020B41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D56904-45A5-4B44-95EE-236498EDF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31A5B-A008-4021-9A06-5401823374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14A92-A4D6-44F8-91CC-AA47B6B8D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A0C67-F949-4EF9-A5E4-0D3DD082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66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A3A273-84A6-45E5-AEDE-1EE145C1B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A47B9-E8B5-4E2B-8DB3-58F5ECC68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529D8-B941-4F10-BAA8-BBB0C608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62ADC3-2B10-485C-82CB-6A33D6C50702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98421-F993-4FE9-AC55-80526D9A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7208D-A169-4843-9917-E9B7D94B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AF9347-4A63-4EA3-8525-CCD5DB4C438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1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38040-58BC-42CF-B0E1-4021AAE0D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75"/>
            <a:ext cx="10515600" cy="666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1C751-C9B4-420E-9FC2-17D521431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88816"/>
            <a:ext cx="10515600" cy="5488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C5EBC2-48FF-4AE7-8A93-8A46A84D23FA}"/>
              </a:ext>
            </a:extLst>
          </p:cNvPr>
          <p:cNvCxnSpPr>
            <a:cxnSpLocks/>
          </p:cNvCxnSpPr>
          <p:nvPr userDrawn="1"/>
        </p:nvCxnSpPr>
        <p:spPr>
          <a:xfrm>
            <a:off x="838200" y="723559"/>
            <a:ext cx="10515600" cy="0"/>
          </a:xfrm>
          <a:prstGeom prst="line">
            <a:avLst/>
          </a:prstGeom>
          <a:ln w="38100"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252427-CE25-435F-B457-304E4F500EFE}"/>
              </a:ext>
            </a:extLst>
          </p:cNvPr>
          <p:cNvCxnSpPr/>
          <p:nvPr userDrawn="1"/>
        </p:nvCxnSpPr>
        <p:spPr>
          <a:xfrm>
            <a:off x="838200" y="6192520"/>
            <a:ext cx="10515600" cy="0"/>
          </a:xfrm>
          <a:prstGeom prst="line">
            <a:avLst/>
          </a:prstGeom>
          <a:ln w="19050"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5ACB22-8E4D-401A-A3BA-16BB52BD29C5}"/>
              </a:ext>
            </a:extLst>
          </p:cNvPr>
          <p:cNvSpPr txBox="1"/>
          <p:nvPr userDrawn="1"/>
        </p:nvSpPr>
        <p:spPr>
          <a:xfrm>
            <a:off x="838200" y="6192520"/>
            <a:ext cx="1051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600" dirty="0">
                <a:latin typeface="Georgia" panose="02040502050405020303" pitchFamily="18" charset="0"/>
              </a:rPr>
              <a:t>Giorgio Cunto Morales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21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5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1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3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iorgiocmorales/" TargetMode="External"/><Relationship Id="rId2" Type="http://schemas.openxmlformats.org/officeDocument/2006/relationships/hyperlink" Target="mailto:gcuntomo@ucab.edu.v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43B509-C3AB-4D18-8154-6C185FB4DC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419" sz="2800" b="1" dirty="0">
                <a:solidFill>
                  <a:srgbClr val="003A5D"/>
                </a:solidFill>
                <a:latin typeface="Georgia" panose="02040502050405020303" pitchFamily="18" charset="0"/>
              </a:rPr>
              <a:t>ESTADÍSTICA III</a:t>
            </a:r>
          </a:p>
          <a:p>
            <a:r>
              <a:rPr lang="es-419" dirty="0">
                <a:latin typeface="Georgia" panose="02040502050405020303" pitchFamily="18" charset="0"/>
              </a:rPr>
              <a:t>Contraste de hipótesis no</a:t>
            </a:r>
            <a:r>
              <a:rPr lang="es-419" dirty="0"/>
              <a:t>-</a:t>
            </a:r>
            <a:r>
              <a:rPr lang="es-419" dirty="0">
                <a:latin typeface="Georgia" panose="02040502050405020303" pitchFamily="18" charset="0"/>
              </a:rPr>
              <a:t>paramétrico</a:t>
            </a:r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6C2B5-519A-412E-8AF8-57C867BD7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428" y="1908313"/>
            <a:ext cx="8909144" cy="134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302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4357B-7739-64ED-CF4A-BEB18B31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Mensaje principal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8D337-D951-332A-AC1D-6135DA1A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El contraste no paramétrico consta de pruebas estadísticas en las que no se caracteriza la distribución de la población de interés.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Muchas veces se usan para acercarnos a la forma de la distribución de esa población.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Operativamente, sigue la misma secuencia de (des)probar una hipótesis nula.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</p:txBody>
      </p:sp>
    </p:spTree>
    <p:extLst>
      <p:ext uri="{BB962C8B-B14F-4D97-AF65-F5344CB8AC3E}">
        <p14:creationId xmlns:p14="http://schemas.microsoft.com/office/powerpoint/2010/main" val="195446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Contraste de Hipótesis No Paramétrico</a:t>
            </a:r>
            <a:endParaRPr lang="es-419" dirty="0"/>
          </a:p>
        </p:txBody>
      </p:sp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VE" dirty="0"/>
              <a:t>Conceptos básicos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885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30 segundos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¿En qué consiste el contraste de hipótesis no-paramétrico?</a:t>
            </a:r>
          </a:p>
        </p:txBody>
      </p:sp>
    </p:spTree>
    <p:extLst>
      <p:ext uri="{BB962C8B-B14F-4D97-AF65-F5344CB8AC3E}">
        <p14:creationId xmlns:p14="http://schemas.microsoft.com/office/powerpoint/2010/main" val="2022015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Contraste de hipótesis no paramétrico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s-419" dirty="0"/>
              <a:t>Para efectos de esta clase el contraste no paramétrico consta en:</a:t>
            </a:r>
          </a:p>
          <a:p>
            <a:pPr>
              <a:lnSpc>
                <a:spcPct val="150000"/>
              </a:lnSpc>
            </a:pPr>
            <a:r>
              <a:rPr lang="es-419" dirty="0"/>
              <a:t>Contrastar la distribución de una muestra observada con una distribución teórica.</a:t>
            </a:r>
          </a:p>
          <a:p>
            <a:pPr>
              <a:lnSpc>
                <a:spcPct val="150000"/>
              </a:lnSpc>
            </a:pPr>
            <a:r>
              <a:rPr lang="es-419" dirty="0"/>
              <a:t>Sacar conclusiones sobre distribución de probabilidades de una población.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Corroborar que la data sigue una distribución particular.</a:t>
            </a:r>
          </a:p>
          <a:p>
            <a:pPr>
              <a:lnSpc>
                <a:spcPct val="150000"/>
              </a:lnSpc>
            </a:pPr>
            <a:r>
              <a:rPr lang="es-419" dirty="0"/>
              <a:t>Comparación visual: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Obtener muestra aleatoria.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Graficar muestra (frecuencias)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Comparar con función/distribución teórica.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¿Es similar función de frecuencias a función de densidad esperada?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También se pueden usar los llamados </a:t>
            </a:r>
            <a:r>
              <a:rPr lang="es-419" b="1" dirty="0" err="1">
                <a:solidFill>
                  <a:srgbClr val="003A5D"/>
                </a:solidFill>
              </a:rPr>
              <a:t>qq-plots</a:t>
            </a:r>
            <a:r>
              <a:rPr lang="es-419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4672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VE" dirty="0"/>
              <a:t>Esp. de intervención: 30 s. </a:t>
            </a:r>
            <a:r>
              <a:rPr lang="es-VE" i="1" dirty="0"/>
              <a:t>¿Qué distribución siguen los datos?</a:t>
            </a:r>
            <a:endParaRPr lang="es-VE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4D5E063-F966-1BEF-078B-E59809C73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806" y="811303"/>
            <a:ext cx="6340389" cy="52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506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VE" dirty="0"/>
              <a:t>Parece normal pero ¿Es normal?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7C46A8C-924C-C85D-6D2D-50B97E302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805" y="811303"/>
            <a:ext cx="6340389" cy="52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11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30 segundos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¿Cómo comparamos visualmente una distribución observada y una distribución teórica?</a:t>
            </a:r>
          </a:p>
        </p:txBody>
      </p:sp>
    </p:spTree>
    <p:extLst>
      <p:ext uri="{BB962C8B-B14F-4D97-AF65-F5344CB8AC3E}">
        <p14:creationId xmlns:p14="http://schemas.microsoft.com/office/powerpoint/2010/main" val="1192506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VE" dirty="0"/>
              <a:t>El uso de </a:t>
            </a:r>
            <a:r>
              <a:rPr lang="es-VE" dirty="0" err="1"/>
              <a:t>qq-plots</a:t>
            </a:r>
            <a:r>
              <a:rPr lang="es-VE" dirty="0"/>
              <a:t>: normal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DB7762-50BD-E8C6-FC1C-9AF9ACC64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00" y="1089000"/>
            <a:ext cx="9360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364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VE" dirty="0"/>
              <a:t>El uso de </a:t>
            </a:r>
            <a:r>
              <a:rPr lang="es-VE" dirty="0" err="1"/>
              <a:t>qq-plots</a:t>
            </a:r>
            <a:r>
              <a:rPr lang="es-VE" dirty="0"/>
              <a:t>: sesgo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ADE645A-1AD6-469D-97E5-113B1C65E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00" y="1089000"/>
            <a:ext cx="9360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755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VE" dirty="0"/>
              <a:t>El uso de </a:t>
            </a:r>
            <a:r>
              <a:rPr lang="es-VE" dirty="0" err="1"/>
              <a:t>qq-plot</a:t>
            </a:r>
            <a:r>
              <a:rPr lang="es-VE" dirty="0"/>
              <a:t>: sesgo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980126FD-47E3-C4CB-0E72-2B9BB5C06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00" y="1089000"/>
            <a:ext cx="9360000" cy="46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3401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VE" dirty="0"/>
              <a:t>El uso de </a:t>
            </a:r>
            <a:r>
              <a:rPr lang="es-VE" dirty="0" err="1"/>
              <a:t>qq-plots</a:t>
            </a:r>
            <a:r>
              <a:rPr lang="es-VE" dirty="0"/>
              <a:t>: colas gruesas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2E87F91-9E44-BBBF-F764-DF2F2C1A0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00" y="1089000"/>
            <a:ext cx="9360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548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VE" dirty="0"/>
              <a:t>El uso de </a:t>
            </a:r>
            <a:r>
              <a:rPr lang="es-VE" dirty="0" err="1"/>
              <a:t>qq-plots</a:t>
            </a:r>
            <a:r>
              <a:rPr lang="es-VE" dirty="0"/>
              <a:t>: colas </a:t>
            </a:r>
            <a:r>
              <a:rPr lang="es-VE" dirty="0" err="1"/>
              <a:t>delagadas</a:t>
            </a:r>
            <a:endParaRPr lang="es-V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7612810-2AA5-99FD-0764-6D2B7C029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00" y="1089000"/>
            <a:ext cx="9360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359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VE" dirty="0"/>
              <a:t>El uso de </a:t>
            </a:r>
            <a:r>
              <a:rPr lang="es-VE" dirty="0" err="1"/>
              <a:t>qq-plots</a:t>
            </a:r>
            <a:r>
              <a:rPr lang="es-VE" dirty="0"/>
              <a:t>: bimodal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F66380-D67F-3E9B-5F6A-CBF9BC573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00" y="1089000"/>
            <a:ext cx="9360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10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Contraste de hipótesis no paramétrico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s-419" dirty="0"/>
              <a:t>Aproximación visual puede ser insuficiente.</a:t>
            </a:r>
          </a:p>
          <a:p>
            <a:pPr>
              <a:lnSpc>
                <a:spcPct val="150000"/>
              </a:lnSpc>
            </a:pPr>
            <a:r>
              <a:rPr lang="es-419" dirty="0"/>
              <a:t>Adecuadamente funcional en casos que son “obvios”.</a:t>
            </a:r>
          </a:p>
          <a:p>
            <a:pPr>
              <a:lnSpc>
                <a:spcPct val="150000"/>
              </a:lnSpc>
            </a:pPr>
            <a:r>
              <a:rPr lang="es-419" dirty="0"/>
              <a:t>Gráficos de densidad junto con </a:t>
            </a:r>
            <a:r>
              <a:rPr lang="es-419" dirty="0" err="1"/>
              <a:t>qqplots</a:t>
            </a:r>
            <a:r>
              <a:rPr lang="es-419" dirty="0"/>
              <a:t> dan una primera aproximación.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Pero ausente de comprobante objetivo.</a:t>
            </a:r>
          </a:p>
          <a:p>
            <a:pPr>
              <a:lnSpc>
                <a:spcPct val="150000"/>
              </a:lnSpc>
            </a:pPr>
            <a:r>
              <a:rPr lang="es-419" dirty="0"/>
              <a:t>Se requieren de contrastes más rigurosos.</a:t>
            </a:r>
          </a:p>
          <a:p>
            <a:pPr>
              <a:lnSpc>
                <a:spcPct val="150000"/>
              </a:lnSpc>
            </a:pPr>
            <a:r>
              <a:rPr lang="es-419" dirty="0"/>
              <a:t>Especialmente cuando un conjunto de datos se </a:t>
            </a:r>
            <a:r>
              <a:rPr lang="es-419" i="1" dirty="0"/>
              <a:t>acerca</a:t>
            </a:r>
            <a:r>
              <a:rPr lang="es-419" dirty="0"/>
              <a:t> a una distribución pero no garantiza mantener sus propiedades.</a:t>
            </a:r>
          </a:p>
        </p:txBody>
      </p:sp>
    </p:spTree>
    <p:extLst>
      <p:ext uri="{BB962C8B-B14F-4D97-AF65-F5344CB8AC3E}">
        <p14:creationId xmlns:p14="http://schemas.microsoft.com/office/powerpoint/2010/main" val="4037908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Bondad de Ajuste</a:t>
            </a:r>
          </a:p>
        </p:txBody>
      </p:sp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El centro del tema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382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30 segundos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¿En estadística qué se conoce como Bondad de Ajuste?</a:t>
            </a:r>
          </a:p>
        </p:txBody>
      </p:sp>
    </p:spTree>
    <p:extLst>
      <p:ext uri="{BB962C8B-B14F-4D97-AF65-F5344CB8AC3E}">
        <p14:creationId xmlns:p14="http://schemas.microsoft.com/office/powerpoint/2010/main" val="19280902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Bondad</a:t>
            </a:r>
            <a:r>
              <a:rPr lang="en-US" dirty="0"/>
              <a:t> de </a:t>
            </a:r>
            <a:r>
              <a:rPr lang="en-US" dirty="0" err="1"/>
              <a:t>Ajuste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50000"/>
              </a:lnSpc>
            </a:pPr>
            <a:r>
              <a:rPr lang="es-419" dirty="0"/>
              <a:t>Por “bondad de ajuste” entendemos qué tan bien un modelo estadístico describe a un conjunto de datos.</a:t>
            </a:r>
          </a:p>
          <a:p>
            <a:pPr>
              <a:lnSpc>
                <a:spcPct val="150000"/>
              </a:lnSpc>
            </a:pPr>
            <a:r>
              <a:rPr lang="es-419" dirty="0"/>
              <a:t>En esencia, resumen discrepancias entre valores observados y los valores esperados bajo el modelo en cuestión.</a:t>
            </a:r>
          </a:p>
          <a:p>
            <a:pPr>
              <a:lnSpc>
                <a:spcPct val="150000"/>
              </a:lnSpc>
            </a:pPr>
            <a:r>
              <a:rPr lang="es-419" dirty="0"/>
              <a:t>Hay muchas pruebas de bondad de ajuste.</a:t>
            </a:r>
          </a:p>
          <a:p>
            <a:pPr>
              <a:lnSpc>
                <a:spcPct val="150000"/>
              </a:lnSpc>
            </a:pPr>
            <a:r>
              <a:rPr lang="es-419" dirty="0"/>
              <a:t>Para ajuste a distribuciones:</a:t>
            </a:r>
          </a:p>
          <a:p>
            <a:pPr lvl="1"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Prueba Chi-cuadrada de Pearson</a:t>
            </a:r>
          </a:p>
          <a:p>
            <a:pPr lvl="1"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Prueba de </a:t>
            </a:r>
            <a:r>
              <a:rPr lang="es-419" b="1" dirty="0" err="1">
                <a:solidFill>
                  <a:srgbClr val="003A5D"/>
                </a:solidFill>
              </a:rPr>
              <a:t>Kolmogorov-Smirnov</a:t>
            </a:r>
            <a:endParaRPr lang="es-419" b="1" dirty="0">
              <a:solidFill>
                <a:srgbClr val="003A5D"/>
              </a:solidFill>
            </a:endParaRPr>
          </a:p>
          <a:p>
            <a:pPr lvl="1">
              <a:lnSpc>
                <a:spcPct val="150000"/>
              </a:lnSpc>
            </a:pPr>
            <a:r>
              <a:rPr lang="es-419" dirty="0"/>
              <a:t>Criterio de información bayesiano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Criterio de </a:t>
            </a:r>
            <a:r>
              <a:rPr lang="es-419" dirty="0" err="1"/>
              <a:t>Cramér-von</a:t>
            </a:r>
            <a:r>
              <a:rPr lang="es-419" dirty="0"/>
              <a:t> Mises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Prueba de Shapiro-Wilk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Criterio de información de Akaike</a:t>
            </a:r>
          </a:p>
          <a:p>
            <a:pPr>
              <a:lnSpc>
                <a:spcPct val="150000"/>
              </a:lnSpc>
            </a:pPr>
            <a:r>
              <a:rPr lang="es-419" dirty="0"/>
              <a:t>Para </a:t>
            </a:r>
            <a:r>
              <a:rPr lang="es-419" dirty="0" err="1"/>
              <a:t>an</a:t>
            </a:r>
            <a:r>
              <a:rPr lang="en-US" dirty="0" err="1"/>
              <a:t>álisis</a:t>
            </a:r>
            <a:r>
              <a:rPr lang="en-US" dirty="0"/>
              <a:t> de regression:</a:t>
            </a:r>
          </a:p>
          <a:p>
            <a:pPr lvl="1"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R2 o coeficiente de determinación</a:t>
            </a:r>
          </a:p>
          <a:p>
            <a:pPr>
              <a:lnSpc>
                <a:spcPct val="150000"/>
              </a:lnSpc>
            </a:pPr>
            <a:r>
              <a:rPr lang="es-419" dirty="0"/>
              <a:t>Para variables categóricas:</a:t>
            </a:r>
          </a:p>
          <a:p>
            <a:pPr lvl="1">
              <a:lnSpc>
                <a:spcPct val="150000"/>
              </a:lnSpc>
            </a:pPr>
            <a:r>
              <a:rPr lang="es-419" b="1" dirty="0">
                <a:solidFill>
                  <a:srgbClr val="003A5D"/>
                </a:solidFill>
              </a:rPr>
              <a:t>Prueba Chi-cuadrada de independencia</a:t>
            </a:r>
          </a:p>
        </p:txBody>
      </p:sp>
    </p:spTree>
    <p:extLst>
      <p:ext uri="{BB962C8B-B14F-4D97-AF65-F5344CB8AC3E}">
        <p14:creationId xmlns:p14="http://schemas.microsoft.com/office/powerpoint/2010/main" val="4023841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Algo de sabiduría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sz="2400" i="1" dirty="0"/>
          </a:p>
          <a:p>
            <a:pPr marL="0" indent="0">
              <a:buNone/>
            </a:pPr>
            <a:r>
              <a:rPr lang="es-VE" sz="2400" i="1" dirty="0"/>
              <a:t>“Todos los modelos están mal, pero algunos son útiles”</a:t>
            </a:r>
          </a:p>
          <a:p>
            <a:pPr marL="0" indent="0">
              <a:buNone/>
            </a:pPr>
            <a:r>
              <a:rPr lang="es-VE" sz="2400" i="1" dirty="0"/>
              <a:t>-George Box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3DFE96-1908-571C-E573-46E7CC792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4878" y="1487941"/>
            <a:ext cx="209550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639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Prueba Chi-cuadrada de Pearson para Bondad de Ajuste</a:t>
            </a:r>
          </a:p>
        </p:txBody>
      </p:sp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Definición y ejemplo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065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Contraste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de Pearson para </a:t>
                </a:r>
                <a:r>
                  <a:rPr lang="en-US" dirty="0" err="1"/>
                  <a:t>Bondad</a:t>
                </a:r>
                <a:r>
                  <a:rPr lang="en-US" dirty="0"/>
                  <a:t> de </a:t>
                </a:r>
                <a:r>
                  <a:rPr lang="en-US" dirty="0" err="1"/>
                  <a:t>Ajuste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Supongamos un experimento aleatorio.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b="1" i="1" dirty="0">
                    <a:solidFill>
                      <a:srgbClr val="003A5D"/>
                    </a:solidFill>
                  </a:rPr>
                  <a:t>R</a:t>
                </a:r>
                <a:r>
                  <a:rPr lang="es-419" dirty="0"/>
                  <a:t> posibles resultados con probabilidades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p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1</a:t>
                </a:r>
                <a:r>
                  <a:rPr lang="es-419" dirty="0"/>
                  <a:t>,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p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2</a:t>
                </a:r>
                <a:r>
                  <a:rPr lang="es-419" dirty="0"/>
                  <a:t>,…,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p</a:t>
                </a:r>
                <a:r>
                  <a:rPr lang="es-419" b="1" i="1" baseline="-25000" dirty="0" err="1">
                    <a:solidFill>
                      <a:srgbClr val="003A5D"/>
                    </a:solidFill>
                  </a:rPr>
                  <a:t>r</a:t>
                </a:r>
                <a:r>
                  <a:rPr lang="es-419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Variables aleatorias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1</a:t>
                </a:r>
                <a:r>
                  <a:rPr lang="es-419" dirty="0"/>
                  <a:t>,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2</a:t>
                </a:r>
                <a:r>
                  <a:rPr lang="es-419" dirty="0"/>
                  <a:t>,…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 err="1">
                    <a:solidFill>
                      <a:srgbClr val="003A5D"/>
                    </a:solidFill>
                  </a:rPr>
                  <a:t>r</a:t>
                </a:r>
                <a:endParaRPr lang="es-419" b="1" i="1" baseline="-25000" dirty="0">
                  <a:solidFill>
                    <a:srgbClr val="003A5D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Representan el número de veces que se da el resultado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i</a:t>
                </a:r>
                <a:r>
                  <a:rPr lang="es-419" dirty="0"/>
                  <a:t> (</a:t>
                </a:r>
                <a:r>
                  <a:rPr lang="es-419" i="1" dirty="0"/>
                  <a:t>i</a:t>
                </a:r>
                <a:r>
                  <a:rPr lang="es-419" dirty="0"/>
                  <a:t> = </a:t>
                </a:r>
                <a:r>
                  <a:rPr lang="es-419" i="1" dirty="0"/>
                  <a:t>1</a:t>
                </a:r>
                <a:r>
                  <a:rPr lang="es-419" dirty="0"/>
                  <a:t>, </a:t>
                </a:r>
                <a:r>
                  <a:rPr lang="es-419" i="1" dirty="0"/>
                  <a:t>2</a:t>
                </a:r>
                <a:r>
                  <a:rPr lang="es-419" dirty="0"/>
                  <a:t>,…, </a:t>
                </a:r>
                <a:r>
                  <a:rPr lang="es-419" i="1" dirty="0"/>
                  <a:t>r</a:t>
                </a:r>
                <a:r>
                  <a:rPr lang="es-419" dirty="0"/>
                  <a:t>) al realizar experimentos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 veces.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Densidad conjunta de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Xs</a:t>
                </a:r>
                <a:r>
                  <a:rPr lang="es-419" dirty="0"/>
                  <a:t> es multinomial: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s-419" b="0" i="1" smtClean="0">
                        <a:latin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s-419" b="0" i="1" smtClean="0">
                        <a:latin typeface="Cambria Math" panose="02040503050406030204" pitchFamily="18" charset="0"/>
                      </a:rPr>
                      <m:t>….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Probabilidad que se den ciertos resultados (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p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i</a:t>
                </a:r>
                <a:r>
                  <a:rPr lang="es-419" dirty="0"/>
                  <a:t>) son iguales a ciertos valores (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p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i</a:t>
                </a:r>
                <a:r>
                  <a:rPr lang="es-419" b="1" i="1" baseline="30000" dirty="0">
                    <a:solidFill>
                      <a:srgbClr val="003A5D"/>
                    </a:solidFill>
                  </a:rPr>
                  <a:t>0</a:t>
                </a:r>
                <a:r>
                  <a:rPr lang="es-419" dirty="0"/>
                  <a:t>).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Suponemos que la función de densidad multinomial es caracterizada por probabilidades específicas (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p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i</a:t>
                </a:r>
                <a:r>
                  <a:rPr lang="es-419" b="1" i="1" baseline="30000" dirty="0">
                    <a:solidFill>
                      <a:srgbClr val="003A5D"/>
                    </a:solidFill>
                  </a:rPr>
                  <a:t>0</a:t>
                </a:r>
                <a:r>
                  <a:rPr lang="es-419" dirty="0"/>
                  <a:t>).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 b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5695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Contraste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de Pearson para </a:t>
                </a:r>
                <a:r>
                  <a:rPr lang="en-US" dirty="0" err="1"/>
                  <a:t>Bondad</a:t>
                </a:r>
                <a:r>
                  <a:rPr lang="en-US" dirty="0"/>
                  <a:t> de </a:t>
                </a:r>
                <a:r>
                  <a:rPr lang="en-US" dirty="0" err="1"/>
                  <a:t>Ajuste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Procedimiento: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Se toma muestra aleatoria de tamaño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 (realización independiente de experimentos)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Se calculan frecuencias de cada uno de posibles resultados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f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1</a:t>
                </a:r>
                <a:r>
                  <a:rPr lang="es-419" dirty="0"/>
                  <a:t>,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f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2</a:t>
                </a:r>
                <a:r>
                  <a:rPr lang="es-419" dirty="0"/>
                  <a:t>,…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f</a:t>
                </a:r>
                <a:r>
                  <a:rPr lang="es-419" b="1" i="1" baseline="-25000" dirty="0" err="1">
                    <a:solidFill>
                      <a:srgbClr val="003A5D"/>
                    </a:solidFill>
                  </a:rPr>
                  <a:t>r</a:t>
                </a:r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b="1" i="1" dirty="0">
                    <a:solidFill>
                      <a:srgbClr val="003A5D"/>
                    </a:solidFill>
                  </a:rPr>
                  <a:t>f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i</a:t>
                </a:r>
                <a:r>
                  <a:rPr lang="es-419" dirty="0"/>
                  <a:t> es frecuencia de resultado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i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Frecuencia de todos los resultados igual a veces que se realiza el experimento, siendo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p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i</a:t>
                </a:r>
                <a:r>
                  <a:rPr lang="es-419" dirty="0"/>
                  <a:t> la probabilidad de ese resultado en un intento.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4767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Contraste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de Pearson para </a:t>
                </a:r>
                <a:r>
                  <a:rPr lang="en-US" dirty="0" err="1"/>
                  <a:t>Bondad</a:t>
                </a:r>
                <a:r>
                  <a:rPr lang="en-US" dirty="0"/>
                  <a:t> de </a:t>
                </a:r>
                <a:r>
                  <a:rPr lang="en-US" dirty="0" err="1"/>
                  <a:t>Ajuste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Si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H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0</a:t>
                </a:r>
                <a:r>
                  <a:rPr lang="es-419" dirty="0"/>
                  <a:t> es verdadera: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Frecuencias teóricas, o esperadas, dadas por la frecuencia que de que se de un resultado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i</a:t>
                </a:r>
                <a:r>
                  <a:rPr lang="es-419" dirty="0"/>
                  <a:t> con probabilidad de ocurrencia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p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i</a:t>
                </a:r>
                <a:r>
                  <a:rPr lang="es-419" b="1" i="1" baseline="30000" dirty="0">
                    <a:solidFill>
                      <a:srgbClr val="003A5D"/>
                    </a:solidFill>
                  </a:rPr>
                  <a:t>0</a:t>
                </a:r>
                <a:r>
                  <a:rPr lang="es-419" dirty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𝑛</m:t>
                      </m:r>
                      <m:sSubSup>
                        <m:sSubSup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Procedemos a calcular: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f>
                            <m:f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bSup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Diferencia cuadrada de frecuencias obtenidas </a:t>
                </a:r>
                <a:r>
                  <a:rPr lang="es-419" i="1" dirty="0"/>
                  <a:t>vs.</a:t>
                </a:r>
                <a:r>
                  <a:rPr lang="es-419" dirty="0"/>
                  <a:t> frecuencias esperadas, divididas por frecuencia esperada.</a:t>
                </a:r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928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264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Contraste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de Pearson para </a:t>
                </a:r>
                <a:r>
                  <a:rPr lang="en-US" dirty="0" err="1"/>
                  <a:t>Bondad</a:t>
                </a:r>
                <a:r>
                  <a:rPr lang="en-US" dirty="0"/>
                  <a:t> de </a:t>
                </a:r>
                <a:r>
                  <a:rPr lang="en-US" dirty="0" err="1"/>
                  <a:t>Ajuste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f>
                            <m:f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s-419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bSup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Si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H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0 </a:t>
                </a:r>
                <a:r>
                  <a:rPr lang="es-419" dirty="0"/>
                  <a:t>es verdadera el resultado debería ser pequeño.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La expresión es una variable aleatoria.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Distribución de la expresión con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H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0</a:t>
                </a:r>
                <a:r>
                  <a:rPr lang="es-419" dirty="0"/>
                  <a:t> verdadera y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 lo bastante grande (infinito):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f>
                          <m:f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s-419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sSubSupPr>
                                <m:ctrlP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</m:den>
                        </m:f>
                      </m:e>
                    </m:nary>
                  </m:oMath>
                </a14:m>
                <a:r>
                  <a:rPr lang="es-419" dirty="0"/>
                  <a:t>~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s-419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s-419" b="0" i="0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8997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C4B3212-C2CE-43CE-AED3-007081C03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744" y="3092824"/>
            <a:ext cx="4406056" cy="24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Contraste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de Pearson para </a:t>
                </a:r>
                <a:r>
                  <a:rPr lang="en-US" dirty="0" err="1"/>
                  <a:t>Bondad</a:t>
                </a:r>
                <a:r>
                  <a:rPr lang="en-US" dirty="0"/>
                  <a:t> de </a:t>
                </a:r>
                <a:r>
                  <a:rPr lang="en-US" dirty="0" err="1"/>
                  <a:t>Ajuste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sz="2400" dirty="0"/>
                  <a:t>Regla de decisión para el contraste: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419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s-419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s-419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419" sz="20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s-419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….</m:t>
                    </m:r>
                    <m:sSub>
                      <m:sSubPr>
                        <m:ctrlPr>
                          <a:rPr lang="es-419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419" sz="20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s-419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endParaRPr lang="es-419" sz="20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419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Sup>
                      <m:sSubSupPr>
                        <m:ctrlPr>
                          <a:rPr lang="es-419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s-419" sz="2000" i="1">
                        <a:latin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s-419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419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Sup>
                      <m:sSubSupPr>
                        <m:ctrlPr>
                          <a:rPr lang="es-419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s-419" sz="2000" i="1">
                        <a:latin typeface="Cambria Math" panose="02040503050406030204" pitchFamily="18" charset="0"/>
                      </a:rPr>
                      <m:t>….</m:t>
                    </m:r>
                    <m:sSub>
                      <m:sSubPr>
                        <m:ctrlPr>
                          <a:rPr lang="es-419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419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Sup>
                      <m:sSubSupPr>
                        <m:ctrlPr>
                          <a:rPr lang="es-419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endParaRPr lang="es-419" sz="2000" dirty="0"/>
              </a:p>
              <a:p>
                <a:pPr>
                  <a:lnSpc>
                    <a:spcPct val="150000"/>
                  </a:lnSpc>
                </a:pPr>
                <a:r>
                  <a:rPr lang="es-419" sz="2400" dirty="0"/>
                  <a:t>Para un nivel de significancia de </a:t>
                </a:r>
                <a14:m>
                  <m:oMath xmlns:m="http://schemas.openxmlformats.org/officeDocument/2006/math">
                    <m:r>
                      <a:rPr lang="es-419" sz="2400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s-419" sz="2400" dirty="0"/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𝑆𝑖</m:t>
                    </m:r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419" sz="240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240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sz="2400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419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f>
                          <m:fPr>
                            <m:ctrlPr>
                              <a:rPr lang="es-419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419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419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s-419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419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419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s-419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  <m:r>
                                  <a:rPr lang="es-419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sSubSupPr>
                                <m:ctrlPr>
                                  <a:rPr lang="es-419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419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s-419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s-419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</m:den>
                        </m:f>
                      </m:e>
                    </m:nary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&gt; </m:t>
                    </m:r>
                    <m:sSubSup>
                      <m:sSubSupPr>
                        <m:ctrlPr>
                          <a:rPr lang="es-419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s-419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es-419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𝑠𝑒</m:t>
                    </m:r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𝑟𝑒𝑐h𝑎𝑧𝑎</m:t>
                    </m:r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419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419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419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𝑆𝑖</m:t>
                    </m:r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s-419" sz="240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240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sz="2400" b="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419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f>
                          <m:fPr>
                            <m:ctrlPr>
                              <a:rPr lang="es-419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s-419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419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419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419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s-419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s-419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419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s-419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  <m:r>
                                  <a:rPr lang="es-419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Sup>
                              <m:sSubSupPr>
                                <m:ctrlPr>
                                  <a:rPr lang="es-419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419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s-419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s-419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</m:den>
                        </m:f>
                      </m:e>
                    </m:nary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&lt; </m:t>
                    </m:r>
                    <m:sSubSup>
                      <m:sSubSupPr>
                        <m:ctrlPr>
                          <a:rPr lang="es-419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s-419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es-419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𝑛𝑜</m:t>
                    </m:r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𝑠𝑒</m:t>
                    </m:r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𝑟𝑒𝑐h𝑎𝑧𝑎</m:t>
                    </m:r>
                    <m:r>
                      <a:rPr lang="es-419" sz="2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419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419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419" sz="2400" dirty="0"/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D704B3-0F4F-4895-B52E-886A75330F2E}"/>
                  </a:ext>
                </a:extLst>
              </p:cNvPr>
              <p:cNvSpPr txBox="1"/>
              <p:nvPr/>
            </p:nvSpPr>
            <p:spPr>
              <a:xfrm>
                <a:off x="7705163" y="5351062"/>
                <a:ext cx="941295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sz="1600" i="1" smtClean="0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sz="1600" i="1" smtClean="0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s-419" sz="1600" b="0" i="1" smtClean="0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419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D704B3-0F4F-4895-B52E-886A75330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163" y="5351062"/>
                <a:ext cx="941295" cy="338554"/>
              </a:xfrm>
              <a:prstGeom prst="rect">
                <a:avLst/>
              </a:prstGeom>
              <a:blipFill>
                <a:blip r:embed="rId5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C8E254-7BF1-4B12-82CD-3F473A5EB416}"/>
                  </a:ext>
                </a:extLst>
              </p:cNvPr>
              <p:cNvSpPr txBox="1"/>
              <p:nvPr/>
            </p:nvSpPr>
            <p:spPr>
              <a:xfrm>
                <a:off x="8175810" y="4714923"/>
                <a:ext cx="1102662" cy="26545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419" sz="10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sz="10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𝝌</m:t>
                          </m:r>
                        </m:e>
                        <m:sub>
                          <m:r>
                            <a:rPr lang="es-419" sz="10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sub>
                        <m:sup>
                          <m:r>
                            <a:rPr lang="es-419" sz="10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s-419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C8E254-7BF1-4B12-82CD-3F473A5EB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5810" y="4714923"/>
                <a:ext cx="1102662" cy="2654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01B1B9D-54A1-4157-AE64-62B9AD920FE8}"/>
              </a:ext>
            </a:extLst>
          </p:cNvPr>
          <p:cNvSpPr txBox="1"/>
          <p:nvPr/>
        </p:nvSpPr>
        <p:spPr>
          <a:xfrm>
            <a:off x="9659469" y="3899135"/>
            <a:ext cx="11026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419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867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Contraste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de Pearson para </a:t>
                </a:r>
                <a:r>
                  <a:rPr lang="en-US" dirty="0" err="1"/>
                  <a:t>Bondad</a:t>
                </a:r>
                <a:r>
                  <a:rPr lang="en-US" dirty="0"/>
                  <a:t> de </a:t>
                </a:r>
                <a:r>
                  <a:rPr lang="en-US" dirty="0" err="1"/>
                  <a:t>Ajuste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Para poblaciones continuas: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Problema de tomar valores específicos se acerca a cero.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𝑝𝑎𝑟𝑎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𝑡𝑜𝑑𝑎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Se deben agrupar resultados muestrales en intervalos.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Comparar frecuencias teóricas con frecuencias observadas viendo como los valores de la muestra caen en el intervalo.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Frecuencia teórica es la probabilidad de que el valor caiga dentro del intervalo bajo hipótesis de función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f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0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 (x).</a:t>
                </a:r>
              </a:p>
              <a:p>
                <a:pPr>
                  <a:lnSpc>
                    <a:spcPct val="150000"/>
                  </a:lnSpc>
                </a:pPr>
                <a:endParaRPr lang="es-419" b="1" i="1" dirty="0">
                  <a:solidFill>
                    <a:srgbClr val="003A5D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b="-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25571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Contraste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de Pearson para </a:t>
                </a:r>
                <a:r>
                  <a:rPr lang="en-US" dirty="0" err="1"/>
                  <a:t>Bondad</a:t>
                </a:r>
                <a:r>
                  <a:rPr lang="en-US" dirty="0"/>
                  <a:t> de </a:t>
                </a:r>
                <a:r>
                  <a:rPr lang="en-US" dirty="0" err="1"/>
                  <a:t>Ajuste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3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sz="6200" dirty="0"/>
                  <a:t>Si </a:t>
                </a:r>
                <a:r>
                  <a:rPr lang="es-419" sz="6200" b="1" i="1" dirty="0">
                    <a:solidFill>
                      <a:srgbClr val="003A5D"/>
                    </a:solidFill>
                  </a:rPr>
                  <a:t>H</a:t>
                </a:r>
                <a:r>
                  <a:rPr lang="es-419" sz="6200" b="1" i="1" baseline="-25000" dirty="0">
                    <a:solidFill>
                      <a:srgbClr val="003A5D"/>
                    </a:solidFill>
                  </a:rPr>
                  <a:t>0</a:t>
                </a:r>
                <a:r>
                  <a:rPr lang="es-419" sz="6200" dirty="0"/>
                  <a:t> asume una función normal con límites de intervalo </a:t>
                </a:r>
                <a14:m>
                  <m:oMath xmlns:m="http://schemas.openxmlformats.org/officeDocument/2006/math">
                    <m:r>
                      <a:rPr lang="es-419" sz="6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sz="6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6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419" sz="6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sz="6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s-419" sz="6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s-419" sz="6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6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419" sz="6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419" sz="6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sz="6200" dirty="0"/>
                  <a:t>, entonces </a:t>
                </a:r>
                <a:r>
                  <a:rPr lang="es-419" sz="6200" b="1" i="1" dirty="0">
                    <a:solidFill>
                      <a:srgbClr val="003A5D"/>
                    </a:solidFill>
                  </a:rPr>
                  <a:t>p</a:t>
                </a:r>
                <a:r>
                  <a:rPr lang="es-419" sz="6200" b="1" i="1" baseline="-25000" dirty="0">
                    <a:solidFill>
                      <a:srgbClr val="003A5D"/>
                    </a:solidFill>
                  </a:rPr>
                  <a:t>i</a:t>
                </a:r>
                <a:r>
                  <a:rPr lang="es-419" sz="6200" b="1" i="1" baseline="30000" dirty="0">
                    <a:solidFill>
                      <a:srgbClr val="003A5D"/>
                    </a:solidFill>
                  </a:rPr>
                  <a:t>0 </a:t>
                </a:r>
                <a:r>
                  <a:rPr lang="es-419" sz="6200" dirty="0"/>
                  <a:t>será igual: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419" sz="6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sz="6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sz="6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419" sz="6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s-419" sz="6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6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419" sz="6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6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6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419" sz="6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419" sz="6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s-419" sz="6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s-419" sz="6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419" sz="6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s-419" sz="6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6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419" sz="6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419" sz="6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62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419" sz="6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sz="6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6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419" sz="6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419" sz="6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419" sz="6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419" sz="6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sz="6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6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419" sz="6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419" sz="6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s-419" sz="6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sz="6200" dirty="0"/>
              </a:p>
              <a:p>
                <a:pPr>
                  <a:lnSpc>
                    <a:spcPct val="150000"/>
                  </a:lnSpc>
                </a:pPr>
                <a:r>
                  <a:rPr lang="es-419" sz="6200" dirty="0"/>
                  <a:t>El área bajo la curva entre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6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6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419" sz="6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sz="6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s-419" sz="620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6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6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419" sz="6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419" sz="62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sz="6200" dirty="0"/>
                  <a:t>Con la frecuencia de intervalo esperada siendo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419" sz="62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sz="6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419" sz="6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419" sz="6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s-419" sz="6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62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bSup>
                        <m:sSubSupPr>
                          <m:ctrlPr>
                            <a:rPr lang="es-419" sz="6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sz="6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sz="6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s-419" sz="6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s-419" sz="6200" dirty="0"/>
              </a:p>
              <a:p>
                <a:pPr>
                  <a:lnSpc>
                    <a:spcPct val="150000"/>
                  </a:lnSpc>
                </a:pPr>
                <a:r>
                  <a:rPr lang="es-419" sz="6200" dirty="0"/>
                  <a:t>No hay regla fija para determinar</a:t>
                </a:r>
                <a:r>
                  <a:rPr lang="es-419" sz="6200" b="1" i="1" dirty="0">
                    <a:solidFill>
                      <a:srgbClr val="003A5D"/>
                    </a:solidFill>
                  </a:rPr>
                  <a:t> r </a:t>
                </a:r>
                <a:r>
                  <a:rPr lang="es-419" sz="6200" dirty="0"/>
                  <a:t>(intervalos a usarse).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sz="6200" dirty="0"/>
                  <a:t>Práctica común es que ningún intervalo tenga una frecuencia teórica </a:t>
                </a:r>
                <a:r>
                  <a:rPr lang="es-419" sz="6200" i="1" dirty="0"/>
                  <a:t>menor</a:t>
                </a:r>
                <a:r>
                  <a:rPr lang="es-419" sz="6200" dirty="0"/>
                  <a:t> a 5.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sz="6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6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sz="6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sz="6200" dirty="0"/>
                  <a:t> no está definido para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419" sz="6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sz="6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sz="6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419" sz="62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s-419" sz="6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sz="6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s-419" sz="6200" dirty="0"/>
              </a:p>
              <a:p>
                <a:pPr lvl="1">
                  <a:lnSpc>
                    <a:spcPct val="150000"/>
                  </a:lnSpc>
                </a:pPr>
                <a:r>
                  <a:rPr lang="es-419" sz="6200" dirty="0"/>
                  <a:t>Si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419" sz="6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sz="6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419" sz="6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419" sz="6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s-419" sz="6200" dirty="0"/>
                  <a:t> es muy pequeño,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sz="6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6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sz="6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sz="6200" dirty="0"/>
                  <a:t> se hará muy grande y se volverá muy común rechazar </a:t>
                </a:r>
                <a:r>
                  <a:rPr lang="es-419" sz="6200" b="1" i="1" dirty="0">
                    <a:solidFill>
                      <a:srgbClr val="003A5D"/>
                    </a:solidFill>
                  </a:rPr>
                  <a:t>H</a:t>
                </a:r>
                <a:r>
                  <a:rPr lang="es-419" sz="6200" b="1" i="1" baseline="-25000" dirty="0">
                    <a:solidFill>
                      <a:srgbClr val="003A5D"/>
                    </a:solidFill>
                  </a:rPr>
                  <a:t>0</a:t>
                </a:r>
                <a:r>
                  <a:rPr lang="es-419" sz="6200" dirty="0"/>
                  <a:t> por efecto del denominador.</a:t>
                </a:r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931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419" dirty="0"/>
                  <a:t>Contraste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de Pearson para </a:t>
                </a:r>
                <a:r>
                  <a:rPr lang="en-US" dirty="0" err="1"/>
                  <a:t>Bondad</a:t>
                </a:r>
                <a:r>
                  <a:rPr lang="en-US" dirty="0"/>
                  <a:t> de </a:t>
                </a:r>
                <a:r>
                  <a:rPr lang="en-US" dirty="0" err="1"/>
                  <a:t>Ajuste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C5C2F5-AB6D-4DC9-89B1-BA64896907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07" t="-8257" b="-21101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Hay momentos en los cuales no se puede usar a priori parámetros de la función.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b="1" i="1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es aplicable generalmente cuando los parámetros son desconocidos vía estimadores de máxima verosimilitud obtenidos a partir de la muestra.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Corrección: reducir grados de libertad para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419" sz="2800" b="0" i="1" smtClean="0">
                        <a:latin typeface="Cambria Math" panose="02040503050406030204" pitchFamily="18" charset="0"/>
                      </a:rPr>
                      <m:t>−1−</m:t>
                    </m:r>
                    <m:r>
                      <a:rPr lang="es-419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419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b="1" i="1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siendo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k</a:t>
                </a:r>
                <a:r>
                  <a:rPr lang="es-419" dirty="0"/>
                  <a:t> el número de parámetros estimados con datos de la muestra. </a:t>
                </a:r>
              </a:p>
              <a:p>
                <a:pPr>
                  <a:lnSpc>
                    <a:spcPct val="150000"/>
                  </a:lnSpc>
                </a:pPr>
                <a:endParaRPr lang="es-419" b="1" i="1" dirty="0">
                  <a:solidFill>
                    <a:srgbClr val="003A5D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r="-1855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5621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B6CE8-5648-416C-8D52-381BD7D8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EB59C-4EDA-4E27-AD8A-EF43E7DBE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s-419" i="1" dirty="0"/>
              <a:t>Se desea saber si un dado está bien balanceado, y se lanza 180 veces, obteniéndose los siguientes resultados; 23 veces el uno, 35 veces el dos, 27 veces el tres, 40 veces el cuatro, 15 veces el cinco y 40 veces el seis.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845795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AA4D1A0-F40E-280A-A384-3441C878A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183" y="1269000"/>
            <a:ext cx="8325634" cy="432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12.2</a:t>
            </a:r>
          </a:p>
        </p:txBody>
      </p:sp>
      <p:sp>
        <p:nvSpPr>
          <p:cNvPr id="7" name="Cerrar llave 6">
            <a:extLst>
              <a:ext uri="{FF2B5EF4-FFF2-40B4-BE49-F238E27FC236}">
                <a16:creationId xmlns:a16="http://schemas.microsoft.com/office/drawing/2014/main" id="{425B4812-AFB4-9057-903A-A1161FCF3711}"/>
              </a:ext>
            </a:extLst>
          </p:cNvPr>
          <p:cNvSpPr/>
          <p:nvPr/>
        </p:nvSpPr>
        <p:spPr>
          <a:xfrm>
            <a:off x="3917577" y="1550892"/>
            <a:ext cx="242047" cy="1255059"/>
          </a:xfrm>
          <a:prstGeom prst="rightBrace">
            <a:avLst/>
          </a:prstGeom>
          <a:ln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E5F2EAE-0338-39DF-C33E-09BBAF34FF05}"/>
              </a:ext>
            </a:extLst>
          </p:cNvPr>
          <p:cNvSpPr txBox="1"/>
          <p:nvPr/>
        </p:nvSpPr>
        <p:spPr>
          <a:xfrm>
            <a:off x="4159624" y="1993755"/>
            <a:ext cx="2182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dirty="0">
                <a:latin typeface="Georgia" panose="02040502050405020303" pitchFamily="18" charset="0"/>
              </a:rPr>
              <a:t>Datos del problema</a:t>
            </a:r>
          </a:p>
        </p:txBody>
      </p:sp>
    </p:spTree>
    <p:extLst>
      <p:ext uri="{BB962C8B-B14F-4D97-AF65-F5344CB8AC3E}">
        <p14:creationId xmlns:p14="http://schemas.microsoft.com/office/powerpoint/2010/main" val="3318664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400C05F-32D7-BD5A-EED0-66C8CFC78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183" y="1269000"/>
            <a:ext cx="8325634" cy="4320000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2DA35E96-7EEE-8CD7-8079-173D6A2F77F5}"/>
              </a:ext>
            </a:extLst>
          </p:cNvPr>
          <p:cNvCxnSpPr>
            <a:cxnSpLocks/>
          </p:cNvCxnSpPr>
          <p:nvPr/>
        </p:nvCxnSpPr>
        <p:spPr>
          <a:xfrm flipH="1" flipV="1">
            <a:off x="3609277" y="3429000"/>
            <a:ext cx="263476" cy="1221397"/>
          </a:xfrm>
          <a:prstGeom prst="straightConnector1">
            <a:avLst/>
          </a:prstGeom>
          <a:ln>
            <a:solidFill>
              <a:srgbClr val="003A5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DD790C8-B7E4-46E5-F03E-21190608BF61}"/>
              </a:ext>
            </a:extLst>
          </p:cNvPr>
          <p:cNvSpPr txBox="1"/>
          <p:nvPr/>
        </p:nvSpPr>
        <p:spPr>
          <a:xfrm>
            <a:off x="3681694" y="4652588"/>
            <a:ext cx="2091577" cy="307777"/>
          </a:xfrm>
          <a:prstGeom prst="rect">
            <a:avLst/>
          </a:prstGeom>
          <a:noFill/>
          <a:ln>
            <a:solidFill>
              <a:srgbClr val="003A5D"/>
            </a:solidFill>
          </a:ln>
        </p:spPr>
        <p:txBody>
          <a:bodyPr wrap="square" rtlCol="0">
            <a:spAutoFit/>
          </a:bodyPr>
          <a:lstStyle/>
          <a:p>
            <a:r>
              <a:rPr lang="es-VE" sz="1400" dirty="0">
                <a:solidFill>
                  <a:srgbClr val="003A5D"/>
                </a:solidFill>
                <a:latin typeface="Georgia" panose="02040502050405020303" pitchFamily="18" charset="0"/>
              </a:rPr>
              <a:t>Frecuencias observadas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12.2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8440F2-24C7-58D9-D1D1-BF78AE847B2B}"/>
              </a:ext>
            </a:extLst>
          </p:cNvPr>
          <p:cNvSpPr txBox="1"/>
          <p:nvPr/>
        </p:nvSpPr>
        <p:spPr>
          <a:xfrm>
            <a:off x="436470" y="4253273"/>
            <a:ext cx="2217083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1400" dirty="0">
                <a:solidFill>
                  <a:srgbClr val="C00000"/>
                </a:solidFill>
                <a:latin typeface="Georgia" panose="02040502050405020303" pitchFamily="18" charset="0"/>
              </a:rPr>
              <a:t>Frecuencias teóricas </a:t>
            </a:r>
          </a:p>
          <a:p>
            <a:pPr algn="ctr"/>
            <a:r>
              <a:rPr lang="es-VE" sz="1400" dirty="0">
                <a:latin typeface="Georgia" panose="02040502050405020303" pitchFamily="18" charset="0"/>
              </a:rPr>
              <a:t>=B2*B3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6362A4F4-0F2E-BFD0-7AB9-AEF8AEFD6707}"/>
              </a:ext>
            </a:extLst>
          </p:cNvPr>
          <p:cNvCxnSpPr>
            <a:cxnSpLocks/>
          </p:cNvCxnSpPr>
          <p:nvPr/>
        </p:nvCxnSpPr>
        <p:spPr>
          <a:xfrm flipV="1">
            <a:off x="1730188" y="3675529"/>
            <a:ext cx="1559859" cy="64545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8CBBFC9B-D775-7213-D50F-A21EBDA470BB}"/>
              </a:ext>
            </a:extLst>
          </p:cNvPr>
          <p:cNvCxnSpPr>
            <a:cxnSpLocks/>
          </p:cNvCxnSpPr>
          <p:nvPr/>
        </p:nvCxnSpPr>
        <p:spPr>
          <a:xfrm flipV="1">
            <a:off x="1147482" y="2199019"/>
            <a:ext cx="2187530" cy="212196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uadroTexto 50">
            <a:extLst>
              <a:ext uri="{FF2B5EF4-FFF2-40B4-BE49-F238E27FC236}">
                <a16:creationId xmlns:a16="http://schemas.microsoft.com/office/drawing/2014/main" id="{9DD9FC80-BE56-1C55-5AF6-B6D2DC1AB23E}"/>
              </a:ext>
            </a:extLst>
          </p:cNvPr>
          <p:cNvSpPr txBox="1"/>
          <p:nvPr/>
        </p:nvSpPr>
        <p:spPr>
          <a:xfrm>
            <a:off x="4667812" y="1796944"/>
            <a:ext cx="2217083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1400" dirty="0">
                <a:solidFill>
                  <a:srgbClr val="C00000"/>
                </a:solidFill>
                <a:latin typeface="Georgia" panose="02040502050405020303" pitchFamily="18" charset="0"/>
              </a:rPr>
              <a:t>Probabilidad esperada</a:t>
            </a:r>
            <a:endParaRPr lang="es-VE" sz="1400" dirty="0">
              <a:latin typeface="Georgia" panose="02040502050405020303" pitchFamily="18" charset="0"/>
            </a:endParaRPr>
          </a:p>
          <a:p>
            <a:pPr algn="ctr"/>
            <a:r>
              <a:rPr lang="es-VE" sz="1400" dirty="0">
                <a:latin typeface="Georgia" panose="02040502050405020303" pitchFamily="18" charset="0"/>
              </a:rPr>
              <a:t>=1/6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9E1EE106-39F5-85E9-E8D0-5065331F914E}"/>
              </a:ext>
            </a:extLst>
          </p:cNvPr>
          <p:cNvCxnSpPr>
            <a:cxnSpLocks/>
          </p:cNvCxnSpPr>
          <p:nvPr/>
        </p:nvCxnSpPr>
        <p:spPr>
          <a:xfrm flipH="1">
            <a:off x="3783106" y="1934034"/>
            <a:ext cx="100404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37507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27B69B3-6069-F5F6-4FFE-BB44B284B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183" y="1269000"/>
            <a:ext cx="8325634" cy="432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12.2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D459BC28-1F8B-1144-8581-6709370FF455}"/>
              </a:ext>
            </a:extLst>
          </p:cNvPr>
          <p:cNvCxnSpPr>
            <a:cxnSpLocks/>
          </p:cNvCxnSpPr>
          <p:nvPr/>
        </p:nvCxnSpPr>
        <p:spPr>
          <a:xfrm flipV="1">
            <a:off x="2510117" y="3963234"/>
            <a:ext cx="779930" cy="114770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4015E259-AB9D-697C-9AAC-9D45C65F38E2}"/>
                  </a:ext>
                </a:extLst>
              </p:cNvPr>
              <p:cNvSpPr txBox="1"/>
              <p:nvPr/>
            </p:nvSpPr>
            <p:spPr>
              <a:xfrm>
                <a:off x="2251431" y="5008838"/>
                <a:ext cx="3744667" cy="523220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VE" sz="14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VE" sz="14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VE" sz="14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VE" sz="1400" dirty="0">
                    <a:solidFill>
                      <a:srgbClr val="00B050"/>
                    </a:solidFill>
                    <a:latin typeface="Georgia" panose="02040502050405020303" pitchFamily="18" charset="0"/>
                  </a:rPr>
                  <a:t>: Diferencia cuadrada entre frecuencias </a:t>
                </a:r>
              </a:p>
              <a:p>
                <a:pPr algn="ctr"/>
                <a:r>
                  <a:rPr lang="es-VE" sz="1400" dirty="0">
                    <a:latin typeface="Georgia" panose="02040502050405020303" pitchFamily="18" charset="0"/>
                  </a:rPr>
                  <a:t>=(B9-B10)^2/B10</a:t>
                </a: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4015E259-AB9D-697C-9AAC-9D45C65F3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431" y="5008838"/>
                <a:ext cx="3744667" cy="523220"/>
              </a:xfrm>
              <a:prstGeom prst="rect">
                <a:avLst/>
              </a:prstGeom>
              <a:blipFill>
                <a:blip r:embed="rId3"/>
                <a:stretch>
                  <a:fillRect t="-2299" b="-9195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AF173ED3-4353-BCC6-A6C4-C80DEFAA97F7}"/>
              </a:ext>
            </a:extLst>
          </p:cNvPr>
          <p:cNvCxnSpPr>
            <a:cxnSpLocks/>
          </p:cNvCxnSpPr>
          <p:nvPr/>
        </p:nvCxnSpPr>
        <p:spPr>
          <a:xfrm>
            <a:off x="6804212" y="1900518"/>
            <a:ext cx="1837765" cy="197512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A631B2D-6657-19C2-D8D1-55B88EB8504C}"/>
                  </a:ext>
                </a:extLst>
              </p:cNvPr>
              <p:cNvSpPr txBox="1"/>
              <p:nvPr/>
            </p:nvSpPr>
            <p:spPr>
              <a:xfrm>
                <a:off x="6511961" y="1554943"/>
                <a:ext cx="3538479" cy="523220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VE" sz="14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VE" sz="14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VE" sz="14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VE" sz="1400" dirty="0">
                    <a:solidFill>
                      <a:srgbClr val="00B050"/>
                    </a:solidFill>
                    <a:latin typeface="Georgia" panose="02040502050405020303" pitchFamily="18" charset="0"/>
                  </a:rPr>
                  <a:t>: Sumatoria de diferencias cuadradas</a:t>
                </a:r>
              </a:p>
              <a:p>
                <a:pPr algn="ctr"/>
                <a:r>
                  <a:rPr lang="es-VE" sz="1400" dirty="0">
                    <a:latin typeface="Georgia" panose="02040502050405020303" pitchFamily="18" charset="0"/>
                  </a:rPr>
                  <a:t>=SUMA(B11:G11)</a:t>
                </a:r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AA631B2D-6657-19C2-D8D1-55B88EB85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1961" y="1554943"/>
                <a:ext cx="3538479" cy="523220"/>
              </a:xfrm>
              <a:prstGeom prst="rect">
                <a:avLst/>
              </a:prstGeom>
              <a:blipFill>
                <a:blip r:embed="rId4"/>
                <a:stretch>
                  <a:fillRect t="-2273" b="-9091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73AEB67-D02E-4E1C-9901-B0EE34D384FA}"/>
                  </a:ext>
                </a:extLst>
              </p:cNvPr>
              <p:cNvSpPr txBox="1"/>
              <p:nvPr/>
            </p:nvSpPr>
            <p:spPr>
              <a:xfrm>
                <a:off x="7723094" y="2241176"/>
                <a:ext cx="3538479" cy="523220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VE" sz="1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VE" sz="1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VE" sz="1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VE" sz="1400" dirty="0">
                    <a:solidFill>
                      <a:srgbClr val="00B0F0"/>
                    </a:solidFill>
                    <a:latin typeface="Georgia" panose="02040502050405020303" pitchFamily="18" charset="0"/>
                  </a:rPr>
                  <a:t>: Valor crítico de contraste</a:t>
                </a:r>
                <a:endParaRPr lang="es-VE" sz="1400" dirty="0">
                  <a:latin typeface="Georgia" panose="02040502050405020303" pitchFamily="18" charset="0"/>
                </a:endParaRPr>
              </a:p>
              <a:p>
                <a:pPr algn="ctr"/>
                <a:r>
                  <a:rPr lang="es-VE" sz="1400" dirty="0">
                    <a:latin typeface="Georgia" panose="02040502050405020303" pitchFamily="18" charset="0"/>
                  </a:rPr>
                  <a:t>=INV.CHICUAD.CD(B5;B6)</a:t>
                </a: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73AEB67-D02E-4E1C-9901-B0EE34D38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094" y="2241176"/>
                <a:ext cx="3538479" cy="523220"/>
              </a:xfrm>
              <a:prstGeom prst="rect">
                <a:avLst/>
              </a:prstGeom>
              <a:blipFill>
                <a:blip r:embed="rId5"/>
                <a:stretch>
                  <a:fillRect t="-2299" b="-919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4EB3C078-4E3B-BB4F-6987-530700AE33BF}"/>
              </a:ext>
            </a:extLst>
          </p:cNvPr>
          <p:cNvCxnSpPr>
            <a:cxnSpLocks/>
          </p:cNvCxnSpPr>
          <p:nvPr/>
        </p:nvCxnSpPr>
        <p:spPr>
          <a:xfrm flipH="1">
            <a:off x="9932894" y="2595283"/>
            <a:ext cx="857919" cy="128036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4566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F943658-2955-434D-D214-B497FBCE8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183" y="1269000"/>
            <a:ext cx="8325634" cy="432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12.2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DFDB829C-0468-07F2-F184-5773DA975B99}"/>
              </a:ext>
            </a:extLst>
          </p:cNvPr>
          <p:cNvCxnSpPr>
            <a:cxnSpLocks/>
          </p:cNvCxnSpPr>
          <p:nvPr/>
        </p:nvCxnSpPr>
        <p:spPr>
          <a:xfrm>
            <a:off x="7135906" y="4476095"/>
            <a:ext cx="1464829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338BCD7B-9272-652E-4086-EADEEC44E01E}"/>
                  </a:ext>
                </a:extLst>
              </p:cNvPr>
              <p:cNvSpPr txBox="1"/>
              <p:nvPr/>
            </p:nvSpPr>
            <p:spPr>
              <a:xfrm>
                <a:off x="4353007" y="4234870"/>
                <a:ext cx="2902377" cy="541623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𝑣𝑎𝑙𝑜𝑟</m:t>
                      </m:r>
                    </m:oMath>
                  </m:oMathPara>
                </a14:m>
                <a:endParaRPr lang="es-VE" sz="1400" dirty="0">
                  <a:latin typeface="Georgia" panose="02040502050405020303" pitchFamily="18" charset="0"/>
                </a:endParaRPr>
              </a:p>
              <a:p>
                <a:pPr algn="ctr"/>
                <a:r>
                  <a:rPr lang="pt-BR" sz="1400" dirty="0">
                    <a:latin typeface="Georgia" panose="02040502050405020303" pitchFamily="18" charset="0"/>
                  </a:rPr>
                  <a:t>=DISTR.CHICUAD.CD(H11;B6)</a:t>
                </a:r>
                <a:endParaRPr lang="es-VE" sz="14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338BCD7B-9272-652E-4086-EADEEC44E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007" y="4234870"/>
                <a:ext cx="2902377" cy="541623"/>
              </a:xfrm>
              <a:prstGeom prst="rect">
                <a:avLst/>
              </a:prstGeom>
              <a:blipFill>
                <a:blip r:embed="rId3"/>
                <a:stretch>
                  <a:fillRect b="-43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66EF5BEA-9EE6-E2A9-ADE1-6BE6F5B01C08}"/>
                  </a:ext>
                </a:extLst>
              </p:cNvPr>
              <p:cNvSpPr txBox="1"/>
              <p:nvPr/>
            </p:nvSpPr>
            <p:spPr>
              <a:xfrm>
                <a:off x="9640182" y="2165747"/>
                <a:ext cx="2019942" cy="523220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𝑁𝑖𝑣𝑒𝑙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𝑠𝑖𝑔𝑛𝑖𝑓𝑖𝑐𝑎𝑛𝑐𝑖𝑎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VE" sz="1400" b="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s-VE" sz="14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66EF5BEA-9EE6-E2A9-ADE1-6BE6F5B01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182" y="2165747"/>
                <a:ext cx="201994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64BA8B45-9453-5763-D4FF-9C35022A817B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10067365" y="2688967"/>
            <a:ext cx="582788" cy="169037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094E96A1-76FC-B368-29E1-3C0BAFB2FC46}"/>
                  </a:ext>
                </a:extLst>
              </p:cNvPr>
              <p:cNvSpPr txBox="1"/>
              <p:nvPr/>
            </p:nvSpPr>
            <p:spPr>
              <a:xfrm>
                <a:off x="7503009" y="5386647"/>
                <a:ext cx="3538479" cy="54162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VE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VE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VE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𝑣𝑎𝑙𝑜𝑟</m:t>
                      </m:r>
                    </m:oMath>
                  </m:oMathPara>
                </a14:m>
                <a:endParaRPr lang="es-VE" sz="1400" dirty="0">
                  <a:solidFill>
                    <a:schemeClr val="tx1"/>
                  </a:solidFill>
                  <a:latin typeface="Georgia" panose="02040502050405020303" pitchFamily="18" charset="0"/>
                </a:endParaRPr>
              </a:p>
              <a:p>
                <a:pPr algn="ctr"/>
                <a:r>
                  <a:rPr lang="es-VE" sz="1400" dirty="0">
                    <a:latin typeface="Georgia" panose="02040502050405020303" pitchFamily="18" charset="0"/>
                  </a:rPr>
                  <a:t>=PRUEBA.CHICUAD(B9:G9;B10:G10)</a:t>
                </a:r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094E96A1-76FC-B368-29E1-3C0BAFB2F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009" y="5386647"/>
                <a:ext cx="3538479" cy="541623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D1FDD936-7C69-3600-C68A-1F7687371054}"/>
              </a:ext>
            </a:extLst>
          </p:cNvPr>
          <p:cNvCxnSpPr>
            <a:cxnSpLocks/>
          </p:cNvCxnSpPr>
          <p:nvPr/>
        </p:nvCxnSpPr>
        <p:spPr>
          <a:xfrm flipV="1">
            <a:off x="8041341" y="4912659"/>
            <a:ext cx="613632" cy="5897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3C3081CE-11FA-8A3D-3E29-BFF0413E91F5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3807839" y="2427357"/>
            <a:ext cx="5832343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2446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Ejemplo 12.2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26C715C-0927-B6A3-BDD3-C4B917378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314" y="1089000"/>
            <a:ext cx="7817372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880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B6CE8-5648-416C-8D52-381BD7D8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EB59C-4EDA-4E27-AD8A-EF43E7DBE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s-419" i="1" dirty="0"/>
              <a:t>Se sabe que la cantidad de gas contenida en las bombonas es una variable con media 40 m</a:t>
            </a:r>
            <a:r>
              <a:rPr lang="es-419" i="1" baseline="30000" dirty="0"/>
              <a:t>3</a:t>
            </a:r>
            <a:r>
              <a:rPr lang="es-419" i="1" dirty="0"/>
              <a:t> y desviación típica de 5 m</a:t>
            </a:r>
            <a:r>
              <a:rPr lang="es-419" i="1" baseline="30000" dirty="0"/>
              <a:t>3</a:t>
            </a:r>
            <a:r>
              <a:rPr lang="es-419" i="1" dirty="0"/>
              <a:t>. Los contenidos de 100 bombonas escogidas aleatoriamente fueron medidos con los siguientes resultados:</a:t>
            </a:r>
          </a:p>
          <a:p>
            <a:pPr marL="0" indent="0">
              <a:lnSpc>
                <a:spcPct val="170000"/>
              </a:lnSpc>
              <a:buNone/>
            </a:pPr>
            <a:endParaRPr lang="es-419" i="1" dirty="0"/>
          </a:p>
          <a:p>
            <a:pPr marL="0" indent="0">
              <a:lnSpc>
                <a:spcPct val="170000"/>
              </a:lnSpc>
              <a:buNone/>
            </a:pPr>
            <a:endParaRPr lang="es-419" i="1" dirty="0"/>
          </a:p>
          <a:p>
            <a:pPr marL="0" indent="0">
              <a:lnSpc>
                <a:spcPct val="170000"/>
              </a:lnSpc>
              <a:buNone/>
            </a:pPr>
            <a:endParaRPr lang="es-419" i="1" dirty="0"/>
          </a:p>
          <a:p>
            <a:pPr marL="0" indent="0">
              <a:lnSpc>
                <a:spcPct val="170000"/>
              </a:lnSpc>
              <a:buNone/>
            </a:pPr>
            <a:r>
              <a:rPr lang="es-419" i="1" dirty="0"/>
              <a:t>A la luz de estos resultados ¿se puede rechazar la hipótesis de normalidad?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s-419" i="1" dirty="0"/>
              <a:t>Se trata de contrastar:</a:t>
            </a:r>
          </a:p>
          <a:p>
            <a:pPr lvl="1">
              <a:lnSpc>
                <a:spcPct val="170000"/>
              </a:lnSpc>
            </a:pPr>
            <a:r>
              <a:rPr lang="es-419" i="1" dirty="0"/>
              <a:t>H</a:t>
            </a:r>
            <a:r>
              <a:rPr lang="es-419" i="1" baseline="-25000" dirty="0"/>
              <a:t>0</a:t>
            </a:r>
            <a:r>
              <a:rPr lang="es-419" i="1" dirty="0"/>
              <a:t>: f(x) es normal</a:t>
            </a:r>
          </a:p>
          <a:p>
            <a:pPr lvl="1">
              <a:lnSpc>
                <a:spcPct val="170000"/>
              </a:lnSpc>
            </a:pPr>
            <a:r>
              <a:rPr lang="es-419" i="1" dirty="0"/>
              <a:t>H</a:t>
            </a:r>
            <a:r>
              <a:rPr lang="es-419" i="1" baseline="-25000" dirty="0"/>
              <a:t>1</a:t>
            </a:r>
            <a:r>
              <a:rPr lang="es-419" i="1" dirty="0"/>
              <a:t>: f(x) no es normal</a:t>
            </a:r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677367"/>
              </p:ext>
            </p:extLst>
          </p:nvPr>
        </p:nvGraphicFramePr>
        <p:xfrm>
          <a:off x="1716505" y="2446323"/>
          <a:ext cx="8758990" cy="1285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7306">
                  <a:extLst>
                    <a:ext uri="{9D8B030D-6E8A-4147-A177-3AD203B41FA5}">
                      <a16:colId xmlns:a16="http://schemas.microsoft.com/office/drawing/2014/main" val="580512515"/>
                    </a:ext>
                  </a:extLst>
                </a:gridCol>
                <a:gridCol w="1254492">
                  <a:extLst>
                    <a:ext uri="{9D8B030D-6E8A-4147-A177-3AD203B41FA5}">
                      <a16:colId xmlns:a16="http://schemas.microsoft.com/office/drawing/2014/main" val="3039725642"/>
                    </a:ext>
                  </a:extLst>
                </a:gridCol>
                <a:gridCol w="875899">
                  <a:extLst>
                    <a:ext uri="{9D8B030D-6E8A-4147-A177-3AD203B41FA5}">
                      <a16:colId xmlns:a16="http://schemas.microsoft.com/office/drawing/2014/main" val="356542186"/>
                    </a:ext>
                  </a:extLst>
                </a:gridCol>
                <a:gridCol w="875899">
                  <a:extLst>
                    <a:ext uri="{9D8B030D-6E8A-4147-A177-3AD203B41FA5}">
                      <a16:colId xmlns:a16="http://schemas.microsoft.com/office/drawing/2014/main" val="4262708769"/>
                    </a:ext>
                  </a:extLst>
                </a:gridCol>
                <a:gridCol w="875899">
                  <a:extLst>
                    <a:ext uri="{9D8B030D-6E8A-4147-A177-3AD203B41FA5}">
                      <a16:colId xmlns:a16="http://schemas.microsoft.com/office/drawing/2014/main" val="784654141"/>
                    </a:ext>
                  </a:extLst>
                </a:gridCol>
                <a:gridCol w="875899">
                  <a:extLst>
                    <a:ext uri="{9D8B030D-6E8A-4147-A177-3AD203B41FA5}">
                      <a16:colId xmlns:a16="http://schemas.microsoft.com/office/drawing/2014/main" val="2192949755"/>
                    </a:ext>
                  </a:extLst>
                </a:gridCol>
                <a:gridCol w="875899">
                  <a:extLst>
                    <a:ext uri="{9D8B030D-6E8A-4147-A177-3AD203B41FA5}">
                      <a16:colId xmlns:a16="http://schemas.microsoft.com/office/drawing/2014/main" val="3599674200"/>
                    </a:ext>
                  </a:extLst>
                </a:gridCol>
                <a:gridCol w="875899">
                  <a:extLst>
                    <a:ext uri="{9D8B030D-6E8A-4147-A177-3AD203B41FA5}">
                      <a16:colId xmlns:a16="http://schemas.microsoft.com/office/drawing/2014/main" val="2333833016"/>
                    </a:ext>
                  </a:extLst>
                </a:gridCol>
                <a:gridCol w="875899">
                  <a:extLst>
                    <a:ext uri="{9D8B030D-6E8A-4147-A177-3AD203B41FA5}">
                      <a16:colId xmlns:a16="http://schemas.microsoft.com/office/drawing/2014/main" val="286184672"/>
                    </a:ext>
                  </a:extLst>
                </a:gridCol>
                <a:gridCol w="875899">
                  <a:extLst>
                    <a:ext uri="{9D8B030D-6E8A-4147-A177-3AD203B41FA5}">
                      <a16:colId xmlns:a16="http://schemas.microsoft.com/office/drawing/2014/main" val="6005492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419" i="1" dirty="0">
                          <a:latin typeface="Georgia" panose="02040502050405020303" pitchFamily="18" charset="0"/>
                        </a:rPr>
                        <a:t>X</a:t>
                      </a:r>
                      <a:endParaRPr lang="en-US" i="1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i="1" dirty="0">
                          <a:latin typeface="Georgia" panose="02040502050405020303" pitchFamily="18" charset="0"/>
                        </a:rPr>
                        <a:t>m</a:t>
                      </a:r>
                      <a:r>
                        <a:rPr lang="es-419" i="1" baseline="30000" dirty="0">
                          <a:latin typeface="Georgia" panose="02040502050405020303" pitchFamily="18" charset="0"/>
                        </a:rPr>
                        <a:t>3</a:t>
                      </a:r>
                      <a:endParaRPr lang="en-US" i="1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Georgia" panose="02040502050405020303" pitchFamily="18" charset="0"/>
                        </a:rPr>
                        <a:t>&lt;3</a:t>
                      </a:r>
                      <a:r>
                        <a:rPr lang="es-419" i="1" dirty="0">
                          <a:latin typeface="Georgia" panose="02040502050405020303" pitchFamily="18" charset="0"/>
                        </a:rPr>
                        <a:t>0</a:t>
                      </a:r>
                      <a:endParaRPr lang="en-US" i="1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i="1" dirty="0">
                          <a:latin typeface="Georgia" panose="02040502050405020303" pitchFamily="18" charset="0"/>
                        </a:rPr>
                        <a:t>30-33</a:t>
                      </a:r>
                      <a:endParaRPr lang="en-US" i="1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i="1" dirty="0">
                          <a:latin typeface="Georgia" panose="02040502050405020303" pitchFamily="18" charset="0"/>
                        </a:rPr>
                        <a:t>33-36</a:t>
                      </a:r>
                      <a:endParaRPr lang="en-US" i="1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i="1" dirty="0">
                          <a:latin typeface="Georgia" panose="02040502050405020303" pitchFamily="18" charset="0"/>
                        </a:rPr>
                        <a:t>36-39</a:t>
                      </a:r>
                      <a:endParaRPr lang="en-US" i="1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i="1" dirty="0">
                          <a:latin typeface="Georgia" panose="02040502050405020303" pitchFamily="18" charset="0"/>
                        </a:rPr>
                        <a:t>39-42</a:t>
                      </a:r>
                      <a:endParaRPr lang="en-US" i="1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i="1" dirty="0">
                          <a:latin typeface="Georgia" panose="02040502050405020303" pitchFamily="18" charset="0"/>
                        </a:rPr>
                        <a:t>42-45</a:t>
                      </a:r>
                      <a:endParaRPr lang="en-US" i="1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i="1" dirty="0">
                          <a:latin typeface="Georgia" panose="02040502050405020303" pitchFamily="18" charset="0"/>
                        </a:rPr>
                        <a:t>45-48</a:t>
                      </a:r>
                      <a:endParaRPr lang="en-US" i="1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Georgia" panose="02040502050405020303" pitchFamily="18" charset="0"/>
                        </a:rPr>
                        <a:t>&gt;48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5007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419" i="1" dirty="0">
                          <a:latin typeface="Georgia" panose="02040502050405020303" pitchFamily="18" charset="0"/>
                        </a:rPr>
                        <a:t>f</a:t>
                      </a:r>
                      <a:r>
                        <a:rPr lang="es-419" i="1" baseline="-25000" dirty="0">
                          <a:latin typeface="Georgia" panose="02040502050405020303" pitchFamily="18" charset="0"/>
                        </a:rPr>
                        <a:t>i</a:t>
                      </a:r>
                      <a:endParaRPr lang="en-US" i="1" baseline="-25000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i="1" dirty="0">
                          <a:latin typeface="Georgia" panose="02040502050405020303" pitchFamily="18" charset="0"/>
                        </a:rPr>
                        <a:t>Número de bombonas</a:t>
                      </a:r>
                      <a:endParaRPr lang="en-US" i="1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Georgia" panose="02040502050405020303" pitchFamily="18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Georgia" panose="02040502050405020303" pitchFamily="18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Georgia" panose="02040502050405020303" pitchFamily="18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Georgia" panose="02040502050405020303" pitchFamily="18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566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93345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5D0F3C51-9EE7-F006-985F-1E734C4EA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76" y="1269000"/>
            <a:ext cx="9966248" cy="432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12.5</a:t>
            </a:r>
          </a:p>
        </p:txBody>
      </p:sp>
      <p:sp>
        <p:nvSpPr>
          <p:cNvPr id="4" name="Cerrar llave 3">
            <a:extLst>
              <a:ext uri="{FF2B5EF4-FFF2-40B4-BE49-F238E27FC236}">
                <a16:creationId xmlns:a16="http://schemas.microsoft.com/office/drawing/2014/main" id="{FB9DB599-EC40-EC3D-8D79-6A0EA8654039}"/>
              </a:ext>
            </a:extLst>
          </p:cNvPr>
          <p:cNvSpPr/>
          <p:nvPr/>
        </p:nvSpPr>
        <p:spPr>
          <a:xfrm>
            <a:off x="2958353" y="1483655"/>
            <a:ext cx="241649" cy="1013013"/>
          </a:xfrm>
          <a:prstGeom prst="rightBrace">
            <a:avLst/>
          </a:prstGeom>
          <a:ln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53D3CB8-F2F8-03F9-7E0B-F449899D02DC}"/>
              </a:ext>
            </a:extLst>
          </p:cNvPr>
          <p:cNvSpPr txBox="1"/>
          <p:nvPr/>
        </p:nvSpPr>
        <p:spPr>
          <a:xfrm>
            <a:off x="3200002" y="1805496"/>
            <a:ext cx="217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>
                <a:latin typeface="Georgia" panose="02040502050405020303" pitchFamily="18" charset="0"/>
              </a:rPr>
              <a:t>Datos del problema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E592F39-DF93-AB67-D0FB-12CE2C5E41B0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2517682" y="2994212"/>
            <a:ext cx="798963" cy="1846729"/>
          </a:xfrm>
          <a:prstGeom prst="straightConnector1">
            <a:avLst/>
          </a:prstGeom>
          <a:ln>
            <a:solidFill>
              <a:srgbClr val="003A5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B0ED2B2A-9FC7-D8D0-E090-3AB9A2614474}"/>
              </a:ext>
            </a:extLst>
          </p:cNvPr>
          <p:cNvSpPr txBox="1"/>
          <p:nvPr/>
        </p:nvSpPr>
        <p:spPr>
          <a:xfrm>
            <a:off x="1449482" y="4840941"/>
            <a:ext cx="2136400" cy="307777"/>
          </a:xfrm>
          <a:prstGeom prst="rect">
            <a:avLst/>
          </a:prstGeom>
          <a:noFill/>
          <a:ln>
            <a:solidFill>
              <a:srgbClr val="003A5D"/>
            </a:solidFill>
          </a:ln>
        </p:spPr>
        <p:txBody>
          <a:bodyPr wrap="square" rtlCol="0">
            <a:spAutoFit/>
          </a:bodyPr>
          <a:lstStyle/>
          <a:p>
            <a:r>
              <a:rPr lang="es-VE" sz="1400" dirty="0">
                <a:solidFill>
                  <a:srgbClr val="003A5D"/>
                </a:solidFill>
                <a:latin typeface="Georgia" panose="02040502050405020303" pitchFamily="18" charset="0"/>
              </a:rPr>
              <a:t>Frecuencias observadas</a:t>
            </a:r>
          </a:p>
        </p:txBody>
      </p:sp>
    </p:spTree>
    <p:extLst>
      <p:ext uri="{BB962C8B-B14F-4D97-AF65-F5344CB8AC3E}">
        <p14:creationId xmlns:p14="http://schemas.microsoft.com/office/powerpoint/2010/main" val="78788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5ED82AD-7797-F6AA-D141-DBFAE35A0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76" y="1269000"/>
            <a:ext cx="9966248" cy="432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12.5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9E2F4B3-56A6-6205-F559-F6CCC1A7F2EB}"/>
              </a:ext>
            </a:extLst>
          </p:cNvPr>
          <p:cNvSpPr txBox="1"/>
          <p:nvPr/>
        </p:nvSpPr>
        <p:spPr>
          <a:xfrm>
            <a:off x="3789270" y="4778188"/>
            <a:ext cx="4243106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1400" dirty="0">
                <a:solidFill>
                  <a:srgbClr val="C00000"/>
                </a:solidFill>
                <a:latin typeface="Georgia" panose="02040502050405020303" pitchFamily="18" charset="0"/>
              </a:rPr>
              <a:t>Probabilidades teóricas</a:t>
            </a:r>
            <a:endParaRPr lang="es-VE" sz="1400" dirty="0">
              <a:latin typeface="Georgia" panose="02040502050405020303" pitchFamily="18" charset="0"/>
            </a:endParaRPr>
          </a:p>
          <a:p>
            <a:pPr algn="ctr"/>
            <a:r>
              <a:rPr lang="es-VE" sz="1400" dirty="0">
                <a:latin typeface="Georgia" panose="02040502050405020303" pitchFamily="18" charset="0"/>
              </a:rPr>
              <a:t>=DISTR.NORM.N(B9;$B$2;$B$3;VERDADERO)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4E91935A-7ABD-C902-AE2D-4EB225A4DEEB}"/>
              </a:ext>
            </a:extLst>
          </p:cNvPr>
          <p:cNvCxnSpPr>
            <a:cxnSpLocks/>
          </p:cNvCxnSpPr>
          <p:nvPr/>
        </p:nvCxnSpPr>
        <p:spPr>
          <a:xfrm flipV="1">
            <a:off x="4405131" y="2850776"/>
            <a:ext cx="704751" cy="196907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81E69A3-4FDF-5AB5-4B72-CB7ED45DCAF2}"/>
              </a:ext>
            </a:extLst>
          </p:cNvPr>
          <p:cNvSpPr txBox="1"/>
          <p:nvPr/>
        </p:nvSpPr>
        <p:spPr>
          <a:xfrm>
            <a:off x="4264258" y="1592819"/>
            <a:ext cx="2175341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1400" dirty="0">
                <a:solidFill>
                  <a:srgbClr val="C00000"/>
                </a:solidFill>
                <a:latin typeface="Georgia" panose="02040502050405020303" pitchFamily="18" charset="0"/>
              </a:rPr>
              <a:t>Cuantil normalizado</a:t>
            </a:r>
            <a:endParaRPr lang="es-VE" sz="1400" dirty="0">
              <a:latin typeface="Georgia" panose="02040502050405020303" pitchFamily="18" charset="0"/>
            </a:endParaRPr>
          </a:p>
          <a:p>
            <a:pPr algn="ctr"/>
            <a:r>
              <a:rPr lang="es-VE" sz="1400" dirty="0">
                <a:latin typeface="Georgia" panose="02040502050405020303" pitchFamily="18" charset="0"/>
              </a:rPr>
              <a:t>=(B9-$B$2)/$B$3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E0E84587-F481-1577-7B82-C03881BE29C8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5351929" y="2116039"/>
            <a:ext cx="744071" cy="80645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B56547C-CEE0-5CFE-B780-B0018FB6C5A1}"/>
              </a:ext>
            </a:extLst>
          </p:cNvPr>
          <p:cNvSpPr txBox="1"/>
          <p:nvPr/>
        </p:nvSpPr>
        <p:spPr>
          <a:xfrm>
            <a:off x="6693835" y="1556592"/>
            <a:ext cx="4243106" cy="73866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1400" dirty="0">
                <a:solidFill>
                  <a:srgbClr val="C00000"/>
                </a:solidFill>
                <a:latin typeface="Georgia" panose="02040502050405020303" pitchFamily="18" charset="0"/>
              </a:rPr>
              <a:t>Probabilidades teóricas</a:t>
            </a:r>
            <a:endParaRPr lang="es-VE" sz="1400" dirty="0">
              <a:latin typeface="Georgia" panose="02040502050405020303" pitchFamily="18" charset="0"/>
            </a:endParaRPr>
          </a:p>
          <a:p>
            <a:pPr algn="ctr"/>
            <a:r>
              <a:rPr lang="pt-BR" sz="1400" dirty="0">
                <a:latin typeface="Georgia" panose="02040502050405020303" pitchFamily="18" charset="0"/>
              </a:rPr>
              <a:t>=DISTR.NORM.ESTAND.N(F10;VERDADERO)-DISTR.NORM.ESTAND.N(F9;VERDADERO)</a:t>
            </a:r>
            <a:endParaRPr lang="es-VE" sz="1400" dirty="0">
              <a:latin typeface="Georgia" panose="02040502050405020303" pitchFamily="18" charset="0"/>
            </a:endParaRP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D387CF6C-D8BD-0CF2-48CD-2C518FF56341}"/>
              </a:ext>
            </a:extLst>
          </p:cNvPr>
          <p:cNvCxnSpPr>
            <a:cxnSpLocks/>
          </p:cNvCxnSpPr>
          <p:nvPr/>
        </p:nvCxnSpPr>
        <p:spPr>
          <a:xfrm flipH="1">
            <a:off x="7729785" y="2295256"/>
            <a:ext cx="508780" cy="85135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256BD572-1DF3-6E25-9880-9DED3374063E}"/>
              </a:ext>
            </a:extLst>
          </p:cNvPr>
          <p:cNvSpPr txBox="1"/>
          <p:nvPr/>
        </p:nvSpPr>
        <p:spPr>
          <a:xfrm>
            <a:off x="1112876" y="5691926"/>
            <a:ext cx="9542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b="1" dirty="0">
                <a:solidFill>
                  <a:srgbClr val="003A5D"/>
                </a:solidFill>
                <a:latin typeface="Georgia" panose="02040502050405020303" pitchFamily="18" charset="0"/>
              </a:rPr>
              <a:t>Importante: </a:t>
            </a:r>
            <a:r>
              <a:rPr lang="es-VE" dirty="0">
                <a:latin typeface="Georgia" panose="02040502050405020303" pitchFamily="18" charset="0"/>
              </a:rPr>
              <a:t>recordar cómo calcular probabilidad para diferentes extremos de intervalos.</a:t>
            </a:r>
          </a:p>
        </p:txBody>
      </p:sp>
    </p:spTree>
    <p:extLst>
      <p:ext uri="{BB962C8B-B14F-4D97-AF65-F5344CB8AC3E}">
        <p14:creationId xmlns:p14="http://schemas.microsoft.com/office/powerpoint/2010/main" val="5463675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C59D35E-C2F1-B4AA-AFB0-4C967990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76" y="1269000"/>
            <a:ext cx="9966248" cy="432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12.5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2DF15B-80BE-63B6-A88C-E01B38F9C140}"/>
              </a:ext>
            </a:extLst>
          </p:cNvPr>
          <p:cNvSpPr txBox="1"/>
          <p:nvPr/>
        </p:nvSpPr>
        <p:spPr>
          <a:xfrm>
            <a:off x="5674658" y="1810870"/>
            <a:ext cx="2070847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1400" dirty="0">
                <a:solidFill>
                  <a:srgbClr val="C00000"/>
                </a:solidFill>
                <a:latin typeface="Georgia" panose="02040502050405020303" pitchFamily="18" charset="0"/>
              </a:rPr>
              <a:t>Frecuencias esperadas</a:t>
            </a:r>
            <a:endParaRPr lang="es-VE" sz="1400" dirty="0">
              <a:latin typeface="Georgia" panose="02040502050405020303" pitchFamily="18" charset="0"/>
            </a:endParaRPr>
          </a:p>
          <a:p>
            <a:pPr algn="ctr"/>
            <a:r>
              <a:rPr lang="es-VE" sz="1400" dirty="0">
                <a:latin typeface="Georgia" panose="02040502050405020303" pitchFamily="18" charset="0"/>
              </a:rPr>
              <a:t>=$B$4*G9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AC015C3-4440-10A3-F48D-9E1A53E61D02}"/>
              </a:ext>
            </a:extLst>
          </p:cNvPr>
          <p:cNvCxnSpPr>
            <a:cxnSpLocks/>
          </p:cNvCxnSpPr>
          <p:nvPr/>
        </p:nvCxnSpPr>
        <p:spPr>
          <a:xfrm>
            <a:off x="7440706" y="2187757"/>
            <a:ext cx="950259" cy="74370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5596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E0C81CCE-5EF4-F877-156E-DE6E3D29F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76" y="1269000"/>
            <a:ext cx="9966248" cy="432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12.5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1F9B928-330E-81D3-006F-00E0ED4CC869}"/>
              </a:ext>
            </a:extLst>
          </p:cNvPr>
          <p:cNvSpPr txBox="1"/>
          <p:nvPr/>
        </p:nvSpPr>
        <p:spPr>
          <a:xfrm>
            <a:off x="5176219" y="4921344"/>
            <a:ext cx="3538479" cy="52322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1400" dirty="0">
                <a:solidFill>
                  <a:srgbClr val="00B050"/>
                </a:solidFill>
                <a:latin typeface="Georgia" panose="02040502050405020303" pitchFamily="18" charset="0"/>
              </a:rPr>
              <a:t>Frecuencias ajustadas cuando se combinan </a:t>
            </a:r>
            <a:r>
              <a:rPr lang="es-VE" sz="1400" dirty="0" err="1">
                <a:solidFill>
                  <a:srgbClr val="00B050"/>
                </a:solidFill>
                <a:latin typeface="Georgia" panose="02040502050405020303" pitchFamily="18" charset="0"/>
              </a:rPr>
              <a:t>intervaos</a:t>
            </a:r>
            <a:r>
              <a:rPr lang="es-VE" sz="1400" dirty="0">
                <a:solidFill>
                  <a:srgbClr val="00B050"/>
                </a:solidFill>
                <a:latin typeface="Georgia" panose="02040502050405020303" pitchFamily="18" charset="0"/>
              </a:rPr>
              <a:t> 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44EEDF2B-4B1D-D93C-7929-72A7D93EDAA5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8714698" y="3998259"/>
            <a:ext cx="393443" cy="118469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CF08C527-B680-25B2-6D55-58E5CA675FF9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4500282" y="3863044"/>
            <a:ext cx="675937" cy="131991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74C92FA-AA32-B01C-C541-CCC349216BA9}"/>
              </a:ext>
            </a:extLst>
          </p:cNvPr>
          <p:cNvSpPr txBox="1"/>
          <p:nvPr/>
        </p:nvSpPr>
        <p:spPr>
          <a:xfrm>
            <a:off x="3598431" y="1782767"/>
            <a:ext cx="3538479" cy="52322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1400" dirty="0">
                <a:solidFill>
                  <a:srgbClr val="00B050"/>
                </a:solidFill>
                <a:latin typeface="Georgia" panose="02040502050405020303" pitchFamily="18" charset="0"/>
              </a:rPr>
              <a:t>Cambian grados de libertad con nuevo número de intervalos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2DAEDA37-C1F3-6745-966A-B7B1B0FE6D85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2653553" y="2044377"/>
            <a:ext cx="944878" cy="21991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7804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9A6DF35-0CF3-1A1B-C7C5-F64DFB6DD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76" y="1269000"/>
            <a:ext cx="9966248" cy="432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DE3B735-BC2B-C7EC-0E44-E4AE2F76C835}"/>
                  </a:ext>
                </a:extLst>
              </p:cNvPr>
              <p:cNvSpPr txBox="1"/>
              <p:nvPr/>
            </p:nvSpPr>
            <p:spPr>
              <a:xfrm>
                <a:off x="5362166" y="1706641"/>
                <a:ext cx="3744667" cy="523220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VE" sz="14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VE" sz="14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VE" sz="14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VE" sz="1400" dirty="0">
                    <a:solidFill>
                      <a:srgbClr val="00B050"/>
                    </a:solidFill>
                    <a:latin typeface="Georgia" panose="02040502050405020303" pitchFamily="18" charset="0"/>
                  </a:rPr>
                  <a:t>: Diferencia cuadrada entre frecuencias </a:t>
                </a:r>
              </a:p>
              <a:p>
                <a:pPr algn="ctr"/>
                <a:r>
                  <a:rPr lang="es-VE" sz="1400" dirty="0">
                    <a:latin typeface="Georgia" panose="02040502050405020303" pitchFamily="18" charset="0"/>
                  </a:rPr>
                  <a:t>=(D10-I10)^2/I10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DE3B735-BC2B-C7EC-0E44-E4AE2F76C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166" y="1706641"/>
                <a:ext cx="3744667" cy="523220"/>
              </a:xfrm>
              <a:prstGeom prst="rect">
                <a:avLst/>
              </a:prstGeom>
              <a:blipFill>
                <a:blip r:embed="rId3"/>
                <a:stretch>
                  <a:fillRect t="-2273" b="-7955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D5E2AD9A-0EDB-E960-5D4E-9E9AF089FC24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9106833" y="1968251"/>
            <a:ext cx="835026" cy="14607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5095D44D-9CDD-452A-5BF7-7B53BB8A02FB}"/>
                  </a:ext>
                </a:extLst>
              </p:cNvPr>
              <p:cNvSpPr txBox="1"/>
              <p:nvPr/>
            </p:nvSpPr>
            <p:spPr>
              <a:xfrm>
                <a:off x="4535883" y="4720331"/>
                <a:ext cx="3538479" cy="523220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VE" sz="14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VE" sz="14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VE" sz="14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VE" sz="1400" dirty="0">
                    <a:solidFill>
                      <a:srgbClr val="00B050"/>
                    </a:solidFill>
                    <a:latin typeface="Georgia" panose="02040502050405020303" pitchFamily="18" charset="0"/>
                  </a:rPr>
                  <a:t>: Sumatoria de diferencias cuadradas</a:t>
                </a:r>
              </a:p>
              <a:p>
                <a:pPr algn="ctr"/>
                <a:r>
                  <a:rPr lang="es-VE" sz="1400" dirty="0">
                    <a:latin typeface="Georgia" panose="02040502050405020303" pitchFamily="18" charset="0"/>
                  </a:rPr>
                  <a:t>=SUMA(J10:J16)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5095D44D-9CDD-452A-5BF7-7B53BB8A0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883" y="4720331"/>
                <a:ext cx="3538479" cy="523220"/>
              </a:xfrm>
              <a:prstGeom prst="rect">
                <a:avLst/>
              </a:prstGeom>
              <a:blipFill>
                <a:blip r:embed="rId4"/>
                <a:stretch>
                  <a:fillRect t="-1136" b="-9091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3D5D322C-9F68-4390-579F-02A6BD2C4D47}"/>
              </a:ext>
            </a:extLst>
          </p:cNvPr>
          <p:cNvCxnSpPr>
            <a:cxnSpLocks/>
          </p:cNvCxnSpPr>
          <p:nvPr/>
        </p:nvCxnSpPr>
        <p:spPr>
          <a:xfrm flipV="1">
            <a:off x="8074362" y="4374882"/>
            <a:ext cx="1769240" cy="60705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858F89E-148F-4218-7308-77ECD8AD1055}"/>
                  </a:ext>
                </a:extLst>
              </p:cNvPr>
              <p:cNvSpPr txBox="1"/>
              <p:nvPr/>
            </p:nvSpPr>
            <p:spPr>
              <a:xfrm>
                <a:off x="5468733" y="5404603"/>
                <a:ext cx="3538479" cy="523220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VE" sz="1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VE" sz="1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VE" sz="1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VE" sz="1400" dirty="0">
                    <a:solidFill>
                      <a:srgbClr val="00B0F0"/>
                    </a:solidFill>
                    <a:latin typeface="Georgia" panose="02040502050405020303" pitchFamily="18" charset="0"/>
                  </a:rPr>
                  <a:t>: Valor crítico de contraste</a:t>
                </a:r>
                <a:endParaRPr lang="es-VE" sz="1400" dirty="0">
                  <a:latin typeface="Georgia" panose="02040502050405020303" pitchFamily="18" charset="0"/>
                </a:endParaRPr>
              </a:p>
              <a:p>
                <a:pPr algn="ctr"/>
                <a:r>
                  <a:rPr lang="es-VE" sz="1400" dirty="0">
                    <a:latin typeface="Georgia" panose="02040502050405020303" pitchFamily="18" charset="0"/>
                  </a:rPr>
                  <a:t>=INV.CHICUAD.CD(B5;B6)</a:t>
                </a: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858F89E-148F-4218-7308-77ECD8AD1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733" y="5404603"/>
                <a:ext cx="3538479" cy="523220"/>
              </a:xfrm>
              <a:prstGeom prst="rect">
                <a:avLst/>
              </a:prstGeom>
              <a:blipFill>
                <a:blip r:embed="rId5"/>
                <a:stretch>
                  <a:fillRect t="-2299" b="-919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A573736-3AB5-2E00-5F6E-C368FAC4035D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9007212" y="4464424"/>
            <a:ext cx="1508388" cy="120178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9003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1D1F064-BF15-F0CE-CDCA-B0999FE4C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76" y="1269000"/>
            <a:ext cx="9966248" cy="432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43592A5-3175-CE63-769B-899F7A9BF836}"/>
                  </a:ext>
                </a:extLst>
              </p:cNvPr>
              <p:cNvSpPr txBox="1"/>
              <p:nvPr/>
            </p:nvSpPr>
            <p:spPr>
              <a:xfrm>
                <a:off x="5675544" y="4505754"/>
                <a:ext cx="2902377" cy="541623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𝑣𝑎𝑙𝑜𝑟</m:t>
                      </m:r>
                    </m:oMath>
                  </m:oMathPara>
                </a14:m>
                <a:endParaRPr lang="es-VE" sz="1400" dirty="0">
                  <a:latin typeface="Georgia" panose="02040502050405020303" pitchFamily="18" charset="0"/>
                </a:endParaRPr>
              </a:p>
              <a:p>
                <a:pPr algn="ctr"/>
                <a:r>
                  <a:rPr lang="pt-BR" sz="1400" dirty="0">
                    <a:latin typeface="Georgia" panose="02040502050405020303" pitchFamily="18" charset="0"/>
                  </a:rPr>
                  <a:t>=DISTR.CHICUAD.CD(J17;B6)</a:t>
                </a:r>
                <a:endParaRPr lang="es-VE" sz="14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43592A5-3175-CE63-769B-899F7A9BF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544" y="4505754"/>
                <a:ext cx="2902377" cy="541623"/>
              </a:xfrm>
              <a:prstGeom prst="rect">
                <a:avLst/>
              </a:prstGeom>
              <a:blipFill>
                <a:blip r:embed="rId3"/>
                <a:stretch>
                  <a:fillRect b="-5495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EFA99945-BDA9-607A-43AB-53ABF8062B4C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8577921" y="4734493"/>
            <a:ext cx="1426691" cy="42073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A66D6A7-EFE7-9A7B-0E3E-79EB4022B85B}"/>
                  </a:ext>
                </a:extLst>
              </p:cNvPr>
              <p:cNvSpPr txBox="1"/>
              <p:nvPr/>
            </p:nvSpPr>
            <p:spPr>
              <a:xfrm>
                <a:off x="8849831" y="1861897"/>
                <a:ext cx="2019942" cy="523220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𝑁𝑖𝑣𝑒𝑙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𝑠𝑖𝑔𝑛𝑖𝑓𝑖𝑐𝑎𝑛𝑐𝑖𝑎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VE" sz="1400" b="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s-VE" sz="14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A66D6A7-EFE7-9A7B-0E3E-79EB4022B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831" y="1861897"/>
                <a:ext cx="201994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8A6F27C4-E9E5-AE98-4BC7-BD65298B1833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0869773" y="2123507"/>
            <a:ext cx="0" cy="254710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29567099-9564-7BDF-816A-A8207DB56993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2743200" y="2123507"/>
            <a:ext cx="6106631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2B08479-CCA6-309C-627A-AFB26CE8D97A}"/>
                  </a:ext>
                </a:extLst>
              </p:cNvPr>
              <p:cNvSpPr txBox="1"/>
              <p:nvPr/>
            </p:nvSpPr>
            <p:spPr>
              <a:xfrm>
                <a:off x="5739153" y="5439059"/>
                <a:ext cx="3538479" cy="54162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VE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VE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VE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𝑣𝑎𝑙𝑜𝑟</m:t>
                      </m:r>
                    </m:oMath>
                  </m:oMathPara>
                </a14:m>
                <a:endParaRPr lang="es-VE" sz="1400" dirty="0">
                  <a:solidFill>
                    <a:schemeClr val="tx1"/>
                  </a:solidFill>
                  <a:latin typeface="Georgia" panose="02040502050405020303" pitchFamily="18" charset="0"/>
                </a:endParaRPr>
              </a:p>
              <a:p>
                <a:pPr algn="ctr"/>
                <a:r>
                  <a:rPr lang="es-VE" sz="1400" dirty="0">
                    <a:latin typeface="Georgia" panose="02040502050405020303" pitchFamily="18" charset="0"/>
                  </a:rPr>
                  <a:t>=PRUEBA.CHICUAD(D10:D16;I10:I16)</a:t>
                </a: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2B08479-CCA6-309C-627A-AFB26CE8D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153" y="5439059"/>
                <a:ext cx="3538479" cy="541623"/>
              </a:xfrm>
              <a:prstGeom prst="rect">
                <a:avLst/>
              </a:prstGeom>
              <a:blipFill>
                <a:blip r:embed="rId5"/>
                <a:stretch>
                  <a:fillRect b="-54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065624B-78E5-F71E-904A-4FA34AD90DC3}"/>
              </a:ext>
            </a:extLst>
          </p:cNvPr>
          <p:cNvCxnSpPr>
            <a:cxnSpLocks/>
          </p:cNvCxnSpPr>
          <p:nvPr/>
        </p:nvCxnSpPr>
        <p:spPr>
          <a:xfrm flipV="1">
            <a:off x="9027459" y="5100918"/>
            <a:ext cx="977153" cy="5133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9548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12.5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D714279-4AD8-AB5E-B6FA-BC1EB73C1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776" y="1089000"/>
            <a:ext cx="8414449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6265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Kolmogórov-Smirnov</a:t>
            </a:r>
            <a:endParaRPr lang="es-419" dirty="0"/>
          </a:p>
        </p:txBody>
      </p:sp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Definición y ejemplo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8783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Contraste de Kolmogórov-Smirnov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Función similar al contraste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419" dirty="0"/>
                  <a:t> para estudiar si un conjunto de datos muestrales proviene de una función de distribución determinada.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Solo puede usarse para variables continuas.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La función está completamente especificada en forma y parámetros.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Muestra aleatoria de tamaño </a:t>
                </a:r>
                <a:r>
                  <a:rPr lang="es-419" b="1" dirty="0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, queremos contrastar.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𝐿𝑎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𝑓𝑢𝑛𝑐𝑖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ó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𝑑𝑖𝑠𝑡𝑟𝑖𝑏𝑢𝑐𝑖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ó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𝑒𝑠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𝐿𝑎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𝑓𝑢𝑛𝑐𝑖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ó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𝑑𝑒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𝑑𝑖𝑠𝑡𝑟𝑖𝑏𝑢𝑐𝑖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ó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𝑛𝑜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𝑒𝑠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Comparar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dirty="0"/>
                  <a:t> muestral 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419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419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dirty="0"/>
                  <a:t> teórica.  </a:t>
                </a:r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 lvl="1"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b="1" i="1" dirty="0">
                  <a:solidFill>
                    <a:srgbClr val="003A5D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16080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Contraste de Kolmogórov-Smirnov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419" dirty="0"/>
                  <a:t>Ordenar datos muestrales de menor a mayor (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1</a:t>
                </a:r>
                <a:r>
                  <a:rPr lang="es-419" dirty="0"/>
                  <a:t>,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2</a:t>
                </a:r>
                <a:r>
                  <a:rPr lang="es-419" dirty="0"/>
                  <a:t>,…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x</a:t>
                </a:r>
                <a:r>
                  <a:rPr lang="es-419" b="1" i="1" baseline="-25000" dirty="0" err="1">
                    <a:solidFill>
                      <a:srgbClr val="003A5D"/>
                    </a:solidFill>
                  </a:rPr>
                  <a:t>n</a:t>
                </a:r>
                <a:r>
                  <a:rPr lang="es-419" dirty="0"/>
                  <a:t>).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419" dirty="0"/>
                  <a:t>Se calcula la función de distribución muestral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&lt; </m:t>
                    </m:r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s-419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s-419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𝑚𝑒𝑛𝑜𝑟𝑒𝑠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𝑖𝑔𝑢𝑎𝑙𝑒𝑠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=1…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s-419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419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419" dirty="0"/>
                  <a:t>Calcular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419" dirty="0"/>
                  <a:t> para cada dato: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s-419" dirty="0"/>
                  <a:t> es la probabilidad de que el dato sea </a:t>
                </a:r>
                <a14:m>
                  <m:oMath xmlns:m="http://schemas.openxmlformats.org/officeDocument/2006/math"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s-419" dirty="0"/>
                  <a:t> que el dato bajo hipótesis nula.</a:t>
                </a:r>
              </a:p>
              <a:p>
                <a:pPr lvl="1">
                  <a:lnSpc>
                    <a:spcPct val="150000"/>
                  </a:lnSpc>
                </a:pPr>
                <a:endParaRPr lang="es-419" dirty="0"/>
              </a:p>
              <a:p>
                <a:pPr lvl="1">
                  <a:lnSpc>
                    <a:spcPct val="150000"/>
                  </a:lnSpc>
                </a:pPr>
                <a:endParaRPr lang="es-419" dirty="0"/>
              </a:p>
              <a:p>
                <a:pPr lvl="1"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b="1" i="1" dirty="0">
                  <a:solidFill>
                    <a:srgbClr val="003A5D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65279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Contraste de Kolmogórov-Smirnov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4"/>
                </a:pPr>
                <a:r>
                  <a:rPr lang="es-419" dirty="0"/>
                  <a:t>Calcular el estadístico: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419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419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Máxima desviación absoluta entre la función de </a:t>
                </a:r>
                <a:r>
                  <a:rPr lang="es-419" dirty="0" err="1"/>
                  <a:t>dist</a:t>
                </a:r>
                <a:r>
                  <a:rPr lang="es-419" dirty="0"/>
                  <a:t>. muestral y la teórica.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 startAt="5"/>
                </a:pPr>
                <a:r>
                  <a:rPr lang="es-419" dirty="0"/>
                  <a:t>Realizar contraste: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419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begChr m:val="|"/>
                        <m:endChr m:val="]"/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Contraste de una cola por la derecha: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419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𝑟𝑒𝑐h𝑎𝑧𝑎</m:t>
                    </m:r>
                    <m:r>
                      <a:rPr lang="es-419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419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419" dirty="0"/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𝑛𝑜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𝑟𝑒𝑐h𝑎𝑧𝑎</m:t>
                    </m:r>
                    <m:r>
                      <a:rPr lang="es-419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s-419" dirty="0"/>
                  <a:t> número tal que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419" dirty="0"/>
                  <a:t> es la probabilidad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419" dirty="0"/>
                  <a:t> sea mayor que él cuando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419" dirty="0"/>
                  <a:t> es verdadera.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b="1" i="1" dirty="0">
                  <a:solidFill>
                    <a:srgbClr val="003A5D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9815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30 segundos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2D7072-22D5-5CE2-66CC-3EAF549E62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s-VE" i="1" dirty="0"/>
              </a:p>
              <a:p>
                <a:pPr marL="0" indent="0">
                  <a:buNone/>
                </a:pPr>
                <a:endParaRPr lang="es-VE" i="1" dirty="0"/>
              </a:p>
              <a:p>
                <a:pPr marL="0" indent="0">
                  <a:buNone/>
                </a:pPr>
                <a:endParaRPr lang="es-VE" i="1" dirty="0"/>
              </a:p>
              <a:p>
                <a:pPr marL="0" indent="0">
                  <a:buNone/>
                </a:pPr>
                <a:endParaRPr lang="es-VE" i="1" dirty="0"/>
              </a:p>
              <a:p>
                <a:pPr marL="0" indent="0" algn="ctr">
                  <a:buNone/>
                </a:pPr>
                <a:r>
                  <a:rPr lang="es-VE" i="1" dirty="0"/>
                  <a:t>¿Para una misma muestra, las conclusiones del contraste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V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V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VE" i="1" dirty="0"/>
                  <a:t>de Pearson serán consistente con el contraste Kolmogórov-Smirnov?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C2D7072-22D5-5CE2-66CC-3EAF549E62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290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79604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B6CE8-5648-416C-8D52-381BD7D8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8EB59C-4EDA-4E27-AD8A-EF43E7DBEF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419" i="1" dirty="0"/>
                  <a:t>Usar el contraste Kolmogórov-Smirnov para resolver el ejemplo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12.5.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i="1" dirty="0"/>
                  <a:t>H</a:t>
                </a:r>
                <a:r>
                  <a:rPr lang="es-419" i="1" baseline="-25000" dirty="0"/>
                  <a:t>0</a:t>
                </a:r>
                <a:r>
                  <a:rPr lang="es-419" i="1" dirty="0"/>
                  <a:t>: F(x) es normal con </a:t>
                </a:r>
                <a:r>
                  <a:rPr lang="es-419" i="1"/>
                  <a:t>media 40 </a:t>
                </a:r>
                <a:r>
                  <a:rPr lang="es-419" i="1" dirty="0"/>
                  <a:t>y desviación típica 5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b="1" i="1" dirty="0"/>
                  <a:t>Nota: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419" dirty="0" err="1"/>
                  <a:t>Casuso</a:t>
                </a:r>
                <a:r>
                  <a:rPr lang="es-419" dirty="0"/>
                  <a:t> comete un error en el último paso al seleccionar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419" dirty="0"/>
                  <a:t> como </a:t>
                </a:r>
                <a:r>
                  <a:rPr lang="es-419" b="1" dirty="0">
                    <a:solidFill>
                      <a:srgbClr val="003A5D"/>
                    </a:solidFill>
                  </a:rPr>
                  <a:t>0,0219</a:t>
                </a:r>
                <a:r>
                  <a:rPr lang="es-419" dirty="0"/>
                  <a:t> incluso cuando en el paso anterior lo identificó como </a:t>
                </a:r>
                <a:r>
                  <a:rPr lang="es-419" b="1" dirty="0">
                    <a:solidFill>
                      <a:srgbClr val="003A5D"/>
                    </a:solidFill>
                  </a:rPr>
                  <a:t>0,0654</a:t>
                </a:r>
                <a:r>
                  <a:rPr lang="es-419" dirty="0">
                    <a:solidFill>
                      <a:srgbClr val="003A5D"/>
                    </a:solidFill>
                  </a:rPr>
                  <a:t>.</a:t>
                </a:r>
                <a:r>
                  <a:rPr lang="es-419" dirty="0"/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s-419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8EB59C-4EDA-4E27-AD8A-EF43E7DBEF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3844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12.10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EFC6679-96C2-D49E-5461-F4932C143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549" y="1629000"/>
            <a:ext cx="7808902" cy="3600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52E0010-846C-CAC1-B985-366791434E46}"/>
              </a:ext>
            </a:extLst>
          </p:cNvPr>
          <p:cNvSpPr txBox="1"/>
          <p:nvPr/>
        </p:nvSpPr>
        <p:spPr>
          <a:xfrm>
            <a:off x="1112876" y="5691926"/>
            <a:ext cx="9384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b="1" dirty="0">
                <a:solidFill>
                  <a:srgbClr val="003A5D"/>
                </a:solidFill>
                <a:latin typeface="Georgia" panose="02040502050405020303" pitchFamily="18" charset="0"/>
              </a:rPr>
              <a:t>Importante: </a:t>
            </a:r>
            <a:r>
              <a:rPr lang="es-VE" dirty="0">
                <a:latin typeface="Georgia" panose="02040502050405020303" pitchFamily="18" charset="0"/>
              </a:rPr>
              <a:t>En este caso haremos referencia a datos del ejercicio anterior ya calculados.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5710519-BE3D-DD28-06E2-A860EC7D461F}"/>
              </a:ext>
            </a:extLst>
          </p:cNvPr>
          <p:cNvCxnSpPr>
            <a:cxnSpLocks/>
          </p:cNvCxnSpPr>
          <p:nvPr/>
        </p:nvCxnSpPr>
        <p:spPr>
          <a:xfrm flipV="1">
            <a:off x="1516435" y="3429000"/>
            <a:ext cx="1188928" cy="1846729"/>
          </a:xfrm>
          <a:prstGeom prst="straightConnector1">
            <a:avLst/>
          </a:prstGeom>
          <a:ln>
            <a:solidFill>
              <a:srgbClr val="003A5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F718441-8E49-37CC-77C3-EB1C6073002A}"/>
              </a:ext>
            </a:extLst>
          </p:cNvPr>
          <p:cNvSpPr txBox="1"/>
          <p:nvPr/>
        </p:nvSpPr>
        <p:spPr>
          <a:xfrm>
            <a:off x="838199" y="5275729"/>
            <a:ext cx="2702859" cy="307777"/>
          </a:xfrm>
          <a:prstGeom prst="rect">
            <a:avLst/>
          </a:prstGeom>
          <a:noFill/>
          <a:ln>
            <a:solidFill>
              <a:srgbClr val="003A5D"/>
            </a:solidFill>
          </a:ln>
        </p:spPr>
        <p:txBody>
          <a:bodyPr wrap="square" rtlCol="0">
            <a:spAutoFit/>
          </a:bodyPr>
          <a:lstStyle/>
          <a:p>
            <a:r>
              <a:rPr lang="es-VE" sz="1400" dirty="0">
                <a:solidFill>
                  <a:srgbClr val="003A5D"/>
                </a:solidFill>
                <a:latin typeface="Georgia" panose="02040502050405020303" pitchFamily="18" charset="0"/>
              </a:rPr>
              <a:t>Límite de intervalo ordenado</a:t>
            </a:r>
          </a:p>
        </p:txBody>
      </p:sp>
    </p:spTree>
    <p:extLst>
      <p:ext uri="{BB962C8B-B14F-4D97-AF65-F5344CB8AC3E}">
        <p14:creationId xmlns:p14="http://schemas.microsoft.com/office/powerpoint/2010/main" val="5989836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1E01501-D844-85D4-D422-A5CDDC446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549" y="1629000"/>
            <a:ext cx="7808902" cy="360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12.10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22D75EF-0E26-44D5-1702-A542C315DAB5}"/>
              </a:ext>
            </a:extLst>
          </p:cNvPr>
          <p:cNvSpPr txBox="1"/>
          <p:nvPr/>
        </p:nvSpPr>
        <p:spPr>
          <a:xfrm>
            <a:off x="5905611" y="5399034"/>
            <a:ext cx="4344800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1400" dirty="0">
                <a:solidFill>
                  <a:srgbClr val="C00000"/>
                </a:solidFill>
                <a:latin typeface="Georgia" panose="02040502050405020303" pitchFamily="18" charset="0"/>
              </a:rPr>
              <a:t>Frecuencia acumulada teórica</a:t>
            </a:r>
            <a:endParaRPr lang="es-VE" sz="1400" dirty="0">
              <a:latin typeface="Georgia" panose="02040502050405020303" pitchFamily="18" charset="0"/>
            </a:endParaRPr>
          </a:p>
          <a:p>
            <a:pPr algn="ctr"/>
            <a:r>
              <a:rPr lang="es-VE" sz="1400" dirty="0">
                <a:latin typeface="Georgia" panose="02040502050405020303" pitchFamily="18" charset="0"/>
              </a:rPr>
              <a:t>=DISTR.NORM.N(A29;$B$2;$B$3;VERDADERO)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FBEED7C-6952-3C19-F480-2C94694B8927}"/>
              </a:ext>
            </a:extLst>
          </p:cNvPr>
          <p:cNvSpPr txBox="1"/>
          <p:nvPr/>
        </p:nvSpPr>
        <p:spPr>
          <a:xfrm>
            <a:off x="1651746" y="5399034"/>
            <a:ext cx="3637430" cy="523220"/>
          </a:xfrm>
          <a:prstGeom prst="rect">
            <a:avLst/>
          </a:prstGeom>
          <a:noFill/>
          <a:ln>
            <a:solidFill>
              <a:srgbClr val="003A5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1400" dirty="0">
                <a:solidFill>
                  <a:srgbClr val="003A5D"/>
                </a:solidFill>
                <a:latin typeface="Georgia" panose="02040502050405020303" pitchFamily="18" charset="0"/>
              </a:rPr>
              <a:t>Frecuencia acumulada observada</a:t>
            </a:r>
          </a:p>
          <a:p>
            <a:pPr algn="ctr"/>
            <a:r>
              <a:rPr lang="pl-PL" sz="1400" dirty="0">
                <a:latin typeface="Georgia" panose="02040502050405020303" pitchFamily="18" charset="0"/>
              </a:rPr>
              <a:t>=SUMA($C$9:C9)/$C$17</a:t>
            </a:r>
            <a:endParaRPr lang="es-VE" sz="1400" dirty="0">
              <a:latin typeface="Georgia" panose="02040502050405020303" pitchFamily="18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1980A19-5611-C3CF-3ABC-BF11F8A125DE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470461" y="3429000"/>
            <a:ext cx="411257" cy="1970034"/>
          </a:xfrm>
          <a:prstGeom prst="straightConnector1">
            <a:avLst/>
          </a:prstGeom>
          <a:ln>
            <a:solidFill>
              <a:srgbClr val="003A5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ECD44392-1AA5-F998-7BCC-3370D541BD7C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5700433" y="3648635"/>
            <a:ext cx="2377578" cy="17503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8939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ED99087-AD99-118E-594D-23FB5580E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549" y="1629000"/>
            <a:ext cx="7808902" cy="360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12.10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7206C8-634A-50FC-D467-88B251001461}"/>
              </a:ext>
            </a:extLst>
          </p:cNvPr>
          <p:cNvSpPr txBox="1"/>
          <p:nvPr/>
        </p:nvSpPr>
        <p:spPr>
          <a:xfrm>
            <a:off x="2995501" y="5331568"/>
            <a:ext cx="3744667" cy="52322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1400" dirty="0">
                <a:solidFill>
                  <a:srgbClr val="00B050"/>
                </a:solidFill>
                <a:latin typeface="Georgia" panose="02040502050405020303" pitchFamily="18" charset="0"/>
              </a:rPr>
              <a:t>Diferencia absoluta entre frecuencias</a:t>
            </a:r>
          </a:p>
          <a:p>
            <a:pPr algn="ctr"/>
            <a:r>
              <a:rPr lang="es-VE" sz="1400" dirty="0">
                <a:latin typeface="Georgia" panose="02040502050405020303" pitchFamily="18" charset="0"/>
              </a:rPr>
              <a:t>=ABS(B29-C29)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8D2A962-FDE5-1A99-07B9-8CBE317EE34D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4867835" y="3935506"/>
            <a:ext cx="1479177" cy="139606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140394BD-A11A-2967-676F-9EAE131B33A5}"/>
              </a:ext>
            </a:extLst>
          </p:cNvPr>
          <p:cNvSpPr txBox="1"/>
          <p:nvPr/>
        </p:nvSpPr>
        <p:spPr>
          <a:xfrm>
            <a:off x="7513713" y="2418039"/>
            <a:ext cx="3261863" cy="52322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1400" dirty="0">
                <a:solidFill>
                  <a:srgbClr val="00B050"/>
                </a:solidFill>
                <a:latin typeface="Georgia" panose="02040502050405020303" pitchFamily="18" charset="0"/>
              </a:rPr>
              <a:t>Estadístico de contraste</a:t>
            </a:r>
          </a:p>
          <a:p>
            <a:pPr algn="ctr"/>
            <a:r>
              <a:rPr lang="es-VE" sz="1400" dirty="0">
                <a:latin typeface="Georgia" panose="02040502050405020303" pitchFamily="18" charset="0"/>
              </a:rPr>
              <a:t>=MAX(D28:D35)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5C10B21D-61BF-76E9-0A4A-197838701746}"/>
              </a:ext>
            </a:extLst>
          </p:cNvPr>
          <p:cNvCxnSpPr>
            <a:cxnSpLocks/>
          </p:cNvCxnSpPr>
          <p:nvPr/>
        </p:nvCxnSpPr>
        <p:spPr>
          <a:xfrm flipH="1">
            <a:off x="8014447" y="2941259"/>
            <a:ext cx="1130197" cy="137972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EF2AFC7-D6B6-D569-E2DD-C3F98B9C528F}"/>
                  </a:ext>
                </a:extLst>
              </p:cNvPr>
              <p:cNvSpPr txBox="1"/>
              <p:nvPr/>
            </p:nvSpPr>
            <p:spPr>
              <a:xfrm>
                <a:off x="7427259" y="5396429"/>
                <a:ext cx="3538479" cy="523220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VE" sz="1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VE" sz="1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VE" sz="1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VE" sz="1400" dirty="0">
                    <a:solidFill>
                      <a:srgbClr val="00B0F0"/>
                    </a:solidFill>
                    <a:latin typeface="Georgia" panose="02040502050405020303" pitchFamily="18" charset="0"/>
                  </a:rPr>
                  <a:t>: Valor crítico de contraste</a:t>
                </a:r>
                <a:endParaRPr lang="es-VE" sz="1400" dirty="0">
                  <a:latin typeface="Georgia" panose="02040502050405020303" pitchFamily="18" charset="0"/>
                </a:endParaRPr>
              </a:p>
              <a:p>
                <a:pPr algn="ctr"/>
                <a:r>
                  <a:rPr lang="es-VE" sz="1400" dirty="0">
                    <a:latin typeface="Georgia" panose="02040502050405020303" pitchFamily="18" charset="0"/>
                  </a:rPr>
                  <a:t>Se busca en tabla del </a:t>
                </a:r>
                <a:r>
                  <a:rPr lang="es-VE" sz="1400" dirty="0" err="1">
                    <a:latin typeface="Georgia" panose="02040502050405020303" pitchFamily="18" charset="0"/>
                  </a:rPr>
                  <a:t>Casuso</a:t>
                </a:r>
                <a:endParaRPr lang="es-VE" sz="14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EF2AFC7-D6B6-D569-E2DD-C3F98B9C5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7259" y="5396429"/>
                <a:ext cx="3538479" cy="523220"/>
              </a:xfrm>
              <a:prstGeom prst="rect">
                <a:avLst/>
              </a:prstGeom>
              <a:blipFill>
                <a:blip r:embed="rId3"/>
                <a:stretch>
                  <a:fillRect t="-2273" b="-909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4D72CC2-333C-005B-FB4C-ED8A67AB14E1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9196499" y="4761194"/>
            <a:ext cx="0" cy="635235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0120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EEB5D9A-5CB3-0B8B-2676-350AA32BEB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545" t="12403" r="994" b="11173"/>
          <a:stretch/>
        </p:blipFill>
        <p:spPr>
          <a:xfrm rot="-120000">
            <a:off x="4575575" y="855000"/>
            <a:ext cx="4116480" cy="514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12.10</a:t>
            </a:r>
          </a:p>
        </p:txBody>
      </p:sp>
    </p:spTree>
    <p:extLst>
      <p:ext uri="{BB962C8B-B14F-4D97-AF65-F5344CB8AC3E}">
        <p14:creationId xmlns:p14="http://schemas.microsoft.com/office/powerpoint/2010/main" val="9841534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EEB5D9A-5CB3-0B8B-2676-350AA32BEB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545" t="12403" r="994" b="11173"/>
          <a:stretch/>
        </p:blipFill>
        <p:spPr>
          <a:xfrm rot="-120000">
            <a:off x="4581552" y="854999"/>
            <a:ext cx="4116480" cy="514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12.10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D9CF038B-4E73-4FD4-3F06-BB2AF4EB2FD8}"/>
              </a:ext>
            </a:extLst>
          </p:cNvPr>
          <p:cNvSpPr/>
          <p:nvPr/>
        </p:nvSpPr>
        <p:spPr>
          <a:xfrm>
            <a:off x="6801224" y="908424"/>
            <a:ext cx="256988" cy="209176"/>
          </a:xfrm>
          <a:prstGeom prst="ellipse">
            <a:avLst/>
          </a:prstGeom>
          <a:noFill/>
          <a:ln>
            <a:solidFill>
              <a:srgbClr val="003A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53A7D51-5D46-4F24-24C0-0F52BE943DBF}"/>
              </a:ext>
            </a:extLst>
          </p:cNvPr>
          <p:cNvSpPr/>
          <p:nvPr/>
        </p:nvSpPr>
        <p:spPr>
          <a:xfrm>
            <a:off x="4852894" y="5151718"/>
            <a:ext cx="304800" cy="197223"/>
          </a:xfrm>
          <a:prstGeom prst="ellipse">
            <a:avLst/>
          </a:prstGeom>
          <a:noFill/>
          <a:ln>
            <a:solidFill>
              <a:srgbClr val="003A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6011711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EEB5D9A-5CB3-0B8B-2676-350AA32BEB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545" t="12403" r="994" b="11173"/>
          <a:stretch/>
        </p:blipFill>
        <p:spPr>
          <a:xfrm rot="-120000">
            <a:off x="4581552" y="854999"/>
            <a:ext cx="4116480" cy="514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12.10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D9CF038B-4E73-4FD4-3F06-BB2AF4EB2FD8}"/>
              </a:ext>
            </a:extLst>
          </p:cNvPr>
          <p:cNvSpPr/>
          <p:nvPr/>
        </p:nvSpPr>
        <p:spPr>
          <a:xfrm>
            <a:off x="6801224" y="908424"/>
            <a:ext cx="256988" cy="209176"/>
          </a:xfrm>
          <a:prstGeom prst="ellipse">
            <a:avLst/>
          </a:prstGeom>
          <a:noFill/>
          <a:ln>
            <a:solidFill>
              <a:srgbClr val="003A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53A7D51-5D46-4F24-24C0-0F52BE943DBF}"/>
              </a:ext>
            </a:extLst>
          </p:cNvPr>
          <p:cNvSpPr/>
          <p:nvPr/>
        </p:nvSpPr>
        <p:spPr>
          <a:xfrm>
            <a:off x="4852894" y="5151718"/>
            <a:ext cx="304800" cy="197223"/>
          </a:xfrm>
          <a:prstGeom prst="ellipse">
            <a:avLst/>
          </a:prstGeom>
          <a:noFill/>
          <a:ln>
            <a:solidFill>
              <a:srgbClr val="003A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13A83BA8-37C2-A439-BA2F-EE7F2AF36050}"/>
              </a:ext>
            </a:extLst>
          </p:cNvPr>
          <p:cNvCxnSpPr>
            <a:stCxn id="12" idx="6"/>
          </p:cNvCxnSpPr>
          <p:nvPr/>
        </p:nvCxnSpPr>
        <p:spPr>
          <a:xfrm flipV="1">
            <a:off x="5157694" y="5247341"/>
            <a:ext cx="1715247" cy="2989"/>
          </a:xfrm>
          <a:prstGeom prst="straightConnector1">
            <a:avLst/>
          </a:prstGeom>
          <a:ln>
            <a:solidFill>
              <a:srgbClr val="003A5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CB31691-CE8E-2AEF-96CF-3165709C8FC1}"/>
              </a:ext>
            </a:extLst>
          </p:cNvPr>
          <p:cNvCxnSpPr/>
          <p:nvPr/>
        </p:nvCxnSpPr>
        <p:spPr>
          <a:xfrm>
            <a:off x="6932706" y="1159435"/>
            <a:ext cx="59765" cy="3944471"/>
          </a:xfrm>
          <a:prstGeom prst="straightConnector1">
            <a:avLst/>
          </a:prstGeom>
          <a:ln>
            <a:solidFill>
              <a:srgbClr val="003A5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EBC50E6F-C7EE-076D-65E6-4BBE785D67C7}"/>
              </a:ext>
            </a:extLst>
          </p:cNvPr>
          <p:cNvSpPr/>
          <p:nvPr/>
        </p:nvSpPr>
        <p:spPr>
          <a:xfrm>
            <a:off x="6872941" y="5151718"/>
            <a:ext cx="262965" cy="14343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447390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C465127A-5AB6-3B3B-9727-F303FC1FB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549" y="1629000"/>
            <a:ext cx="7808902" cy="360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EF2AFC7-D6B6-D569-E2DD-C3F98B9C528F}"/>
                  </a:ext>
                </a:extLst>
              </p:cNvPr>
              <p:cNvSpPr txBox="1"/>
              <p:nvPr/>
            </p:nvSpPr>
            <p:spPr>
              <a:xfrm>
                <a:off x="7434933" y="2836251"/>
                <a:ext cx="3538479" cy="523220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VE" sz="1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VE" sz="1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VE" sz="1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VE" sz="1400" dirty="0">
                    <a:solidFill>
                      <a:srgbClr val="00B0F0"/>
                    </a:solidFill>
                    <a:latin typeface="Georgia" panose="02040502050405020303" pitchFamily="18" charset="0"/>
                  </a:rPr>
                  <a:t>: Valor crítico de contraste</a:t>
                </a:r>
                <a:endParaRPr lang="es-VE" sz="1400" dirty="0">
                  <a:latin typeface="Georgia" panose="02040502050405020303" pitchFamily="18" charset="0"/>
                </a:endParaRPr>
              </a:p>
              <a:p>
                <a:pPr algn="ctr"/>
                <a:r>
                  <a:rPr lang="es-VE" sz="1400" dirty="0">
                    <a:latin typeface="Georgia" panose="02040502050405020303" pitchFamily="18" charset="0"/>
                  </a:rPr>
                  <a:t>Se busca en tabla del </a:t>
                </a:r>
                <a:r>
                  <a:rPr lang="es-VE" sz="1400" dirty="0" err="1">
                    <a:latin typeface="Georgia" panose="02040502050405020303" pitchFamily="18" charset="0"/>
                  </a:rPr>
                  <a:t>Casuso</a:t>
                </a:r>
                <a:endParaRPr lang="es-VE" sz="1400" dirty="0">
                  <a:latin typeface="Georgia" panose="02040502050405020303" pitchFamily="18" charset="0"/>
                </a:endParaRP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EF2AFC7-D6B6-D569-E2DD-C3F98B9C5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4933" y="2836251"/>
                <a:ext cx="3538479" cy="523220"/>
              </a:xfrm>
              <a:prstGeom prst="rect">
                <a:avLst/>
              </a:prstGeom>
              <a:blipFill>
                <a:blip r:embed="rId3"/>
                <a:stretch>
                  <a:fillRect t="-1136" b="-909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7884901C-D0EC-AD1D-7943-DD8FA79B81A3}"/>
              </a:ext>
            </a:extLst>
          </p:cNvPr>
          <p:cNvCxnSpPr>
            <a:cxnSpLocks/>
          </p:cNvCxnSpPr>
          <p:nvPr/>
        </p:nvCxnSpPr>
        <p:spPr>
          <a:xfrm>
            <a:off x="9204173" y="3359471"/>
            <a:ext cx="0" cy="82219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3449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12.10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29F7DF-74E2-1EC8-89F0-F8851F1F0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110" y="1089000"/>
            <a:ext cx="8387781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3065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BB7AA6-FADF-4C74-BB6D-7BFBB63F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Tablas de contingencia</a:t>
            </a:r>
            <a:endParaRPr lang="es-419" dirty="0"/>
          </a:p>
        </p:txBody>
      </p:sp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Definición y ejemplo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7293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30 segundos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¿Qué son variables categóricas?</a:t>
            </a:r>
          </a:p>
        </p:txBody>
      </p:sp>
    </p:spTree>
    <p:extLst>
      <p:ext uri="{BB962C8B-B14F-4D97-AF65-F5344CB8AC3E}">
        <p14:creationId xmlns:p14="http://schemas.microsoft.com/office/powerpoint/2010/main" val="41280115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Contraste de independencia: tablas de contingencia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D2B7B-D57E-4721-9C41-C48E6975A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s-419" dirty="0"/>
              <a:t>Independencia de </a:t>
            </a:r>
            <a:r>
              <a:rPr lang="es-419" dirty="0" err="1"/>
              <a:t>v.a.s</a:t>
            </a:r>
            <a:r>
              <a:rPr lang="es-419" dirty="0"/>
              <a:t> que representan atributos o características de tipo cualitativo (variables categóricas).</a:t>
            </a:r>
          </a:p>
          <a:p>
            <a:pPr>
              <a:lnSpc>
                <a:spcPct val="150000"/>
              </a:lnSpc>
            </a:pPr>
            <a:r>
              <a:rPr lang="es-419" dirty="0"/>
              <a:t>Dividir población según ciertos criterios e investigar si existe relación.</a:t>
            </a:r>
          </a:p>
          <a:p>
            <a:pPr>
              <a:lnSpc>
                <a:spcPct val="150000"/>
              </a:lnSpc>
            </a:pPr>
            <a:r>
              <a:rPr lang="es-419" dirty="0"/>
              <a:t>Clasificar una población por criterio </a:t>
            </a:r>
            <a:r>
              <a:rPr lang="es-419" b="1" i="1" dirty="0">
                <a:solidFill>
                  <a:srgbClr val="003A5D"/>
                </a:solidFill>
              </a:rPr>
              <a:t>A</a:t>
            </a:r>
            <a:r>
              <a:rPr lang="es-419" dirty="0"/>
              <a:t> en </a:t>
            </a:r>
            <a:r>
              <a:rPr lang="es-419" b="1" i="1" dirty="0">
                <a:solidFill>
                  <a:srgbClr val="003A5D"/>
                </a:solidFill>
              </a:rPr>
              <a:t>h</a:t>
            </a:r>
            <a:r>
              <a:rPr lang="es-419" dirty="0"/>
              <a:t> categorías mutuamente excluyentes y criterio</a:t>
            </a:r>
            <a:r>
              <a:rPr lang="es-419" b="1" i="1" dirty="0">
                <a:solidFill>
                  <a:srgbClr val="003A5D"/>
                </a:solidFill>
              </a:rPr>
              <a:t> B </a:t>
            </a:r>
            <a:r>
              <a:rPr lang="es-419" dirty="0"/>
              <a:t>en </a:t>
            </a:r>
            <a:r>
              <a:rPr lang="es-419" b="1" i="1" dirty="0">
                <a:solidFill>
                  <a:srgbClr val="003A5D"/>
                </a:solidFill>
              </a:rPr>
              <a:t>c</a:t>
            </a:r>
            <a:r>
              <a:rPr lang="es-419" dirty="0"/>
              <a:t> categorías distintas.</a:t>
            </a:r>
          </a:p>
          <a:p>
            <a:pPr lvl="1">
              <a:lnSpc>
                <a:spcPct val="150000"/>
              </a:lnSpc>
            </a:pPr>
            <a:r>
              <a:rPr lang="es-419" i="1" dirty="0"/>
              <a:t>A</a:t>
            </a:r>
            <a:r>
              <a:rPr lang="es-419" i="1" baseline="-25000" dirty="0"/>
              <a:t>1</a:t>
            </a:r>
            <a:r>
              <a:rPr lang="es-419" dirty="0"/>
              <a:t>, </a:t>
            </a:r>
            <a:r>
              <a:rPr lang="es-419" i="1" dirty="0"/>
              <a:t>A</a:t>
            </a:r>
            <a:r>
              <a:rPr lang="es-419" i="1" baseline="-25000" dirty="0"/>
              <a:t>2</a:t>
            </a:r>
            <a:r>
              <a:rPr lang="es-419" dirty="0"/>
              <a:t>, </a:t>
            </a:r>
            <a:r>
              <a:rPr lang="es-419" i="1" dirty="0"/>
              <a:t>A</a:t>
            </a:r>
            <a:r>
              <a:rPr lang="es-419" i="1" baseline="-25000" dirty="0"/>
              <a:t>3</a:t>
            </a:r>
            <a:r>
              <a:rPr lang="es-419" dirty="0"/>
              <a:t>,… </a:t>
            </a:r>
            <a:r>
              <a:rPr lang="es-419" i="1" dirty="0"/>
              <a:t>A</a:t>
            </a:r>
            <a:r>
              <a:rPr lang="es-419" i="1" baseline="-25000" dirty="0"/>
              <a:t>h</a:t>
            </a:r>
          </a:p>
          <a:p>
            <a:pPr lvl="1">
              <a:lnSpc>
                <a:spcPct val="150000"/>
              </a:lnSpc>
            </a:pPr>
            <a:r>
              <a:rPr lang="es-419" i="1" dirty="0"/>
              <a:t>B</a:t>
            </a:r>
            <a:r>
              <a:rPr lang="es-419" i="1" baseline="-25000" dirty="0"/>
              <a:t>1</a:t>
            </a:r>
            <a:r>
              <a:rPr lang="es-419" dirty="0"/>
              <a:t>, </a:t>
            </a:r>
            <a:r>
              <a:rPr lang="es-419" i="1" dirty="0"/>
              <a:t>B</a:t>
            </a:r>
            <a:r>
              <a:rPr lang="es-419" i="1" baseline="-25000" dirty="0"/>
              <a:t>2</a:t>
            </a:r>
            <a:r>
              <a:rPr lang="es-419" dirty="0"/>
              <a:t>,… </a:t>
            </a:r>
            <a:r>
              <a:rPr lang="es-419" i="1" dirty="0" err="1"/>
              <a:t>B</a:t>
            </a:r>
            <a:r>
              <a:rPr lang="es-419" i="1" baseline="-25000" dirty="0" err="1"/>
              <a:t>c</a:t>
            </a:r>
            <a:endParaRPr lang="es-419" i="1" baseline="-25000" dirty="0"/>
          </a:p>
          <a:p>
            <a:pPr>
              <a:lnSpc>
                <a:spcPct val="150000"/>
              </a:lnSpc>
            </a:pPr>
            <a:r>
              <a:rPr lang="es-419" dirty="0"/>
              <a:t>Cada elemento de una muestra de tamaño </a:t>
            </a:r>
            <a:r>
              <a:rPr lang="es-419" b="1" i="1" dirty="0">
                <a:solidFill>
                  <a:srgbClr val="003A5D"/>
                </a:solidFill>
              </a:rPr>
              <a:t>n</a:t>
            </a:r>
            <a:r>
              <a:rPr lang="es-419" dirty="0"/>
              <a:t> clasificado en ambas categorías.</a:t>
            </a:r>
          </a:p>
          <a:p>
            <a:pPr lvl="1">
              <a:lnSpc>
                <a:spcPct val="150000"/>
              </a:lnSpc>
            </a:pPr>
            <a:r>
              <a:rPr lang="es-419" dirty="0"/>
              <a:t>Siendo </a:t>
            </a:r>
            <a:r>
              <a:rPr lang="es-419" b="1" i="1" dirty="0" err="1">
                <a:solidFill>
                  <a:srgbClr val="003A5D"/>
                </a:solidFill>
              </a:rPr>
              <a:t>n</a:t>
            </a:r>
            <a:r>
              <a:rPr lang="es-419" b="1" i="1" baseline="-25000" dirty="0" err="1">
                <a:solidFill>
                  <a:srgbClr val="003A5D"/>
                </a:solidFill>
              </a:rPr>
              <a:t>ij</a:t>
            </a:r>
            <a:r>
              <a:rPr lang="es-419" b="1" baseline="-25000" dirty="0">
                <a:solidFill>
                  <a:srgbClr val="003A5D"/>
                </a:solidFill>
              </a:rPr>
              <a:t> </a:t>
            </a:r>
            <a:r>
              <a:rPr lang="es-419" dirty="0"/>
              <a:t>elementos que pertenecen simultáneamente a categorías </a:t>
            </a:r>
            <a:r>
              <a:rPr lang="es-419" b="1" i="1" dirty="0" err="1">
                <a:solidFill>
                  <a:srgbClr val="003A5D"/>
                </a:solidFill>
              </a:rPr>
              <a:t>A</a:t>
            </a:r>
            <a:r>
              <a:rPr lang="es-419" b="1" i="1" baseline="-25000" dirty="0" err="1">
                <a:solidFill>
                  <a:srgbClr val="003A5D"/>
                </a:solidFill>
              </a:rPr>
              <a:t>i</a:t>
            </a:r>
            <a:r>
              <a:rPr lang="es-419" dirty="0"/>
              <a:t> y </a:t>
            </a:r>
            <a:r>
              <a:rPr lang="es-419" b="1" i="1" dirty="0" err="1">
                <a:solidFill>
                  <a:srgbClr val="003A5D"/>
                </a:solidFill>
              </a:rPr>
              <a:t>B</a:t>
            </a:r>
            <a:r>
              <a:rPr lang="es-419" b="1" i="1" baseline="-25000" dirty="0" err="1">
                <a:solidFill>
                  <a:srgbClr val="003A5D"/>
                </a:solidFill>
              </a:rPr>
              <a:t>j</a:t>
            </a:r>
            <a:r>
              <a:rPr lang="es-419" dirty="0"/>
              <a:t>.</a:t>
            </a:r>
          </a:p>
          <a:p>
            <a:pPr lvl="1">
              <a:lnSpc>
                <a:spcPct val="150000"/>
              </a:lnSpc>
            </a:pPr>
            <a:endParaRPr lang="es-419" b="1" baseline="-25000" dirty="0">
              <a:solidFill>
                <a:srgbClr val="003A5D"/>
              </a:solidFill>
            </a:endParaRPr>
          </a:p>
          <a:p>
            <a:pPr lvl="1">
              <a:lnSpc>
                <a:spcPct val="150000"/>
              </a:lnSpc>
            </a:pPr>
            <a:endParaRPr lang="es-419" baseline="-25000" dirty="0"/>
          </a:p>
          <a:p>
            <a:pPr>
              <a:lnSpc>
                <a:spcPct val="150000"/>
              </a:lnSpc>
            </a:pPr>
            <a:endParaRPr lang="es-419" baseline="-25000" dirty="0"/>
          </a:p>
          <a:p>
            <a:pPr>
              <a:lnSpc>
                <a:spcPct val="150000"/>
              </a:lnSpc>
            </a:pPr>
            <a:endParaRPr lang="es-419" dirty="0"/>
          </a:p>
          <a:p>
            <a:pPr>
              <a:lnSpc>
                <a:spcPct val="150000"/>
              </a:lnSpc>
            </a:pP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7301197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Contraste de independencia: tablas de contingencia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Filas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sSub>
                          <m:sSub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s-419" dirty="0"/>
                  <a:t>; Columnas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sSub>
                          <m:sSub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lvl="1">
                  <a:lnSpc>
                    <a:spcPct val="150000"/>
                  </a:lnSpc>
                </a:pPr>
                <a:endParaRPr lang="es-419" b="1" baseline="-25000" dirty="0">
                  <a:solidFill>
                    <a:srgbClr val="003A5D"/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endParaRPr lang="es-419" baseline="-25000" dirty="0"/>
              </a:p>
              <a:p>
                <a:pPr>
                  <a:lnSpc>
                    <a:spcPct val="150000"/>
                  </a:lnSpc>
                </a:pPr>
                <a:endParaRPr lang="es-419" baseline="-25000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10F15A6-B291-49E6-BDB2-AAB3FE17A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214610"/>
              </p:ext>
            </p:extLst>
          </p:nvPr>
        </p:nvGraphicFramePr>
        <p:xfrm>
          <a:off x="838200" y="795131"/>
          <a:ext cx="10515600" cy="453224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0757">
                  <a:extLst>
                    <a:ext uri="{9D8B030D-6E8A-4147-A177-3AD203B41FA5}">
                      <a16:colId xmlns:a16="http://schemas.microsoft.com/office/drawing/2014/main" val="310466776"/>
                    </a:ext>
                  </a:extLst>
                </a:gridCol>
                <a:gridCol w="2001078">
                  <a:extLst>
                    <a:ext uri="{9D8B030D-6E8A-4147-A177-3AD203B41FA5}">
                      <a16:colId xmlns:a16="http://schemas.microsoft.com/office/drawing/2014/main" val="3156060917"/>
                    </a:ext>
                  </a:extLst>
                </a:gridCol>
                <a:gridCol w="1521515">
                  <a:extLst>
                    <a:ext uri="{9D8B030D-6E8A-4147-A177-3AD203B41FA5}">
                      <a16:colId xmlns:a16="http://schemas.microsoft.com/office/drawing/2014/main" val="374183977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279911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4554738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224813343"/>
                    </a:ext>
                  </a:extLst>
                </a:gridCol>
                <a:gridCol w="909430">
                  <a:extLst>
                    <a:ext uri="{9D8B030D-6E8A-4147-A177-3AD203B41FA5}">
                      <a16:colId xmlns:a16="http://schemas.microsoft.com/office/drawing/2014/main" val="2067083712"/>
                    </a:ext>
                  </a:extLst>
                </a:gridCol>
                <a:gridCol w="1719470">
                  <a:extLst>
                    <a:ext uri="{9D8B030D-6E8A-4147-A177-3AD203B41FA5}">
                      <a16:colId xmlns:a16="http://schemas.microsoft.com/office/drawing/2014/main" val="2898115769"/>
                    </a:ext>
                  </a:extLst>
                </a:gridCol>
              </a:tblGrid>
              <a:tr h="484962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s-419" dirty="0">
                          <a:highlight>
                            <a:srgbClr val="003A5D"/>
                          </a:highlight>
                          <a:latin typeface="Georgia" panose="02040502050405020303" pitchFamily="18" charset="0"/>
                        </a:rPr>
                        <a:t>Criterio de Clasificación B</a:t>
                      </a:r>
                      <a:endParaRPr lang="en-US" dirty="0">
                        <a:highlight>
                          <a:srgbClr val="003A5D"/>
                        </a:highlight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A5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highlight>
                          <a:srgbClr val="003A5D"/>
                        </a:highlight>
                      </a:endParaRPr>
                    </a:p>
                  </a:txBody>
                  <a:tcPr>
                    <a:solidFill>
                      <a:srgbClr val="003A5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highlight>
                          <a:srgbClr val="003A5D"/>
                        </a:highlight>
                      </a:endParaRPr>
                    </a:p>
                  </a:txBody>
                  <a:tcPr>
                    <a:solidFill>
                      <a:srgbClr val="003A5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highlight>
                          <a:srgbClr val="003A5D"/>
                        </a:highlight>
                      </a:endParaRPr>
                    </a:p>
                  </a:txBody>
                  <a:tcPr>
                    <a:solidFill>
                      <a:srgbClr val="003A5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highlight>
                          <a:srgbClr val="003A5D"/>
                        </a:highlight>
                      </a:endParaRPr>
                    </a:p>
                  </a:txBody>
                  <a:tcPr>
                    <a:solidFill>
                      <a:srgbClr val="003A5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highlight>
                          <a:srgbClr val="003A5D"/>
                        </a:highlight>
                      </a:endParaRPr>
                    </a:p>
                  </a:txBody>
                  <a:tcPr>
                    <a:solidFill>
                      <a:srgbClr val="003A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441020"/>
                  </a:ext>
                </a:extLst>
              </a:tr>
              <a:tr h="583263"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Georgia" panose="02040502050405020303" pitchFamily="18" charset="0"/>
                      </a:endParaRPr>
                    </a:p>
                  </a:txBody>
                  <a:tcPr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B</a:t>
                      </a:r>
                      <a:r>
                        <a:rPr lang="es-419" sz="2000" baseline="-25000" dirty="0">
                          <a:latin typeface="Georgia" panose="02040502050405020303" pitchFamily="18" charset="0"/>
                        </a:rPr>
                        <a:t>1</a:t>
                      </a:r>
                      <a:endParaRPr lang="en-US" sz="2000" baseline="-25000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B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2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B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3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.…</a:t>
                      </a:r>
                      <a:endParaRPr lang="en-US" sz="2000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latin typeface="Georgia" panose="02040502050405020303" pitchFamily="18" charset="0"/>
                        </a:rPr>
                        <a:t>B</a:t>
                      </a:r>
                      <a:r>
                        <a:rPr lang="es-419" sz="2000" kern="1200" baseline="-25000" dirty="0" err="1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c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latin typeface="Georgia" panose="02040502050405020303" pitchFamily="18" charset="0"/>
                        </a:rPr>
                        <a:t>Totales filas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6524332"/>
                  </a:ext>
                </a:extLst>
              </a:tr>
              <a:tr h="484962">
                <a:tc rowSpan="6">
                  <a:txBody>
                    <a:bodyPr/>
                    <a:lstStyle/>
                    <a:p>
                      <a:pPr algn="ctr"/>
                      <a:r>
                        <a:rPr lang="es-419" dirty="0">
                          <a:solidFill>
                            <a:schemeClr val="bg1"/>
                          </a:solidFill>
                          <a:latin typeface="Georgia" panose="02040502050405020303" pitchFamily="18" charset="0"/>
                        </a:rPr>
                        <a:t>Criterio de Clasificación A</a:t>
                      </a:r>
                      <a:endParaRPr lang="en-US" dirty="0">
                        <a:solidFill>
                          <a:schemeClr val="bg1"/>
                        </a:solidFill>
                        <a:latin typeface="Georgia" panose="02040502050405020303" pitchFamily="18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A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11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12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13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.…</a:t>
                      </a:r>
                      <a:endParaRPr lang="en-US" sz="2000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1c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1.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1542805"/>
                  </a:ext>
                </a:extLst>
              </a:tr>
              <a:tr h="48496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A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A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2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21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22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23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.…</a:t>
                      </a:r>
                      <a:endParaRPr lang="en-US" sz="2000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2c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2.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9526431"/>
                  </a:ext>
                </a:extLst>
              </a:tr>
              <a:tr h="48496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A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A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3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31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32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33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.…</a:t>
                      </a:r>
                      <a:endParaRPr lang="en-US" sz="2000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3c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3.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4160312"/>
                  </a:ext>
                </a:extLst>
              </a:tr>
              <a:tr h="48496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A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….</a:t>
                      </a:r>
                      <a:endParaRPr lang="en-US" sz="2000" dirty="0">
                        <a:latin typeface="Georgia" panose="02040502050405020303" pitchFamily="18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….</a:t>
                      </a:r>
                      <a:endParaRPr lang="en-US" sz="2000" dirty="0">
                        <a:latin typeface="Georgia" panose="02040502050405020303" pitchFamily="18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.…</a:t>
                      </a:r>
                      <a:endParaRPr lang="en-US" sz="2000" dirty="0">
                        <a:latin typeface="Georgia" panose="02040502050405020303" pitchFamily="18" charset="0"/>
                      </a:endParaRPr>
                    </a:p>
                  </a:txBody>
                  <a:tcPr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.…</a:t>
                      </a:r>
                      <a:endParaRPr lang="en-US" sz="2000" dirty="0">
                        <a:latin typeface="Georgia" panose="02040502050405020303" pitchFamily="18" charset="0"/>
                      </a:endParaRPr>
                    </a:p>
                  </a:txBody>
                  <a:tcPr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Georgia" panose="02040502050405020303" pitchFamily="18" charset="0"/>
                      </a:endParaRPr>
                    </a:p>
                  </a:txBody>
                  <a:tcPr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….</a:t>
                      </a:r>
                      <a:endParaRPr lang="en-US" sz="2000" dirty="0">
                        <a:latin typeface="Georgia" panose="02040502050405020303" pitchFamily="18" charset="0"/>
                      </a:endParaRPr>
                    </a:p>
                  </a:txBody>
                  <a:tcPr vert="vert27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.…</a:t>
                      </a:r>
                      <a:endParaRPr lang="en-US" sz="2000" dirty="0">
                        <a:latin typeface="Georgia" panose="02040502050405020303" pitchFamily="18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0538686"/>
                  </a:ext>
                </a:extLst>
              </a:tr>
              <a:tr h="68711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A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A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h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h1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h2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h3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….</a:t>
                      </a:r>
                      <a:endParaRPr lang="en-US" sz="2000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 err="1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hc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 err="1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h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.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8035907"/>
                  </a:ext>
                </a:extLst>
              </a:tr>
              <a:tr h="83705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A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dirty="0">
                          <a:latin typeface="Georgia" panose="02040502050405020303" pitchFamily="18" charset="0"/>
                        </a:rPr>
                        <a:t>Totales columnas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n.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1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n.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2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n.</a:t>
                      </a:r>
                      <a:r>
                        <a:rPr lang="es-419" sz="2000" kern="1200" baseline="-25000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3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….</a:t>
                      </a:r>
                      <a:endParaRPr lang="en-US" sz="2000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 err="1">
                          <a:latin typeface="Georgia" panose="02040502050405020303" pitchFamily="18" charset="0"/>
                        </a:rPr>
                        <a:t>n</a:t>
                      </a:r>
                      <a:r>
                        <a:rPr lang="es-419" sz="2000" kern="1200" baseline="-25000" dirty="0" err="1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+mn-ea"/>
                          <a:cs typeface="+mn-cs"/>
                        </a:rPr>
                        <a:t>c</a:t>
                      </a:r>
                      <a:endParaRPr lang="en-US" sz="2000" kern="1200" baseline="-25000" dirty="0">
                        <a:solidFill>
                          <a:schemeClr val="dk1"/>
                        </a:solidFill>
                        <a:latin typeface="Georgia" panose="02040502050405020303" pitchFamily="18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2000" dirty="0">
                          <a:latin typeface="Georgia" panose="02040502050405020303" pitchFamily="18" charset="0"/>
                        </a:rPr>
                        <a:t>n</a:t>
                      </a:r>
                      <a:endParaRPr lang="en-US" sz="2000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2206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08408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Contraste de independencia: tablas de contingencia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Si A y B son independientes debe cumplirse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r>
                      <a:rPr lang="es-419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s-419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La probabilidad de que un elemento de la población pertenezca simultáneamente a </a:t>
                </a:r>
                <a:r>
                  <a:rPr lang="es-419" i="1" dirty="0" err="1"/>
                  <a:t>A</a:t>
                </a:r>
                <a:r>
                  <a:rPr lang="es-419" i="1" baseline="-25000" dirty="0" err="1"/>
                  <a:t>i</a:t>
                </a:r>
                <a:r>
                  <a:rPr lang="es-419" dirty="0"/>
                  <a:t> y </a:t>
                </a:r>
                <a:r>
                  <a:rPr lang="es-419" i="1" dirty="0" err="1"/>
                  <a:t>B</a:t>
                </a:r>
                <a:r>
                  <a:rPr lang="es-419" i="1" baseline="-25000" dirty="0" err="1"/>
                  <a:t>j</a:t>
                </a:r>
                <a:r>
                  <a:rPr lang="es-419" dirty="0"/>
                  <a:t> es igual al producto de ambas ocurriendo individualmente.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419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419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m:rPr>
                          <m:nor/>
                        </m:rPr>
                        <a:rPr lang="es-419" dirty="0"/>
                        <m:t> 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419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dirty="0"/>
              </a:p>
              <a:p>
                <a:pPr lvl="1">
                  <a:lnSpc>
                    <a:spcPct val="150000"/>
                  </a:lnSpc>
                </a:pPr>
                <a:endParaRPr lang="es-419" b="1" baseline="-25000" dirty="0">
                  <a:solidFill>
                    <a:srgbClr val="003A5D"/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endParaRPr lang="es-419" baseline="-25000" dirty="0"/>
              </a:p>
              <a:p>
                <a:pPr>
                  <a:lnSpc>
                    <a:spcPct val="150000"/>
                  </a:lnSpc>
                </a:pPr>
                <a:endParaRPr lang="es-419" baseline="-25000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40003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Contraste de independencia: tablas de contingencia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Contraste: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sub>
                    </m:sSub>
                    <m:sSub>
                      <m:sSub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419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419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sub>
                    </m:sSub>
                    <m:sSub>
                      <m:sSub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419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Las probabilidades marginales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p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i.</a:t>
                </a:r>
                <a:r>
                  <a:rPr lang="es-419" b="1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y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p</a:t>
                </a:r>
                <a:r>
                  <a:rPr lang="es-419" b="1" i="1" baseline="-25000" dirty="0" err="1">
                    <a:solidFill>
                      <a:srgbClr val="003A5D"/>
                    </a:solidFill>
                  </a:rPr>
                  <a:t>.j</a:t>
                </a:r>
                <a:r>
                  <a:rPr lang="es-419" dirty="0"/>
                  <a:t> no se conocen, pero pueden ser estimadas a partir de los datos muestrales.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Se emplean los </a:t>
                </a:r>
                <a:r>
                  <a:rPr lang="es-419" dirty="0" err="1"/>
                  <a:t>EMVs</a:t>
                </a:r>
                <a:r>
                  <a:rPr lang="es-419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419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sub>
                          </m:sSub>
                        </m:e>
                      </m:acc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419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es-419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Entonces 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419" dirty="0"/>
                  <a:t> es verdadera: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acc>
                    <m:r>
                      <a:rPr lang="es-419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sub>
                        </m:sSub>
                      </m:e>
                    </m:acc>
                  </m:oMath>
                </a14:m>
                <a:r>
                  <a:rPr lang="es-419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s-419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s-419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 lvl="1">
                  <a:lnSpc>
                    <a:spcPct val="150000"/>
                  </a:lnSpc>
                </a:pPr>
                <a:endParaRPr lang="es-419" b="1" baseline="-25000" dirty="0">
                  <a:solidFill>
                    <a:srgbClr val="003A5D"/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endParaRPr lang="es-419" baseline="-25000" dirty="0"/>
              </a:p>
              <a:p>
                <a:pPr>
                  <a:lnSpc>
                    <a:spcPct val="150000"/>
                  </a:lnSpc>
                </a:pPr>
                <a:endParaRPr lang="es-419" baseline="-25000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78015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C98F9EB-E0C0-408F-B26C-18694108D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744" y="3721184"/>
            <a:ext cx="4406056" cy="24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Contraste de independencia: tablas de contingencia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2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sz="6400" dirty="0"/>
                  <a:t>Se puede calcular la frecuencia estimada de cada “celda” o el número de elementos que teóricamente pertenecieran simultáneamente </a:t>
                </a:r>
                <a:r>
                  <a:rPr lang="es-419" sz="6400" i="1" dirty="0" err="1"/>
                  <a:t>A</a:t>
                </a:r>
                <a:r>
                  <a:rPr lang="es-419" sz="6400" i="1" baseline="-25000" dirty="0" err="1"/>
                  <a:t>i</a:t>
                </a:r>
                <a:r>
                  <a:rPr lang="es-419" sz="6400" dirty="0"/>
                  <a:t> y </a:t>
                </a:r>
                <a:r>
                  <a:rPr lang="es-419" sz="6400" i="1" dirty="0" err="1"/>
                  <a:t>B</a:t>
                </a:r>
                <a:r>
                  <a:rPr lang="es-419" sz="6400" i="1" baseline="-25000" dirty="0" err="1"/>
                  <a:t>j</a:t>
                </a:r>
                <a:r>
                  <a:rPr lang="es-419" sz="6400" i="1" baseline="-25000" dirty="0"/>
                  <a:t> </a:t>
                </a:r>
                <a:r>
                  <a:rPr lang="es-419" sz="6400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6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6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419" sz="6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419" sz="6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6400" b="0" i="1" smtClean="0">
                          <a:latin typeface="Cambria Math" panose="02040503050406030204" pitchFamily="18" charset="0"/>
                        </a:rPr>
                        <m:t>𝑛</m:t>
                      </m:r>
                      <m:acc>
                        <m:accPr>
                          <m:chr m:val="̂"/>
                          <m:ctrlPr>
                            <a:rPr lang="es-419" sz="6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419" sz="6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6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s-419" sz="64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s-419" sz="6400" dirty="0"/>
              </a:p>
              <a:p>
                <a:pPr>
                  <a:lnSpc>
                    <a:spcPct val="150000"/>
                  </a:lnSpc>
                </a:pPr>
                <a:r>
                  <a:rPr lang="es-419" sz="6400" dirty="0"/>
                  <a:t>Comparando frecuencias muestrales con frecuencias esperadas es que se realiza el contraste.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sz="6400" dirty="0"/>
                  <a:t>Si las diferencias son significativas se rechaza la hipótesis nula.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sz="6400" dirty="0"/>
                  <a:t>Se emplea el estadístico: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sz="6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6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sz="6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sz="6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s-419" sz="6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s-419" sz="6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s-419" sz="6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s-419" sz="6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es-419" sz="6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s-419" sz="6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419" sz="6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s-419" sz="6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sSub>
                                          <m:sSubPr>
                                            <m:ctrlPr>
                                              <a:rPr lang="es-419" sz="6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419" sz="6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s-419" sz="6400" i="1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  <m:r>
                                          <a:rPr lang="es-419" sz="64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419" sz="6400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s-419" sz="6400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a:rPr lang="es-419" sz="6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s-419" sz="6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s-419" sz="6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419" sz="64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s-419" sz="64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e>
                    </m:nary>
                  </m:oMath>
                </a14:m>
                <a:r>
                  <a:rPr lang="es-419" sz="6400" dirty="0"/>
                  <a:t>~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sz="6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6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sz="6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sz="6400" b="0" i="0" smtClean="0">
                        <a:latin typeface="Cambria Math" panose="02040503050406030204" pitchFamily="18" charset="0"/>
                      </a:rPr>
                      <m:t>[(</m:t>
                    </m:r>
                    <m:r>
                      <m:rPr>
                        <m:sty m:val="p"/>
                      </m:rPr>
                      <a:rPr lang="es-419" sz="6400" b="0" i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s-419" sz="6400" b="0" i="0" smtClean="0">
                        <a:latin typeface="Cambria Math" panose="02040503050406030204" pitchFamily="18" charset="0"/>
                      </a:rPr>
                      <m:t>−1)(</m:t>
                    </m:r>
                    <m:r>
                      <m:rPr>
                        <m:sty m:val="p"/>
                      </m:rPr>
                      <a:rPr lang="es-419" sz="6400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s-419" sz="6400" b="0" i="0" smtClean="0">
                        <a:latin typeface="Cambria Math" panose="02040503050406030204" pitchFamily="18" charset="0"/>
                      </a:rPr>
                      <m:t>−1)]</m:t>
                    </m:r>
                  </m:oMath>
                </a14:m>
                <a:endParaRPr lang="es-419" sz="6400" dirty="0"/>
              </a:p>
              <a:p>
                <a:pPr>
                  <a:lnSpc>
                    <a:spcPct val="150000"/>
                  </a:lnSpc>
                </a:pPr>
                <a:r>
                  <a:rPr lang="es-419" sz="6400" dirty="0"/>
                  <a:t>Para el contraste: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sz="640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6400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sz="6400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sz="6400" b="0" i="0" smtClean="0">
                        <a:latin typeface="Cambria Math" panose="02040503050406030204" pitchFamily="18" charset="0"/>
                      </a:rPr>
                      <m:t>&gt; </m:t>
                    </m:r>
                    <m:sSubSup>
                      <m:sSubSupPr>
                        <m:ctrlPr>
                          <a:rPr lang="es-419" sz="6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sz="6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s-419" sz="6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es-419" sz="6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s-419" sz="6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[(</m:t>
                    </m:r>
                    <m:r>
                      <m:rPr>
                        <m:sty m:val="p"/>
                      </m:rPr>
                      <a:rPr lang="es-419" sz="6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s-419" sz="6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−1)(</m:t>
                    </m:r>
                    <m:r>
                      <m:rPr>
                        <m:sty m:val="p"/>
                      </m:rPr>
                      <a:rPr lang="es-419" sz="6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s-419" sz="6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−1)]</m:t>
                    </m:r>
                  </m:oMath>
                </a14:m>
                <a:r>
                  <a:rPr lang="es-419" sz="6400" dirty="0">
                    <a:solidFill>
                      <a:srgbClr val="C00000"/>
                    </a:solidFill>
                  </a:rPr>
                  <a:t> </a:t>
                </a:r>
                <a:r>
                  <a:rPr lang="es-419" sz="6400" dirty="0"/>
                  <a:t>se rechaza la hipótesis nula.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s-419" sz="6400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6400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sz="6400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sz="6400" b="0" i="0" smtClean="0">
                        <a:latin typeface="Cambria Math" panose="02040503050406030204" pitchFamily="18" charset="0"/>
                      </a:rPr>
                      <m:t>&lt; </m:t>
                    </m:r>
                    <m:sSubSup>
                      <m:sSubSupPr>
                        <m:ctrlPr>
                          <a:rPr lang="es-419" sz="6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419" sz="6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s-419" sz="6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es-419" sz="6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s-419" sz="6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[(</m:t>
                    </m:r>
                    <m:r>
                      <m:rPr>
                        <m:sty m:val="p"/>
                      </m:rPr>
                      <a:rPr lang="es-419" sz="6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s-419" sz="6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−1)(</m:t>
                    </m:r>
                    <m:r>
                      <m:rPr>
                        <m:sty m:val="p"/>
                      </m:rPr>
                      <a:rPr lang="es-419" sz="6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s-419" sz="6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−1)]</m:t>
                    </m:r>
                  </m:oMath>
                </a14:m>
                <a:r>
                  <a:rPr lang="es-419" sz="6400" dirty="0">
                    <a:solidFill>
                      <a:srgbClr val="C00000"/>
                    </a:solidFill>
                  </a:rPr>
                  <a:t> </a:t>
                </a:r>
                <a:r>
                  <a:rPr lang="es-419" sz="6400" dirty="0"/>
                  <a:t>no se rechaza la hipótesis nula.</a:t>
                </a:r>
                <a:endParaRPr lang="es-419" baseline="-25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32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6CD0ECD-F19E-4AF8-843E-EFF28BD810DD}"/>
              </a:ext>
            </a:extLst>
          </p:cNvPr>
          <p:cNvSpPr txBox="1"/>
          <p:nvPr/>
        </p:nvSpPr>
        <p:spPr>
          <a:xfrm>
            <a:off x="9659469" y="4575852"/>
            <a:ext cx="11026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419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AB4990-DFFC-468D-A38F-ABD234DC23BF}"/>
                  </a:ext>
                </a:extLst>
              </p:cNvPr>
              <p:cNvSpPr txBox="1"/>
              <p:nvPr/>
            </p:nvSpPr>
            <p:spPr>
              <a:xfrm>
                <a:off x="7705161" y="5830630"/>
                <a:ext cx="941295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sz="1600" i="1" smtClean="0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sz="1600" i="1" smtClean="0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s-419" sz="1600" b="0" i="1" smtClean="0">
                              <a:solidFill>
                                <a:srgbClr val="003A5D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419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AB4990-DFFC-468D-A38F-ABD234DC2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161" y="5830630"/>
                <a:ext cx="94129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C65444-9BCA-4EAA-A767-24FE9B7C3229}"/>
                  </a:ext>
                </a:extLst>
              </p:cNvPr>
              <p:cNvSpPr txBox="1"/>
              <p:nvPr/>
            </p:nvSpPr>
            <p:spPr>
              <a:xfrm>
                <a:off x="8175808" y="5335210"/>
                <a:ext cx="1102662" cy="2160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419" sz="10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419" sz="10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𝝌</m:t>
                          </m:r>
                        </m:e>
                        <m:sub>
                          <m:r>
                            <a:rPr lang="es-419" sz="10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sub>
                        <m:sup>
                          <m:r>
                            <a:rPr lang="es-419" sz="105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s-419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C65444-9BCA-4EAA-A767-24FE9B7C3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5808" y="5335210"/>
                <a:ext cx="1102662" cy="216000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37717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DC74C-7387-CCC4-28E5-3A1522C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Espacio de intervención: 30 segundos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2D7072-22D5-5CE2-66CC-3EAF549E6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>
              <a:buNone/>
            </a:pPr>
            <a:endParaRPr lang="es-VE" i="1" dirty="0"/>
          </a:p>
          <a:p>
            <a:pPr marL="0" indent="0" algn="ctr">
              <a:buNone/>
            </a:pPr>
            <a:r>
              <a:rPr lang="es-VE" i="1" dirty="0"/>
              <a:t>¿Cómo calculamos los grados de libertad para este contraste?</a:t>
            </a:r>
          </a:p>
        </p:txBody>
      </p:sp>
    </p:spTree>
    <p:extLst>
      <p:ext uri="{BB962C8B-B14F-4D97-AF65-F5344CB8AC3E}">
        <p14:creationId xmlns:p14="http://schemas.microsoft.com/office/powerpoint/2010/main" val="2884493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C2F5-AB6D-4DC9-89B1-BA648969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Contraste de independencia: tablas de contingencia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Explicación de </a:t>
                </a:r>
                <a:r>
                  <a:rPr lang="es-419" dirty="0" err="1"/>
                  <a:t>GLs</a:t>
                </a:r>
                <a:r>
                  <a:rPr lang="es-419" dirty="0"/>
                  <a:t>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s-419" dirty="0"/>
                  <a:t>~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419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−1−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s-419" b="0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Siendo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r</a:t>
                </a:r>
                <a:r>
                  <a:rPr lang="es-419" dirty="0"/>
                  <a:t> número de posibles resultados y </a:t>
                </a:r>
                <a:r>
                  <a:rPr lang="es-419" b="1" i="1" dirty="0">
                    <a:solidFill>
                      <a:srgbClr val="003A5D"/>
                    </a:solidFill>
                  </a:rPr>
                  <a:t>k</a:t>
                </a:r>
                <a:r>
                  <a:rPr lang="es-419" dirty="0"/>
                  <a:t> los parámetros estimados a partir de la muestra.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Número de distintas clasificaciones: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h𝑐</m:t>
                      </m:r>
                    </m:oMath>
                  </m:oMathPara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Número de parámetros estimados en este caso: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s-419" baseline="-25000" dirty="0"/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Debemos estimar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hp</a:t>
                </a:r>
                <a:r>
                  <a:rPr lang="es-419" b="1" i="1" baseline="-25000" dirty="0" err="1">
                    <a:solidFill>
                      <a:srgbClr val="003A5D"/>
                    </a:solidFill>
                  </a:rPr>
                  <a:t>i</a:t>
                </a:r>
                <a:r>
                  <a:rPr lang="es-419" b="1" i="1" baseline="-25000" dirty="0">
                    <a:solidFill>
                      <a:srgbClr val="003A5D"/>
                    </a:solidFill>
                  </a:rPr>
                  <a:t>.</a:t>
                </a:r>
                <a:r>
                  <a:rPr lang="es-419" b="1" dirty="0">
                    <a:solidFill>
                      <a:srgbClr val="003A5D"/>
                    </a:solidFill>
                  </a:rPr>
                  <a:t> </a:t>
                </a:r>
                <a:r>
                  <a:rPr lang="es-419" dirty="0"/>
                  <a:t>y </a:t>
                </a:r>
                <a:r>
                  <a:rPr lang="es-419" b="1" i="1" dirty="0" err="1">
                    <a:solidFill>
                      <a:srgbClr val="003A5D"/>
                    </a:solidFill>
                  </a:rPr>
                  <a:t>cp</a:t>
                </a:r>
                <a:r>
                  <a:rPr lang="es-419" b="1" i="1" baseline="-25000" dirty="0" err="1">
                    <a:solidFill>
                      <a:srgbClr val="003A5D"/>
                    </a:solidFill>
                  </a:rPr>
                  <a:t>.j</a:t>
                </a:r>
                <a:endParaRPr lang="es-419" b="1" i="1" baseline="-25000" dirty="0">
                  <a:solidFill>
                    <a:srgbClr val="003A5D"/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s-419" dirty="0"/>
                  <a:t>Una de las </a:t>
                </a:r>
                <a:r>
                  <a:rPr lang="es-419" i="1" dirty="0"/>
                  <a:t>p</a:t>
                </a:r>
                <a:r>
                  <a:rPr lang="es-419" i="1" baseline="-25000" dirty="0"/>
                  <a:t>i</a:t>
                </a:r>
                <a:r>
                  <a:rPr lang="es-419" dirty="0"/>
                  <a:t> queda determinada al estimar las otras: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s-419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s-419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s-419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  <a:p>
                <a:pPr>
                  <a:lnSpc>
                    <a:spcPct val="150000"/>
                  </a:lnSpc>
                </a:pPr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2B7B-D57E-4721-9C41-C48E6975A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92999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5C3A9-3FC9-4614-9048-DC9DC8CAF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Contraste de independencia: tablas de contingencia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6778F6-1F53-4DAD-A8E1-811DD2833F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Se estima de forma independiente </a:t>
                </a:r>
                <a14:m>
                  <m:oMath xmlns:m="http://schemas.openxmlformats.org/officeDocument/2006/math"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419" b="1" i="1" smtClean="0">
                        <a:solidFill>
                          <a:srgbClr val="003A5D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sub>
                    </m:sSub>
                  </m:oMath>
                </a14:m>
                <a:r>
                  <a:rPr lang="es-419" dirty="0"/>
                  <a:t> 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sSub>
                      <m:sSubPr>
                        <m:ctrlP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1" i="1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419" b="1" i="1" smtClean="0">
                            <a:solidFill>
                              <a:srgbClr val="003A5D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endParaRPr lang="es-419" b="1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−1−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s-419" b="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h𝑐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−1−</m:t>
                    </m:r>
                    <m:d>
                      <m:dPr>
                        <m:begChr m:val="["/>
                        <m:endChr m:val="]"/>
                        <m:ctrlPr>
                          <a:rPr lang="es-419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endParaRPr lang="es-419" b="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h𝑐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−1−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+1−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s-419" b="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h𝑐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s-419" b="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s-419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−1)(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419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s-419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6778F6-1F53-4DAD-A8E1-811DD2833F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01960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5C3A9-3FC9-4614-9048-DC9DC8CAF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Coeficiente de contingencia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6778F6-1F53-4DAD-A8E1-811DD2833F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419" dirty="0"/>
                  <a:t>Medida para ver fuerza de relación entre variables categóricas.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419" dirty="0"/>
                  <a:t>Es el equivalente cualitativo del coeficiente de correlación.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p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s-419" b="0" dirty="0"/>
              </a:p>
              <a:p>
                <a:pPr>
                  <a:lnSpc>
                    <a:spcPct val="150000"/>
                  </a:lnSpc>
                </a:pPr>
                <a:r>
                  <a:rPr lang="es-ES" dirty="0"/>
                  <a:t>Coeficiente se acerca a cero cuando 𝜒</a:t>
                </a:r>
                <a:r>
                  <a:rPr lang="es-ES" baseline="30000" dirty="0"/>
                  <a:t>2</a:t>
                </a:r>
                <a:r>
                  <a:rPr lang="es-ES" dirty="0"/>
                  <a:t> es pequeño, o cuando se acepta la hipótesis de no relación.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dirty="0"/>
                  <a:t>Coeficiente nunca llega a ser uno.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6778F6-1F53-4DAD-A8E1-811DD2833F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b="-3111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45047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B6CE8-5648-416C-8D52-381BD7D8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8EB59C-4EDA-4E27-AD8A-EF43E7DBEF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s-419" i="1" dirty="0"/>
                  <a:t>Un investigador desea estimar la relación que existe entre el sexo y la preferencia por dos marcas de un mismo producto; se tomó una muestra aleatoria de 200 personas y se obtuvieron los siguientes resultados: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419" i="1" dirty="0"/>
              </a:p>
              <a:p>
                <a:pPr marL="0" indent="0"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s-419" dirty="0"/>
              </a:p>
              <a:p>
                <a:pPr marL="0" indent="0">
                  <a:buNone/>
                </a:pPr>
                <a:endParaRPr lang="es-419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419" i="1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s-419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s-419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8EB59C-4EDA-4E27-AD8A-EF43E7DBEF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r="-1217"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076819"/>
              </p:ext>
            </p:extLst>
          </p:nvPr>
        </p:nvGraphicFramePr>
        <p:xfrm>
          <a:off x="2988860" y="3429000"/>
          <a:ext cx="6214280" cy="175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3570">
                  <a:extLst>
                    <a:ext uri="{9D8B030D-6E8A-4147-A177-3AD203B41FA5}">
                      <a16:colId xmlns:a16="http://schemas.microsoft.com/office/drawing/2014/main" val="3082165480"/>
                    </a:ext>
                  </a:extLst>
                </a:gridCol>
                <a:gridCol w="1553570">
                  <a:extLst>
                    <a:ext uri="{9D8B030D-6E8A-4147-A177-3AD203B41FA5}">
                      <a16:colId xmlns:a16="http://schemas.microsoft.com/office/drawing/2014/main" val="1873927555"/>
                    </a:ext>
                  </a:extLst>
                </a:gridCol>
                <a:gridCol w="1553570">
                  <a:extLst>
                    <a:ext uri="{9D8B030D-6E8A-4147-A177-3AD203B41FA5}">
                      <a16:colId xmlns:a16="http://schemas.microsoft.com/office/drawing/2014/main" val="512337924"/>
                    </a:ext>
                  </a:extLst>
                </a:gridCol>
                <a:gridCol w="1553570">
                  <a:extLst>
                    <a:ext uri="{9D8B030D-6E8A-4147-A177-3AD203B41FA5}">
                      <a16:colId xmlns:a16="http://schemas.microsoft.com/office/drawing/2014/main" val="27834663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419" b="1" i="1" dirty="0">
                          <a:latin typeface="Georgia" panose="02040502050405020303" pitchFamily="18" charset="0"/>
                        </a:rPr>
                        <a:t>Sexo </a:t>
                      </a:r>
                      <a:r>
                        <a:rPr lang="en-US" b="1" i="1" dirty="0">
                          <a:latin typeface="Georgia" panose="02040502050405020303" pitchFamily="18" charset="0"/>
                        </a:rPr>
                        <a:t>\</a:t>
                      </a:r>
                      <a:r>
                        <a:rPr lang="en-US" b="1" i="1" baseline="0" dirty="0"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en-US" b="1" i="1" baseline="0" dirty="0" err="1">
                          <a:latin typeface="Georgia" panose="02040502050405020303" pitchFamily="18" charset="0"/>
                        </a:rPr>
                        <a:t>Marca</a:t>
                      </a:r>
                      <a:endParaRPr lang="en-US" b="1" i="1" dirty="0">
                        <a:latin typeface="Georgia" panose="02040502050405020303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latin typeface="Georgia" panose="02040502050405020303" pitchFamily="18" charset="0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latin typeface="Georgia" panose="02040502050405020303" pitchFamily="18" charset="0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latin typeface="Georgia" panose="02040502050405020303" pitchFamily="18" charset="0"/>
                        </a:rPr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8737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latin typeface="Georgia" panose="02040502050405020303" pitchFamily="18" charset="0"/>
                        </a:rPr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Georgia" panose="02040502050405020303" pitchFamily="18" charset="0"/>
                        </a:rPr>
                        <a:t>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Georgia" panose="02040502050405020303" pitchFamily="18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Georgia" panose="02040502050405020303" pitchFamily="18" charset="0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6555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latin typeface="Georgia" panose="02040502050405020303" pitchFamily="18" charset="0"/>
                        </a:rPr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Georgia" panose="02040502050405020303" pitchFamily="18" charset="0"/>
                        </a:rPr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Georgia" panose="02040502050405020303" pitchFamily="18" charset="0"/>
                        </a:rPr>
                        <a:t>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Georgia" panose="02040502050405020303" pitchFamily="18" charset="0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785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latin typeface="Georgia" panose="02040502050405020303" pitchFamily="18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Georgia" panose="02040502050405020303" pitchFamily="18" charset="0"/>
                        </a:rPr>
                        <a:t>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Georgia" panose="02040502050405020303" pitchFamily="18" charset="0"/>
                        </a:rPr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Georgia" panose="02040502050405020303" pitchFamily="18" charset="0"/>
                        </a:rPr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6173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15434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6F47AC7-A8FB-1195-9827-589D10305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842" y="909000"/>
            <a:ext cx="6006316" cy="504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12.13</a:t>
            </a:r>
          </a:p>
        </p:txBody>
      </p:sp>
      <p:sp>
        <p:nvSpPr>
          <p:cNvPr id="6" name="Cerrar llave 5">
            <a:extLst>
              <a:ext uri="{FF2B5EF4-FFF2-40B4-BE49-F238E27FC236}">
                <a16:creationId xmlns:a16="http://schemas.microsoft.com/office/drawing/2014/main" id="{994838F9-BC89-EEF3-FE6D-E10B1831250A}"/>
              </a:ext>
            </a:extLst>
          </p:cNvPr>
          <p:cNvSpPr/>
          <p:nvPr/>
        </p:nvSpPr>
        <p:spPr>
          <a:xfrm>
            <a:off x="8471648" y="1671914"/>
            <a:ext cx="241649" cy="1013013"/>
          </a:xfrm>
          <a:prstGeom prst="rightBrace">
            <a:avLst/>
          </a:prstGeom>
          <a:ln>
            <a:solidFill>
              <a:srgbClr val="003A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C867C4D-0EFD-E6F6-5883-C692D7E0630A}"/>
              </a:ext>
            </a:extLst>
          </p:cNvPr>
          <p:cNvSpPr txBox="1"/>
          <p:nvPr/>
        </p:nvSpPr>
        <p:spPr>
          <a:xfrm>
            <a:off x="8713297" y="1993755"/>
            <a:ext cx="217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>
                <a:latin typeface="Georgia" panose="02040502050405020303" pitchFamily="18" charset="0"/>
              </a:rPr>
              <a:t>Datos del problema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A60968E-5595-42D7-0144-33E54F60C38C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556608" y="2290618"/>
            <a:ext cx="1941501" cy="1261678"/>
          </a:xfrm>
          <a:prstGeom prst="straightConnector1">
            <a:avLst/>
          </a:prstGeom>
          <a:ln>
            <a:solidFill>
              <a:srgbClr val="003A5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22F449FB-F516-0F70-ED88-C031718B77A6}"/>
              </a:ext>
            </a:extLst>
          </p:cNvPr>
          <p:cNvSpPr txBox="1"/>
          <p:nvPr/>
        </p:nvSpPr>
        <p:spPr>
          <a:xfrm>
            <a:off x="259976" y="3290686"/>
            <a:ext cx="2296632" cy="523220"/>
          </a:xfrm>
          <a:prstGeom prst="rect">
            <a:avLst/>
          </a:prstGeom>
          <a:noFill/>
          <a:ln>
            <a:solidFill>
              <a:srgbClr val="003A5D"/>
            </a:solidFill>
          </a:ln>
        </p:spPr>
        <p:txBody>
          <a:bodyPr wrap="square" rtlCol="0">
            <a:spAutoFit/>
          </a:bodyPr>
          <a:lstStyle/>
          <a:p>
            <a:r>
              <a:rPr lang="es-VE" sz="1400" dirty="0">
                <a:solidFill>
                  <a:srgbClr val="003A5D"/>
                </a:solidFill>
                <a:latin typeface="Georgia" panose="02040502050405020303" pitchFamily="18" charset="0"/>
              </a:rPr>
              <a:t>Frecuencias y totales observados</a:t>
            </a:r>
          </a:p>
        </p:txBody>
      </p:sp>
    </p:spTree>
    <p:extLst>
      <p:ext uri="{BB962C8B-B14F-4D97-AF65-F5344CB8AC3E}">
        <p14:creationId xmlns:p14="http://schemas.microsoft.com/office/powerpoint/2010/main" val="33615956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3279A5E-4908-8DB4-E587-8A8F0722E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842" y="909000"/>
            <a:ext cx="6006316" cy="504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12.13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6EC8397-4EC8-6E35-EB76-B8A013E8EA3A}"/>
              </a:ext>
            </a:extLst>
          </p:cNvPr>
          <p:cNvSpPr txBox="1"/>
          <p:nvPr/>
        </p:nvSpPr>
        <p:spPr>
          <a:xfrm>
            <a:off x="7512422" y="4955210"/>
            <a:ext cx="3318609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1400" dirty="0">
                <a:solidFill>
                  <a:srgbClr val="C00000"/>
                </a:solidFill>
                <a:latin typeface="Georgia" panose="02040502050405020303" pitchFamily="18" charset="0"/>
              </a:rPr>
              <a:t>Proporciones muestrales individuales</a:t>
            </a:r>
            <a:endParaRPr lang="es-VE" sz="1400" dirty="0">
              <a:latin typeface="Georgia" panose="02040502050405020303" pitchFamily="18" charset="0"/>
            </a:endParaRPr>
          </a:p>
          <a:p>
            <a:pPr algn="ctr"/>
            <a:r>
              <a:rPr lang="es-VE" sz="1400" dirty="0">
                <a:latin typeface="Georgia" panose="02040502050405020303" pitchFamily="18" charset="0"/>
              </a:rPr>
              <a:t>=B8/D8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48F519E-EB46-1BE8-3B33-0982F463AB77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5696652" y="3843343"/>
            <a:ext cx="3475075" cy="111186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441423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56E127C-5BBF-2300-6DB4-ED83B6CDD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842" y="909000"/>
            <a:ext cx="6006315" cy="504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12.13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6EC8397-4EC8-6E35-EB76-B8A013E8EA3A}"/>
              </a:ext>
            </a:extLst>
          </p:cNvPr>
          <p:cNvSpPr txBox="1"/>
          <p:nvPr/>
        </p:nvSpPr>
        <p:spPr>
          <a:xfrm>
            <a:off x="7389733" y="1795780"/>
            <a:ext cx="3964067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1400" dirty="0">
                <a:solidFill>
                  <a:srgbClr val="C00000"/>
                </a:solidFill>
                <a:latin typeface="Georgia" panose="02040502050405020303" pitchFamily="18" charset="0"/>
              </a:rPr>
              <a:t>Probabilidades conjuntas y totales esperados</a:t>
            </a:r>
            <a:endParaRPr lang="es-VE" sz="1400" dirty="0">
              <a:latin typeface="Georgia" panose="02040502050405020303" pitchFamily="18" charset="0"/>
            </a:endParaRPr>
          </a:p>
          <a:p>
            <a:pPr algn="ctr"/>
            <a:r>
              <a:rPr lang="es-VE" sz="1400" dirty="0">
                <a:latin typeface="Georgia" panose="02040502050405020303" pitchFamily="18" charset="0"/>
              </a:rPr>
              <a:t>=C11*C13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48F519E-EB46-1BE8-3B33-0982F463AB77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396753" y="5241375"/>
            <a:ext cx="2277036" cy="13681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084694DB-1A48-118B-B9B4-FDDC92FD8681}"/>
              </a:ext>
            </a:extLst>
          </p:cNvPr>
          <p:cNvSpPr txBox="1"/>
          <p:nvPr/>
        </p:nvSpPr>
        <p:spPr>
          <a:xfrm>
            <a:off x="7673789" y="4979765"/>
            <a:ext cx="3869916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1400" dirty="0">
                <a:solidFill>
                  <a:srgbClr val="C00000"/>
                </a:solidFill>
                <a:latin typeface="Georgia" panose="02040502050405020303" pitchFamily="18" charset="0"/>
              </a:rPr>
              <a:t>Frecuencias y totales esperados</a:t>
            </a:r>
            <a:endParaRPr lang="es-VE" sz="1400" dirty="0">
              <a:latin typeface="Georgia" panose="02040502050405020303" pitchFamily="18" charset="0"/>
            </a:endParaRPr>
          </a:p>
          <a:p>
            <a:pPr algn="ctr"/>
            <a:r>
              <a:rPr lang="es-VE" sz="1400" dirty="0">
                <a:latin typeface="Georgia" panose="02040502050405020303" pitchFamily="18" charset="0"/>
              </a:rPr>
              <a:t>=B2*$F$12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66DAAFCD-D33F-00F0-38A4-3FAE0B6B3FE0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8411709" y="2319000"/>
            <a:ext cx="960058" cy="150300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27619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5EEA4C03-A227-9922-94C0-1494B4F01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774" y="909000"/>
            <a:ext cx="5726452" cy="504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12.13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08BA973-7837-7071-0F06-66278D828589}"/>
              </a:ext>
            </a:extLst>
          </p:cNvPr>
          <p:cNvSpPr txBox="1"/>
          <p:nvPr/>
        </p:nvSpPr>
        <p:spPr>
          <a:xfrm>
            <a:off x="7690318" y="1514975"/>
            <a:ext cx="3802435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1400" dirty="0">
                <a:solidFill>
                  <a:srgbClr val="C00000"/>
                </a:solidFill>
                <a:latin typeface="Georgia" panose="02040502050405020303" pitchFamily="18" charset="0"/>
              </a:rPr>
              <a:t>Probabilidades conjuntas y totales esperados</a:t>
            </a:r>
            <a:endParaRPr lang="es-VE" sz="1400" dirty="0">
              <a:latin typeface="Georgia" panose="02040502050405020303" pitchFamily="18" charset="0"/>
            </a:endParaRPr>
          </a:p>
          <a:p>
            <a:pPr algn="ctr"/>
            <a:r>
              <a:rPr lang="es-VE" sz="1400" dirty="0">
                <a:latin typeface="Georgia" panose="02040502050405020303" pitchFamily="18" charset="0"/>
              </a:rPr>
              <a:t>=B2*$F$12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AEA27580-7C0C-E248-3FEC-399D3C2155A4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477436" y="1776585"/>
            <a:ext cx="2212882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2C69726D-905F-B777-41D2-18B73640514B}"/>
              </a:ext>
            </a:extLst>
          </p:cNvPr>
          <p:cNvSpPr txBox="1"/>
          <p:nvPr/>
        </p:nvSpPr>
        <p:spPr>
          <a:xfrm>
            <a:off x="7332948" y="3167390"/>
            <a:ext cx="3910012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VE" sz="1400" dirty="0">
                <a:solidFill>
                  <a:srgbClr val="C00000"/>
                </a:solidFill>
                <a:latin typeface="Georgia" panose="02040502050405020303" pitchFamily="18" charset="0"/>
              </a:rPr>
              <a:t>Calculo de grados de libertad</a:t>
            </a:r>
            <a:endParaRPr lang="es-VE" sz="1400" dirty="0">
              <a:latin typeface="Georgia" panose="02040502050405020303" pitchFamily="18" charset="0"/>
            </a:endParaRPr>
          </a:p>
          <a:p>
            <a:pPr algn="ctr"/>
            <a:r>
              <a:rPr lang="es-VE" sz="1400" dirty="0">
                <a:latin typeface="Georgia" panose="02040502050405020303" pitchFamily="18" charset="0"/>
              </a:rPr>
              <a:t>=(B24-1)*(B25-1)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CCCAF710-8F83-92CD-E6F2-251ED86395C1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4867835" y="3429000"/>
            <a:ext cx="2465113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3947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26F97C36-DF55-D43D-197D-BE15A0ECA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774" y="909000"/>
            <a:ext cx="5726452" cy="504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12.13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4472B5E7-EAE7-2AC4-B9DB-81E8D17AC2A6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5307330" y="3113617"/>
            <a:ext cx="700313" cy="126115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5F76CD8-5D42-39F1-F9CE-B10D1D5A6752}"/>
                  </a:ext>
                </a:extLst>
              </p:cNvPr>
              <p:cNvSpPr txBox="1"/>
              <p:nvPr/>
            </p:nvSpPr>
            <p:spPr>
              <a:xfrm>
                <a:off x="6007643" y="2852007"/>
                <a:ext cx="3744667" cy="523220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VE" sz="14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VE" sz="14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VE" sz="14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VE" sz="1400" dirty="0">
                    <a:solidFill>
                      <a:srgbClr val="00B050"/>
                    </a:solidFill>
                    <a:latin typeface="Georgia" panose="02040502050405020303" pitchFamily="18" charset="0"/>
                  </a:rPr>
                  <a:t>: Diferencia cuadrada entre frecuencias </a:t>
                </a:r>
              </a:p>
              <a:p>
                <a:pPr algn="ctr"/>
                <a:r>
                  <a:rPr lang="es-VE" sz="1400" dirty="0">
                    <a:latin typeface="Georgia" panose="02040502050405020303" pitchFamily="18" charset="0"/>
                  </a:rPr>
                  <a:t>=(B6-B18)^2/B18</a:t>
                </a: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5F76CD8-5D42-39F1-F9CE-B10D1D5A6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643" y="2852007"/>
                <a:ext cx="3744667" cy="523220"/>
              </a:xfrm>
              <a:prstGeom prst="rect">
                <a:avLst/>
              </a:prstGeom>
              <a:blipFill>
                <a:blip r:embed="rId3"/>
                <a:stretch>
                  <a:fillRect t="-2273" b="-7955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6612BE1A-7D5D-AC2C-4008-20D3FF4DE344}"/>
                  </a:ext>
                </a:extLst>
              </p:cNvPr>
              <p:cNvSpPr txBox="1"/>
              <p:nvPr/>
            </p:nvSpPr>
            <p:spPr>
              <a:xfrm>
                <a:off x="7609133" y="3625709"/>
                <a:ext cx="3744667" cy="523220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VE" sz="14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VE" sz="14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VE" sz="14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VE" sz="1400" dirty="0">
                    <a:solidFill>
                      <a:srgbClr val="00B050"/>
                    </a:solidFill>
                    <a:latin typeface="Georgia" panose="02040502050405020303" pitchFamily="18" charset="0"/>
                  </a:rPr>
                  <a:t>: Estadístico de prueba</a:t>
                </a:r>
              </a:p>
              <a:p>
                <a:pPr algn="ctr"/>
                <a:r>
                  <a:rPr lang="es-VE" sz="1400" dirty="0">
                    <a:latin typeface="Georgia" panose="02040502050405020303" pitchFamily="18" charset="0"/>
                  </a:rPr>
                  <a:t>=SUMA(B30:C31)</a:t>
                </a: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6612BE1A-7D5D-AC2C-4008-20D3FF4DE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133" y="3625709"/>
                <a:ext cx="3744667" cy="523220"/>
              </a:xfrm>
              <a:prstGeom prst="rect">
                <a:avLst/>
              </a:prstGeom>
              <a:blipFill>
                <a:blip r:embed="rId4"/>
                <a:stretch>
                  <a:fillRect t="-2273" b="-7955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8A93E2B8-EE07-AEBB-6919-156B5719AD11}"/>
              </a:ext>
            </a:extLst>
          </p:cNvPr>
          <p:cNvCxnSpPr>
            <a:cxnSpLocks/>
          </p:cNvCxnSpPr>
          <p:nvPr/>
        </p:nvCxnSpPr>
        <p:spPr>
          <a:xfrm flipH="1">
            <a:off x="7438208" y="3907411"/>
            <a:ext cx="170925" cy="54044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0B99DE0C-68A0-3846-14A9-965BAFD1D9BC}"/>
                  </a:ext>
                </a:extLst>
              </p:cNvPr>
              <p:cNvSpPr txBox="1"/>
              <p:nvPr/>
            </p:nvSpPr>
            <p:spPr>
              <a:xfrm>
                <a:off x="1939793" y="5111301"/>
                <a:ext cx="2882153" cy="523220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VE" sz="1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VE" sz="140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s-VE" sz="1400" b="0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VE" sz="1400" dirty="0">
                    <a:solidFill>
                      <a:srgbClr val="00B0F0"/>
                    </a:solidFill>
                    <a:latin typeface="Georgia" panose="02040502050405020303" pitchFamily="18" charset="0"/>
                  </a:rPr>
                  <a:t>: Valor crítico de contraste</a:t>
                </a:r>
                <a:endParaRPr lang="es-VE" sz="1400" dirty="0">
                  <a:latin typeface="Georgia" panose="02040502050405020303" pitchFamily="18" charset="0"/>
                </a:endParaRPr>
              </a:p>
              <a:p>
                <a:pPr algn="ctr"/>
                <a:r>
                  <a:rPr lang="es-VE" sz="1400" dirty="0">
                    <a:latin typeface="Georgia" panose="02040502050405020303" pitchFamily="18" charset="0"/>
                  </a:rPr>
                  <a:t>=INV.CHICUAD.CD(B23;B26)</a:t>
                </a: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0B99DE0C-68A0-3846-14A9-965BAFD1D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793" y="5111301"/>
                <a:ext cx="2882153" cy="523220"/>
              </a:xfrm>
              <a:prstGeom prst="rect">
                <a:avLst/>
              </a:prstGeom>
              <a:blipFill>
                <a:blip r:embed="rId5"/>
                <a:stretch>
                  <a:fillRect t="-1136" b="-909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5DA8DC92-3678-8226-942F-FB1688087A69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4821946" y="4802841"/>
            <a:ext cx="2787187" cy="57007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8457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CC2A7FF-3D38-90B5-F6D1-2588457E8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774" y="909000"/>
            <a:ext cx="5726452" cy="504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C8F72BB-E6BD-F1EC-16CD-115D5643517F}"/>
                  </a:ext>
                </a:extLst>
              </p:cNvPr>
              <p:cNvSpPr txBox="1"/>
              <p:nvPr/>
            </p:nvSpPr>
            <p:spPr>
              <a:xfrm>
                <a:off x="7021552" y="3132842"/>
                <a:ext cx="2902377" cy="541623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𝑣𝑎𝑙𝑜𝑟</m:t>
                      </m:r>
                    </m:oMath>
                  </m:oMathPara>
                </a14:m>
                <a:endParaRPr lang="es-VE" sz="1400" dirty="0">
                  <a:latin typeface="Georgia" panose="02040502050405020303" pitchFamily="18" charset="0"/>
                </a:endParaRPr>
              </a:p>
              <a:p>
                <a:pPr algn="ctr"/>
                <a:r>
                  <a:rPr lang="pt-BR" sz="1400" dirty="0">
                    <a:latin typeface="Georgia" panose="02040502050405020303" pitchFamily="18" charset="0"/>
                  </a:rPr>
                  <a:t>=DISTR.CHICUAD.CD(D31;B26)</a:t>
                </a:r>
                <a:endParaRPr lang="es-VE" sz="14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C8F72BB-E6BD-F1EC-16CD-115D56435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552" y="3132842"/>
                <a:ext cx="2902377" cy="541623"/>
              </a:xfrm>
              <a:prstGeom prst="rect">
                <a:avLst/>
              </a:prstGeom>
              <a:blipFill>
                <a:blip r:embed="rId3"/>
                <a:stretch>
                  <a:fillRect b="-43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A470488C-C881-29A9-3875-52BCC5DC88D8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7021552" y="3674465"/>
            <a:ext cx="1451189" cy="130533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9F74DB4E-A557-EECF-64BC-AD8E2444E656}"/>
                  </a:ext>
                </a:extLst>
              </p:cNvPr>
              <p:cNvSpPr txBox="1"/>
              <p:nvPr/>
            </p:nvSpPr>
            <p:spPr>
              <a:xfrm>
                <a:off x="9366791" y="4001341"/>
                <a:ext cx="2019942" cy="523220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𝑁𝑖𝑣𝑒𝑙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𝑠𝑖𝑔𝑛𝑖𝑓𝑖𝑐𝑎𝑛𝑐𝑖𝑎</m:t>
                      </m:r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VE" sz="1400" b="0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VE" sz="14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s-VE" sz="1400" dirty="0">
                  <a:latin typeface="Georgia" panose="02040502050405020303" pitchFamily="18" charset="0"/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9F74DB4E-A557-EECF-64BC-AD8E2444E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6791" y="4001341"/>
                <a:ext cx="201994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CB43BF19-C279-276F-CD8C-5BD520073A4F}"/>
              </a:ext>
            </a:extLst>
          </p:cNvPr>
          <p:cNvCxnSpPr>
            <a:cxnSpLocks/>
          </p:cNvCxnSpPr>
          <p:nvPr/>
        </p:nvCxnSpPr>
        <p:spPr>
          <a:xfrm flipH="1">
            <a:off x="7969624" y="4441263"/>
            <a:ext cx="1954305" cy="55883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488E164-1827-5A88-6C19-4D3A2AED93EA}"/>
                  </a:ext>
                </a:extLst>
              </p:cNvPr>
              <p:cNvSpPr txBox="1"/>
              <p:nvPr/>
            </p:nvSpPr>
            <p:spPr>
              <a:xfrm>
                <a:off x="881122" y="5472674"/>
                <a:ext cx="3538479" cy="54162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VE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VE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VE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𝑣𝑎𝑙𝑜𝑟</m:t>
                      </m:r>
                    </m:oMath>
                  </m:oMathPara>
                </a14:m>
                <a:endParaRPr lang="es-VE" sz="1400" dirty="0">
                  <a:solidFill>
                    <a:schemeClr val="tx1"/>
                  </a:solidFill>
                  <a:latin typeface="Georgia" panose="02040502050405020303" pitchFamily="18" charset="0"/>
                </a:endParaRPr>
              </a:p>
              <a:p>
                <a:pPr algn="ctr"/>
                <a:r>
                  <a:rPr lang="es-VE" sz="1400" dirty="0">
                    <a:latin typeface="Georgia" panose="02040502050405020303" pitchFamily="18" charset="0"/>
                  </a:rPr>
                  <a:t>=PRUEBA.CHICUAD(B6:C7;B18:C19)</a:t>
                </a: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488E164-1827-5A88-6C19-4D3A2AED9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122" y="5472674"/>
                <a:ext cx="3538479" cy="541623"/>
              </a:xfrm>
              <a:prstGeom prst="rect">
                <a:avLst/>
              </a:prstGeom>
              <a:blipFill>
                <a:blip r:embed="rId5"/>
                <a:stretch>
                  <a:fillRect b="-43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6912DC80-5162-9E49-A550-9E3336175FBE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4419601" y="5378824"/>
            <a:ext cx="2088775" cy="3646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67264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7408-68A4-46BE-AAA1-E8F06712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419" dirty="0"/>
              <a:t>Ejemplo 12.13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3463B3-5F99-EC93-B248-CE9D5D359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226" y="909000"/>
            <a:ext cx="5753548" cy="50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488E164-1827-5A88-6C19-4D3A2AED93EA}"/>
                  </a:ext>
                </a:extLst>
              </p:cNvPr>
              <p:cNvSpPr txBox="1"/>
              <p:nvPr/>
            </p:nvSpPr>
            <p:spPr>
              <a:xfrm>
                <a:off x="7147451" y="3222533"/>
                <a:ext cx="3538479" cy="52322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VE" sz="1400" b="0" i="1" smtClean="0">
                          <a:latin typeface="Cambria Math" panose="02040503050406030204" pitchFamily="18" charset="0"/>
                        </a:rPr>
                        <m:t>𝐶𝑜𝑒𝑓𝑖𝑐𝑖𝑒𝑛𝑡𝑒</m:t>
                      </m:r>
                      <m:r>
                        <a:rPr lang="es-V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VE" sz="14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V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VE" sz="1400" b="0" i="1" smtClean="0">
                          <a:latin typeface="Cambria Math" panose="02040503050406030204" pitchFamily="18" charset="0"/>
                        </a:rPr>
                        <m:t>𝑐𝑜𝑛𝑡𝑖𝑛𝑔𝑒𝑛𝑐𝑖𝑎</m:t>
                      </m:r>
                    </m:oMath>
                  </m:oMathPara>
                </a14:m>
                <a:endParaRPr lang="es-VE" sz="1400" dirty="0">
                  <a:latin typeface="Georgia" panose="02040502050405020303" pitchFamily="18" charset="0"/>
                </a:endParaRPr>
              </a:p>
              <a:p>
                <a:pPr algn="ctr"/>
                <a:r>
                  <a:rPr lang="es-VE" sz="1400" dirty="0">
                    <a:latin typeface="Georgia" panose="02040502050405020303" pitchFamily="18" charset="0"/>
                  </a:rPr>
                  <a:t>=RAIZ(D31/(D31+B2))</a:t>
                </a: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488E164-1827-5A88-6C19-4D3A2AED9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451" y="3222533"/>
                <a:ext cx="3538479" cy="523220"/>
              </a:xfrm>
              <a:prstGeom prst="rect">
                <a:avLst/>
              </a:prstGeom>
              <a:blipFill>
                <a:blip r:embed="rId3"/>
                <a:stretch>
                  <a:fillRect b="-91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6912DC80-5162-9E49-A550-9E3336175FBE}"/>
              </a:ext>
            </a:extLst>
          </p:cNvPr>
          <p:cNvCxnSpPr>
            <a:cxnSpLocks/>
          </p:cNvCxnSpPr>
          <p:nvPr/>
        </p:nvCxnSpPr>
        <p:spPr>
          <a:xfrm flipH="1">
            <a:off x="7147451" y="3764156"/>
            <a:ext cx="1769239" cy="20584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96114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4357B-7739-64ED-CF4A-BEB18B31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Mensaje principal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8D337-D951-332A-AC1D-6135DA1A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sz="2000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El contraste no paramétrico consta de pruebas estadísticas en las que no se caracteriza la distribución de la población de interés.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Muchas veces se usan para acercarnos a la forma de la distribución de esa población.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s-VE" sz="2000" i="1" dirty="0"/>
              <a:t>Operativamente, sigue la misma secuencia de (des)probar una hipótesis nula.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  <a:p>
            <a:pPr marL="0" indent="0" algn="ctr">
              <a:lnSpc>
                <a:spcPct val="150000"/>
              </a:lnSpc>
              <a:buNone/>
            </a:pPr>
            <a:endParaRPr lang="es-VE" i="1" dirty="0"/>
          </a:p>
        </p:txBody>
      </p:sp>
    </p:spTree>
    <p:extLst>
      <p:ext uri="{BB962C8B-B14F-4D97-AF65-F5344CB8AC3E}">
        <p14:creationId xmlns:p14="http://schemas.microsoft.com/office/powerpoint/2010/main" val="124192508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B5B7C-2524-4454-BA98-4C573E5FA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r>
              <a:rPr lang="es-419" dirty="0"/>
              <a:t>Giorgio Cunto Morales</a:t>
            </a:r>
          </a:p>
          <a:p>
            <a:pPr marL="0" indent="0" algn="ctr">
              <a:buNone/>
            </a:pPr>
            <a:r>
              <a:rPr lang="es-419" sz="2400" dirty="0">
                <a:hlinkClick r:id="rId2"/>
              </a:rPr>
              <a:t>gcuntomo@ucab.edu.ve</a:t>
            </a:r>
            <a:r>
              <a:rPr lang="es-419" sz="2400" dirty="0"/>
              <a:t> | </a:t>
            </a:r>
            <a:r>
              <a:rPr lang="en-US" sz="2400" dirty="0">
                <a:hlinkClick r:id="rId3"/>
              </a:rPr>
              <a:t>https://www.linkedin.com/in/giorgiocmorales/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8922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8452</TotalTime>
  <Words>2970</Words>
  <Application>Microsoft Office PowerPoint</Application>
  <PresentationFormat>Panorámica</PresentationFormat>
  <Paragraphs>517</Paragraphs>
  <Slides>77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77</vt:i4>
      </vt:variant>
    </vt:vector>
  </HeadingPairs>
  <TitlesOfParts>
    <vt:vector size="82" baseType="lpstr">
      <vt:lpstr>Arial</vt:lpstr>
      <vt:lpstr>Calibri</vt:lpstr>
      <vt:lpstr>Cambria Math</vt:lpstr>
      <vt:lpstr>Georgia</vt:lpstr>
      <vt:lpstr>Office Theme</vt:lpstr>
      <vt:lpstr>Presentación de PowerPoint</vt:lpstr>
      <vt:lpstr>Mensaje principal</vt:lpstr>
      <vt:lpstr>Contraste de Hipótesis No Paramétrico</vt:lpstr>
      <vt:lpstr>Espacio de intervención: 30 segundos</vt:lpstr>
      <vt:lpstr>Contraste de hipótesis no paramétrico</vt:lpstr>
      <vt:lpstr>Esp. de intervención: 30 s. ¿Qué distribución siguen los datos?</vt:lpstr>
      <vt:lpstr>Parece normal pero ¿Es normal?</vt:lpstr>
      <vt:lpstr>Espacio de intervención: 30 segundos</vt:lpstr>
      <vt:lpstr>El uso de qq-plots: normal</vt:lpstr>
      <vt:lpstr>El uso de qq-plots: sesgo</vt:lpstr>
      <vt:lpstr>El uso de qq-plot: sesgo</vt:lpstr>
      <vt:lpstr>El uso de qq-plots: colas gruesas</vt:lpstr>
      <vt:lpstr>El uso de qq-plots: colas delagadas</vt:lpstr>
      <vt:lpstr>El uso de qq-plots: bimodal</vt:lpstr>
      <vt:lpstr>Contraste de hipótesis no paramétrico</vt:lpstr>
      <vt:lpstr>Bondad de Ajuste</vt:lpstr>
      <vt:lpstr>Espacio de intervención: 30 segundos</vt:lpstr>
      <vt:lpstr>Bondad de Ajuste</vt:lpstr>
      <vt:lpstr>Algo de sabiduría</vt:lpstr>
      <vt:lpstr>Prueba Chi-cuadrada de Pearson para Bondad de Ajuste</vt:lpstr>
      <vt:lpstr>Contraste χ^2 de Pearson para Bondad de Ajuste</vt:lpstr>
      <vt:lpstr>Contraste χ^2 de Pearson para Bondad de Ajuste</vt:lpstr>
      <vt:lpstr>Contraste χ^2 de Pearson para Bondad de Ajuste</vt:lpstr>
      <vt:lpstr>Contraste χ^2 de Pearson para Bondad de Ajuste</vt:lpstr>
      <vt:lpstr>Contraste χ^2 de Pearson para Bondad de Ajuste</vt:lpstr>
      <vt:lpstr>Contraste χ^2 de Pearson para Bondad de Ajuste</vt:lpstr>
      <vt:lpstr>Contraste χ^2 de Pearson para Bondad de Ajuste</vt:lpstr>
      <vt:lpstr>Contraste χ^2 de Pearson para Bondad de Ajuste</vt:lpstr>
      <vt:lpstr>Ejemplo 12.2</vt:lpstr>
      <vt:lpstr>Ejemplo 12.2</vt:lpstr>
      <vt:lpstr>Ejemplo 12.2</vt:lpstr>
      <vt:lpstr>Ejemplo 12.2</vt:lpstr>
      <vt:lpstr>Ejemplo 12.2</vt:lpstr>
      <vt:lpstr>Ejemplo 12.2</vt:lpstr>
      <vt:lpstr>Ejemplo 12.5</vt:lpstr>
      <vt:lpstr>Ejemplo 12.5</vt:lpstr>
      <vt:lpstr>Ejemplo 12.5</vt:lpstr>
      <vt:lpstr>Ejemplo 12.5</vt:lpstr>
      <vt:lpstr>Ejemplo 12.5</vt:lpstr>
      <vt:lpstr>Ejemplo 12.5</vt:lpstr>
      <vt:lpstr>Ejemplo 12.5</vt:lpstr>
      <vt:lpstr>Ejemplo 12.5</vt:lpstr>
      <vt:lpstr>Kolmogórov-Smirnov</vt:lpstr>
      <vt:lpstr>Contraste de Kolmogórov-Smirnov</vt:lpstr>
      <vt:lpstr>Contraste de Kolmogórov-Smirnov</vt:lpstr>
      <vt:lpstr>Contraste de Kolmogórov-Smirnov</vt:lpstr>
      <vt:lpstr>Espacio de intervención: 30 segundos</vt:lpstr>
      <vt:lpstr>Ejemplo 12.10</vt:lpstr>
      <vt:lpstr>Ejemplo 12.10</vt:lpstr>
      <vt:lpstr>Ejemplo 12.10</vt:lpstr>
      <vt:lpstr>Ejemplo 12.10</vt:lpstr>
      <vt:lpstr>Ejemplo 12.10</vt:lpstr>
      <vt:lpstr>Ejemplo 12.10</vt:lpstr>
      <vt:lpstr>Ejemplo 12.10</vt:lpstr>
      <vt:lpstr>Ejemplo 12.10</vt:lpstr>
      <vt:lpstr>Ejemplo 12.10</vt:lpstr>
      <vt:lpstr>Tablas de contingencia</vt:lpstr>
      <vt:lpstr>Espacio de intervención: 30 segundos</vt:lpstr>
      <vt:lpstr>Contraste de independencia: tablas de contingencia</vt:lpstr>
      <vt:lpstr>Contraste de independencia: tablas de contingencia</vt:lpstr>
      <vt:lpstr>Contraste de independencia: tablas de contingencia</vt:lpstr>
      <vt:lpstr>Contraste de independencia: tablas de contingencia</vt:lpstr>
      <vt:lpstr>Contraste de independencia: tablas de contingencia</vt:lpstr>
      <vt:lpstr>Espacio de intervención: 30 segundos</vt:lpstr>
      <vt:lpstr>Contraste de independencia: tablas de contingencia</vt:lpstr>
      <vt:lpstr>Contraste de independencia: tablas de contingencia</vt:lpstr>
      <vt:lpstr>Coeficiente de contingencia</vt:lpstr>
      <vt:lpstr>Ejemplo 12.13</vt:lpstr>
      <vt:lpstr>Ejemplo 12.13</vt:lpstr>
      <vt:lpstr>Ejemplo 12.13</vt:lpstr>
      <vt:lpstr>Ejemplo 12.13</vt:lpstr>
      <vt:lpstr>Ejemplo 12.13</vt:lpstr>
      <vt:lpstr>Ejemplo 12.13</vt:lpstr>
      <vt:lpstr>Ejemplo 12.13</vt:lpstr>
      <vt:lpstr>Ejemplo 12.13</vt:lpstr>
      <vt:lpstr>Mensaje principal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Giorgio C Morales</dc:creator>
  <cp:lastModifiedBy>Giorgio Cunto Morales</cp:lastModifiedBy>
  <cp:revision>148</cp:revision>
  <dcterms:created xsi:type="dcterms:W3CDTF">2020-04-17T00:45:03Z</dcterms:created>
  <dcterms:modified xsi:type="dcterms:W3CDTF">2023-06-22T19:03:01Z</dcterms:modified>
</cp:coreProperties>
</file>