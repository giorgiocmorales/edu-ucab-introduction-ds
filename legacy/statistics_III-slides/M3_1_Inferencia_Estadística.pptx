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500" r:id="rId3"/>
    <p:sldId id="340" r:id="rId4"/>
    <p:sldId id="415" r:id="rId5"/>
    <p:sldId id="257" r:id="rId6"/>
    <p:sldId id="283" r:id="rId7"/>
    <p:sldId id="331" r:id="rId8"/>
    <p:sldId id="277" r:id="rId9"/>
    <p:sldId id="416" r:id="rId10"/>
    <p:sldId id="278" r:id="rId11"/>
    <p:sldId id="284" r:id="rId12"/>
    <p:sldId id="332" r:id="rId13"/>
    <p:sldId id="341" r:id="rId14"/>
    <p:sldId id="279" r:id="rId15"/>
    <p:sldId id="423" r:id="rId16"/>
    <p:sldId id="287" r:id="rId17"/>
    <p:sldId id="292" r:id="rId18"/>
    <p:sldId id="288" r:id="rId19"/>
    <p:sldId id="293" r:id="rId20"/>
    <p:sldId id="294" r:id="rId21"/>
    <p:sldId id="348" r:id="rId22"/>
    <p:sldId id="350" r:id="rId23"/>
    <p:sldId id="353" r:id="rId24"/>
    <p:sldId id="437" r:id="rId25"/>
    <p:sldId id="438" r:id="rId26"/>
    <p:sldId id="422" r:id="rId27"/>
    <p:sldId id="295" r:id="rId28"/>
    <p:sldId id="436" r:id="rId29"/>
    <p:sldId id="424" r:id="rId30"/>
    <p:sldId id="342" r:id="rId31"/>
    <p:sldId id="289" r:id="rId32"/>
    <p:sldId id="296" r:id="rId33"/>
    <p:sldId id="470" r:id="rId34"/>
    <p:sldId id="417" r:id="rId35"/>
    <p:sldId id="418" r:id="rId36"/>
    <p:sldId id="339" r:id="rId37"/>
    <p:sldId id="427" r:id="rId38"/>
    <p:sldId id="430" r:id="rId39"/>
    <p:sldId id="428" r:id="rId40"/>
    <p:sldId id="297" r:id="rId41"/>
    <p:sldId id="298" r:id="rId42"/>
    <p:sldId id="432" r:id="rId43"/>
    <p:sldId id="431" r:id="rId44"/>
    <p:sldId id="356" r:id="rId45"/>
    <p:sldId id="357" r:id="rId46"/>
    <p:sldId id="360" r:id="rId47"/>
    <p:sldId id="433" r:id="rId48"/>
    <p:sldId id="439" r:id="rId49"/>
    <p:sldId id="440" r:id="rId50"/>
    <p:sldId id="343" r:id="rId51"/>
    <p:sldId id="435" r:id="rId52"/>
    <p:sldId id="307" r:id="rId53"/>
    <p:sldId id="308" r:id="rId54"/>
    <p:sldId id="362" r:id="rId55"/>
    <p:sldId id="366" r:id="rId56"/>
    <p:sldId id="468" r:id="rId57"/>
    <p:sldId id="441" r:id="rId58"/>
    <p:sldId id="442" r:id="rId59"/>
    <p:sldId id="371" r:id="rId60"/>
    <p:sldId id="443" r:id="rId61"/>
    <p:sldId id="444" r:id="rId62"/>
    <p:sldId id="445" r:id="rId63"/>
    <p:sldId id="446" r:id="rId64"/>
    <p:sldId id="447" r:id="rId65"/>
    <p:sldId id="344" r:id="rId66"/>
    <p:sldId id="305" r:id="rId67"/>
    <p:sldId id="312" r:id="rId68"/>
    <p:sldId id="381" r:id="rId69"/>
    <p:sldId id="382" r:id="rId70"/>
    <p:sldId id="385" r:id="rId71"/>
    <p:sldId id="448" r:id="rId72"/>
    <p:sldId id="449" r:id="rId73"/>
    <p:sldId id="345" r:id="rId74"/>
    <p:sldId id="313" r:id="rId75"/>
    <p:sldId id="315" r:id="rId76"/>
    <p:sldId id="316" r:id="rId77"/>
    <p:sldId id="451" r:id="rId78"/>
    <p:sldId id="452" r:id="rId79"/>
    <p:sldId id="453" r:id="rId80"/>
    <p:sldId id="454" r:id="rId81"/>
    <p:sldId id="502" r:id="rId82"/>
    <p:sldId id="503" r:id="rId83"/>
    <p:sldId id="319" r:id="rId84"/>
    <p:sldId id="461" r:id="rId85"/>
    <p:sldId id="462" r:id="rId86"/>
    <p:sldId id="463" r:id="rId87"/>
    <p:sldId id="388" r:id="rId88"/>
    <p:sldId id="464" r:id="rId89"/>
    <p:sldId id="389" r:id="rId90"/>
    <p:sldId id="391" r:id="rId91"/>
    <p:sldId id="392" r:id="rId92"/>
    <p:sldId id="317" r:id="rId93"/>
    <p:sldId id="455" r:id="rId94"/>
    <p:sldId id="456" r:id="rId95"/>
    <p:sldId id="457" r:id="rId96"/>
    <p:sldId id="460" r:id="rId97"/>
    <p:sldId id="458" r:id="rId98"/>
    <p:sldId id="459" r:id="rId99"/>
    <p:sldId id="465" r:id="rId100"/>
    <p:sldId id="325" r:id="rId101"/>
    <p:sldId id="326" r:id="rId102"/>
    <p:sldId id="394" r:id="rId103"/>
    <p:sldId id="395" r:id="rId104"/>
    <p:sldId id="396" r:id="rId105"/>
    <p:sldId id="397" r:id="rId106"/>
    <p:sldId id="466" r:id="rId107"/>
    <p:sldId id="467" r:id="rId108"/>
    <p:sldId id="327" r:id="rId109"/>
    <p:sldId id="469" r:id="rId110"/>
    <p:sldId id="347" r:id="rId111"/>
    <p:sldId id="329" r:id="rId112"/>
    <p:sldId id="501" r:id="rId113"/>
    <p:sldId id="276" r:id="rId1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A5D"/>
    <a:srgbClr val="89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26" autoAdjust="0"/>
    <p:restoredTop sz="94660"/>
  </p:normalViewPr>
  <p:slideViewPr>
    <p:cSldViewPr snapToGrid="0">
      <p:cViewPr varScale="1">
        <p:scale>
          <a:sx n="81" d="100"/>
          <a:sy n="81" d="100"/>
        </p:scale>
        <p:origin x="90" y="4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heme" Target="theme/theme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slide" Target="slides/slide109.xml"/><Relationship Id="rId115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19FDA-64E3-4AE2-8866-4624A7B52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52F877-47BE-4588-88BA-8CB06EF954D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ESTADÍ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48BE2-9CB5-4C5E-8562-2E2F3985C3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42264-421F-4D62-B951-6F2CA84F9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6052C-8ACB-49D8-B8EF-3B485F1F3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335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0BDA8-E557-4626-86BA-56B3E1FD5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80CC3-0AE0-407B-AA10-92B5CA698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AB793-7AFA-4089-A3A8-6F5D861A65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AFA07-C55D-41EC-A7F6-0D9213E7D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F8243-5F9D-4E5D-A01D-354E1EF08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21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A837F-6BD1-4AAD-9C8A-82F795528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90E71-BEAA-4E89-9F9B-8D341D3EE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B1FB1-360D-4C6B-A023-DCAB577BB6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D68ED-D1DC-4D87-BF60-77747EFBC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7893A-50E5-4DE3-9F41-A593BD958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291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D2B31-20AA-4B71-8958-20712FE71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406AA-4B6F-43A3-89E7-B7AD5DB2D8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51F21-E287-4135-8D73-3856EB177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02E284-D29E-4263-9B92-14E81D6351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DCAAE-6263-43B5-B6D0-A04C09AE2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A0485-671F-481D-A078-CC6F9C7F0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886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5756B-B1FD-4858-8717-BF0654D2E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DB432-76DA-4E5E-9D92-1FB6A4A5D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45127-11B6-4861-A9DF-76B9382CF3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04DE2B-E6EC-47B4-8D56-743BDF7B64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D8FE8-2E69-44C5-96AD-36FCEF147F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BE675A-6736-4C8E-A9EE-9DCBE93593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72B57B-8AF2-4A15-B4AB-1BE127C6B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374B8D-E941-4327-989C-EF590E7BD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71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EE511-F376-4864-963C-822DE6393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C292F6-7361-495F-B87A-97CFCF45C9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2ED667-FA23-4238-9DC9-603C68135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5204F2-440D-421C-A4F3-993CC7D31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76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681DA9-86E2-446F-97B1-95945B321C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61814C-C49F-4B1A-8D5A-E76A917DC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B9687-9812-4C8F-B4CC-5F937D8B3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134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DCBEF-82BA-4669-9E7B-51319881E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EEEAB-C165-4C1E-8D50-A5404E010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86983C-47E0-45A6-AF00-81B08CEFFB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06A8D8-6B93-41B3-BEE8-E4CD53C991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624811-32C8-45C8-BACE-14B782A76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4FE574-1E14-46C1-9D0E-93C544CFA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844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E76A9-8C1D-43E1-88AA-91D262B7C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A912B1-A51A-4595-A017-4DD32A003E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95B3A8-74B0-4DBC-B6A3-50091F74F9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0C9DFA-2481-4F4D-AB20-BAB6351311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40A896-D462-4798-B918-D8D61CA34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C2D00F-802A-4AE9-9E23-8CE855E87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788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378CE-E55C-4180-A5C8-9D020B415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D56904-45A5-4B44-95EE-236498EDF8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31A5B-A008-4021-9A06-5401823374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14A92-A4D6-44F8-91CC-AA47B6B8D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A0C67-F949-4EF9-A5E4-0D3DD082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566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A3A273-84A6-45E5-AEDE-1EE145C1BB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CA47B9-E8B5-4E2B-8DB3-58F5ECC68B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529D8-B941-4F10-BAA8-BBB0C60883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4/26/2023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98421-F993-4FE9-AC55-80526D9A7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7208D-A169-4843-9917-E9B7D94B3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714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338040-58BC-42CF-B0E1-4021AAE0D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75"/>
            <a:ext cx="10515600" cy="666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51C751-C9B4-420E-9FC2-17D521431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688816"/>
            <a:ext cx="10515600" cy="54881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FC5EBC2-48FF-4AE7-8A93-8A46A84D23FA}"/>
              </a:ext>
            </a:extLst>
          </p:cNvPr>
          <p:cNvCxnSpPr>
            <a:cxnSpLocks/>
          </p:cNvCxnSpPr>
          <p:nvPr userDrawn="1"/>
        </p:nvCxnSpPr>
        <p:spPr>
          <a:xfrm>
            <a:off x="838200" y="723559"/>
            <a:ext cx="10515600" cy="0"/>
          </a:xfrm>
          <a:prstGeom prst="line">
            <a:avLst/>
          </a:prstGeom>
          <a:ln w="38100">
            <a:solidFill>
              <a:srgbClr val="003A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252427-CE25-435F-B457-304E4F500EFE}"/>
              </a:ext>
            </a:extLst>
          </p:cNvPr>
          <p:cNvCxnSpPr/>
          <p:nvPr userDrawn="1"/>
        </p:nvCxnSpPr>
        <p:spPr>
          <a:xfrm>
            <a:off x="838200" y="6192520"/>
            <a:ext cx="10515600" cy="0"/>
          </a:xfrm>
          <a:prstGeom prst="line">
            <a:avLst/>
          </a:prstGeom>
          <a:ln w="19050">
            <a:solidFill>
              <a:srgbClr val="003A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5ACB22-8E4D-401A-A3BA-16BB52BD29C5}"/>
              </a:ext>
            </a:extLst>
          </p:cNvPr>
          <p:cNvSpPr txBox="1"/>
          <p:nvPr userDrawn="1"/>
        </p:nvSpPr>
        <p:spPr>
          <a:xfrm>
            <a:off x="838200" y="6192520"/>
            <a:ext cx="10515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600" dirty="0">
                <a:latin typeface="Georgia" panose="02040502050405020303" pitchFamily="18" charset="0"/>
              </a:rPr>
              <a:t>Giorgio Cunto Morales</a:t>
            </a:r>
            <a:endParaRPr lang="en-US" sz="16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213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6.svg"/><Relationship Id="rId4" Type="http://schemas.openxmlformats.org/officeDocument/2006/relationships/image" Target="../media/image4.png"/><Relationship Id="rId9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6.svg"/><Relationship Id="rId7" Type="http://schemas.openxmlformats.org/officeDocument/2006/relationships/image" Target="../media/image4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12.svg"/><Relationship Id="rId5" Type="http://schemas.openxmlformats.org/officeDocument/2006/relationships/image" Target="../media/image8.svg"/><Relationship Id="rId10" Type="http://schemas.openxmlformats.org/officeDocument/2006/relationships/image" Target="../media/image11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0.png"/><Relationship Id="rId4" Type="http://schemas.openxmlformats.org/officeDocument/2006/relationships/image" Target="../media/image81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5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1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0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giorgiocmorales/" TargetMode="External"/><Relationship Id="rId2" Type="http://schemas.openxmlformats.org/officeDocument/2006/relationships/hyperlink" Target="mailto:gcuntomo@ucab.edu.v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43B509-C3AB-4D18-8154-6C185FB4DC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419" sz="2800" b="1" dirty="0">
                <a:solidFill>
                  <a:srgbClr val="003A5D"/>
                </a:solidFill>
                <a:latin typeface="Georgia" panose="02040502050405020303" pitchFamily="18" charset="0"/>
              </a:rPr>
              <a:t>ESTADÍSTICA III</a:t>
            </a:r>
          </a:p>
          <a:p>
            <a:r>
              <a:rPr lang="es-419" dirty="0"/>
              <a:t>Conceptos fundamentales de la inferencia estadística</a:t>
            </a:r>
            <a:endParaRPr lang="en-US" dirty="0">
              <a:latin typeface="Georgia" panose="020405020504050203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C6C2B5-519A-412E-8AF8-57C867BD7E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428" y="1908313"/>
            <a:ext cx="8909144" cy="1347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302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F4357B-7739-64ED-CF4A-BEB18B31C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Mensaje principal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78D337-D951-332A-AC1D-6135DA1A7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La inferencia estadística trata de acercarse a retratar la realidad de una población a través de información contenida en una muestra de dicha población.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Métricas muestrales conocidas como estadísticos son los principales instrumentos de trabajo para tal labor.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Los estadísticos más populares tienen propiedades probabilísticas conocidas y se pueden trabajar de forma estandarizada.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</p:txBody>
      </p:sp>
    </p:spTree>
    <p:extLst>
      <p:ext uri="{BB962C8B-B14F-4D97-AF65-F5344CB8AC3E}">
        <p14:creationId xmlns:p14="http://schemas.microsoft.com/office/powerpoint/2010/main" val="2822139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BB7AA6-FADF-4C74-BB6D-7BFBB63F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Inferencia Estadística</a:t>
            </a:r>
            <a:endParaRPr lang="es-419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6D3240-91F8-449F-81B7-432D6F81E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Introducción</a:t>
            </a:r>
          </a:p>
        </p:txBody>
      </p:sp>
    </p:spTree>
    <p:extLst>
      <p:ext uri="{BB962C8B-B14F-4D97-AF65-F5344CB8AC3E}">
        <p14:creationId xmlns:p14="http://schemas.microsoft.com/office/powerpoint/2010/main" val="4028874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A9418-FCAF-4AFC-CA99-C7DB73F2D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La Estadística Inferencial en una imagen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E3DF722-88F9-9E80-09A6-C8EB1C1CDC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226" y="999000"/>
            <a:ext cx="4465547" cy="48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4950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Poblaciones y muestras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D2B7B-D57E-4721-9C41-C48E6975A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419" sz="1800" dirty="0"/>
              <a:t>Proceso para identificar las </a:t>
            </a:r>
            <a:r>
              <a:rPr lang="es-419" sz="1800" b="1" dirty="0">
                <a:solidFill>
                  <a:srgbClr val="003A5D"/>
                </a:solidFill>
              </a:rPr>
              <a:t>propiedades</a:t>
            </a:r>
            <a:r>
              <a:rPr lang="es-419" sz="1800" dirty="0"/>
              <a:t> de una distribución subyacente a través de observaciones de los datos.</a:t>
            </a:r>
          </a:p>
          <a:p>
            <a:pPr>
              <a:lnSpc>
                <a:spcPct val="150000"/>
              </a:lnSpc>
            </a:pPr>
            <a:r>
              <a:rPr lang="es-419" sz="1800" dirty="0"/>
              <a:t>En términos prácticos: identificar información </a:t>
            </a:r>
            <a:r>
              <a:rPr lang="es-419" sz="1800" b="1" dirty="0">
                <a:solidFill>
                  <a:srgbClr val="003A5D"/>
                </a:solidFill>
              </a:rPr>
              <a:t>paramétrica </a:t>
            </a:r>
            <a:r>
              <a:rPr lang="es-419" sz="1800" dirty="0"/>
              <a:t>de una </a:t>
            </a:r>
            <a:r>
              <a:rPr lang="es-419" sz="1800" b="1" dirty="0">
                <a:solidFill>
                  <a:srgbClr val="003A5D"/>
                </a:solidFill>
              </a:rPr>
              <a:t>población </a:t>
            </a:r>
            <a:r>
              <a:rPr lang="es-419" sz="1800" dirty="0"/>
              <a:t>a</a:t>
            </a:r>
            <a:r>
              <a:rPr lang="es-419" sz="1800" b="1" dirty="0">
                <a:solidFill>
                  <a:srgbClr val="003A5D"/>
                </a:solidFill>
              </a:rPr>
              <a:t> </a:t>
            </a:r>
            <a:r>
              <a:rPr lang="es-419" sz="1800" dirty="0"/>
              <a:t>través de información contenida en una </a:t>
            </a:r>
            <a:r>
              <a:rPr lang="es-419" sz="1800" b="1" dirty="0">
                <a:solidFill>
                  <a:srgbClr val="003A5D"/>
                </a:solidFill>
              </a:rPr>
              <a:t>muestra</a:t>
            </a:r>
            <a:r>
              <a:rPr lang="es-419" sz="1800" dirty="0"/>
              <a:t>.</a:t>
            </a:r>
          </a:p>
          <a:p>
            <a:pPr>
              <a:lnSpc>
                <a:spcPct val="150000"/>
              </a:lnSpc>
            </a:pPr>
            <a:r>
              <a:rPr lang="es-419" sz="1800" b="1" dirty="0">
                <a:solidFill>
                  <a:srgbClr val="003A5D"/>
                </a:solidFill>
              </a:rPr>
              <a:t>Población: </a:t>
            </a:r>
            <a:r>
              <a:rPr lang="es-419" sz="1800" dirty="0"/>
              <a:t>Universo de interés a estudiar.</a:t>
            </a:r>
          </a:p>
          <a:p>
            <a:pPr>
              <a:lnSpc>
                <a:spcPct val="150000"/>
              </a:lnSpc>
            </a:pPr>
            <a:r>
              <a:rPr lang="es-419" sz="1800" b="1" dirty="0">
                <a:solidFill>
                  <a:srgbClr val="003A5D"/>
                </a:solidFill>
              </a:rPr>
              <a:t>Muestra: </a:t>
            </a:r>
            <a:r>
              <a:rPr lang="es-419" sz="1800" dirty="0"/>
              <a:t>Subconjunto de la población que servirá para establecer conclusiones paramétricas sobre la población.</a:t>
            </a:r>
          </a:p>
        </p:txBody>
      </p:sp>
      <p:pic>
        <p:nvPicPr>
          <p:cNvPr id="9" name="Graphic 8" descr="Man">
            <a:extLst>
              <a:ext uri="{FF2B5EF4-FFF2-40B4-BE49-F238E27FC236}">
                <a16:creationId xmlns:a16="http://schemas.microsoft.com/office/drawing/2014/main" id="{58AFA4A0-85CC-4014-A661-E322502D9A3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3576014" y="4190987"/>
            <a:ext cx="818321" cy="818321"/>
          </a:xfrm>
          <a:prstGeom prst="rect">
            <a:avLst/>
          </a:prstGeom>
        </p:spPr>
      </p:pic>
      <p:pic>
        <p:nvPicPr>
          <p:cNvPr id="10" name="Graphic 9" descr="Man">
            <a:extLst>
              <a:ext uri="{FF2B5EF4-FFF2-40B4-BE49-F238E27FC236}">
                <a16:creationId xmlns:a16="http://schemas.microsoft.com/office/drawing/2014/main" id="{0E2CCD57-A8EC-4095-A5E4-9FB3D5E1026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4064686" y="4190987"/>
            <a:ext cx="818321" cy="818321"/>
          </a:xfrm>
          <a:prstGeom prst="rect">
            <a:avLst/>
          </a:prstGeom>
        </p:spPr>
      </p:pic>
      <p:pic>
        <p:nvPicPr>
          <p:cNvPr id="12" name="Graphic 11" descr="Woman">
            <a:extLst>
              <a:ext uri="{FF2B5EF4-FFF2-40B4-BE49-F238E27FC236}">
                <a16:creationId xmlns:a16="http://schemas.microsoft.com/office/drawing/2014/main" id="{EB0C220F-21C6-4D8A-A7B5-3DF22E03CC4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551699" y="4190986"/>
            <a:ext cx="818321" cy="818321"/>
          </a:xfrm>
          <a:prstGeom prst="rect">
            <a:avLst/>
          </a:prstGeom>
        </p:spPr>
      </p:pic>
      <p:pic>
        <p:nvPicPr>
          <p:cNvPr id="13" name="Graphic 12" descr="Woman">
            <a:extLst>
              <a:ext uri="{FF2B5EF4-FFF2-40B4-BE49-F238E27FC236}">
                <a16:creationId xmlns:a16="http://schemas.microsoft.com/office/drawing/2014/main" id="{1D1EA7FC-60B0-4074-A3AB-9D1862EBB231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010545" y="4190986"/>
            <a:ext cx="818321" cy="818321"/>
          </a:xfrm>
          <a:prstGeom prst="rect">
            <a:avLst/>
          </a:prstGeom>
        </p:spPr>
      </p:pic>
      <p:pic>
        <p:nvPicPr>
          <p:cNvPr id="14" name="Graphic 13" descr="Man">
            <a:extLst>
              <a:ext uri="{FF2B5EF4-FFF2-40B4-BE49-F238E27FC236}">
                <a16:creationId xmlns:a16="http://schemas.microsoft.com/office/drawing/2014/main" id="{08CF24DE-7CAA-4AFC-A028-89B71A8A7F4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5447872" y="4190986"/>
            <a:ext cx="818321" cy="818321"/>
          </a:xfrm>
          <a:prstGeom prst="rect">
            <a:avLst/>
          </a:prstGeom>
        </p:spPr>
      </p:pic>
      <p:pic>
        <p:nvPicPr>
          <p:cNvPr id="15" name="Graphic 14" descr="Man">
            <a:extLst>
              <a:ext uri="{FF2B5EF4-FFF2-40B4-BE49-F238E27FC236}">
                <a16:creationId xmlns:a16="http://schemas.microsoft.com/office/drawing/2014/main" id="{532C5D8C-3C6E-475B-B5F8-2FBDD130068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5857032" y="4190986"/>
            <a:ext cx="818321" cy="818321"/>
          </a:xfrm>
          <a:prstGeom prst="rect">
            <a:avLst/>
          </a:prstGeom>
        </p:spPr>
      </p:pic>
      <p:pic>
        <p:nvPicPr>
          <p:cNvPr id="16" name="Graphic 15" descr="Woman">
            <a:extLst>
              <a:ext uri="{FF2B5EF4-FFF2-40B4-BE49-F238E27FC236}">
                <a16:creationId xmlns:a16="http://schemas.microsoft.com/office/drawing/2014/main" id="{216CEA7B-8EF9-4188-85BF-73247D155611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553642" y="5009311"/>
            <a:ext cx="818321" cy="818321"/>
          </a:xfrm>
          <a:prstGeom prst="rect">
            <a:avLst/>
          </a:prstGeom>
        </p:spPr>
      </p:pic>
      <p:pic>
        <p:nvPicPr>
          <p:cNvPr id="17" name="Graphic 16" descr="Woman">
            <a:extLst>
              <a:ext uri="{FF2B5EF4-FFF2-40B4-BE49-F238E27FC236}">
                <a16:creationId xmlns:a16="http://schemas.microsoft.com/office/drawing/2014/main" id="{7EAD1DDF-F97D-4AAB-9CB6-3B6C324FE031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063858" y="5009311"/>
            <a:ext cx="818321" cy="818321"/>
          </a:xfrm>
          <a:prstGeom prst="rect">
            <a:avLst/>
          </a:prstGeom>
        </p:spPr>
      </p:pic>
      <p:pic>
        <p:nvPicPr>
          <p:cNvPr id="18" name="Graphic 17" descr="Man">
            <a:extLst>
              <a:ext uri="{FF2B5EF4-FFF2-40B4-BE49-F238E27FC236}">
                <a16:creationId xmlns:a16="http://schemas.microsoft.com/office/drawing/2014/main" id="{274965DD-2691-4343-B7E8-D42B00736D5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4550870" y="5009311"/>
            <a:ext cx="818321" cy="818321"/>
          </a:xfrm>
          <a:prstGeom prst="rect">
            <a:avLst/>
          </a:prstGeom>
        </p:spPr>
      </p:pic>
      <p:pic>
        <p:nvPicPr>
          <p:cNvPr id="19" name="Graphic 18" descr="Man">
            <a:extLst>
              <a:ext uri="{FF2B5EF4-FFF2-40B4-BE49-F238E27FC236}">
                <a16:creationId xmlns:a16="http://schemas.microsoft.com/office/drawing/2014/main" id="{FC03F328-4B51-424C-827C-71B2E7DAC2F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5013437" y="5009311"/>
            <a:ext cx="818321" cy="818321"/>
          </a:xfrm>
          <a:prstGeom prst="rect">
            <a:avLst/>
          </a:prstGeom>
        </p:spPr>
      </p:pic>
      <p:pic>
        <p:nvPicPr>
          <p:cNvPr id="20" name="Graphic 19" descr="Woman">
            <a:extLst>
              <a:ext uri="{FF2B5EF4-FFF2-40B4-BE49-F238E27FC236}">
                <a16:creationId xmlns:a16="http://schemas.microsoft.com/office/drawing/2014/main" id="{05A192B5-DEF3-4F23-A9EF-5702F1C74C18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444970" y="5009311"/>
            <a:ext cx="818321" cy="818321"/>
          </a:xfrm>
          <a:prstGeom prst="rect">
            <a:avLst/>
          </a:prstGeom>
        </p:spPr>
      </p:pic>
      <p:pic>
        <p:nvPicPr>
          <p:cNvPr id="21" name="Graphic 20" descr="Woman">
            <a:extLst>
              <a:ext uri="{FF2B5EF4-FFF2-40B4-BE49-F238E27FC236}">
                <a16:creationId xmlns:a16="http://schemas.microsoft.com/office/drawing/2014/main" id="{4CD35C5C-6CBF-41AE-83F6-787273AC490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851240" y="5009310"/>
            <a:ext cx="818321" cy="818321"/>
          </a:xfrm>
          <a:prstGeom prst="rect">
            <a:avLst/>
          </a:prstGeom>
        </p:spPr>
      </p:pic>
      <p:pic>
        <p:nvPicPr>
          <p:cNvPr id="22" name="Graphic 21" descr="Woman">
            <a:extLst>
              <a:ext uri="{FF2B5EF4-FFF2-40B4-BE49-F238E27FC236}">
                <a16:creationId xmlns:a16="http://schemas.microsoft.com/office/drawing/2014/main" id="{CFDBA02D-4827-4F57-8432-9221E5BFD10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291456" y="4190984"/>
            <a:ext cx="818321" cy="818321"/>
          </a:xfrm>
          <a:prstGeom prst="rect">
            <a:avLst/>
          </a:prstGeom>
        </p:spPr>
      </p:pic>
      <p:pic>
        <p:nvPicPr>
          <p:cNvPr id="23" name="Graphic 22" descr="Woman">
            <a:extLst>
              <a:ext uri="{FF2B5EF4-FFF2-40B4-BE49-F238E27FC236}">
                <a16:creationId xmlns:a16="http://schemas.microsoft.com/office/drawing/2014/main" id="{E97CBF02-AC38-4B17-A2BC-82224FD92C86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731671" y="4190984"/>
            <a:ext cx="818321" cy="818321"/>
          </a:xfrm>
          <a:prstGeom prst="rect">
            <a:avLst/>
          </a:prstGeom>
        </p:spPr>
      </p:pic>
      <p:pic>
        <p:nvPicPr>
          <p:cNvPr id="24" name="Graphic 23" descr="Man">
            <a:extLst>
              <a:ext uri="{FF2B5EF4-FFF2-40B4-BE49-F238E27FC236}">
                <a16:creationId xmlns:a16="http://schemas.microsoft.com/office/drawing/2014/main" id="{39DD9035-96F0-4F28-BC77-9E380237ABC0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285664" y="5009310"/>
            <a:ext cx="818321" cy="818321"/>
          </a:xfrm>
          <a:prstGeom prst="rect">
            <a:avLst/>
          </a:prstGeom>
        </p:spPr>
      </p:pic>
      <p:pic>
        <p:nvPicPr>
          <p:cNvPr id="25" name="Graphic 24" descr="Man">
            <a:extLst>
              <a:ext uri="{FF2B5EF4-FFF2-40B4-BE49-F238E27FC236}">
                <a16:creationId xmlns:a16="http://schemas.microsoft.com/office/drawing/2014/main" id="{B6C81793-9E99-4E01-A317-5EC1456C7AA1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749675" y="5009310"/>
            <a:ext cx="818321" cy="818321"/>
          </a:xfrm>
          <a:prstGeom prst="rect">
            <a:avLst/>
          </a:prstGeom>
        </p:spPr>
      </p:pic>
      <p:pic>
        <p:nvPicPr>
          <p:cNvPr id="26" name="Graphic 25" descr="Man">
            <a:extLst>
              <a:ext uri="{FF2B5EF4-FFF2-40B4-BE49-F238E27FC236}">
                <a16:creationId xmlns:a16="http://schemas.microsoft.com/office/drawing/2014/main" id="{1EA71E15-3B9B-42B2-B53C-D2FE0978F4CF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7166250" y="4190983"/>
            <a:ext cx="818321" cy="818321"/>
          </a:xfrm>
          <a:prstGeom prst="rect">
            <a:avLst/>
          </a:prstGeom>
        </p:spPr>
      </p:pic>
      <p:pic>
        <p:nvPicPr>
          <p:cNvPr id="27" name="Graphic 26" descr="Man">
            <a:extLst>
              <a:ext uri="{FF2B5EF4-FFF2-40B4-BE49-F238E27FC236}">
                <a16:creationId xmlns:a16="http://schemas.microsoft.com/office/drawing/2014/main" id="{0406086D-9A26-4753-8C55-DC362E808587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7593413" y="4190981"/>
            <a:ext cx="818321" cy="818321"/>
          </a:xfrm>
          <a:prstGeom prst="rect">
            <a:avLst/>
          </a:prstGeom>
        </p:spPr>
      </p:pic>
      <p:pic>
        <p:nvPicPr>
          <p:cNvPr id="28" name="Graphic 27" descr="Woman">
            <a:extLst>
              <a:ext uri="{FF2B5EF4-FFF2-40B4-BE49-F238E27FC236}">
                <a16:creationId xmlns:a16="http://schemas.microsoft.com/office/drawing/2014/main" id="{CF853E9D-9945-43C2-B728-F7359292DD56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7162543" y="5009310"/>
            <a:ext cx="818321" cy="818321"/>
          </a:xfrm>
          <a:prstGeom prst="rect">
            <a:avLst/>
          </a:prstGeom>
        </p:spPr>
      </p:pic>
      <p:pic>
        <p:nvPicPr>
          <p:cNvPr id="29" name="Graphic 28" descr="Woman">
            <a:extLst>
              <a:ext uri="{FF2B5EF4-FFF2-40B4-BE49-F238E27FC236}">
                <a16:creationId xmlns:a16="http://schemas.microsoft.com/office/drawing/2014/main" id="{291D027C-FFAF-4DC7-AAF5-DE45A5F3DC2D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7593413" y="5009306"/>
            <a:ext cx="818321" cy="818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033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Características de una muestra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D2B7B-D57E-4721-9C41-C48E6975A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419" sz="1800" dirty="0"/>
              <a:t>Debe ser una función lineal (representativa) de la población.</a:t>
            </a:r>
          </a:p>
          <a:p>
            <a:pPr>
              <a:lnSpc>
                <a:spcPct val="150000"/>
              </a:lnSpc>
            </a:pPr>
            <a:r>
              <a:rPr lang="es-419" sz="1800" dirty="0"/>
              <a:t>Problemas con </a:t>
            </a:r>
            <a:r>
              <a:rPr lang="es-419" sz="1800" b="1" dirty="0">
                <a:solidFill>
                  <a:srgbClr val="003A5D"/>
                </a:solidFill>
              </a:rPr>
              <a:t>sesgo de selección</a:t>
            </a:r>
            <a:r>
              <a:rPr lang="es-419" sz="1800" dirty="0"/>
              <a:t>/</a:t>
            </a:r>
            <a:r>
              <a:rPr lang="es-419" sz="1800" b="1" dirty="0">
                <a:solidFill>
                  <a:srgbClr val="003A5D"/>
                </a:solidFill>
              </a:rPr>
              <a:t>sesgo de no-respuesta</a:t>
            </a:r>
            <a:r>
              <a:rPr lang="es-419" sz="1800" dirty="0"/>
              <a:t>.</a:t>
            </a:r>
          </a:p>
          <a:p>
            <a:pPr>
              <a:lnSpc>
                <a:spcPct val="150000"/>
              </a:lnSpc>
            </a:pPr>
            <a:r>
              <a:rPr lang="es-419" sz="1800" b="1" dirty="0">
                <a:solidFill>
                  <a:srgbClr val="003A5D"/>
                </a:solidFill>
              </a:rPr>
              <a:t>Representativa</a:t>
            </a:r>
            <a:r>
              <a:rPr lang="es-419" sz="1800" dirty="0"/>
              <a:t>: la probabilidad de que un valor dado aparezca en la muestra depende de la probabilidad de que ese valor aparezca en la población.</a:t>
            </a:r>
            <a:endParaRPr lang="es-419" sz="1800" b="1" dirty="0">
              <a:solidFill>
                <a:srgbClr val="003A5D"/>
              </a:solidFill>
            </a:endParaRPr>
          </a:p>
          <a:p>
            <a:pPr>
              <a:lnSpc>
                <a:spcPct val="150000"/>
              </a:lnSpc>
            </a:pPr>
            <a:r>
              <a:rPr lang="es-419" sz="1800" b="1" dirty="0">
                <a:solidFill>
                  <a:srgbClr val="003A5D"/>
                </a:solidFill>
              </a:rPr>
              <a:t>Muestra (simple) aleatoria</a:t>
            </a:r>
            <a:r>
              <a:rPr lang="es-419" sz="1800" dirty="0"/>
              <a:t>: cada elemento de la población tienen idéntica probabilidad de ser elegido como dato de la muestra y que cada muestra tendrá la misma probabilidad de ser elegida.</a:t>
            </a:r>
          </a:p>
          <a:p>
            <a:pPr>
              <a:lnSpc>
                <a:spcPct val="150000"/>
              </a:lnSpc>
            </a:pPr>
            <a:r>
              <a:rPr lang="es-419" sz="1800" dirty="0"/>
              <a:t>Se pueden obtener diferentes muestras para una misma población.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  <p:pic>
        <p:nvPicPr>
          <p:cNvPr id="4" name="Graphic 3" descr="Woman">
            <a:extLst>
              <a:ext uri="{FF2B5EF4-FFF2-40B4-BE49-F238E27FC236}">
                <a16:creationId xmlns:a16="http://schemas.microsoft.com/office/drawing/2014/main" id="{36F59D68-8401-431E-B34A-F134E7B46A5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3553642" y="5009311"/>
            <a:ext cx="818321" cy="818321"/>
          </a:xfrm>
          <a:prstGeom prst="rect">
            <a:avLst/>
          </a:prstGeom>
        </p:spPr>
      </p:pic>
      <p:pic>
        <p:nvPicPr>
          <p:cNvPr id="5" name="Graphic 4" descr="Woman">
            <a:extLst>
              <a:ext uri="{FF2B5EF4-FFF2-40B4-BE49-F238E27FC236}">
                <a16:creationId xmlns:a16="http://schemas.microsoft.com/office/drawing/2014/main" id="{1BA94092-526F-4985-906B-DA39EC98E50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063858" y="5009311"/>
            <a:ext cx="818321" cy="818321"/>
          </a:xfrm>
          <a:prstGeom prst="rect">
            <a:avLst/>
          </a:prstGeom>
        </p:spPr>
      </p:pic>
      <p:pic>
        <p:nvPicPr>
          <p:cNvPr id="6" name="Graphic 5" descr="Man">
            <a:extLst>
              <a:ext uri="{FF2B5EF4-FFF2-40B4-BE49-F238E27FC236}">
                <a16:creationId xmlns:a16="http://schemas.microsoft.com/office/drawing/2014/main" id="{4E0C3E81-A050-4656-86E4-7F975BFFC31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4550870" y="5009311"/>
            <a:ext cx="818321" cy="818321"/>
          </a:xfrm>
          <a:prstGeom prst="rect">
            <a:avLst/>
          </a:prstGeom>
        </p:spPr>
      </p:pic>
      <p:pic>
        <p:nvPicPr>
          <p:cNvPr id="7" name="Graphic 6" descr="Man">
            <a:extLst>
              <a:ext uri="{FF2B5EF4-FFF2-40B4-BE49-F238E27FC236}">
                <a16:creationId xmlns:a16="http://schemas.microsoft.com/office/drawing/2014/main" id="{D713218A-D1B2-42CC-9FF6-B4C6FD99701F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5013437" y="5009311"/>
            <a:ext cx="818321" cy="818321"/>
          </a:xfrm>
          <a:prstGeom prst="rect">
            <a:avLst/>
          </a:prstGeom>
        </p:spPr>
      </p:pic>
      <p:pic>
        <p:nvPicPr>
          <p:cNvPr id="8" name="Graphic 7" descr="Woman">
            <a:extLst>
              <a:ext uri="{FF2B5EF4-FFF2-40B4-BE49-F238E27FC236}">
                <a16:creationId xmlns:a16="http://schemas.microsoft.com/office/drawing/2014/main" id="{1A460BBF-BEAE-463B-B85E-4C68B5FD79D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5444970" y="5009311"/>
            <a:ext cx="818321" cy="818321"/>
          </a:xfrm>
          <a:prstGeom prst="rect">
            <a:avLst/>
          </a:prstGeom>
        </p:spPr>
      </p:pic>
      <p:pic>
        <p:nvPicPr>
          <p:cNvPr id="9" name="Graphic 8" descr="Woman">
            <a:extLst>
              <a:ext uri="{FF2B5EF4-FFF2-40B4-BE49-F238E27FC236}">
                <a16:creationId xmlns:a16="http://schemas.microsoft.com/office/drawing/2014/main" id="{D07EBABA-3E73-4A96-AD09-1BBF0981FA1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5851240" y="5009310"/>
            <a:ext cx="818321" cy="818321"/>
          </a:xfrm>
          <a:prstGeom prst="rect">
            <a:avLst/>
          </a:prstGeom>
        </p:spPr>
      </p:pic>
      <p:pic>
        <p:nvPicPr>
          <p:cNvPr id="10" name="Graphic 9" descr="Man">
            <a:extLst>
              <a:ext uri="{FF2B5EF4-FFF2-40B4-BE49-F238E27FC236}">
                <a16:creationId xmlns:a16="http://schemas.microsoft.com/office/drawing/2014/main" id="{9CDA7C29-4428-4527-903F-C9D3419849D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6285664" y="5009310"/>
            <a:ext cx="818321" cy="818321"/>
          </a:xfrm>
          <a:prstGeom prst="rect">
            <a:avLst/>
          </a:prstGeom>
        </p:spPr>
      </p:pic>
      <p:pic>
        <p:nvPicPr>
          <p:cNvPr id="11" name="Graphic 10" descr="Man">
            <a:extLst>
              <a:ext uri="{FF2B5EF4-FFF2-40B4-BE49-F238E27FC236}">
                <a16:creationId xmlns:a16="http://schemas.microsoft.com/office/drawing/2014/main" id="{2084D784-CACE-4E4B-AE06-DCEB87158A03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6749675" y="5009310"/>
            <a:ext cx="818321" cy="818321"/>
          </a:xfrm>
          <a:prstGeom prst="rect">
            <a:avLst/>
          </a:prstGeom>
        </p:spPr>
      </p:pic>
      <p:pic>
        <p:nvPicPr>
          <p:cNvPr id="12" name="Graphic 11" descr="Woman">
            <a:extLst>
              <a:ext uri="{FF2B5EF4-FFF2-40B4-BE49-F238E27FC236}">
                <a16:creationId xmlns:a16="http://schemas.microsoft.com/office/drawing/2014/main" id="{2BB4B4A7-9038-4758-9268-CA6D5D1B6A8B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162543" y="5009310"/>
            <a:ext cx="818321" cy="818321"/>
          </a:xfrm>
          <a:prstGeom prst="rect">
            <a:avLst/>
          </a:prstGeom>
        </p:spPr>
      </p:pic>
      <p:pic>
        <p:nvPicPr>
          <p:cNvPr id="13" name="Graphic 12" descr="Woman">
            <a:extLst>
              <a:ext uri="{FF2B5EF4-FFF2-40B4-BE49-F238E27FC236}">
                <a16:creationId xmlns:a16="http://schemas.microsoft.com/office/drawing/2014/main" id="{CDF0FC07-0224-4716-99F3-28D29700FB4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593413" y="5009306"/>
            <a:ext cx="818321" cy="818321"/>
          </a:xfrm>
          <a:prstGeom prst="rect">
            <a:avLst/>
          </a:prstGeom>
        </p:spPr>
      </p:pic>
      <p:pic>
        <p:nvPicPr>
          <p:cNvPr id="21" name="Graphic 20" descr="Man">
            <a:extLst>
              <a:ext uri="{FF2B5EF4-FFF2-40B4-BE49-F238E27FC236}">
                <a16:creationId xmlns:a16="http://schemas.microsoft.com/office/drawing/2014/main" id="{E5F531FA-4196-4A9A-B5EA-61C0A2A935F0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3576014" y="4190987"/>
            <a:ext cx="818321" cy="818321"/>
          </a:xfrm>
          <a:prstGeom prst="rect">
            <a:avLst/>
          </a:prstGeom>
        </p:spPr>
      </p:pic>
      <p:pic>
        <p:nvPicPr>
          <p:cNvPr id="22" name="Graphic 21" descr="Man">
            <a:extLst>
              <a:ext uri="{FF2B5EF4-FFF2-40B4-BE49-F238E27FC236}">
                <a16:creationId xmlns:a16="http://schemas.microsoft.com/office/drawing/2014/main" id="{C8576D73-4EE3-437B-B402-037EE93C1EB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4064686" y="4190987"/>
            <a:ext cx="818321" cy="818321"/>
          </a:xfrm>
          <a:prstGeom prst="rect">
            <a:avLst/>
          </a:prstGeom>
        </p:spPr>
      </p:pic>
      <p:pic>
        <p:nvPicPr>
          <p:cNvPr id="23" name="Graphic 22" descr="Woman">
            <a:extLst>
              <a:ext uri="{FF2B5EF4-FFF2-40B4-BE49-F238E27FC236}">
                <a16:creationId xmlns:a16="http://schemas.microsoft.com/office/drawing/2014/main" id="{32375D76-DA30-4BFF-BCF8-0A02709A458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4551699" y="4190986"/>
            <a:ext cx="818321" cy="818321"/>
          </a:xfrm>
          <a:prstGeom prst="rect">
            <a:avLst/>
          </a:prstGeom>
        </p:spPr>
      </p:pic>
      <p:pic>
        <p:nvPicPr>
          <p:cNvPr id="24" name="Graphic 23" descr="Woman">
            <a:extLst>
              <a:ext uri="{FF2B5EF4-FFF2-40B4-BE49-F238E27FC236}">
                <a16:creationId xmlns:a16="http://schemas.microsoft.com/office/drawing/2014/main" id="{04CD1FAC-4E23-4112-A84D-AC88E6531EE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5010545" y="4190986"/>
            <a:ext cx="818321" cy="818321"/>
          </a:xfrm>
          <a:prstGeom prst="rect">
            <a:avLst/>
          </a:prstGeom>
        </p:spPr>
      </p:pic>
      <p:pic>
        <p:nvPicPr>
          <p:cNvPr id="25" name="Graphic 24" descr="Man">
            <a:extLst>
              <a:ext uri="{FF2B5EF4-FFF2-40B4-BE49-F238E27FC236}">
                <a16:creationId xmlns:a16="http://schemas.microsoft.com/office/drawing/2014/main" id="{B72004A8-F679-4DC7-A0B6-94217E9BD63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5857032" y="4190986"/>
            <a:ext cx="818321" cy="818321"/>
          </a:xfrm>
          <a:prstGeom prst="rect">
            <a:avLst/>
          </a:prstGeom>
        </p:spPr>
      </p:pic>
      <p:pic>
        <p:nvPicPr>
          <p:cNvPr id="26" name="Graphic 25" descr="Woman">
            <a:extLst>
              <a:ext uri="{FF2B5EF4-FFF2-40B4-BE49-F238E27FC236}">
                <a16:creationId xmlns:a16="http://schemas.microsoft.com/office/drawing/2014/main" id="{3A26E554-9705-4230-9012-55D8C11A636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6731671" y="4190984"/>
            <a:ext cx="818321" cy="818321"/>
          </a:xfrm>
          <a:prstGeom prst="rect">
            <a:avLst/>
          </a:prstGeom>
        </p:spPr>
      </p:pic>
      <p:pic>
        <p:nvPicPr>
          <p:cNvPr id="27" name="Graphic 26" descr="Man">
            <a:extLst>
              <a:ext uri="{FF2B5EF4-FFF2-40B4-BE49-F238E27FC236}">
                <a16:creationId xmlns:a16="http://schemas.microsoft.com/office/drawing/2014/main" id="{824C8563-191F-43C8-9A14-CD90CE7F3572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7166250" y="4190983"/>
            <a:ext cx="818321" cy="818321"/>
          </a:xfrm>
          <a:prstGeom prst="rect">
            <a:avLst/>
          </a:prstGeom>
        </p:spPr>
      </p:pic>
      <p:pic>
        <p:nvPicPr>
          <p:cNvPr id="28" name="Graphic 27" descr="Man">
            <a:extLst>
              <a:ext uri="{FF2B5EF4-FFF2-40B4-BE49-F238E27FC236}">
                <a16:creationId xmlns:a16="http://schemas.microsoft.com/office/drawing/2014/main" id="{244A0A60-50E4-4B79-BE95-0E1D9AC800D4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7593413" y="4190981"/>
            <a:ext cx="818321" cy="818321"/>
          </a:xfrm>
          <a:prstGeom prst="rect">
            <a:avLst/>
          </a:prstGeom>
        </p:spPr>
      </p:pic>
      <p:pic>
        <p:nvPicPr>
          <p:cNvPr id="29" name="Graphic 28" descr="Man">
            <a:extLst>
              <a:ext uri="{FF2B5EF4-FFF2-40B4-BE49-F238E27FC236}">
                <a16:creationId xmlns:a16="http://schemas.microsoft.com/office/drawing/2014/main" id="{11A7C07E-BF9F-49BD-B4EA-5C9D2A03F04B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5447872" y="4190986"/>
            <a:ext cx="818321" cy="818321"/>
          </a:xfrm>
          <a:prstGeom prst="rect">
            <a:avLst/>
          </a:prstGeom>
        </p:spPr>
      </p:pic>
      <p:pic>
        <p:nvPicPr>
          <p:cNvPr id="30" name="Graphic 29" descr="Woman">
            <a:extLst>
              <a:ext uri="{FF2B5EF4-FFF2-40B4-BE49-F238E27FC236}">
                <a16:creationId xmlns:a16="http://schemas.microsoft.com/office/drawing/2014/main" id="{E77B2558-DBCB-43AC-B4CC-9A64F6D43445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291456" y="4190984"/>
            <a:ext cx="818321" cy="818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585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Muestreo aleatorio simple (Ejemplo del dado)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Lanzar un dado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n</a:t>
                </a:r>
                <a:r>
                  <a:rPr lang="es-419" dirty="0"/>
                  <a:t> veces, un grupo de lanzamientos.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s-419" b="0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Cada grupo de lanzamientos es caracterizado por la misma distribución. Son </a:t>
                </a:r>
                <a:r>
                  <a:rPr lang="es-419" b="1" dirty="0">
                    <a:solidFill>
                      <a:srgbClr val="003A5D"/>
                    </a:solidFill>
                  </a:rPr>
                  <a:t>idénticamente distribuidos</a:t>
                </a:r>
                <a:r>
                  <a:rPr lang="es-419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Cada grupo de lanzamiento es aleatorio. Por lo tanto el muestreo es en sí una </a:t>
                </a:r>
                <a:r>
                  <a:rPr lang="es-419" b="1" dirty="0">
                    <a:solidFill>
                      <a:srgbClr val="003A5D"/>
                    </a:solidFill>
                  </a:rPr>
                  <a:t>variable aleatoria</a:t>
                </a:r>
                <a:r>
                  <a:rPr lang="es-419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Los grupos de lanzamientos son </a:t>
                </a:r>
                <a:r>
                  <a:rPr lang="es-419" b="1" dirty="0">
                    <a:solidFill>
                      <a:srgbClr val="003A5D"/>
                    </a:solidFill>
                  </a:rPr>
                  <a:t>independientes</a:t>
                </a:r>
                <a:r>
                  <a:rPr lang="es-419" dirty="0"/>
                  <a:t> entre sí.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s-419" b="0" dirty="0"/>
                  <a:t> Son independiente e idénticamente distribuidas (</a:t>
                </a:r>
                <a:r>
                  <a:rPr lang="es-419" b="1" dirty="0" err="1">
                    <a:solidFill>
                      <a:srgbClr val="003A5D"/>
                    </a:solidFill>
                  </a:rPr>
                  <a:t>i.i.d</a:t>
                </a:r>
                <a:r>
                  <a:rPr lang="es-419" b="1" dirty="0">
                    <a:solidFill>
                      <a:srgbClr val="003A5D"/>
                    </a:solidFill>
                  </a:rPr>
                  <a:t>.</a:t>
                </a:r>
                <a:r>
                  <a:rPr lang="es-419" b="0" dirty="0"/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Podemos observarlo en </a:t>
                </a:r>
                <a:r>
                  <a:rPr lang="es-419" b="1" dirty="0">
                    <a:solidFill>
                      <a:srgbClr val="003A5D"/>
                    </a:solidFill>
                  </a:rPr>
                  <a:t>R</a:t>
                </a:r>
                <a:r>
                  <a:rPr lang="es-419" dirty="0"/>
                  <a:t> con </a:t>
                </a:r>
                <a:r>
                  <a:rPr lang="es-419" dirty="0" err="1">
                    <a:solidFill>
                      <a:srgbClr val="003A5D"/>
                    </a:solidFill>
                    <a:latin typeface="Consolas" panose="020B0609020204030204" pitchFamily="49" charset="0"/>
                  </a:rPr>
                  <a:t>sample</a:t>
                </a:r>
                <a:r>
                  <a:rPr lang="es-419" dirty="0">
                    <a:solidFill>
                      <a:srgbClr val="003A5D"/>
                    </a:solidFill>
                    <a:latin typeface="Consolas" panose="020B0609020204030204" pitchFamily="49" charset="0"/>
                  </a:rPr>
                  <a:t>()</a:t>
                </a:r>
                <a:r>
                  <a:rPr lang="es-419" dirty="0">
                    <a:latin typeface="Consolas" panose="020B0609020204030204" pitchFamily="49" charset="0"/>
                  </a:rPr>
                  <a:t>.</a:t>
                </a:r>
                <a:endParaRPr lang="es-419" b="0" dirty="0">
                  <a:latin typeface="Consolas" panose="020B0609020204030204" pitchFamily="49" charset="0"/>
                </a:endParaRPr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b="-1222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7726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Estadísticos muestrales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b="1" dirty="0">
                    <a:solidFill>
                      <a:srgbClr val="003A5D"/>
                    </a:solidFill>
                  </a:rPr>
                  <a:t>Estadístico muestral</a:t>
                </a:r>
                <a:r>
                  <a:rPr lang="es-419" dirty="0"/>
                  <a:t>: magnitud que permite calcular o aproximar los parámetros poblacionales desconocidos a través de la muestra.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Es una función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(F)</a:t>
                </a:r>
                <a:r>
                  <a:rPr lang="es-419" b="1" dirty="0">
                    <a:solidFill>
                      <a:srgbClr val="003A5D"/>
                    </a:solidFill>
                  </a:rPr>
                  <a:t> </a:t>
                </a:r>
                <a:r>
                  <a:rPr lang="es-419" dirty="0"/>
                  <a:t>de la muestra aleatoria que conserva las mismas características de la muestra.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Población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s-419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bSup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bSup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Sup>
                          <m:sSub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5000</m:t>
                            </m:r>
                          </m:sub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bSup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; 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=5000</m:t>
                    </m:r>
                  </m:oMath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Muestra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bSup>
                        <m:r>
                          <a:rPr lang="es-419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bSup>
                        <m:r>
                          <a:rPr lang="es-419" i="1">
                            <a:latin typeface="Cambria Math" panose="02040503050406030204" pitchFamily="18" charset="0"/>
                          </a:rPr>
                          <m:t>,…,</m:t>
                        </m:r>
                        <m:sSubSup>
                          <m:sSub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100</m:t>
                            </m:r>
                          </m:sub>
                          <m:sup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bSup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; 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Estadístico </a:t>
                </a: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bSup>
                        <m:r>
                          <a:rPr lang="es-419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bSup>
                        <m:r>
                          <a:rPr lang="es-419" i="1">
                            <a:latin typeface="Cambria Math" panose="02040503050406030204" pitchFamily="18" charset="0"/>
                          </a:rPr>
                          <m:t>,…,</m:t>
                        </m:r>
                        <m:sSubSup>
                          <m:sSub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100</m:t>
                            </m:r>
                          </m:sub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b="-1333"/>
                </a:stretch>
              </a:blipFill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6932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Estadísticos muestrales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Si la muestra es una variable aleatoria entonces el estadístico de la muestra también es una variable aleatoria.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Sea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x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1</a:t>
                </a:r>
                <a:r>
                  <a:rPr lang="es-419" dirty="0"/>
                  <a:t>,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x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2</a:t>
                </a:r>
                <a:r>
                  <a:rPr lang="es-419" dirty="0"/>
                  <a:t>,…, </a:t>
                </a:r>
                <a:r>
                  <a:rPr lang="es-419" b="1" i="1" dirty="0" err="1">
                    <a:solidFill>
                      <a:srgbClr val="003A5D"/>
                    </a:solidFill>
                  </a:rPr>
                  <a:t>x</a:t>
                </a:r>
                <a:r>
                  <a:rPr lang="es-419" b="1" i="1" baseline="-25000" dirty="0" err="1">
                    <a:solidFill>
                      <a:srgbClr val="003A5D"/>
                    </a:solidFill>
                  </a:rPr>
                  <a:t>n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 </a:t>
                </a:r>
                <a:r>
                  <a:rPr lang="es-419" dirty="0"/>
                  <a:t>elementos de una muestra de tamaño n. Sea g un estadístico definido que servirá para inferir una característica de la población desconocida.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s-419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,…,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</a:t>
                </a:r>
                <a:r>
                  <a:rPr lang="es-419" dirty="0"/>
                  <a:t>será otra variable aleatoria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Para este curso se trabajará con una gama de estadísticos muestrales y sus distribuciones conocidas.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986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7456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Estadísticos muestrales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1E186005-D01D-7869-2A2F-7514F44B941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48356482"/>
                  </p:ext>
                </p:extLst>
              </p:nvPr>
            </p:nvGraphicFramePr>
            <p:xfrm>
              <a:off x="838200" y="688974"/>
              <a:ext cx="10515597" cy="5510122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505199">
                      <a:extLst>
                        <a:ext uri="{9D8B030D-6E8A-4147-A177-3AD203B41FA5}">
                          <a16:colId xmlns:a16="http://schemas.microsoft.com/office/drawing/2014/main" val="3896024295"/>
                        </a:ext>
                      </a:extLst>
                    </a:gridCol>
                    <a:gridCol w="3505199">
                      <a:extLst>
                        <a:ext uri="{9D8B030D-6E8A-4147-A177-3AD203B41FA5}">
                          <a16:colId xmlns:a16="http://schemas.microsoft.com/office/drawing/2014/main" val="1745857136"/>
                        </a:ext>
                      </a:extLst>
                    </a:gridCol>
                    <a:gridCol w="3505199">
                      <a:extLst>
                        <a:ext uri="{9D8B030D-6E8A-4147-A177-3AD203B41FA5}">
                          <a16:colId xmlns:a16="http://schemas.microsoft.com/office/drawing/2014/main" val="705142420"/>
                        </a:ext>
                      </a:extLst>
                    </a:gridCol>
                  </a:tblGrid>
                  <a:tr h="384421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s-419" sz="1600" b="0" dirty="0">
                              <a:solidFill>
                                <a:schemeClr val="bg1"/>
                              </a:solidFill>
                              <a:latin typeface="Georgia" panose="02040502050405020303" pitchFamily="18" charset="0"/>
                            </a:rPr>
                            <a:t>Parámetro</a:t>
                          </a:r>
                        </a:p>
                      </a:txBody>
                      <a:tcPr>
                        <a:solidFill>
                          <a:srgbClr val="003A5D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419" dirty="0">
                            <a:solidFill>
                              <a:schemeClr val="bg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>
                        <a:solidFill>
                          <a:srgbClr val="003A5D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s-419" sz="1600" b="0" dirty="0">
                              <a:solidFill>
                                <a:schemeClr val="bg1"/>
                              </a:solidFill>
                              <a:latin typeface="Georgia" panose="02040502050405020303" pitchFamily="18" charset="0"/>
                            </a:rPr>
                            <a:t>Estimador (muestral)</a:t>
                          </a:r>
                        </a:p>
                      </a:txBody>
                      <a:tcPr anchor="ctr">
                        <a:solidFill>
                          <a:srgbClr val="003A5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1532114"/>
                      </a:ext>
                    </a:extLst>
                  </a:tr>
                  <a:tr h="3844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b="0" kern="1200" dirty="0">
                              <a:solidFill>
                                <a:schemeClr val="bg1"/>
                              </a:solidFill>
                              <a:latin typeface="Georgia" panose="02040502050405020303" pitchFamily="18" charset="0"/>
                              <a:ea typeface="+mn-ea"/>
                              <a:cs typeface="+mn-cs"/>
                            </a:rPr>
                            <a:t>Nombre</a:t>
                          </a:r>
                        </a:p>
                      </a:txBody>
                      <a:tcPr>
                        <a:solidFill>
                          <a:srgbClr val="003A5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b="0" dirty="0">
                              <a:solidFill>
                                <a:schemeClr val="bg1"/>
                              </a:solidFill>
                              <a:latin typeface="Georgia" panose="02040502050405020303" pitchFamily="18" charset="0"/>
                            </a:rPr>
                            <a:t>Expresión (poblacional)</a:t>
                          </a:r>
                        </a:p>
                      </a:txBody>
                      <a:tcPr>
                        <a:solidFill>
                          <a:srgbClr val="003A5D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r>
                            <a:rPr lang="es-419" dirty="0">
                              <a:solidFill>
                                <a:schemeClr val="bg1"/>
                              </a:solidFill>
                              <a:latin typeface="Georgia" panose="02040502050405020303" pitchFamily="18" charset="0"/>
                            </a:rPr>
                            <a:t>Estimador</a:t>
                          </a:r>
                        </a:p>
                      </a:txBody>
                      <a:tcPr>
                        <a:solidFill>
                          <a:srgbClr val="003A5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3962510"/>
                      </a:ext>
                    </a:extLst>
                  </a:tr>
                  <a:tr h="6089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>
                              <a:latin typeface="Georgia" panose="02040502050405020303" pitchFamily="18" charset="0"/>
                            </a:rPr>
                            <a:t>Media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419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s-419" sz="1600" b="0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f>
                                  <m:fPr>
                                    <m:ctrlP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ctrlP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num>
                                  <m:den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419" sz="16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s-419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es-419" sz="1600" b="0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f>
                                  <m:fPr>
                                    <m:ctrlP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ctrlP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num>
                                  <m:den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419" sz="16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34483567"/>
                      </a:ext>
                    </a:extLst>
                  </a:tr>
                  <a:tr h="110929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>
                              <a:latin typeface="Georgia" panose="02040502050405020303" pitchFamily="18" charset="0"/>
                            </a:rPr>
                            <a:t>Varianza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419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419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419" sz="1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s-419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s-419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s-419" sz="16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s-419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419" sz="1600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sSub>
                                          <m:sSubPr>
                                            <m:ctrlPr>
                                              <a:rPr lang="es-419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s-419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s-419" sz="16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  <m:r>
                                          <a:rPr lang="es-419" sz="1600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es-419" sz="16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oMath>
                            </m:oMathPara>
                          </a14:m>
                          <a:endParaRPr lang="es-419" sz="16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419" sz="16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16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s-419" sz="16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419" sz="1600" i="1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f>
                                  <m:fPr>
                                    <m:ctrlPr>
                                      <a:rPr lang="es-419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ctrlPr>
                                          <a:rPr lang="es-419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s-419" sz="16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s-419" sz="1600" i="1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419" sz="16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p>
                                          <m:sSupPr>
                                            <m:ctrlPr>
                                              <a:rPr lang="es-419" sz="16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s-419" sz="16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s-419" sz="16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419" sz="16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s-419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s-419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  <m:sup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nary>
                                  </m:num>
                                  <m:den>
                                    <m:r>
                                      <a:rPr lang="es-419" sz="1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419" sz="1600" dirty="0">
                            <a:latin typeface="Georgia" panose="02040502050405020303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419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2′</m:t>
                                    </m:r>
                                  </m:sup>
                                </m:sSup>
                                <m:r>
                                  <a:rPr lang="es-419" sz="1600" i="1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f>
                                  <m:fPr>
                                    <m:ctrlPr>
                                      <a:rPr lang="es-419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ctrlPr>
                                          <a:rPr lang="es-419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s-419" sz="16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s-419" sz="1600" i="1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s-419" sz="16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p>
                                          <m:sSupPr>
                                            <m:ctrlPr>
                                              <a:rPr lang="es-419" sz="16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s-419" sz="16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s-419" sz="16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419" sz="16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s-419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s-419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  <m:sup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nary>
                                  </m:num>
                                  <m:den>
                                    <m:r>
                                      <a:rPr lang="es-419" sz="1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419" sz="16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01502448"/>
                      </a:ext>
                    </a:extLst>
                  </a:tr>
                  <a:tr h="5664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>
                              <a:latin typeface="Georgia" panose="02040502050405020303" pitchFamily="18" charset="0"/>
                            </a:rPr>
                            <a:t>Proporción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419" sz="1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s-419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num>
                                  <m:den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419" sz="16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s-419" sz="16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  <m:r>
                                  <a:rPr lang="es-419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</m:t>
                                </m:r>
                                <m:f>
                                  <m:fPr>
                                    <m:ctrlPr>
                                      <a:rPr lang="es-419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419" sz="16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85777786"/>
                      </a:ext>
                    </a:extLst>
                  </a:tr>
                  <a:tr h="8055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>
                              <a:latin typeface="Georgia" panose="02040502050405020303" pitchFamily="18" charset="0"/>
                            </a:rPr>
                            <a:t>Total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419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s-419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s-419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s-419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s-419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419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s-419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s-419" sz="16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419" sz="16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s-419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419" sz="16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s-419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s-419" sz="16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23948978"/>
                      </a:ext>
                    </a:extLst>
                  </a:tr>
                  <a:tr h="3844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>
                              <a:latin typeface="Georgia" panose="02040502050405020303" pitchFamily="18" charset="0"/>
                            </a:rPr>
                            <a:t>Diferencia de medias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419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sz="16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419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419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sz="16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419" sz="1600" dirty="0">
                            <a:latin typeface="Georgia" panose="02040502050405020303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419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s-419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419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419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s-419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419" sz="1600" dirty="0">
                            <a:latin typeface="Georgia" panose="02040502050405020303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2433169"/>
                      </a:ext>
                    </a:extLst>
                  </a:tr>
                  <a:tr h="6003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>
                              <a:latin typeface="Georgia" panose="02040502050405020303" pitchFamily="18" charset="0"/>
                            </a:rPr>
                            <a:t>Diferencia de proporciones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419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419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419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419" sz="1600" dirty="0">
                            <a:latin typeface="Georgia" panose="02040502050405020303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419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s-419" sz="16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419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419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s-419" sz="16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419" sz="1600" dirty="0">
                            <a:latin typeface="Georgia" panose="02040502050405020303" pitchFamily="18" charset="0"/>
                          </a:endParaRPr>
                        </a:p>
                        <a:p>
                          <a:endParaRPr lang="es-419" sz="1600" dirty="0">
                            <a:latin typeface="Georgia" panose="02040502050405020303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967509"/>
                      </a:ext>
                    </a:extLst>
                  </a:tr>
                  <a:tr h="6663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>
                              <a:latin typeface="Georgia" panose="02040502050405020303" pitchFamily="18" charset="0"/>
                            </a:rPr>
                            <a:t>Cociente de varianzas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419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Sup>
                                      <m:sSubSupPr>
                                        <m:ctrlPr>
                                          <a:rPr lang="es-419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lang="es-419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oMath>
                            </m:oMathPara>
                          </a14:m>
                          <a:endParaRPr lang="es-419" sz="1600" dirty="0">
                            <a:latin typeface="Georgia" panose="02040502050405020303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419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Sup>
                                      <m:sSubSupPr>
                                        <m:ctrlPr>
                                          <a:rPr lang="es-419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lang="es-419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oMath>
                            </m:oMathPara>
                          </a14:m>
                          <a:endParaRPr lang="es-419" sz="1600" dirty="0">
                            <a:latin typeface="Georgia" panose="02040502050405020303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5778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1E186005-D01D-7869-2A2F-7514F44B941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48356482"/>
                  </p:ext>
                </p:extLst>
              </p:nvPr>
            </p:nvGraphicFramePr>
            <p:xfrm>
              <a:off x="838200" y="688974"/>
              <a:ext cx="10515597" cy="5510122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505199">
                      <a:extLst>
                        <a:ext uri="{9D8B030D-6E8A-4147-A177-3AD203B41FA5}">
                          <a16:colId xmlns:a16="http://schemas.microsoft.com/office/drawing/2014/main" val="3896024295"/>
                        </a:ext>
                      </a:extLst>
                    </a:gridCol>
                    <a:gridCol w="3505199">
                      <a:extLst>
                        <a:ext uri="{9D8B030D-6E8A-4147-A177-3AD203B41FA5}">
                          <a16:colId xmlns:a16="http://schemas.microsoft.com/office/drawing/2014/main" val="1745857136"/>
                        </a:ext>
                      </a:extLst>
                    </a:gridCol>
                    <a:gridCol w="3505199">
                      <a:extLst>
                        <a:ext uri="{9D8B030D-6E8A-4147-A177-3AD203B41FA5}">
                          <a16:colId xmlns:a16="http://schemas.microsoft.com/office/drawing/2014/main" val="705142420"/>
                        </a:ext>
                      </a:extLst>
                    </a:gridCol>
                  </a:tblGrid>
                  <a:tr h="384421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s-419" sz="1600" b="0" dirty="0">
                              <a:solidFill>
                                <a:schemeClr val="bg1"/>
                              </a:solidFill>
                              <a:latin typeface="Georgia" panose="02040502050405020303" pitchFamily="18" charset="0"/>
                            </a:rPr>
                            <a:t>Parámetro</a:t>
                          </a:r>
                        </a:p>
                      </a:txBody>
                      <a:tcPr>
                        <a:solidFill>
                          <a:srgbClr val="003A5D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419" dirty="0">
                            <a:solidFill>
                              <a:schemeClr val="bg1"/>
                            </a:solidFill>
                            <a:latin typeface="Georgia" panose="02040502050405020303" pitchFamily="18" charset="0"/>
                          </a:endParaRPr>
                        </a:p>
                      </a:txBody>
                      <a:tcPr>
                        <a:solidFill>
                          <a:srgbClr val="003A5D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s-419" sz="1600" b="0" dirty="0">
                              <a:solidFill>
                                <a:schemeClr val="bg1"/>
                              </a:solidFill>
                              <a:latin typeface="Georgia" panose="02040502050405020303" pitchFamily="18" charset="0"/>
                            </a:rPr>
                            <a:t>Estimador (muestral)</a:t>
                          </a:r>
                        </a:p>
                      </a:txBody>
                      <a:tcPr anchor="ctr">
                        <a:solidFill>
                          <a:srgbClr val="003A5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1532114"/>
                      </a:ext>
                    </a:extLst>
                  </a:tr>
                  <a:tr h="3844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b="0" kern="1200" dirty="0">
                              <a:solidFill>
                                <a:schemeClr val="bg1"/>
                              </a:solidFill>
                              <a:latin typeface="Georgia" panose="02040502050405020303" pitchFamily="18" charset="0"/>
                              <a:ea typeface="+mn-ea"/>
                              <a:cs typeface="+mn-cs"/>
                            </a:rPr>
                            <a:t>Nombre</a:t>
                          </a:r>
                        </a:p>
                      </a:txBody>
                      <a:tcPr>
                        <a:solidFill>
                          <a:srgbClr val="003A5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b="0" dirty="0">
                              <a:solidFill>
                                <a:schemeClr val="bg1"/>
                              </a:solidFill>
                              <a:latin typeface="Georgia" panose="02040502050405020303" pitchFamily="18" charset="0"/>
                            </a:rPr>
                            <a:t>Expresión (poblacional)</a:t>
                          </a:r>
                        </a:p>
                      </a:txBody>
                      <a:tcPr>
                        <a:solidFill>
                          <a:srgbClr val="003A5D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r>
                            <a:rPr lang="es-419" dirty="0">
                              <a:solidFill>
                                <a:schemeClr val="bg1"/>
                              </a:solidFill>
                              <a:latin typeface="Georgia" panose="02040502050405020303" pitchFamily="18" charset="0"/>
                            </a:rPr>
                            <a:t>Estimador</a:t>
                          </a:r>
                        </a:p>
                      </a:txBody>
                      <a:tcPr>
                        <a:solidFill>
                          <a:srgbClr val="003A5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3962510"/>
                      </a:ext>
                    </a:extLst>
                  </a:tr>
                  <a:tr h="6089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>
                              <a:latin typeface="Georgia" panose="02040502050405020303" pitchFamily="18" charset="0"/>
                            </a:rPr>
                            <a:t>Media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129000" r="-100521" b="-68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48" t="-129000" r="-696" b="-68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4483567"/>
                      </a:ext>
                    </a:extLst>
                  </a:tr>
                  <a:tr h="110929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>
                              <a:latin typeface="Georgia" panose="02040502050405020303" pitchFamily="18" charset="0"/>
                            </a:rPr>
                            <a:t>Varianza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125824" r="-100521" b="-2736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48" t="-125824" r="-696" b="-2736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1502448"/>
                      </a:ext>
                    </a:extLst>
                  </a:tr>
                  <a:tr h="5664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>
                              <a:latin typeface="Georgia" panose="02040502050405020303" pitchFamily="18" charset="0"/>
                            </a:rPr>
                            <a:t>Proporción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441935" r="-100521" b="-4354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48" t="-441935" r="-696" b="-4354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5777786"/>
                      </a:ext>
                    </a:extLst>
                  </a:tr>
                  <a:tr h="8055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>
                              <a:latin typeface="Georgia" panose="02040502050405020303" pitchFamily="18" charset="0"/>
                            </a:rPr>
                            <a:t>Total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381818" r="-100521" b="-206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48" t="-381818" r="-696" b="-206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3948978"/>
                      </a:ext>
                    </a:extLst>
                  </a:tr>
                  <a:tr h="3844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>
                              <a:latin typeface="Georgia" panose="02040502050405020303" pitchFamily="18" charset="0"/>
                            </a:rPr>
                            <a:t>Diferencia de medias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1009524" r="-100521" b="-3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348" t="-1009524" r="-696" b="-3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2433169"/>
                      </a:ext>
                    </a:extLst>
                  </a:tr>
                  <a:tr h="6003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>
                              <a:latin typeface="Georgia" panose="02040502050405020303" pitchFamily="18" charset="0"/>
                            </a:rPr>
                            <a:t>Diferencia de proporciones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706061" r="-100521" b="-1121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348" t="-706061" r="-696" b="-1121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967509"/>
                      </a:ext>
                    </a:extLst>
                  </a:tr>
                  <a:tr h="6663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>
                              <a:latin typeface="Georgia" panose="02040502050405020303" pitchFamily="18" charset="0"/>
                            </a:rPr>
                            <a:t>Cociente de varianzas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732110" r="-100521" b="-18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348" t="-732110" r="-696" b="-18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57788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93770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Apartado: Distribución muestral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Las técnicas de inferencia estadística están basadas en el concepto de distribución muestral de un estadístico.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La distribución del estadístico corresponde </a:t>
                </a:r>
                <a:r>
                  <a:rPr lang="es-419" b="1" dirty="0">
                    <a:solidFill>
                      <a:srgbClr val="003A5D"/>
                    </a:solidFill>
                  </a:rPr>
                  <a:t>distribución de probabilidades </a:t>
                </a:r>
                <a14:m>
                  <m:oMath xmlns:m="http://schemas.openxmlformats.org/officeDocument/2006/math"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419" b="1" dirty="0">
                    <a:solidFill>
                      <a:srgbClr val="003A5D"/>
                    </a:solidFill>
                  </a:rPr>
                  <a:t> </a:t>
                </a:r>
                <a:r>
                  <a:rPr lang="es-419" dirty="0"/>
                  <a:t>de ese estadístico.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419" dirty="0"/>
                  <a:t>Es decir, la distribución si fuésemos a extraer repetidas muestras de la población. 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El valor de un estadístico será una variable aleatoria de la distribución muestral de ese estadístico.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Usaremos argumentos matemáticos sobre distribución muestral del estadístico para estimar parámetros poblacionales.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Los fundamentos matemáticos que sirven de base para conceptualizar la distribución de estadísticos (y funciones en general) se introducen vía la </a:t>
                </a:r>
                <a:r>
                  <a:rPr lang="es-419" b="1" dirty="0">
                    <a:solidFill>
                      <a:srgbClr val="003A5D"/>
                    </a:solidFill>
                  </a:rPr>
                  <a:t>Ley de los Grandes Números </a:t>
                </a:r>
                <a:r>
                  <a:rPr lang="es-419" dirty="0"/>
                  <a:t>y el </a:t>
                </a:r>
                <a:r>
                  <a:rPr lang="es-419" b="1" dirty="0">
                    <a:solidFill>
                      <a:srgbClr val="003A5D"/>
                    </a:solidFill>
                  </a:rPr>
                  <a:t>Teorema del Límite Central</a:t>
                </a:r>
                <a:r>
                  <a:rPr lang="es-419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r="-1043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1455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419" dirty="0"/>
                  <a:t>Distribución de la media muestral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acc>
                  </m:oMath>
                </a14:m>
                <a:endParaRPr lang="es-419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7" t="-8257" b="-2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D2F6FEE-60D9-47C7-A9E7-09794D879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r>
              <a:rPr lang="es-419" b="1" dirty="0">
                <a:solidFill>
                  <a:srgbClr val="003A5D"/>
                </a:solidFill>
              </a:rPr>
              <a:t>Inciso: </a:t>
            </a:r>
            <a:r>
              <a:rPr lang="es-419" b="1" dirty="0"/>
              <a:t>Ley de los grandes números (LGN) teorema del Límite Central (TLC)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76142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BB7AA6-FADF-4C74-BB6D-7BFBB63F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La media muestral</a:t>
            </a:r>
            <a:endParaRPr lang="es-419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6D3240-91F8-449F-81B7-432D6F81E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Definición y distribución</a:t>
            </a:r>
          </a:p>
        </p:txBody>
      </p:sp>
    </p:spTree>
    <p:extLst>
      <p:ext uri="{BB962C8B-B14F-4D97-AF65-F5344CB8AC3E}">
        <p14:creationId xmlns:p14="http://schemas.microsoft.com/office/powerpoint/2010/main" val="2955630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419" dirty="0"/>
                  <a:t>La media muestral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acc>
                  </m:oMath>
                </a14:m>
                <a:endParaRPr lang="en-US" b="1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7" t="-8257" b="-2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Suponiendo una población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X</a:t>
                </a:r>
                <a:r>
                  <a:rPr lang="es-419" dirty="0"/>
                  <a:t> con función de densidad </a:t>
                </a:r>
                <a:r>
                  <a:rPr lang="es-419" i="1" dirty="0"/>
                  <a:t>f(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X</a:t>
                </a:r>
                <a:r>
                  <a:rPr lang="es-419" i="1" dirty="0"/>
                  <a:t>)</a:t>
                </a:r>
                <a:r>
                  <a:rPr lang="es-419" dirty="0"/>
                  <a:t>, con </a:t>
                </a:r>
                <a:r>
                  <a:rPr lang="es-419" i="1" dirty="0"/>
                  <a:t>E(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X</a:t>
                </a:r>
                <a:r>
                  <a:rPr lang="es-419" i="1" dirty="0"/>
                  <a:t>)</a:t>
                </a:r>
                <a:r>
                  <a:rPr lang="es-419" dirty="0"/>
                  <a:t>=</a:t>
                </a:r>
                <a:r>
                  <a:rPr lang="el-GR" b="1" i="1" dirty="0">
                    <a:solidFill>
                      <a:srgbClr val="003A5D"/>
                    </a:solidFill>
                  </a:rPr>
                  <a:t>μ</a:t>
                </a:r>
                <a:r>
                  <a:rPr lang="es-419" dirty="0"/>
                  <a:t>, y </a:t>
                </a:r>
                <a:r>
                  <a:rPr lang="es-419" i="1" dirty="0"/>
                  <a:t>Var(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X</a:t>
                </a:r>
                <a:r>
                  <a:rPr lang="es-419" i="1" dirty="0"/>
                  <a:t>)</a:t>
                </a:r>
                <a:r>
                  <a:rPr lang="es-419" dirty="0"/>
                  <a:t>=</a:t>
                </a:r>
                <a:r>
                  <a:rPr lang="el-GR" b="1" i="1" dirty="0">
                    <a:solidFill>
                      <a:srgbClr val="003A5D"/>
                    </a:solidFill>
                  </a:rPr>
                  <a:t>σ</a:t>
                </a:r>
                <a:r>
                  <a:rPr lang="es-419" b="1" i="1" baseline="30000" dirty="0">
                    <a:solidFill>
                      <a:srgbClr val="003A5D"/>
                    </a:solidFill>
                  </a:rPr>
                  <a:t>2</a:t>
                </a:r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Se construye un estadístico de la media de los elementos de una muestra de tamaño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n </a:t>
                </a:r>
                <a:r>
                  <a:rPr lang="es-419" dirty="0"/>
                  <a:t>extraída con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 </a:t>
                </a:r>
                <a:r>
                  <a:rPr lang="es-419" b="1" dirty="0">
                    <a:solidFill>
                      <a:srgbClr val="003A5D"/>
                    </a:solidFill>
                  </a:rPr>
                  <a:t>reemplazamiento</a:t>
                </a:r>
                <a:r>
                  <a:rPr lang="es-419" dirty="0"/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419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𝑡𝑎𝑚𝑎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ñ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𝑚𝑢𝑒𝑠𝑡𝑟𝑎</m:t>
                      </m:r>
                    </m:oMath>
                  </m:oMathPara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Si repitiésemos el proceso de muestreo de forma asintótica encontraríamos que: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s-419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s-419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419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419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s-V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V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𝑠𝑑</m:t>
                      </m:r>
                      <m:d>
                        <m:dPr>
                          <m:ctrlPr>
                            <a:rPr lang="es-V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s-V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419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VE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La desviación estándar en la distribución muestral de un estadístico se conoce como </a:t>
                </a:r>
                <a:r>
                  <a:rPr lang="es-419" b="1" dirty="0">
                    <a:solidFill>
                      <a:srgbClr val="003A5D"/>
                    </a:solidFill>
                  </a:rPr>
                  <a:t>error estándar</a:t>
                </a:r>
                <a:r>
                  <a:rPr lang="es-419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06432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DC74C-7387-CCC4-28E5-3A1522C0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Espacio de intervención: 1 minuto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2D7072-22D5-5CE2-66CC-3EAF549E6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 algn="ctr">
              <a:buNone/>
            </a:pPr>
            <a:r>
              <a:rPr lang="es-VE" i="1" dirty="0"/>
              <a:t>¿Qué implica que el valor esperado de la media muestral coincida con la media poblacional?</a:t>
            </a:r>
          </a:p>
        </p:txBody>
      </p:sp>
    </p:spTree>
    <p:extLst>
      <p:ext uri="{BB962C8B-B14F-4D97-AF65-F5344CB8AC3E}">
        <p14:creationId xmlns:p14="http://schemas.microsoft.com/office/powerpoint/2010/main" val="1755833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419" dirty="0"/>
                  <a:t>Valor esperado y varianza de la media muestral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acc>
                  </m:oMath>
                </a14:m>
                <a:endParaRPr lang="en-US" b="1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7" t="-8257" b="-2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+…+</m:t>
                        </m:r>
                        <m:sSub>
                          <m:sSubPr>
                            <m:ctrlP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[</m:t>
                    </m:r>
                    <m:f>
                      <m:f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419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419" i="1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419" i="1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)]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419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[(</m:t>
                    </m:r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419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419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es-419" dirty="0">
                        <a:ea typeface="Cambria Math" panose="02040503050406030204" pitchFamily="18" charset="0"/>
                      </a:rPr>
                      <m:t>)]</m:t>
                    </m:r>
                  </m:oMath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s-419" dirty="0"/>
                  <a:t> </a:t>
                </a: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s-419" b="0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b="0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s-419" i="1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s-419" b="0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419" b="0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419" b="0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s-419" i="1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es-419" dirty="0" smtClean="0">
                        <a:solidFill>
                          <a:srgbClr val="003A5D"/>
                        </a:solidFill>
                        <a:ea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s-419" b="0" i="0" dirty="0" smtClean="0">
                        <a:solidFill>
                          <a:schemeClr val="tx1"/>
                        </a:solidFill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es-419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s-419" dirty="0"/>
                  <a:t> </a:t>
                </a: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s-419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419" b="0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419" b="0" i="0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419" b="0" i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419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El valor esperado no implica o garantiza que para una muestra particular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s-419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80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20850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419" dirty="0"/>
                  <a:t>Valor esperado y varianza de la media muestral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acc>
                  </m:oMath>
                </a14:m>
                <a:endParaRPr lang="en-US" b="1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7" t="-8257" b="-2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+…+</m:t>
                        </m:r>
                        <m:sSub>
                          <m:sSubPr>
                            <m:ctrlP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[</m:t>
                    </m:r>
                    <m:f>
                      <m:f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419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419" i="1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419" i="1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)]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s-419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b="0" i="1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[(</m:t>
                    </m:r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419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419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es-419" dirty="0">
                        <a:ea typeface="Cambria Math" panose="02040503050406030204" pitchFamily="18" charset="0"/>
                      </a:rPr>
                      <m:t>)]</m:t>
                    </m:r>
                  </m:oMath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es-419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s-419" b="0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b="0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s-419" i="1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s-419" b="0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s-419" b="0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419" b="0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s-419" i="1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𝑉𝑎𝑟</m:t>
                        </m:r>
                        <m: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es-419" dirty="0" smtClean="0">
                        <a:solidFill>
                          <a:srgbClr val="003A5D"/>
                        </a:solidFill>
                        <a:ea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s-419" b="0" i="0" dirty="0" smtClean="0">
                        <a:solidFill>
                          <a:schemeClr val="tx1"/>
                        </a:solidFill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es-419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es-419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[</m:t>
                    </m:r>
                    <m:sSubSup>
                      <m:sSubSupPr>
                        <m:ctrlPr>
                          <a:rPr lang="es-419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419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s-419" b="0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s-419" b="0" i="0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Sup>
                      <m:sSubSupPr>
                        <m:ctrlP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s-419" b="0" i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s-419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Podemos hacer acercamientos con </a:t>
                </a:r>
                <a:r>
                  <a:rPr lang="es-419" b="1" dirty="0">
                    <a:solidFill>
                      <a:srgbClr val="003A5D"/>
                    </a:solidFill>
                    <a:ea typeface="Cambria Math" panose="02040503050406030204" pitchFamily="18" charset="0"/>
                  </a:rPr>
                  <a:t>R</a:t>
                </a:r>
                <a:r>
                  <a:rPr lang="es-419" dirty="0">
                    <a:ea typeface="Cambria Math" panose="02040503050406030204" pitchFamily="18" charset="0"/>
                  </a:rPr>
                  <a:t> a la forma en que se distribuyen la media y varianza de la media muestral.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64" b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62429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419" dirty="0"/>
                  <a:t>Distribución de la media muestral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acc>
                  </m:oMath>
                </a14:m>
                <a:r>
                  <a:rPr lang="en-US" b="1" i="1" dirty="0"/>
                  <a:t> </a:t>
                </a:r>
                <a:r>
                  <a:rPr lang="es-419" dirty="0"/>
                  <a:t>(Varianza conocida)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7" t="-8257" r="-58" b="-2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Cuando se conoce la varianza poblacional </a:t>
                </a:r>
                <a:r>
                  <a:rPr lang="el-GR" b="1" i="1" dirty="0">
                    <a:solidFill>
                      <a:srgbClr val="003A5D"/>
                    </a:solidFill>
                  </a:rPr>
                  <a:t>σ</a:t>
                </a:r>
                <a:r>
                  <a:rPr lang="es-419" b="1" i="1" baseline="30000" dirty="0">
                    <a:solidFill>
                      <a:srgbClr val="003A5D"/>
                    </a:solidFill>
                  </a:rPr>
                  <a:t>2</a:t>
                </a:r>
                <a:r>
                  <a:rPr lang="es-419" dirty="0"/>
                  <a:t> la distribución de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acc>
                  </m:oMath>
                </a14:m>
                <a:r>
                  <a:rPr lang="en-US" dirty="0"/>
                  <a:t> se </a:t>
                </a:r>
                <a:r>
                  <a:rPr lang="es-419" dirty="0"/>
                  <a:t>puede expresar dependiendo de la distribución poblacional.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es-419" dirty="0"/>
                  <a:t>Población normalmente distribuida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419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Si la población es </a:t>
                </a:r>
                <a:r>
                  <a:rPr lang="es-419" b="1" dirty="0">
                    <a:solidFill>
                      <a:srgbClr val="003A5D"/>
                    </a:solidFill>
                  </a:rPr>
                  <a:t>normalmente distribuida </a:t>
                </a:r>
                <a:r>
                  <a:rPr lang="es-419" dirty="0"/>
                  <a:t>entonces la media muestral también será normalmente distribuida. 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 startAt="2"/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01" r="-928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8496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419" dirty="0"/>
                  <a:t>Distribución de la media muestral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acc>
                  </m:oMath>
                </a14:m>
                <a:r>
                  <a:rPr lang="en-US" b="1" i="1" dirty="0"/>
                  <a:t> </a:t>
                </a:r>
                <a:r>
                  <a:rPr lang="en-US" dirty="0"/>
                  <a:t>(</a:t>
                </a:r>
                <a:r>
                  <a:rPr lang="es-419" dirty="0"/>
                  <a:t>Varianza conocida</a:t>
                </a:r>
                <a:r>
                  <a:rPr lang="en-US" dirty="0"/>
                  <a:t>)</a:t>
                </a:r>
                <a:endParaRPr lang="en-US" b="1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7" t="-8257" r="-58" b="-2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lphaLcParenR" startAt="2"/>
                </a:pPr>
                <a:r>
                  <a:rPr lang="es-419" dirty="0"/>
                  <a:t>Población que no es normalmente distribuida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419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s-419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s-419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lim>
                          </m:limLow>
                        </m:fName>
                        <m:e>
                          <m:acc>
                            <m:accPr>
                              <m:chr m:val="̅"/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~ 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Aproximamos por el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Teorema del Límite Central (TLC)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Si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n</a:t>
                </a:r>
                <a:r>
                  <a:rPr lang="es-419" dirty="0"/>
                  <a:t> es un número lo bastante grande (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n</a:t>
                </a:r>
                <a:r>
                  <a:rPr lang="es-419" dirty="0"/>
                  <a:t>&gt;30) podemos aproximar la media muestral a la normal.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419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s-419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lim>
                          </m:limLow>
                        </m:fName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</m:d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s-419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lim>
                          </m:limLow>
                          <m:f>
                            <m:f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func>
                      <m:r>
                        <a:rPr lang="es-419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b="0" i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 startAt="2"/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 startAt="2"/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01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83303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419" dirty="0"/>
                  <a:t>Distribución de la media muestral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acc>
                  </m:oMath>
                </a14:m>
                <a:r>
                  <a:rPr lang="en-US" b="1" i="1" dirty="0"/>
                  <a:t> </a:t>
                </a:r>
                <a:r>
                  <a:rPr lang="en-US" dirty="0"/>
                  <a:t>(</a:t>
                </a:r>
                <a:r>
                  <a:rPr lang="es-419" dirty="0"/>
                  <a:t>Varianza conocida</a:t>
                </a:r>
                <a:r>
                  <a:rPr lang="en-US" dirty="0"/>
                  <a:t>)</a:t>
                </a:r>
                <a:endParaRPr lang="en-US" b="1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7" t="-8257" r="-58" b="-2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Podemos normalizar/estandarizar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acc>
                  </m:oMath>
                </a14:m>
                <a:endParaRPr lang="es-419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acc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̅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f>
                            <m:fPr>
                              <m:ctrlPr>
                                <a:rPr lang="es-419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419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s-419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ad>
                            <m:radPr>
                              <m:degHide m:val="on"/>
                              <m:ctrlPr>
                                <a:rPr lang="es-419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num>
                        <m:den>
                          <m:r>
                            <a:rPr lang="es-419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La distribución estandarizada será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acc>
                    <m:r>
                      <a:rPr lang="es-419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Proceso de estandarización para poder realizar ejercicios.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Podemos corroborar esto en </a:t>
                </a:r>
                <a:r>
                  <a:rPr lang="es-419" b="1" dirty="0">
                    <a:solidFill>
                      <a:srgbClr val="003A5D"/>
                    </a:solidFill>
                  </a:rPr>
                  <a:t>R</a:t>
                </a:r>
                <a:r>
                  <a:rPr lang="es-419" dirty="0"/>
                  <a:t> empleando </a:t>
                </a:r>
                <a:r>
                  <a:rPr lang="es-419" i="1" dirty="0"/>
                  <a:t>Simulaciones de Monte Carlo</a:t>
                </a:r>
                <a:r>
                  <a:rPr lang="es-419" dirty="0"/>
                  <a:t>.</a:t>
                </a:r>
                <a:endParaRPr lang="es-419" i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05190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8BDB2-E18E-4378-A323-B877A523D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Resuelto 7.2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55348-03DD-42CE-B1C6-3C00C43A3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s-419" i="1" dirty="0"/>
              <a:t>Si x</a:t>
            </a:r>
            <a:r>
              <a:rPr lang="es-419" i="1" baseline="-25000" dirty="0"/>
              <a:t>1</a:t>
            </a:r>
            <a:r>
              <a:rPr lang="es-419" i="1" dirty="0"/>
              <a:t>, x</a:t>
            </a:r>
            <a:r>
              <a:rPr lang="es-419" i="1" baseline="-25000" dirty="0"/>
              <a:t>2</a:t>
            </a:r>
            <a:r>
              <a:rPr lang="es-419" i="1" dirty="0"/>
              <a:t>, …, x</a:t>
            </a:r>
            <a:r>
              <a:rPr lang="es-419" i="1" baseline="-25000" dirty="0"/>
              <a:t>10</a:t>
            </a:r>
            <a:r>
              <a:rPr lang="es-419" i="1" dirty="0"/>
              <a:t>, es una muestra aleatoria de tamaño 10 de una población distribuida normalmente con media 8 y varianza 9, calcular la probabilidad de que la media muestral sea mayor que 10.</a:t>
            </a:r>
          </a:p>
        </p:txBody>
      </p:sp>
    </p:spTree>
    <p:extLst>
      <p:ext uri="{BB962C8B-B14F-4D97-AF65-F5344CB8AC3E}">
        <p14:creationId xmlns:p14="http://schemas.microsoft.com/office/powerpoint/2010/main" val="1978568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Resuelto 7.2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nn-NO" sz="2000" dirty="0">
                <a:latin typeface="Consolas" panose="020B0609020204030204" pitchFamily="49" charset="0"/>
              </a:rPr>
              <a:t>&gt; #P(X_bar &gt; 10)</a:t>
            </a:r>
          </a:p>
          <a:p>
            <a:pPr marL="0" indent="0">
              <a:buNone/>
            </a:pPr>
            <a:r>
              <a:rPr lang="nn-NO" sz="2000" dirty="0">
                <a:latin typeface="Consolas" panose="020B0609020204030204" pitchFamily="49" charset="0"/>
              </a:rPr>
              <a:t>&gt; n &lt;- 10</a:t>
            </a:r>
          </a:p>
          <a:p>
            <a:pPr marL="0" indent="0">
              <a:buNone/>
            </a:pPr>
            <a:r>
              <a:rPr lang="nn-NO" sz="2000" dirty="0">
                <a:latin typeface="Consolas" panose="020B0609020204030204" pitchFamily="49" charset="0"/>
              </a:rPr>
              <a:t>&gt; mu &lt;- 8</a:t>
            </a:r>
          </a:p>
          <a:p>
            <a:pPr marL="0" indent="0">
              <a:buNone/>
            </a:pPr>
            <a:r>
              <a:rPr lang="nn-NO" sz="2000" dirty="0">
                <a:latin typeface="Consolas" panose="020B0609020204030204" pitchFamily="49" charset="0"/>
              </a:rPr>
              <a:t>&gt; var_p &lt;- 9</a:t>
            </a:r>
          </a:p>
          <a:p>
            <a:pPr marL="0" indent="0">
              <a:buNone/>
            </a:pPr>
            <a:r>
              <a:rPr lang="nn-NO" sz="2000" dirty="0">
                <a:latin typeface="Consolas" panose="020B0609020204030204" pitchFamily="49" charset="0"/>
              </a:rPr>
              <a:t>&gt; sd_p &lt;- sqrt(var_p)</a:t>
            </a:r>
          </a:p>
          <a:p>
            <a:pPr marL="0" indent="0">
              <a:buNone/>
            </a:pPr>
            <a:endParaRPr lang="es-419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419" sz="2000" dirty="0">
                <a:latin typeface="Consolas" panose="020B0609020204030204" pitchFamily="49" charset="0"/>
              </a:rPr>
              <a:t>&gt; </a:t>
            </a:r>
            <a:r>
              <a:rPr lang="es-419" sz="2000" dirty="0" err="1">
                <a:latin typeface="Consolas" panose="020B0609020204030204" pitchFamily="49" charset="0"/>
              </a:rPr>
              <a:t>pnorm</a:t>
            </a:r>
            <a:r>
              <a:rPr lang="es-419" sz="2000" dirty="0">
                <a:latin typeface="Consolas" panose="020B0609020204030204" pitchFamily="49" charset="0"/>
              </a:rPr>
              <a:t>(10, mean = mu, </a:t>
            </a:r>
            <a:r>
              <a:rPr lang="es-419" sz="2000" dirty="0" err="1">
                <a:latin typeface="Consolas" panose="020B0609020204030204" pitchFamily="49" charset="0"/>
              </a:rPr>
              <a:t>sd</a:t>
            </a:r>
            <a:r>
              <a:rPr lang="es-419" sz="2000" dirty="0">
                <a:latin typeface="Consolas" panose="020B0609020204030204" pitchFamily="49" charset="0"/>
              </a:rPr>
              <a:t> = </a:t>
            </a:r>
            <a:r>
              <a:rPr lang="es-419" sz="2000" dirty="0" err="1">
                <a:latin typeface="Consolas" panose="020B0609020204030204" pitchFamily="49" charset="0"/>
              </a:rPr>
              <a:t>sqrt</a:t>
            </a:r>
            <a:r>
              <a:rPr lang="es-419" sz="2000" dirty="0">
                <a:latin typeface="Consolas" panose="020B0609020204030204" pitchFamily="49" charset="0"/>
              </a:rPr>
              <a:t>(</a:t>
            </a:r>
            <a:r>
              <a:rPr lang="es-419" sz="2000" dirty="0" err="1">
                <a:latin typeface="Consolas" panose="020B0609020204030204" pitchFamily="49" charset="0"/>
              </a:rPr>
              <a:t>var_p</a:t>
            </a:r>
            <a:r>
              <a:rPr lang="es-419" sz="2000" dirty="0">
                <a:latin typeface="Consolas" panose="020B0609020204030204" pitchFamily="49" charset="0"/>
              </a:rPr>
              <a:t>/n), </a:t>
            </a:r>
            <a:r>
              <a:rPr lang="es-419" sz="2000" dirty="0" err="1">
                <a:latin typeface="Consolas" panose="020B0609020204030204" pitchFamily="49" charset="0"/>
              </a:rPr>
              <a:t>lower.tail</a:t>
            </a:r>
            <a:r>
              <a:rPr lang="es-419" sz="2000" dirty="0">
                <a:latin typeface="Consolas" panose="020B0609020204030204" pitchFamily="49" charset="0"/>
              </a:rPr>
              <a:t> = FALSE)</a:t>
            </a:r>
          </a:p>
          <a:p>
            <a:pPr marL="0" indent="0">
              <a:buNone/>
            </a:pPr>
            <a:r>
              <a:rPr lang="es-419" sz="2000" dirty="0">
                <a:highlight>
                  <a:srgbClr val="FFFF00"/>
                </a:highlight>
                <a:latin typeface="Consolas" panose="020B0609020204030204" pitchFamily="49" charset="0"/>
              </a:rPr>
              <a:t>[1] 0.01750749</a:t>
            </a:r>
          </a:p>
          <a:p>
            <a:pPr marL="0" indent="0">
              <a:buNone/>
            </a:pPr>
            <a:endParaRPr lang="es-419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76286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Resuelto 7.2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#Estandarizando 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</a:t>
            </a:r>
            <a:r>
              <a:rPr lang="es-419" dirty="0" err="1">
                <a:latin typeface="Consolas" panose="020B0609020204030204" pitchFamily="49" charset="0"/>
              </a:rPr>
              <a:t>z_score</a:t>
            </a:r>
            <a:r>
              <a:rPr lang="es-419" dirty="0">
                <a:latin typeface="Consolas" panose="020B0609020204030204" pitchFamily="49" charset="0"/>
              </a:rPr>
              <a:t> &lt;- (10 - mu)/</a:t>
            </a:r>
            <a:r>
              <a:rPr lang="es-419" dirty="0" err="1">
                <a:latin typeface="Consolas" panose="020B0609020204030204" pitchFamily="49" charset="0"/>
              </a:rPr>
              <a:t>sqrt</a:t>
            </a:r>
            <a:r>
              <a:rPr lang="es-419" dirty="0">
                <a:latin typeface="Consolas" panose="020B0609020204030204" pitchFamily="49" charset="0"/>
              </a:rPr>
              <a:t>(</a:t>
            </a:r>
            <a:r>
              <a:rPr lang="es-419" dirty="0" err="1">
                <a:latin typeface="Consolas" panose="020B0609020204030204" pitchFamily="49" charset="0"/>
              </a:rPr>
              <a:t>var_p</a:t>
            </a:r>
            <a:r>
              <a:rPr lang="es-419" dirty="0">
                <a:latin typeface="Consolas" panose="020B0609020204030204" pitchFamily="49" charset="0"/>
              </a:rPr>
              <a:t>/n)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</a:t>
            </a:r>
            <a:r>
              <a:rPr lang="es-419" dirty="0" err="1">
                <a:latin typeface="Consolas" panose="020B0609020204030204" pitchFamily="49" charset="0"/>
              </a:rPr>
              <a:t>z_score</a:t>
            </a:r>
            <a:endParaRPr lang="es-419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419" sz="2700" dirty="0">
                <a:highlight>
                  <a:srgbClr val="FFFF00"/>
                </a:highlight>
                <a:latin typeface="Consolas" panose="020B0609020204030204" pitchFamily="49" charset="0"/>
              </a:rPr>
              <a:t>[1] 2.108185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  </a:t>
            </a:r>
          </a:p>
          <a:p>
            <a:pPr marL="0" indent="0">
              <a:buNone/>
            </a:pPr>
            <a:r>
              <a:rPr lang="es-419" dirty="0">
                <a:latin typeface="Consolas" panose="020B0609020204030204" pitchFamily="49" charset="0"/>
              </a:rPr>
              <a:t>&gt; </a:t>
            </a:r>
            <a:r>
              <a:rPr lang="es-419" dirty="0" err="1">
                <a:latin typeface="Consolas" panose="020B0609020204030204" pitchFamily="49" charset="0"/>
              </a:rPr>
              <a:t>pnorm</a:t>
            </a:r>
            <a:r>
              <a:rPr lang="es-419" dirty="0">
                <a:latin typeface="Consolas" panose="020B0609020204030204" pitchFamily="49" charset="0"/>
              </a:rPr>
              <a:t>(</a:t>
            </a:r>
            <a:r>
              <a:rPr lang="es-419" dirty="0" err="1">
                <a:latin typeface="Consolas" panose="020B0609020204030204" pitchFamily="49" charset="0"/>
              </a:rPr>
              <a:t>z_score</a:t>
            </a:r>
            <a:r>
              <a:rPr lang="es-419" dirty="0">
                <a:latin typeface="Consolas" panose="020B0609020204030204" pitchFamily="49" charset="0"/>
              </a:rPr>
              <a:t>, </a:t>
            </a:r>
            <a:r>
              <a:rPr lang="es-419" dirty="0" err="1">
                <a:latin typeface="Consolas" panose="020B0609020204030204" pitchFamily="49" charset="0"/>
              </a:rPr>
              <a:t>lower.tail</a:t>
            </a:r>
            <a:r>
              <a:rPr lang="es-419" dirty="0">
                <a:latin typeface="Consolas" panose="020B0609020204030204" pitchFamily="49" charset="0"/>
              </a:rPr>
              <a:t> = FALSE)</a:t>
            </a:r>
          </a:p>
          <a:p>
            <a:pPr marL="0" indent="0">
              <a:buNone/>
            </a:pPr>
            <a:r>
              <a:rPr lang="es-419" sz="2700" dirty="0">
                <a:highlight>
                  <a:srgbClr val="FFFF00"/>
                </a:highlight>
                <a:latin typeface="Consolas" panose="020B0609020204030204" pitchFamily="49" charset="0"/>
              </a:rPr>
              <a:t>[1] 0.01750749</a:t>
            </a:r>
          </a:p>
          <a:p>
            <a:pPr marL="0" indent="0">
              <a:buNone/>
            </a:pPr>
            <a:endParaRPr lang="es-419" sz="27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419" sz="2700" dirty="0">
                <a:latin typeface="Consolas" panose="020B0609020204030204" pitchFamily="49" charset="0"/>
              </a:rPr>
              <a:t>&gt; #Alternativamente</a:t>
            </a:r>
          </a:p>
          <a:p>
            <a:pPr marL="0" indent="0">
              <a:buNone/>
            </a:pPr>
            <a:r>
              <a:rPr lang="es-419" sz="2700" dirty="0">
                <a:latin typeface="Consolas" panose="020B0609020204030204" pitchFamily="49" charset="0"/>
              </a:rPr>
              <a:t>&gt; 1 - </a:t>
            </a:r>
            <a:r>
              <a:rPr lang="es-419" sz="2700" dirty="0" err="1">
                <a:latin typeface="Consolas" panose="020B0609020204030204" pitchFamily="49" charset="0"/>
              </a:rPr>
              <a:t>pnorm</a:t>
            </a:r>
            <a:r>
              <a:rPr lang="es-419" sz="2700" dirty="0">
                <a:latin typeface="Consolas" panose="020B0609020204030204" pitchFamily="49" charset="0"/>
              </a:rPr>
              <a:t>(10, mean = mu, </a:t>
            </a:r>
            <a:r>
              <a:rPr lang="es-419" sz="2700" dirty="0" err="1">
                <a:latin typeface="Consolas" panose="020B0609020204030204" pitchFamily="49" charset="0"/>
              </a:rPr>
              <a:t>sd</a:t>
            </a:r>
            <a:r>
              <a:rPr lang="es-419" sz="2700" dirty="0">
                <a:latin typeface="Consolas" panose="020B0609020204030204" pitchFamily="49" charset="0"/>
              </a:rPr>
              <a:t> = </a:t>
            </a:r>
            <a:r>
              <a:rPr lang="es-419" sz="2700" dirty="0" err="1">
                <a:latin typeface="Consolas" panose="020B0609020204030204" pitchFamily="49" charset="0"/>
              </a:rPr>
              <a:t>sqrt</a:t>
            </a:r>
            <a:r>
              <a:rPr lang="es-419" sz="2700" dirty="0">
                <a:latin typeface="Consolas" panose="020B0609020204030204" pitchFamily="49" charset="0"/>
              </a:rPr>
              <a:t>(</a:t>
            </a:r>
            <a:r>
              <a:rPr lang="es-419" sz="2700" dirty="0" err="1">
                <a:latin typeface="Consolas" panose="020B0609020204030204" pitchFamily="49" charset="0"/>
              </a:rPr>
              <a:t>var_p</a:t>
            </a:r>
            <a:r>
              <a:rPr lang="es-419" sz="2700" dirty="0">
                <a:latin typeface="Consolas" panose="020B0609020204030204" pitchFamily="49" charset="0"/>
              </a:rPr>
              <a:t>/n))</a:t>
            </a:r>
          </a:p>
          <a:p>
            <a:pPr marL="0" indent="0">
              <a:buNone/>
            </a:pPr>
            <a:r>
              <a:rPr lang="es-419" sz="2700" dirty="0">
                <a:highlight>
                  <a:srgbClr val="FFFF00"/>
                </a:highlight>
                <a:latin typeface="Consolas" panose="020B0609020204030204" pitchFamily="49" charset="0"/>
              </a:rPr>
              <a:t>[1] 0.01750749</a:t>
            </a:r>
          </a:p>
          <a:p>
            <a:pPr marL="0" indent="0">
              <a:buNone/>
            </a:pPr>
            <a:endParaRPr lang="es-419" sz="27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419" sz="2700" dirty="0">
                <a:latin typeface="Consolas" panose="020B0609020204030204" pitchFamily="49" charset="0"/>
              </a:rPr>
              <a:t>&gt; 1 - </a:t>
            </a:r>
            <a:r>
              <a:rPr lang="es-419" sz="2700" dirty="0" err="1">
                <a:latin typeface="Consolas" panose="020B0609020204030204" pitchFamily="49" charset="0"/>
              </a:rPr>
              <a:t>pnorm</a:t>
            </a:r>
            <a:r>
              <a:rPr lang="es-419" sz="2700" dirty="0">
                <a:latin typeface="Consolas" panose="020B0609020204030204" pitchFamily="49" charset="0"/>
              </a:rPr>
              <a:t>(</a:t>
            </a:r>
            <a:r>
              <a:rPr lang="es-419" sz="2700" dirty="0" err="1">
                <a:latin typeface="Consolas" panose="020B0609020204030204" pitchFamily="49" charset="0"/>
              </a:rPr>
              <a:t>z_score</a:t>
            </a:r>
            <a:r>
              <a:rPr lang="es-419" sz="27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s-419" sz="2700" dirty="0">
                <a:highlight>
                  <a:srgbClr val="FFFF00"/>
                </a:highlight>
                <a:latin typeface="Consolas" panose="020B0609020204030204" pitchFamily="49" charset="0"/>
              </a:rPr>
              <a:t>[1] 0.01750749</a:t>
            </a:r>
          </a:p>
          <a:p>
            <a:pPr marL="0" indent="0">
              <a:buNone/>
            </a:pPr>
            <a:endParaRPr lang="es-419" sz="27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9689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Resuelto 7.2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s-419" sz="1400" dirty="0">
                <a:latin typeface="Consolas" panose="020B0609020204030204" pitchFamily="49" charset="0"/>
              </a:rPr>
              <a:t>&gt; #Gráfico</a:t>
            </a:r>
          </a:p>
          <a:p>
            <a:pPr marL="0" indent="0">
              <a:buNone/>
            </a:pPr>
            <a:r>
              <a:rPr lang="es-419" sz="1400" dirty="0">
                <a:latin typeface="Consolas" panose="020B0609020204030204" pitchFamily="49" charset="0"/>
              </a:rPr>
              <a:t>&gt; </a:t>
            </a:r>
            <a:r>
              <a:rPr lang="es-419" sz="1400" dirty="0" err="1">
                <a:latin typeface="Consolas" panose="020B0609020204030204" pitchFamily="49" charset="0"/>
              </a:rPr>
              <a:t>data.frame</a:t>
            </a:r>
            <a:r>
              <a:rPr lang="es-419" sz="1400" dirty="0">
                <a:latin typeface="Consolas" panose="020B0609020204030204" pitchFamily="49" charset="0"/>
              </a:rPr>
              <a:t>(x = c(-3.5, 3.5)) %&gt;% </a:t>
            </a:r>
          </a:p>
          <a:p>
            <a:pPr marL="0" indent="0">
              <a:buNone/>
            </a:pPr>
            <a:r>
              <a:rPr lang="es-419" sz="1400" dirty="0">
                <a:latin typeface="Consolas" panose="020B0609020204030204" pitchFamily="49" charset="0"/>
              </a:rPr>
              <a:t>+   </a:t>
            </a:r>
            <a:r>
              <a:rPr lang="es-419" sz="1400" dirty="0" err="1">
                <a:latin typeface="Consolas" panose="020B0609020204030204" pitchFamily="49" charset="0"/>
              </a:rPr>
              <a:t>ggplot</a:t>
            </a:r>
            <a:r>
              <a:rPr lang="es-419" sz="1400" dirty="0">
                <a:latin typeface="Consolas" panose="020B0609020204030204" pitchFamily="49" charset="0"/>
              </a:rPr>
              <a:t>(aes(x)) +</a:t>
            </a:r>
          </a:p>
          <a:p>
            <a:pPr marL="0" indent="0">
              <a:buNone/>
            </a:pPr>
            <a:r>
              <a:rPr lang="es-419" sz="1400" dirty="0">
                <a:latin typeface="Consolas" panose="020B0609020204030204" pitchFamily="49" charset="0"/>
              </a:rPr>
              <a:t>+   </a:t>
            </a:r>
            <a:r>
              <a:rPr lang="es-419" sz="1400" dirty="0" err="1">
                <a:latin typeface="Consolas" panose="020B0609020204030204" pitchFamily="49" charset="0"/>
              </a:rPr>
              <a:t>stat_function</a:t>
            </a:r>
            <a:r>
              <a:rPr lang="es-419" sz="1400" dirty="0">
                <a:latin typeface="Consolas" panose="020B0609020204030204" pitchFamily="49" charset="0"/>
              </a:rPr>
              <a:t>(</a:t>
            </a:r>
            <a:r>
              <a:rPr lang="es-419" sz="1400" dirty="0" err="1">
                <a:latin typeface="Consolas" panose="020B0609020204030204" pitchFamily="49" charset="0"/>
              </a:rPr>
              <a:t>fun</a:t>
            </a:r>
            <a:r>
              <a:rPr lang="es-419" sz="1400" dirty="0">
                <a:latin typeface="Consolas" panose="020B0609020204030204" pitchFamily="49" charset="0"/>
              </a:rPr>
              <a:t> = </a:t>
            </a:r>
            <a:r>
              <a:rPr lang="es-419" sz="1400" dirty="0" err="1">
                <a:latin typeface="Consolas" panose="020B0609020204030204" pitchFamily="49" charset="0"/>
              </a:rPr>
              <a:t>dnorm</a:t>
            </a:r>
            <a:r>
              <a:rPr lang="es-419" sz="1400" dirty="0">
                <a:latin typeface="Consolas" panose="020B0609020204030204" pitchFamily="49" charset="0"/>
              </a:rPr>
              <a:t>, n = 10000, </a:t>
            </a:r>
            <a:r>
              <a:rPr lang="es-419" sz="1400" dirty="0" err="1">
                <a:latin typeface="Consolas" panose="020B0609020204030204" pitchFamily="49" charset="0"/>
              </a:rPr>
              <a:t>args</a:t>
            </a:r>
            <a:r>
              <a:rPr lang="es-419" sz="1400" dirty="0">
                <a:latin typeface="Consolas" panose="020B0609020204030204" pitchFamily="49" charset="0"/>
              </a:rPr>
              <a:t> = </a:t>
            </a:r>
            <a:r>
              <a:rPr lang="es-419" sz="1400" dirty="0" err="1">
                <a:latin typeface="Consolas" panose="020B0609020204030204" pitchFamily="49" charset="0"/>
              </a:rPr>
              <a:t>list</a:t>
            </a:r>
            <a:r>
              <a:rPr lang="es-419" sz="1400" dirty="0">
                <a:latin typeface="Consolas" panose="020B0609020204030204" pitchFamily="49" charset="0"/>
              </a:rPr>
              <a:t>(mean = 0, </a:t>
            </a:r>
            <a:r>
              <a:rPr lang="es-419" sz="1400" dirty="0" err="1">
                <a:latin typeface="Consolas" panose="020B0609020204030204" pitchFamily="49" charset="0"/>
              </a:rPr>
              <a:t>sd</a:t>
            </a:r>
            <a:r>
              <a:rPr lang="es-419" sz="1400" dirty="0">
                <a:latin typeface="Consolas" panose="020B0609020204030204" pitchFamily="49" charset="0"/>
              </a:rPr>
              <a:t> = 1),</a:t>
            </a:r>
            <a:r>
              <a:rPr lang="es-419" sz="1400" dirty="0" err="1">
                <a:latin typeface="Consolas" panose="020B0609020204030204" pitchFamily="49" charset="0"/>
              </a:rPr>
              <a:t>size</a:t>
            </a:r>
            <a:r>
              <a:rPr lang="es-419" sz="1400" dirty="0">
                <a:latin typeface="Consolas" panose="020B0609020204030204" pitchFamily="49" charset="0"/>
              </a:rPr>
              <a:t> = 1) +</a:t>
            </a:r>
          </a:p>
          <a:p>
            <a:pPr marL="0" indent="0">
              <a:buNone/>
            </a:pPr>
            <a:r>
              <a:rPr lang="es-419" sz="1400" dirty="0">
                <a:latin typeface="Consolas" panose="020B0609020204030204" pitchFamily="49" charset="0"/>
              </a:rPr>
              <a:t>+   </a:t>
            </a:r>
            <a:r>
              <a:rPr lang="es-419" sz="1400" dirty="0" err="1">
                <a:latin typeface="Consolas" panose="020B0609020204030204" pitchFamily="49" charset="0"/>
              </a:rPr>
              <a:t>geom_area</a:t>
            </a:r>
            <a:r>
              <a:rPr lang="es-419" sz="1400" dirty="0">
                <a:latin typeface="Consolas" panose="020B0609020204030204" pitchFamily="49" charset="0"/>
              </a:rPr>
              <a:t>(</a:t>
            </a:r>
            <a:r>
              <a:rPr lang="es-419" sz="1400" dirty="0" err="1">
                <a:latin typeface="Consolas" panose="020B0609020204030204" pitchFamily="49" charset="0"/>
              </a:rPr>
              <a:t>stat</a:t>
            </a:r>
            <a:r>
              <a:rPr lang="es-419" sz="1400" dirty="0">
                <a:latin typeface="Consolas" panose="020B0609020204030204" pitchFamily="49" charset="0"/>
              </a:rPr>
              <a:t> = '</a:t>
            </a:r>
            <a:r>
              <a:rPr lang="es-419" sz="1400" dirty="0" err="1">
                <a:latin typeface="Consolas" panose="020B0609020204030204" pitchFamily="49" charset="0"/>
              </a:rPr>
              <a:t>function</a:t>
            </a:r>
            <a:r>
              <a:rPr lang="es-419" sz="1400" dirty="0">
                <a:latin typeface="Consolas" panose="020B0609020204030204" pitchFamily="49" charset="0"/>
              </a:rPr>
              <a:t>', </a:t>
            </a:r>
            <a:r>
              <a:rPr lang="es-419" sz="1400" dirty="0" err="1">
                <a:latin typeface="Consolas" panose="020B0609020204030204" pitchFamily="49" charset="0"/>
              </a:rPr>
              <a:t>fun</a:t>
            </a:r>
            <a:r>
              <a:rPr lang="es-419" sz="1400" dirty="0">
                <a:latin typeface="Consolas" panose="020B0609020204030204" pitchFamily="49" charset="0"/>
              </a:rPr>
              <a:t> = </a:t>
            </a:r>
            <a:r>
              <a:rPr lang="es-419" sz="1400" dirty="0" err="1">
                <a:latin typeface="Consolas" panose="020B0609020204030204" pitchFamily="49" charset="0"/>
              </a:rPr>
              <a:t>dnorm</a:t>
            </a:r>
            <a:r>
              <a:rPr lang="es-419" sz="1400" dirty="0">
                <a:latin typeface="Consolas" panose="020B0609020204030204" pitchFamily="49" charset="0"/>
              </a:rPr>
              <a:t>, </a:t>
            </a:r>
            <a:r>
              <a:rPr lang="es-419" sz="1400" dirty="0" err="1">
                <a:latin typeface="Consolas" panose="020B0609020204030204" pitchFamily="49" charset="0"/>
              </a:rPr>
              <a:t>fill</a:t>
            </a:r>
            <a:r>
              <a:rPr lang="es-419" sz="1400" dirty="0">
                <a:latin typeface="Consolas" panose="020B0609020204030204" pitchFamily="49" charset="0"/>
              </a:rPr>
              <a:t> = 'blue', </a:t>
            </a:r>
            <a:r>
              <a:rPr lang="es-419" sz="1400" dirty="0" err="1">
                <a:latin typeface="Consolas" panose="020B0609020204030204" pitchFamily="49" charset="0"/>
              </a:rPr>
              <a:t>xlim</a:t>
            </a:r>
            <a:r>
              <a:rPr lang="es-419" sz="1400" dirty="0">
                <a:latin typeface="Consolas" panose="020B0609020204030204" pitchFamily="49" charset="0"/>
              </a:rPr>
              <a:t> = c(</a:t>
            </a:r>
            <a:r>
              <a:rPr lang="es-419" sz="1400" dirty="0" err="1">
                <a:latin typeface="Consolas" panose="020B0609020204030204" pitchFamily="49" charset="0"/>
              </a:rPr>
              <a:t>z_score</a:t>
            </a:r>
            <a:r>
              <a:rPr lang="es-419" sz="1400" dirty="0">
                <a:latin typeface="Consolas" panose="020B0609020204030204" pitchFamily="49" charset="0"/>
              </a:rPr>
              <a:t>, 3.5), </a:t>
            </a:r>
            <a:r>
              <a:rPr lang="es-419" sz="1400" dirty="0" err="1">
                <a:latin typeface="Consolas" panose="020B0609020204030204" pitchFamily="49" charset="0"/>
              </a:rPr>
              <a:t>alpha</a:t>
            </a:r>
            <a:r>
              <a:rPr lang="es-419" sz="1400" dirty="0">
                <a:latin typeface="Consolas" panose="020B0609020204030204" pitchFamily="49" charset="0"/>
              </a:rPr>
              <a:t> = 0.3) +</a:t>
            </a:r>
          </a:p>
          <a:p>
            <a:pPr marL="0" indent="0">
              <a:buNone/>
            </a:pPr>
            <a:r>
              <a:rPr lang="es-419" sz="1400" dirty="0">
                <a:latin typeface="Consolas" panose="020B0609020204030204" pitchFamily="49" charset="0"/>
              </a:rPr>
              <a:t>+   </a:t>
            </a:r>
            <a:r>
              <a:rPr lang="es-419" sz="1400" dirty="0" err="1">
                <a:latin typeface="Consolas" panose="020B0609020204030204" pitchFamily="49" charset="0"/>
              </a:rPr>
              <a:t>scale_x_continuous</a:t>
            </a:r>
            <a:r>
              <a:rPr lang="es-419" sz="1400" dirty="0">
                <a:latin typeface="Consolas" panose="020B0609020204030204" pitchFamily="49" charset="0"/>
              </a:rPr>
              <a:t>(</a:t>
            </a:r>
            <a:r>
              <a:rPr lang="es-419" sz="1400" dirty="0" err="1">
                <a:latin typeface="Consolas" panose="020B0609020204030204" pitchFamily="49" charset="0"/>
              </a:rPr>
              <a:t>breaks</a:t>
            </a:r>
            <a:r>
              <a:rPr lang="es-419" sz="1400" dirty="0">
                <a:latin typeface="Consolas" panose="020B0609020204030204" pitchFamily="49" charset="0"/>
              </a:rPr>
              <a:t> = </a:t>
            </a:r>
            <a:r>
              <a:rPr lang="es-419" sz="1400" dirty="0" err="1">
                <a:latin typeface="Consolas" panose="020B0609020204030204" pitchFamily="49" charset="0"/>
              </a:rPr>
              <a:t>seq</a:t>
            </a:r>
            <a:r>
              <a:rPr lang="es-419" sz="1400" dirty="0">
                <a:latin typeface="Consolas" panose="020B0609020204030204" pitchFamily="49" charset="0"/>
              </a:rPr>
              <a:t>(-3, 3)) +</a:t>
            </a:r>
          </a:p>
          <a:p>
            <a:pPr marL="0" indent="0">
              <a:buNone/>
            </a:pPr>
            <a:r>
              <a:rPr lang="es-419" sz="1400" dirty="0">
                <a:latin typeface="Consolas" panose="020B0609020204030204" pitchFamily="49" charset="0"/>
              </a:rPr>
              <a:t>+   </a:t>
            </a:r>
            <a:r>
              <a:rPr lang="es-419" sz="1400" dirty="0" err="1">
                <a:latin typeface="Consolas" panose="020B0609020204030204" pitchFamily="49" charset="0"/>
              </a:rPr>
              <a:t>labs</a:t>
            </a:r>
            <a:r>
              <a:rPr lang="es-419" sz="1400" dirty="0">
                <a:latin typeface="Consolas" panose="020B0609020204030204" pitchFamily="49" charset="0"/>
              </a:rPr>
              <a:t>(</a:t>
            </a:r>
            <a:r>
              <a:rPr lang="es-419" sz="1400" dirty="0" err="1">
                <a:latin typeface="Consolas" panose="020B0609020204030204" pitchFamily="49" charset="0"/>
              </a:rPr>
              <a:t>title</a:t>
            </a:r>
            <a:r>
              <a:rPr lang="es-419" sz="1400" dirty="0">
                <a:latin typeface="Consolas" panose="020B0609020204030204" pitchFamily="49" charset="0"/>
              </a:rPr>
              <a:t> = "Resuelto 7.2", </a:t>
            </a:r>
          </a:p>
          <a:p>
            <a:pPr marL="0" indent="0">
              <a:buNone/>
            </a:pPr>
            <a:r>
              <a:rPr lang="es-419" sz="1400" dirty="0">
                <a:latin typeface="Consolas" panose="020B0609020204030204" pitchFamily="49" charset="0"/>
              </a:rPr>
              <a:t>+        </a:t>
            </a:r>
            <a:r>
              <a:rPr lang="es-419" sz="1400" dirty="0" err="1">
                <a:latin typeface="Consolas" panose="020B0609020204030204" pitchFamily="49" charset="0"/>
              </a:rPr>
              <a:t>subtitle</a:t>
            </a:r>
            <a:r>
              <a:rPr lang="es-419" sz="1400" dirty="0">
                <a:latin typeface="Consolas" panose="020B0609020204030204" pitchFamily="49" charset="0"/>
              </a:rPr>
              <a:t> = "Normal Estandarizada", </a:t>
            </a:r>
          </a:p>
          <a:p>
            <a:pPr marL="0" indent="0">
              <a:buNone/>
            </a:pPr>
            <a:r>
              <a:rPr lang="es-419" sz="1400" dirty="0">
                <a:latin typeface="Consolas" panose="020B0609020204030204" pitchFamily="49" charset="0"/>
              </a:rPr>
              <a:t>+        x = "Z", </a:t>
            </a:r>
          </a:p>
          <a:p>
            <a:pPr marL="0" indent="0">
              <a:buNone/>
            </a:pPr>
            <a:r>
              <a:rPr lang="es-419" sz="1400" dirty="0">
                <a:latin typeface="Consolas" panose="020B0609020204030204" pitchFamily="49" charset="0"/>
              </a:rPr>
              <a:t>+        y = "Densidad f(x)") +</a:t>
            </a:r>
          </a:p>
          <a:p>
            <a:pPr marL="0" indent="0">
              <a:buNone/>
            </a:pPr>
            <a:r>
              <a:rPr lang="es-419" sz="1400" dirty="0">
                <a:latin typeface="Consolas" panose="020B0609020204030204" pitchFamily="49" charset="0"/>
              </a:rPr>
              <a:t>+   </a:t>
            </a:r>
            <a:r>
              <a:rPr lang="es-419" sz="1400" dirty="0" err="1">
                <a:latin typeface="Consolas" panose="020B0609020204030204" pitchFamily="49" charset="0"/>
              </a:rPr>
              <a:t>theme_bw</a:t>
            </a:r>
            <a:r>
              <a:rPr lang="es-419" sz="1400" dirty="0">
                <a:latin typeface="Consolas" panose="020B0609020204030204" pitchFamily="49" charset="0"/>
              </a:rPr>
              <a:t>() + </a:t>
            </a:r>
          </a:p>
          <a:p>
            <a:pPr marL="0" indent="0">
              <a:buNone/>
            </a:pPr>
            <a:r>
              <a:rPr lang="es-419" sz="1400" dirty="0">
                <a:latin typeface="Consolas" panose="020B0609020204030204" pitchFamily="49" charset="0"/>
              </a:rPr>
              <a:t>+   </a:t>
            </a:r>
            <a:r>
              <a:rPr lang="es-419" sz="1400" dirty="0" err="1">
                <a:latin typeface="Consolas" panose="020B0609020204030204" pitchFamily="49" charset="0"/>
              </a:rPr>
              <a:t>theme</a:t>
            </a:r>
            <a:r>
              <a:rPr lang="es-419" sz="1400" dirty="0">
                <a:latin typeface="Consolas" panose="020B0609020204030204" pitchFamily="49" charset="0"/>
              </a:rPr>
              <a:t>(</a:t>
            </a:r>
            <a:r>
              <a:rPr lang="es-419" sz="1400" dirty="0" err="1">
                <a:latin typeface="Consolas" panose="020B0609020204030204" pitchFamily="49" charset="0"/>
              </a:rPr>
              <a:t>panel.grid.major.x</a:t>
            </a:r>
            <a:r>
              <a:rPr lang="es-419" sz="1400" dirty="0">
                <a:latin typeface="Consolas" panose="020B0609020204030204" pitchFamily="49" charset="0"/>
              </a:rPr>
              <a:t> = </a:t>
            </a:r>
            <a:r>
              <a:rPr lang="es-419" sz="1400" dirty="0" err="1">
                <a:latin typeface="Consolas" panose="020B0609020204030204" pitchFamily="49" charset="0"/>
              </a:rPr>
              <a:t>element_blank</a:t>
            </a:r>
            <a:r>
              <a:rPr lang="es-419" sz="1400" dirty="0">
                <a:latin typeface="Consolas" panose="020B0609020204030204" pitchFamily="49" charset="0"/>
              </a:rPr>
              <a:t>(), </a:t>
            </a:r>
          </a:p>
          <a:p>
            <a:pPr marL="0" indent="0">
              <a:buNone/>
            </a:pPr>
            <a:r>
              <a:rPr lang="es-419" sz="1400" dirty="0">
                <a:latin typeface="Consolas" panose="020B0609020204030204" pitchFamily="49" charset="0"/>
              </a:rPr>
              <a:t>+         </a:t>
            </a:r>
            <a:r>
              <a:rPr lang="es-419" sz="1400" dirty="0" err="1">
                <a:latin typeface="Consolas" panose="020B0609020204030204" pitchFamily="49" charset="0"/>
              </a:rPr>
              <a:t>panel.grid.minor.x</a:t>
            </a:r>
            <a:r>
              <a:rPr lang="es-419" sz="1400" dirty="0">
                <a:latin typeface="Consolas" panose="020B0609020204030204" pitchFamily="49" charset="0"/>
              </a:rPr>
              <a:t> = </a:t>
            </a:r>
            <a:r>
              <a:rPr lang="es-419" sz="1400" dirty="0" err="1">
                <a:latin typeface="Consolas" panose="020B0609020204030204" pitchFamily="49" charset="0"/>
              </a:rPr>
              <a:t>element_blank</a:t>
            </a:r>
            <a:r>
              <a:rPr lang="es-419" sz="1400" dirty="0">
                <a:latin typeface="Consolas" panose="020B0609020204030204" pitchFamily="49" charset="0"/>
              </a:rPr>
              <a:t>(), </a:t>
            </a:r>
          </a:p>
          <a:p>
            <a:pPr marL="0" indent="0">
              <a:buNone/>
            </a:pPr>
            <a:r>
              <a:rPr lang="es-419" sz="1400" dirty="0">
                <a:latin typeface="Consolas" panose="020B0609020204030204" pitchFamily="49" charset="0"/>
              </a:rPr>
              <a:t>+         </a:t>
            </a:r>
            <a:r>
              <a:rPr lang="es-419" sz="1400" dirty="0" err="1">
                <a:latin typeface="Consolas" panose="020B0609020204030204" pitchFamily="49" charset="0"/>
              </a:rPr>
              <a:t>panel.grid.minor.y</a:t>
            </a:r>
            <a:r>
              <a:rPr lang="es-419" sz="1400" dirty="0">
                <a:latin typeface="Consolas" panose="020B0609020204030204" pitchFamily="49" charset="0"/>
              </a:rPr>
              <a:t> = </a:t>
            </a:r>
            <a:r>
              <a:rPr lang="es-419" sz="1400" dirty="0" err="1">
                <a:latin typeface="Consolas" panose="020B0609020204030204" pitchFamily="49" charset="0"/>
              </a:rPr>
              <a:t>element_blank</a:t>
            </a:r>
            <a:r>
              <a:rPr lang="es-419" sz="1400" dirty="0">
                <a:latin typeface="Consolas" panose="020B0609020204030204" pitchFamily="49" charset="0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35957295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Resuelto 7.2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74BE4D-4D3D-7EA7-2A5C-FEAC55D65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209" y="999000"/>
            <a:ext cx="6049582" cy="48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201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DC74C-7387-CCC4-28E5-3A1522C0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Espacio de intervención: 1 minuto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2D7072-22D5-5CE2-66CC-3EAF549E6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 algn="ctr">
              <a:buNone/>
            </a:pPr>
            <a:r>
              <a:rPr lang="es-VE" i="1" dirty="0"/>
              <a:t>¿Cómo cambiaría la distribución si el muestreo fuese </a:t>
            </a:r>
            <a:r>
              <a:rPr lang="es-VE" b="1" i="1" dirty="0">
                <a:solidFill>
                  <a:srgbClr val="003A5D"/>
                </a:solidFill>
              </a:rPr>
              <a:t>sin reemplazamiento</a:t>
            </a:r>
            <a:r>
              <a:rPr lang="es-VE" i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8371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Muestreo de poblaciones finitas, sin reemplazamiento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Muestreo aleatorio simple requiere que, en el caso de poblaciones finitas, el muestreo sea sin reemplazamiento.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Las variables de la muestra dejan de ser independientes, y no puede emplearse el TLC.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Se obtiene un menor número de muestras.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Posibles muestras con reemplazamiento: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Posibles muestras sin reemplazamiento: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b="1" i="1" dirty="0">
                    <a:solidFill>
                      <a:srgbClr val="003A5D"/>
                    </a:solidFill>
                    <a:ea typeface="Cambria Math" panose="02040503050406030204" pitchFamily="18" charset="0"/>
                  </a:rPr>
                  <a:t>N </a:t>
                </a:r>
                <a:r>
                  <a:rPr lang="es-419" dirty="0">
                    <a:ea typeface="Cambria Math" panose="02040503050406030204" pitchFamily="18" charset="0"/>
                  </a:rPr>
                  <a:t>siendo el número de elementos de la población y </a:t>
                </a:r>
                <a:r>
                  <a:rPr lang="es-419" b="1" i="1" dirty="0">
                    <a:solidFill>
                      <a:srgbClr val="003A5D"/>
                    </a:solidFill>
                    <a:ea typeface="Cambria Math" panose="02040503050406030204" pitchFamily="18" charset="0"/>
                  </a:rPr>
                  <a:t>n</a:t>
                </a:r>
                <a:r>
                  <a:rPr lang="es-419" dirty="0">
                    <a:ea typeface="Cambria Math" panose="02040503050406030204" pitchFamily="18" charset="0"/>
                  </a:rPr>
                  <a:t> el tamaño de la muestra.</a:t>
                </a:r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eriod"/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r="-928" b="-1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39494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Muestreo de poblaciones finitas, sin reemplazamiento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 Se emplea factor de corrección para poblaciones finitas: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La varianza de la media muestral se modifica en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f>
                        <m:f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La varianza de la media muestral termina siendo menor debido a que (</a:t>
                </a: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419" dirty="0"/>
                  <a:t> &lt;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s-419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41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419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s-419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s-419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s-419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419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419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s-419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419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419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s-419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s-419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f>
                            <m:f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func>
                      <m:r>
                        <a:rPr lang="es-419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func>
                        <m:funcPr>
                          <m:ctrlPr>
                            <a:rPr lang="es-419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f>
                            <m:f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limLow>
                            <m:limLow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s-419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func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Profundizaremos en esto cuando entremos en el tema de </a:t>
                </a:r>
                <a:r>
                  <a:rPr lang="es-419" b="1" dirty="0">
                    <a:solidFill>
                      <a:srgbClr val="003A5D"/>
                    </a:solidFill>
                  </a:rPr>
                  <a:t>Estimación por Intervalos</a:t>
                </a:r>
                <a:r>
                  <a:rPr lang="es-419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77526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DC74C-7387-CCC4-28E5-3A1522C0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Espacio de intervención: 1 minuto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2D7072-22D5-5CE2-66CC-3EAF549E6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 algn="ctr">
              <a:buNone/>
            </a:pPr>
            <a:r>
              <a:rPr lang="es-VE" i="1" dirty="0"/>
              <a:t>Aplicando algo de sentido común ¿Si se desconoce la media de una población, es razonable esperar qué se conozca la varianza de la misma?</a:t>
            </a:r>
          </a:p>
        </p:txBody>
      </p:sp>
    </p:spTree>
    <p:extLst>
      <p:ext uri="{BB962C8B-B14F-4D97-AF65-F5344CB8AC3E}">
        <p14:creationId xmlns:p14="http://schemas.microsoft.com/office/powerpoint/2010/main" val="5955438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BB7AA6-FADF-4C74-BB6D-7BFBB63F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La varianza muestral</a:t>
            </a:r>
            <a:endParaRPr lang="es-419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6D3240-91F8-449F-81B7-432D6F81E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Definición y distribución</a:t>
            </a:r>
          </a:p>
        </p:txBody>
      </p:sp>
    </p:spTree>
    <p:extLst>
      <p:ext uri="{BB962C8B-B14F-4D97-AF65-F5344CB8AC3E}">
        <p14:creationId xmlns:p14="http://schemas.microsoft.com/office/powerpoint/2010/main" val="7440596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419" dirty="0"/>
                  <a:t>Varianza muestral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b="1" i="1" dirty="0"/>
                  <a:t> </a:t>
                </a:r>
                <a:r>
                  <a:rPr lang="en-US" dirty="0"/>
                  <a:t>y</a:t>
                </a:r>
                <a:r>
                  <a:rPr lang="en-US" b="1" i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b="1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7" t="-8257" b="-21101"/>
                </a:stretch>
              </a:blipFill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Medida de dispersión de elementos de una muestra respecto a su media (muestral).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419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s-419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419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s-419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s-419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419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s-419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𝑡𝑎𝑚𝑎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ñ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𝑚𝑢𝑒𝑠𝑡𝑟𝑎</m:t>
                      </m:r>
                    </m:oMath>
                  </m:oMathPara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No debe confundirse con la varianza de la media muestral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Var(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acc>
                  </m:oMath>
                </a14:m>
                <a:r>
                  <a:rPr lang="es-419" b="1" i="1" dirty="0">
                    <a:solidFill>
                      <a:srgbClr val="003A5D"/>
                    </a:solidFill>
                  </a:rPr>
                  <a:t>)</a:t>
                </a:r>
                <a:r>
                  <a:rPr lang="es-419" b="1" dirty="0">
                    <a:solidFill>
                      <a:srgbClr val="003A5D"/>
                    </a:solidFill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Parte de la fórmula tradicional del varianza poblacional, aplicada a datos muestrales.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El detalle que surge al adelantarnos a sus propiedades: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s-419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&lt; </m:t>
                      </m:r>
                      <m:sSup>
                        <m:sSup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 marL="457200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s-419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Estimador sesgado, </a:t>
                </a: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 difiere del parámetro poblacional al que trata de aproximarse.</a:t>
                </a:r>
                <a:endParaRPr lang="es-419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s-419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30854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s-419" dirty="0"/>
                  <a:t>Cuasivarianza muestral (varianza muestral moderna)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sSubSup>
                      <m:sSubSupPr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  <m:sup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275" t="-2752" b="-13761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Con un pequeño ajuste se puede construir una </a:t>
                </a:r>
                <a:r>
                  <a:rPr lang="es-419" b="1" dirty="0">
                    <a:solidFill>
                      <a:srgbClr val="003A5D"/>
                    </a:solidFill>
                  </a:rPr>
                  <a:t>varianza muestral insesgada</a:t>
                </a:r>
                <a:r>
                  <a:rPr lang="es-419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Fórmula del estadístico: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419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s-419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419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419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s-419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s-419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419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s-419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𝑡𝑎𝑚𝑎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ñ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𝑚𝑢𝑒𝑠𝑡𝑟𝑎</m:t>
                      </m:r>
                    </m:oMath>
                  </m:oMathPara>
                </a14:m>
                <a:endParaRPr lang="es-419" dirty="0"/>
              </a:p>
              <a:p>
                <a:pPr>
                  <a:lnSpc>
                    <a:spcPct val="170000"/>
                  </a:lnSpc>
                </a:pPr>
                <a:r>
                  <a:rPr lang="es-419" dirty="0"/>
                  <a:t>El ajuste en grados de libertad corregir por el sesgo. </a:t>
                </a:r>
                <a:endParaRPr lang="es-419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419" dirty="0"/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s-419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s-419" b="1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70000"/>
                  </a:lnSpc>
                </a:pPr>
                <a:r>
                  <a:rPr lang="es-419" dirty="0"/>
                  <a:t>Representación moderna de varianza muestral en literatura actualizada.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:endParaRPr lang="es-419" b="1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70000"/>
                  </a:lnSpc>
                  <a:buNone/>
                </a:pPr>
                <a:endParaRPr lang="es-419" b="1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b="1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97035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1226B-E025-AEFA-381D-44CC7F97E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419" dirty="0"/>
              <a:t>El problema del </a:t>
            </a:r>
            <a:r>
              <a:rPr lang="es-419" dirty="0" err="1"/>
              <a:t>Casuso</a:t>
            </a:r>
            <a:r>
              <a:rPr lang="es-419" dirty="0"/>
              <a:t> con varianza y </a:t>
            </a:r>
            <a:r>
              <a:rPr lang="es-419" dirty="0" err="1"/>
              <a:t>cuasivarianza</a:t>
            </a:r>
            <a:r>
              <a:rPr lang="es-419" dirty="0"/>
              <a:t> muestral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E8D53-B923-91A4-59C3-DF299BDA5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s-419" sz="2400" dirty="0">
                <a:ea typeface="Cambria Math" panose="02040503050406030204" pitchFamily="18" charset="0"/>
              </a:rPr>
              <a:t>El </a:t>
            </a:r>
            <a:r>
              <a:rPr lang="es-419" sz="2400" b="1" dirty="0" err="1">
                <a:solidFill>
                  <a:srgbClr val="003A5D"/>
                </a:solidFill>
                <a:ea typeface="Cambria Math" panose="02040503050406030204" pitchFamily="18" charset="0"/>
              </a:rPr>
              <a:t>Lopez</a:t>
            </a:r>
            <a:r>
              <a:rPr lang="es-419" sz="2400" b="1" dirty="0">
                <a:solidFill>
                  <a:srgbClr val="003A5D"/>
                </a:solidFill>
                <a:ea typeface="Cambria Math" panose="02040503050406030204" pitchFamily="18" charset="0"/>
              </a:rPr>
              <a:t> </a:t>
            </a:r>
            <a:r>
              <a:rPr lang="es-419" sz="2400" b="1" dirty="0" err="1">
                <a:solidFill>
                  <a:srgbClr val="003A5D"/>
                </a:solidFill>
                <a:ea typeface="Cambria Math" panose="02040503050406030204" pitchFamily="18" charset="0"/>
              </a:rPr>
              <a:t>Casuso</a:t>
            </a:r>
            <a:r>
              <a:rPr lang="es-419" sz="2400" b="1" dirty="0">
                <a:solidFill>
                  <a:srgbClr val="003A5D"/>
                </a:solidFill>
                <a:ea typeface="Cambria Math" panose="02040503050406030204" pitchFamily="18" charset="0"/>
              </a:rPr>
              <a:t> </a:t>
            </a:r>
            <a:r>
              <a:rPr lang="es-419" sz="2400" dirty="0">
                <a:ea typeface="Cambria Math" panose="02040503050406030204" pitchFamily="18" charset="0"/>
              </a:rPr>
              <a:t>emplea una versión tradicional de </a:t>
            </a:r>
            <a:r>
              <a:rPr lang="es-419" sz="2400" b="1" dirty="0">
                <a:solidFill>
                  <a:srgbClr val="003A5D"/>
                </a:solidFill>
                <a:ea typeface="Cambria Math" panose="02040503050406030204" pitchFamily="18" charset="0"/>
              </a:rPr>
              <a:t>varianza muestral</a:t>
            </a:r>
            <a:r>
              <a:rPr lang="es-419" sz="2400" dirty="0">
                <a:ea typeface="Cambria Math" panose="02040503050406030204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s-419" sz="2000" dirty="0">
                <a:ea typeface="Cambria Math" panose="02040503050406030204" pitchFamily="18" charset="0"/>
              </a:rPr>
              <a:t>Emula la fórmula general del parámetro al que quiere estimar.</a:t>
            </a:r>
          </a:p>
          <a:p>
            <a:pPr>
              <a:lnSpc>
                <a:spcPct val="150000"/>
              </a:lnSpc>
            </a:pPr>
            <a:r>
              <a:rPr lang="es-419" sz="2400" dirty="0">
                <a:ea typeface="Cambria Math" panose="02040503050406030204" pitchFamily="18" charset="0"/>
              </a:rPr>
              <a:t>Por problemas de </a:t>
            </a:r>
            <a:r>
              <a:rPr lang="es-419" sz="2400" i="1" dirty="0">
                <a:ea typeface="Cambria Math" panose="02040503050406030204" pitchFamily="18" charset="0"/>
              </a:rPr>
              <a:t>sesgo</a:t>
            </a:r>
            <a:r>
              <a:rPr lang="es-419" sz="2400" dirty="0">
                <a:ea typeface="Cambria Math" panose="02040503050406030204" pitchFamily="18" charset="0"/>
              </a:rPr>
              <a:t> (concepto que será profundizado después) a la hora de hacer inferencias, esa versión no es muy vigente en la estadística moderna.</a:t>
            </a:r>
          </a:p>
          <a:p>
            <a:pPr>
              <a:lnSpc>
                <a:spcPct val="150000"/>
              </a:lnSpc>
            </a:pPr>
            <a:r>
              <a:rPr lang="es-419" sz="2400" dirty="0" err="1">
                <a:ea typeface="Cambria Math" panose="02040503050406030204" pitchFamily="18" charset="0"/>
              </a:rPr>
              <a:t>Casuso</a:t>
            </a:r>
            <a:r>
              <a:rPr lang="es-419" sz="2400" dirty="0">
                <a:ea typeface="Cambria Math" panose="02040503050406030204" pitchFamily="18" charset="0"/>
              </a:rPr>
              <a:t> corrige por dicho sesgos en las fórmulas de estadísticos, pero eso las hace más complejas.</a:t>
            </a:r>
            <a:endParaRPr lang="es-419" sz="2000" dirty="0">
              <a:ea typeface="Cambria Math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s-419" sz="2400" dirty="0" err="1">
                <a:ea typeface="Cambria Math" panose="02040503050406030204" pitchFamily="18" charset="0"/>
              </a:rPr>
              <a:t>Casuso</a:t>
            </a:r>
            <a:r>
              <a:rPr lang="es-419" sz="2400" dirty="0">
                <a:ea typeface="Cambria Math" panose="02040503050406030204" pitchFamily="18" charset="0"/>
              </a:rPr>
              <a:t> diferencia la versión de varianza muestral ajustada (y moderna) como </a:t>
            </a:r>
            <a:r>
              <a:rPr lang="es-419" sz="2400" b="1" dirty="0" err="1">
                <a:solidFill>
                  <a:srgbClr val="003A5D"/>
                </a:solidFill>
                <a:ea typeface="Cambria Math" panose="02040503050406030204" pitchFamily="18" charset="0"/>
              </a:rPr>
              <a:t>cuasivarianza</a:t>
            </a:r>
            <a:r>
              <a:rPr lang="es-419" sz="2400" dirty="0">
                <a:ea typeface="Cambria Math" panose="02040503050406030204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s-419" sz="2000" dirty="0">
                <a:ea typeface="Cambria Math" panose="02040503050406030204" pitchFamily="18" charset="0"/>
              </a:rPr>
              <a:t>Adecuadamente identifica sus cualidades y es incorporada en algunas formulas.</a:t>
            </a:r>
          </a:p>
          <a:p>
            <a:pPr lvl="1">
              <a:lnSpc>
                <a:spcPct val="150000"/>
              </a:lnSpc>
            </a:pPr>
            <a:r>
              <a:rPr lang="es-419" sz="2000" dirty="0">
                <a:ea typeface="Cambria Math" panose="02040503050406030204" pitchFamily="18" charset="0"/>
              </a:rPr>
              <a:t>Sin embargo, es pocas veces implementada en ejercicios propuestos y resueltos.</a:t>
            </a:r>
          </a:p>
        </p:txBody>
      </p:sp>
    </p:spTree>
    <p:extLst>
      <p:ext uri="{BB962C8B-B14F-4D97-AF65-F5344CB8AC3E}">
        <p14:creationId xmlns:p14="http://schemas.microsoft.com/office/powerpoint/2010/main" val="28241384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1226B-E025-AEFA-381D-44CC7F97E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Para efectos de este curso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CE8D53-B923-91A4-59C3-DF299BDA53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Conceptualmente se usan ambos conceptos como equivalentes (pues lo son).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Teóricamente, la diferencia entre ambas desaparece con el crecimiento asintótico del tamaño de muestra. 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Operativamente es mejor emplear la varianza muestral </a:t>
                </a:r>
                <a:r>
                  <a:rPr lang="es-419" b="1" dirty="0">
                    <a:solidFill>
                      <a:srgbClr val="003A5D"/>
                    </a:solidFill>
                    <a:ea typeface="Cambria Math" panose="02040503050406030204" pitchFamily="18" charset="0"/>
                  </a:rPr>
                  <a:t>insesgada</a:t>
                </a:r>
                <a:r>
                  <a:rPr lang="es-419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s-419" dirty="0"/>
                  <a:t> (</a:t>
                </a:r>
                <a:r>
                  <a:rPr lang="es-419" dirty="0" err="1"/>
                  <a:t>cuasivarianza</a:t>
                </a:r>
                <a:r>
                  <a:rPr lang="es-419" dirty="0"/>
                  <a:t>) en ejercicios, pues la fórmula de estadísticos asociados es más simple.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sz="2800" dirty="0">
                    <a:ea typeface="Cambria Math" panose="02040503050406030204" pitchFamily="18" charset="0"/>
                  </a:rPr>
                  <a:t>Se prefiere emplear la definición moderna de la varianza muestral (</a:t>
                </a:r>
                <a:r>
                  <a:rPr lang="es-419" sz="2800" b="1" dirty="0" err="1">
                    <a:solidFill>
                      <a:srgbClr val="003A5D"/>
                    </a:solidFill>
                    <a:ea typeface="Cambria Math" panose="02040503050406030204" pitchFamily="18" charset="0"/>
                  </a:rPr>
                  <a:t>cuasivarianza</a:t>
                </a:r>
                <a:r>
                  <a:rPr lang="es-419" sz="2800" dirty="0">
                    <a:ea typeface="Cambria Math" panose="02040503050406030204" pitchFamily="18" charset="0"/>
                  </a:rPr>
                  <a:t> en el </a:t>
                </a:r>
                <a:r>
                  <a:rPr lang="es-419" sz="2800" dirty="0" err="1">
                    <a:ea typeface="Cambria Math" panose="02040503050406030204" pitchFamily="18" charset="0"/>
                  </a:rPr>
                  <a:t>Casuso</a:t>
                </a:r>
                <a:r>
                  <a:rPr lang="es-419" sz="2800" dirty="0">
                    <a:ea typeface="Cambria Math" panose="02040503050406030204" pitchFamily="18" charset="0"/>
                  </a:rPr>
                  <a:t>).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sz="2800" dirty="0">
                    <a:ea typeface="Cambria Math" panose="02040503050406030204" pitchFamily="18" charset="0"/>
                  </a:rPr>
                  <a:t>Cuando se hable en clase de varianza muestral de forma genérica, se refiere a su versión </a:t>
                </a:r>
                <a:r>
                  <a:rPr lang="es-419" sz="2800" b="1" dirty="0">
                    <a:solidFill>
                      <a:srgbClr val="003A5D"/>
                    </a:solidFill>
                    <a:ea typeface="Cambria Math" panose="02040503050406030204" pitchFamily="18" charset="0"/>
                  </a:rPr>
                  <a:t>insesgada</a:t>
                </a:r>
                <a:r>
                  <a:rPr lang="es-419" sz="2800" dirty="0">
                    <a:ea typeface="Cambria Math" panose="020405030504060302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sz="2800" dirty="0">
                    <a:ea typeface="Cambria Math" panose="02040503050406030204" pitchFamily="18" charset="0"/>
                  </a:rPr>
                  <a:t>Cálculos en </a:t>
                </a:r>
                <a:r>
                  <a:rPr lang="es-419" sz="2800" b="1" dirty="0">
                    <a:solidFill>
                      <a:srgbClr val="003A5D"/>
                    </a:solidFill>
                    <a:ea typeface="Cambria Math" panose="02040503050406030204" pitchFamily="18" charset="0"/>
                  </a:rPr>
                  <a:t>R</a:t>
                </a:r>
                <a:r>
                  <a:rPr lang="es-419" sz="2800" dirty="0">
                    <a:ea typeface="Cambria Math" panose="02040503050406030204" pitchFamily="18" charset="0"/>
                  </a:rPr>
                  <a:t> usando la función </a:t>
                </a:r>
                <a:r>
                  <a:rPr lang="es-419" sz="2800" dirty="0" err="1">
                    <a:solidFill>
                      <a:srgbClr val="003A5D"/>
                    </a:solidFill>
                    <a:latin typeface="Consolas" panose="020B0609020204030204" pitchFamily="49" charset="0"/>
                    <a:ea typeface="Cambria Math" panose="02040503050406030204" pitchFamily="18" charset="0"/>
                  </a:rPr>
                  <a:t>var</a:t>
                </a:r>
                <a:r>
                  <a:rPr lang="es-419" sz="2800" dirty="0">
                    <a:solidFill>
                      <a:srgbClr val="003A5D"/>
                    </a:solidFill>
                    <a:latin typeface="Consolas" panose="020B0609020204030204" pitchFamily="49" charset="0"/>
                    <a:ea typeface="Cambria Math" panose="02040503050406030204" pitchFamily="18" charset="0"/>
                  </a:rPr>
                  <a:t>() </a:t>
                </a:r>
                <a:r>
                  <a:rPr lang="es-419" sz="2800" dirty="0">
                    <a:ea typeface="Cambria Math" panose="02040503050406030204" pitchFamily="18" charset="0"/>
                  </a:rPr>
                  <a:t>corresponden a varianzas muestrales insesgadas.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CE8D53-B923-91A4-59C3-DF299BDA53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10390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1226B-E025-AEFA-381D-44CC7F97E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¿Cómo proceder con los ejercicios?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E8D53-B923-91A4-59C3-DF299BDA5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s-419" sz="2100" dirty="0">
                <a:ea typeface="Cambria Math" panose="02040503050406030204" pitchFamily="18" charset="0"/>
              </a:rPr>
              <a:t>Para </a:t>
            </a:r>
            <a:r>
              <a:rPr lang="es-419" sz="2100" b="1" dirty="0">
                <a:solidFill>
                  <a:srgbClr val="003A5D"/>
                </a:solidFill>
                <a:ea typeface="Cambria Math" panose="02040503050406030204" pitchFamily="18" charset="0"/>
              </a:rPr>
              <a:t>Resueltos/Propuestos </a:t>
            </a:r>
            <a:r>
              <a:rPr lang="es-419" sz="2100" dirty="0">
                <a:ea typeface="Cambria Math" panose="02040503050406030204" pitchFamily="18" charset="0"/>
              </a:rPr>
              <a:t>del </a:t>
            </a:r>
            <a:r>
              <a:rPr lang="es-419" sz="2100" dirty="0" err="1">
                <a:ea typeface="Cambria Math" panose="02040503050406030204" pitchFamily="18" charset="0"/>
              </a:rPr>
              <a:t>Casuso</a:t>
            </a:r>
            <a:r>
              <a:rPr lang="es-419" sz="2100" dirty="0">
                <a:ea typeface="Cambria Math" panose="02040503050406030204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s-419" sz="1700" dirty="0">
                <a:ea typeface="Cambria Math" panose="02040503050406030204" pitchFamily="18" charset="0"/>
              </a:rPr>
              <a:t>Asumir que varianza muestral es </a:t>
            </a:r>
            <a:r>
              <a:rPr lang="es-419" sz="1700" b="1" dirty="0">
                <a:solidFill>
                  <a:srgbClr val="003A5D"/>
                </a:solidFill>
                <a:ea typeface="Cambria Math" panose="02040503050406030204" pitchFamily="18" charset="0"/>
              </a:rPr>
              <a:t>sesgada</a:t>
            </a:r>
            <a:r>
              <a:rPr lang="es-419" sz="1700" dirty="0">
                <a:ea typeface="Cambria Math" panose="02040503050406030204" pitchFamily="18" charset="0"/>
              </a:rPr>
              <a:t> (a menos que se explicite lo contrario)  y realizar una transformación simple a </a:t>
            </a:r>
            <a:r>
              <a:rPr lang="es-419" sz="1700" b="1" dirty="0">
                <a:solidFill>
                  <a:srgbClr val="003A5D"/>
                </a:solidFill>
                <a:ea typeface="Cambria Math" panose="02040503050406030204" pitchFamily="18" charset="0"/>
              </a:rPr>
              <a:t>insesgada</a:t>
            </a:r>
            <a:r>
              <a:rPr lang="es-419" sz="1700" dirty="0">
                <a:ea typeface="Cambria Math" panose="02040503050406030204" pitchFamily="18" charset="0"/>
              </a:rPr>
              <a:t>; para luego emplear fórmula simplificada vista en clase.</a:t>
            </a:r>
          </a:p>
          <a:p>
            <a:pPr lvl="1">
              <a:lnSpc>
                <a:spcPct val="150000"/>
              </a:lnSpc>
            </a:pPr>
            <a:r>
              <a:rPr lang="es-419" sz="1700" dirty="0">
                <a:ea typeface="Cambria Math" panose="02040503050406030204" pitchFamily="18" charset="0"/>
              </a:rPr>
              <a:t>Realizar la transformación hace que los resultados tiendan a acercarse (controlando por redondeos).</a:t>
            </a:r>
          </a:p>
          <a:p>
            <a:pPr lvl="1">
              <a:lnSpc>
                <a:spcPct val="150000"/>
              </a:lnSpc>
            </a:pPr>
            <a:r>
              <a:rPr lang="es-419" sz="1700" dirty="0">
                <a:ea typeface="Cambria Math" panose="02040503050406030204" pitchFamily="18" charset="0"/>
              </a:rPr>
              <a:t>Si se asume varianzas </a:t>
            </a:r>
            <a:r>
              <a:rPr lang="es-419" sz="1700" b="1" dirty="0">
                <a:solidFill>
                  <a:srgbClr val="003A5D"/>
                </a:solidFill>
                <a:ea typeface="Cambria Math" panose="02040503050406030204" pitchFamily="18" charset="0"/>
              </a:rPr>
              <a:t>insesgadas</a:t>
            </a:r>
            <a:r>
              <a:rPr lang="es-419" sz="1700" dirty="0">
                <a:ea typeface="Cambria Math" panose="02040503050406030204" pitchFamily="18" charset="0"/>
              </a:rPr>
              <a:t> sin transformación previa, </a:t>
            </a:r>
            <a:r>
              <a:rPr lang="es-419" sz="1700" i="1" dirty="0">
                <a:ea typeface="Cambria Math" panose="02040503050406030204" pitchFamily="18" charset="0"/>
              </a:rPr>
              <a:t>necesariamente</a:t>
            </a:r>
            <a:r>
              <a:rPr lang="es-419" sz="1700" dirty="0">
                <a:ea typeface="Cambria Math" panose="02040503050406030204" pitchFamily="18" charset="0"/>
              </a:rPr>
              <a:t> hará que resultado difiera de la respuesta al final del libro.</a:t>
            </a:r>
          </a:p>
          <a:p>
            <a:pPr>
              <a:lnSpc>
                <a:spcPct val="150000"/>
              </a:lnSpc>
            </a:pPr>
            <a:r>
              <a:rPr lang="es-419" sz="2100" dirty="0">
                <a:ea typeface="Cambria Math" panose="02040503050406030204" pitchFamily="18" charset="0"/>
              </a:rPr>
              <a:t>En Evaluaciones: </a:t>
            </a:r>
          </a:p>
          <a:p>
            <a:pPr lvl="1">
              <a:lnSpc>
                <a:spcPct val="150000"/>
              </a:lnSpc>
            </a:pPr>
            <a:r>
              <a:rPr lang="es-419" sz="1700" dirty="0">
                <a:ea typeface="Cambria Math" panose="02040503050406030204" pitchFamily="18" charset="0"/>
              </a:rPr>
              <a:t>Se hará mención explícita a la varianza muestral con la que se está trabajando, empleando el adjetivo </a:t>
            </a:r>
            <a:r>
              <a:rPr lang="es-419" sz="1700" b="1" dirty="0">
                <a:solidFill>
                  <a:srgbClr val="003A5D"/>
                </a:solidFill>
                <a:ea typeface="Cambria Math" panose="02040503050406030204" pitchFamily="18" charset="0"/>
              </a:rPr>
              <a:t>insesgada</a:t>
            </a:r>
            <a:r>
              <a:rPr lang="es-419" sz="1700" dirty="0">
                <a:ea typeface="Cambria Math" panose="02040503050406030204" pitchFamily="18" charset="0"/>
              </a:rPr>
              <a:t>/</a:t>
            </a:r>
            <a:r>
              <a:rPr lang="es-419" sz="1700" b="1" dirty="0">
                <a:solidFill>
                  <a:srgbClr val="003A5D"/>
                </a:solidFill>
                <a:ea typeface="Cambria Math" panose="02040503050406030204" pitchFamily="18" charset="0"/>
              </a:rPr>
              <a:t>sesgada</a:t>
            </a:r>
            <a:r>
              <a:rPr lang="es-419" sz="1700" dirty="0">
                <a:ea typeface="Cambria Math" panose="02040503050406030204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s-419" sz="1700" dirty="0">
                <a:ea typeface="Cambria Math" panose="02040503050406030204" pitchFamily="18" charset="0"/>
              </a:rPr>
              <a:t>Hacer transformaciones puede ser parte del ejercicio y dependerá de los requisitos particulares.</a:t>
            </a:r>
          </a:p>
          <a:p>
            <a:pPr>
              <a:lnSpc>
                <a:spcPct val="150000"/>
              </a:lnSpc>
            </a:pPr>
            <a:r>
              <a:rPr lang="es-419" sz="2000" b="1" dirty="0">
                <a:solidFill>
                  <a:srgbClr val="003A5D"/>
                </a:solidFill>
                <a:ea typeface="Cambria Math" panose="02040503050406030204" pitchFamily="18" charset="0"/>
              </a:rPr>
              <a:t>DEBE ESTAR ATENTO A LA DENOMINACIÓN DE VARIANZA EN PREGUNTAS EVALUADAS!</a:t>
            </a:r>
          </a:p>
        </p:txBody>
      </p:sp>
    </p:spTree>
    <p:extLst>
      <p:ext uri="{BB962C8B-B14F-4D97-AF65-F5344CB8AC3E}">
        <p14:creationId xmlns:p14="http://schemas.microsoft.com/office/powerpoint/2010/main" val="17843903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419" dirty="0"/>
                  <a:t>Pasar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419" b="0" i="0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419" dirty="0"/>
                  <a:t>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419" b="0" i="0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lang="es-419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y vice versa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7" t="-8257" b="-21101"/>
                </a:stretch>
              </a:blipFill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Se puede pasar de varianza muestral sesgada a </a:t>
                </a:r>
                <a:r>
                  <a:rPr lang="es-419" dirty="0" err="1">
                    <a:ea typeface="Cambria Math" panose="02040503050406030204" pitchFamily="18" charset="0"/>
                  </a:rPr>
                  <a:t>cuasivarianza</a:t>
                </a:r>
                <a:r>
                  <a:rPr lang="es-419" dirty="0">
                    <a:ea typeface="Cambria Math" panose="02040503050406030204" pitchFamily="18" charset="0"/>
                  </a:rPr>
                  <a:t> (varianza muestral insesgada) y viceversa con simples transformaciones: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𝑖𝑛𝑠𝑒𝑠𝑔𝑎𝑑𝑎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p>
                          </m:sSup>
                        </m:num>
                        <m:den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sSup>
                            <m:s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p>
                      </m:sSup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𝑠𝑒𝑠𝑔𝑎𝑑𝑎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  <m:sSup>
                            <m:s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Resultados en ejercicios tradicionales no diferirán mucho si hace adecuado uso de transformaciones y </a:t>
                </a:r>
                <a:r>
                  <a:rPr lang="es-419">
                    <a:ea typeface="Cambria Math" panose="02040503050406030204" pitchFamily="18" charset="0"/>
                  </a:rPr>
                  <a:t>fórmulas.</a:t>
                </a:r>
                <a:endParaRPr lang="es-419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r="-986" b="-1222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51373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897E6D92-9DDB-CA30-FAC9-65564282A81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419" dirty="0"/>
                  <a:t>Distribución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s-VE" dirty="0"/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897E6D92-9DDB-CA30-FAC9-65564282A8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7" t="-8257" b="-21101"/>
                </a:stretch>
              </a:blipFill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67C6C83-F1F5-1150-89A1-DBB336E3B0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No se puede determinar per-se la distribución de la varianza muestral (al menos a lo que concierne a este curso)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Pero sí para una transformación lineal de la misma.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419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s-419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419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419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s-419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s-419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419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s-VE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419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s-419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419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s-419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s-419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f>
                      <m:fPr>
                        <m:ctrlP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VE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VE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s-419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s-419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419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V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s-419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num>
                              <m:den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den>
                            </m:f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s-419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419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V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VE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s-VE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419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s-419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V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s-V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es-VE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s-VE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VE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V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s-V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s-419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419" i="1">
                          <a:latin typeface="Cambria Math" panose="02040503050406030204" pitchFamily="18" charset="0"/>
                        </a:rPr>
                        <m:t>~</m:t>
                      </m:r>
                      <m:sSubSup>
                        <m:sSubSupPr>
                          <m:ctrlPr>
                            <a:rPr lang="es-V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s-V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VE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VE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s-VE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Se distribuye como una </a:t>
                </a:r>
                <a:r>
                  <a:rPr lang="es-419" b="1" dirty="0">
                    <a:solidFill>
                      <a:srgbClr val="003A5D"/>
                    </a:solidFill>
                  </a:rPr>
                  <a:t>Chi-cuadrada</a:t>
                </a:r>
                <a:r>
                  <a:rPr lang="es-419" dirty="0"/>
                  <a:t> con </a:t>
                </a:r>
                <a:r>
                  <a:rPr lang="es-419" b="1" dirty="0">
                    <a:solidFill>
                      <a:srgbClr val="003A5D"/>
                    </a:solidFill>
                  </a:rPr>
                  <a:t>n-1</a:t>
                </a:r>
                <a:r>
                  <a:rPr lang="es-419" dirty="0"/>
                  <a:t> grados de libertad.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VE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67C6C83-F1F5-1150-89A1-DBB336E3B0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89795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897E6D92-9DDB-CA30-FAC9-65564282A81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419" dirty="0"/>
                  <a:t>Distribución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s-VE" dirty="0"/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897E6D92-9DDB-CA30-FAC9-65564282A8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7" t="-8257" b="-21101"/>
                </a:stretch>
              </a:blipFill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67C6C83-F1F5-1150-89A1-DBB336E3B0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VE" dirty="0"/>
                  <a:t>De allí podemos extraer el valor esperado y varianza de la varianza muestral: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VE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s-V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s-V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VE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s-V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s-VE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s-V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s-VE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s-VE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  <m:sup>
                                  <m:r>
                                    <a:rPr lang="es-VE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es-V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s-V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es-V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VE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s-VE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s-V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VE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es-V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s-VE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s-V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s-V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VE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VE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VE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num>
                        <m:den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s-VE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s-VE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VE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VE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s-V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s-V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VE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s-V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s-VE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s-V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s-VE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s-VE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  <m:sup>
                                  <m:r>
                                    <a:rPr lang="es-VE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es-V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s-V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es-V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VE" b="0" i="1" smtClean="0"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r>
                                <a:rPr lang="es-VE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s-V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VE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es-V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s-VE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s-VE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VE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e>
                            <m:sup>
                              <m:r>
                                <a:rPr lang="es-V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V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V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s-419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s-V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s-V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V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s-V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−1)</m:t>
                          </m:r>
                        </m:num>
                        <m:den>
                          <m:sSup>
                            <m:sSupPr>
                              <m:ctrlPr>
                                <a:rPr lang="es-V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VE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e>
                            <m:sup>
                              <m:r>
                                <a:rPr lang="es-V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V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VE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s-V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es-V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V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s-V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−1)</m:t>
                          </m:r>
                        </m:den>
                      </m:f>
                    </m:oMath>
                  </m:oMathPara>
                </a14:m>
                <a:endParaRPr lang="es-419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VE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67C6C83-F1F5-1150-89A1-DBB336E3B0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22643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DC74C-7387-CCC4-28E5-3A1522C0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Espacio de intervención: 1 minuto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2D7072-22D5-5CE2-66CC-3EAF549E6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 algn="ctr">
              <a:buNone/>
            </a:pPr>
            <a:r>
              <a:rPr lang="es-VE" i="1" dirty="0"/>
              <a:t>¿Por qué la Chi-Cuadrada pierde 1 grado de libertad?</a:t>
            </a:r>
          </a:p>
        </p:txBody>
      </p:sp>
    </p:spTree>
    <p:extLst>
      <p:ext uri="{BB962C8B-B14F-4D97-AF65-F5344CB8AC3E}">
        <p14:creationId xmlns:p14="http://schemas.microsoft.com/office/powerpoint/2010/main" val="24070094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Nota sobre grados de libertad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b="1" dirty="0">
                    <a:solidFill>
                      <a:srgbClr val="003A5D"/>
                    </a:solidFill>
                  </a:rPr>
                  <a:t>Grados de Libertad: </a:t>
                </a:r>
                <a:r>
                  <a:rPr lang="es-419" dirty="0"/>
                  <a:t>número de piezas independientes en nuestra información.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Para calcular la varianza muestral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s-419" dirty="0"/>
                  <a:t> es necesario tener la media muestral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acc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419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419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Al </a:t>
                </a:r>
                <a:r>
                  <a:rPr lang="es-419" dirty="0"/>
                  <a:t>tener ya definido el valor de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acc>
                  </m:oMath>
                </a14:m>
                <a:r>
                  <a:rPr lang="es-419" dirty="0"/>
                  <a:t> entonces el número de variables de la muestra independientes se vuelve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n </a:t>
                </a:r>
                <a:r>
                  <a:rPr lang="es-419" dirty="0"/>
                  <a:t>- 1</a:t>
                </a:r>
                <a:r>
                  <a:rPr lang="en-US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Si se tienen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n</a:t>
                </a:r>
                <a:r>
                  <a:rPr lang="es-419" dirty="0"/>
                  <a:t> elementos de una muestra con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acc>
                    <m:r>
                      <a:rPr lang="es-419" b="1" i="1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419" dirty="0"/>
                  <a:t>definido, entonces solo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n </a:t>
                </a:r>
                <a:r>
                  <a:rPr lang="es-419" dirty="0"/>
                  <a:t>- 1 puede tomar valores independientes.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El último elemento debe ser consistente con el valor de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acc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1101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9688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Nota sobre grados de libertad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Muestra de cuatro elementos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n</a:t>
                </a:r>
                <a:r>
                  <a:rPr lang="es-419" dirty="0"/>
                  <a:t> = 4 y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s-419" b="1" dirty="0"/>
                  <a:t> </a:t>
                </a:r>
                <a:r>
                  <a:rPr lang="es-419" dirty="0"/>
                  <a:t>= 10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Elementos adquieren valores independientemente de: 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s-419" b="1" i="1" dirty="0">
                    <a:solidFill>
                      <a:srgbClr val="003A5D"/>
                    </a:solidFill>
                  </a:rPr>
                  <a:t>x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1</a:t>
                </a:r>
                <a:r>
                  <a:rPr lang="es-419" dirty="0"/>
                  <a:t> = 9,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x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2</a:t>
                </a:r>
                <a:r>
                  <a:rPr lang="es-419" dirty="0"/>
                  <a:t> = 15,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x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3</a:t>
                </a:r>
                <a:r>
                  <a:rPr lang="es-419" dirty="0"/>
                  <a:t> = 10</a:t>
                </a:r>
                <a:endParaRPr lang="es-419" b="1" i="1" baseline="-25000" dirty="0">
                  <a:solidFill>
                    <a:srgbClr val="003A5D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Necesariamente: 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s-419" b="1" i="1" dirty="0">
                    <a:solidFill>
                      <a:srgbClr val="003A5D"/>
                    </a:solidFill>
                  </a:rPr>
                  <a:t>x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4</a:t>
                </a:r>
                <a:r>
                  <a:rPr lang="es-419" dirty="0"/>
                  <a:t> = 6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Ya que: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s-419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s-419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s-419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s-419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419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s-419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419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s-419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419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s-419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s-419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lang="es-419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b="1" dirty="0"/>
              </a:p>
              <a:p>
                <a:pPr lvl="1">
                  <a:lnSpc>
                    <a:spcPct val="150000"/>
                  </a:lnSpc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7378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DC74C-7387-CCC4-28E5-3A1522C0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Espacio de intervención: 3 minuto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2D7072-22D5-5CE2-66CC-3EAF549E6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 algn="ctr">
              <a:buNone/>
            </a:pPr>
            <a:r>
              <a:rPr lang="es-VE" i="1" dirty="0"/>
              <a:t>¿Cómo determinaríamos distribución, media, y varianza de </a:t>
            </a:r>
            <a:r>
              <a:rPr lang="es-VE" b="1" i="1" dirty="0">
                <a:solidFill>
                  <a:srgbClr val="003A5D"/>
                </a:solidFill>
              </a:rPr>
              <a:t>varianza muestral sesgada</a:t>
            </a:r>
            <a:r>
              <a:rPr lang="es-VE" i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930166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897E6D92-9DDB-CA30-FAC9-65564282A81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419" dirty="0"/>
                  <a:t>Distribución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s-VE" dirty="0"/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897E6D92-9DDB-CA30-FAC9-65564282A8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7" t="-8257" b="-21101"/>
                </a:stretch>
              </a:blipFill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67C6C83-F1F5-1150-89A1-DBB336E3B0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 smtClean="0"/>
                  <a:t>Visto desde la perspectiva de la varianza muestral sesgada: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419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VE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s-419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419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s-419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s-419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419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s-VE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VE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419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s-419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s-419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f>
                      <m:fPr>
                        <m:ctrlP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VE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VE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s-419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VE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s-V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419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V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s-419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num>
                              <m:den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den>
                            </m:f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VE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s-V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V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VE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s-VE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VE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s-V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s-V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es-VE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s-VE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VE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es-V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s-419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VE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VE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419" i="1">
                          <a:latin typeface="Cambria Math" panose="02040503050406030204" pitchFamily="18" charset="0"/>
                        </a:rPr>
                        <m:t>~</m:t>
                      </m:r>
                      <m:sSubSup>
                        <m:sSubSupPr>
                          <m:ctrlPr>
                            <a:rPr lang="es-V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s-V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VE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s-VE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s-VE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Estimando su media y varianza muestral: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VE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s-V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VE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s-V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VE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s-V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s-VE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s-V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s-VE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s-VE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  <m:sup>
                                  <m:r>
                                    <a:rPr lang="es-VE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es-V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s-V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es-V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VE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s-VE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s-V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VE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es-V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s-VE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s-V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s-V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VE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VE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VE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num>
                        <m:den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s-419" i="1">
                          <a:latin typeface="Cambria Math" panose="02040503050406030204" pitchFamily="18" charset="0"/>
                        </a:rPr>
                        <m:t>&lt; </m:t>
                      </m:r>
                      <m:sSup>
                        <m:sSup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VE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VE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s-V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VE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s-V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VE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s-V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s-VE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s-V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s-VE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s-VE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  <m:sup>
                                  <m:r>
                                    <a:rPr lang="es-VE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es-V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s-V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es-V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VE" b="0" i="1" smtClean="0"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r>
                                <a:rPr lang="es-VE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s-V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VE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es-V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s-VE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s-VE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VE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s-V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V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V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s-419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s-V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s-V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V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s-V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−1)</m:t>
                          </m:r>
                        </m:num>
                        <m:den>
                          <m:sSup>
                            <m:sSupPr>
                              <m:ctrlPr>
                                <a:rPr lang="es-V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V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s-V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V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VE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s-V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s-V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V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s-V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−1)</m:t>
                          </m:r>
                        </m:num>
                        <m:den>
                          <m:sSup>
                            <m:sSupPr>
                              <m:ctrlPr>
                                <a:rPr lang="es-V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V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s-V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VE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67C6C83-F1F5-1150-89A1-DBB336E3B0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03371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8BDB2-E18E-4378-A323-B877A523D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Resuelto 7.3 (Modificado)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55348-03DD-42CE-B1C6-3C00C43A3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s-419" i="1" dirty="0"/>
              <a:t>Con los datos del problema anterior (Resuelto 7.2), calcular la probabilidad de que la varianza muestral sea mayor que 3,753.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s-419" i="1" dirty="0"/>
              <a:t>Responder primero asumiendo que la varianza muestral es sesgada y usando la fórmula correspondiente (método Casuso).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s-419" i="1" dirty="0"/>
              <a:t>Hacer la transformación a insesgada y aplicar la fórmula correspondiente.</a:t>
            </a:r>
          </a:p>
        </p:txBody>
      </p:sp>
    </p:spTree>
    <p:extLst>
      <p:ext uri="{BB962C8B-B14F-4D97-AF65-F5344CB8AC3E}">
        <p14:creationId xmlns:p14="http://schemas.microsoft.com/office/powerpoint/2010/main" val="34105307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s-419" dirty="0"/>
              <a:t>Resuelto 7.3 (Modificado)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2160"/>
            <a:ext cx="10515600" cy="5404803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#Recordando datos del ejercicio anterior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n &lt;- 10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mu &lt;- 8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</a:t>
            </a:r>
            <a:r>
              <a:rPr lang="es-ES" dirty="0" err="1">
                <a:latin typeface="Consolas" panose="020B0609020204030204" pitchFamily="49" charset="0"/>
              </a:rPr>
              <a:t>var_p</a:t>
            </a:r>
            <a:r>
              <a:rPr lang="es-ES" dirty="0">
                <a:latin typeface="Consolas" panose="020B0609020204030204" pitchFamily="49" charset="0"/>
              </a:rPr>
              <a:t> &lt;- 9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</a:t>
            </a:r>
            <a:r>
              <a:rPr lang="es-ES" dirty="0" err="1">
                <a:latin typeface="Consolas" panose="020B0609020204030204" pitchFamily="49" charset="0"/>
              </a:rPr>
              <a:t>sd_p</a:t>
            </a:r>
            <a:r>
              <a:rPr lang="es-ES" dirty="0">
                <a:latin typeface="Consolas" panose="020B0609020204030204" pitchFamily="49" charset="0"/>
              </a:rPr>
              <a:t> &lt;- </a:t>
            </a:r>
            <a:r>
              <a:rPr lang="es-ES" dirty="0" err="1">
                <a:latin typeface="Consolas" panose="020B0609020204030204" pitchFamily="49" charset="0"/>
              </a:rPr>
              <a:t>sqrt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var_p</a:t>
            </a:r>
            <a:r>
              <a:rPr lang="es-ES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s-E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</a:t>
            </a:r>
            <a:r>
              <a:rPr lang="es-ES" dirty="0" err="1">
                <a:latin typeface="Consolas" panose="020B0609020204030204" pitchFamily="49" charset="0"/>
              </a:rPr>
              <a:t>chi_s</a:t>
            </a:r>
            <a:r>
              <a:rPr lang="es-ES" dirty="0">
                <a:latin typeface="Consolas" panose="020B0609020204030204" pitchFamily="49" charset="0"/>
              </a:rPr>
              <a:t>  &lt;- 3.753*n/</a:t>
            </a:r>
            <a:r>
              <a:rPr lang="es-ES" dirty="0" err="1">
                <a:latin typeface="Consolas" panose="020B0609020204030204" pitchFamily="49" charset="0"/>
              </a:rPr>
              <a:t>var_p</a:t>
            </a:r>
            <a:endParaRPr lang="es-E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s-E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</a:t>
            </a:r>
            <a:r>
              <a:rPr lang="es-ES" dirty="0" err="1">
                <a:latin typeface="Consolas" panose="020B0609020204030204" pitchFamily="49" charset="0"/>
              </a:rPr>
              <a:t>pchisq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chi_s</a:t>
            </a:r>
            <a:r>
              <a:rPr lang="es-ES" dirty="0">
                <a:latin typeface="Consolas" panose="020B0609020204030204" pitchFamily="49" charset="0"/>
              </a:rPr>
              <a:t>, </a:t>
            </a:r>
            <a:r>
              <a:rPr lang="es-ES" dirty="0" err="1">
                <a:latin typeface="Consolas" panose="020B0609020204030204" pitchFamily="49" charset="0"/>
              </a:rPr>
              <a:t>df</a:t>
            </a:r>
            <a:r>
              <a:rPr lang="es-ES" dirty="0">
                <a:latin typeface="Consolas" panose="020B0609020204030204" pitchFamily="49" charset="0"/>
              </a:rPr>
              <a:t> = n - 1, </a:t>
            </a:r>
            <a:r>
              <a:rPr lang="es-ES" dirty="0" err="1">
                <a:latin typeface="Consolas" panose="020B0609020204030204" pitchFamily="49" charset="0"/>
              </a:rPr>
              <a:t>lower.tail</a:t>
            </a:r>
            <a:r>
              <a:rPr lang="es-ES" dirty="0">
                <a:latin typeface="Consolas" panose="020B0609020204030204" pitchFamily="49" charset="0"/>
              </a:rPr>
              <a:t> = FALSE)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[1] 0.8998713</a:t>
            </a:r>
          </a:p>
        </p:txBody>
      </p:sp>
    </p:spTree>
    <p:extLst>
      <p:ext uri="{BB962C8B-B14F-4D97-AF65-F5344CB8AC3E}">
        <p14:creationId xmlns:p14="http://schemas.microsoft.com/office/powerpoint/2010/main" val="32075876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s-419" dirty="0"/>
              <a:t>Resuelto 7.3 (Modificado)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2000"/>
            <a:ext cx="10515600" cy="5414963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#También pude escribirse como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</a:t>
            </a:r>
            <a:r>
              <a:rPr lang="es-ES" dirty="0" err="1">
                <a:latin typeface="Consolas" panose="020B0609020204030204" pitchFamily="49" charset="0"/>
              </a:rPr>
              <a:t>pchisq</a:t>
            </a:r>
            <a:r>
              <a:rPr lang="es-ES" dirty="0">
                <a:latin typeface="Consolas" panose="020B0609020204030204" pitchFamily="49" charset="0"/>
              </a:rPr>
              <a:t>(q = 4.17, </a:t>
            </a:r>
            <a:r>
              <a:rPr lang="es-ES" dirty="0" err="1">
                <a:latin typeface="Consolas" panose="020B0609020204030204" pitchFamily="49" charset="0"/>
              </a:rPr>
              <a:t>df</a:t>
            </a:r>
            <a:r>
              <a:rPr lang="es-ES" dirty="0">
                <a:latin typeface="Consolas" panose="020B0609020204030204" pitchFamily="49" charset="0"/>
              </a:rPr>
              <a:t> = 10 - 1, </a:t>
            </a:r>
            <a:r>
              <a:rPr lang="es-ES" dirty="0" err="1">
                <a:latin typeface="Consolas" panose="020B0609020204030204" pitchFamily="49" charset="0"/>
              </a:rPr>
              <a:t>lower.tail</a:t>
            </a:r>
            <a:r>
              <a:rPr lang="es-ES" dirty="0">
                <a:latin typeface="Consolas" panose="020B0609020204030204" pitchFamily="49" charset="0"/>
              </a:rPr>
              <a:t> = FALSE)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[1] 0.8998713</a:t>
            </a:r>
          </a:p>
          <a:p>
            <a:pPr marL="0" indent="0">
              <a:buNone/>
            </a:pPr>
            <a:endParaRPr lang="es-E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#Construyendo </a:t>
            </a:r>
            <a:r>
              <a:rPr lang="es-ES" dirty="0" err="1">
                <a:latin typeface="Consolas" panose="020B0609020204030204" pitchFamily="49" charset="0"/>
              </a:rPr>
              <a:t>chi_s</a:t>
            </a:r>
            <a:r>
              <a:rPr lang="es-ES" dirty="0">
                <a:latin typeface="Consolas" panose="020B0609020204030204" pitchFamily="49" charset="0"/>
              </a:rPr>
              <a:t> en la fórmula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</a:t>
            </a:r>
            <a:r>
              <a:rPr lang="es-ES" dirty="0" err="1">
                <a:latin typeface="Consolas" panose="020B0609020204030204" pitchFamily="49" charset="0"/>
              </a:rPr>
              <a:t>pchisq</a:t>
            </a:r>
            <a:r>
              <a:rPr lang="es-ES" dirty="0">
                <a:latin typeface="Consolas" panose="020B0609020204030204" pitchFamily="49" charset="0"/>
              </a:rPr>
              <a:t>(3.753*n/</a:t>
            </a:r>
            <a:r>
              <a:rPr lang="es-ES" dirty="0" err="1">
                <a:latin typeface="Consolas" panose="020B0609020204030204" pitchFamily="49" charset="0"/>
              </a:rPr>
              <a:t>var_p</a:t>
            </a:r>
            <a:r>
              <a:rPr lang="es-ES" dirty="0">
                <a:latin typeface="Consolas" panose="020B0609020204030204" pitchFamily="49" charset="0"/>
              </a:rPr>
              <a:t>, </a:t>
            </a:r>
            <a:r>
              <a:rPr lang="es-ES" dirty="0" err="1">
                <a:latin typeface="Consolas" panose="020B0609020204030204" pitchFamily="49" charset="0"/>
              </a:rPr>
              <a:t>df</a:t>
            </a:r>
            <a:r>
              <a:rPr lang="es-ES" dirty="0">
                <a:latin typeface="Consolas" panose="020B0609020204030204" pitchFamily="49" charset="0"/>
              </a:rPr>
              <a:t> = n - 1, </a:t>
            </a:r>
            <a:r>
              <a:rPr lang="es-ES" dirty="0" err="1">
                <a:latin typeface="Consolas" panose="020B0609020204030204" pitchFamily="49" charset="0"/>
              </a:rPr>
              <a:t>lower.tail</a:t>
            </a:r>
            <a:r>
              <a:rPr lang="es-ES" dirty="0">
                <a:latin typeface="Consolas" panose="020B0609020204030204" pitchFamily="49" charset="0"/>
              </a:rPr>
              <a:t> = FALSE)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[1] 0.8998713</a:t>
            </a:r>
            <a:endParaRPr lang="es-E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s-E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#Alternativamente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1 - </a:t>
            </a:r>
            <a:r>
              <a:rPr lang="es-ES" dirty="0" err="1">
                <a:latin typeface="Consolas" panose="020B0609020204030204" pitchFamily="49" charset="0"/>
              </a:rPr>
              <a:t>pchisq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chi_s</a:t>
            </a:r>
            <a:r>
              <a:rPr lang="es-ES" dirty="0">
                <a:latin typeface="Consolas" panose="020B0609020204030204" pitchFamily="49" charset="0"/>
              </a:rPr>
              <a:t>, </a:t>
            </a:r>
            <a:r>
              <a:rPr lang="es-ES" dirty="0" err="1">
                <a:latin typeface="Consolas" panose="020B0609020204030204" pitchFamily="49" charset="0"/>
              </a:rPr>
              <a:t>df</a:t>
            </a:r>
            <a:r>
              <a:rPr lang="es-ES" dirty="0">
                <a:latin typeface="Consolas" panose="020B0609020204030204" pitchFamily="49" charset="0"/>
              </a:rPr>
              <a:t> = n - 1)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[1] 0.8998713</a:t>
            </a:r>
          </a:p>
          <a:p>
            <a:pPr marL="0" indent="0">
              <a:buNone/>
            </a:pPr>
            <a:endParaRPr lang="es-E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#RIESGO DE ERROR: COLOCAR S_2 sin transformar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1 - </a:t>
            </a:r>
            <a:r>
              <a:rPr lang="es-ES" dirty="0" err="1">
                <a:latin typeface="Consolas" panose="020B0609020204030204" pitchFamily="49" charset="0"/>
              </a:rPr>
              <a:t>pchisq</a:t>
            </a:r>
            <a:r>
              <a:rPr lang="es-ES" dirty="0">
                <a:latin typeface="Consolas" panose="020B0609020204030204" pitchFamily="49" charset="0"/>
              </a:rPr>
              <a:t>(3.753, </a:t>
            </a:r>
            <a:r>
              <a:rPr lang="es-ES" dirty="0" err="1">
                <a:latin typeface="Consolas" panose="020B0609020204030204" pitchFamily="49" charset="0"/>
              </a:rPr>
              <a:t>df</a:t>
            </a:r>
            <a:r>
              <a:rPr lang="es-ES" dirty="0">
                <a:latin typeface="Consolas" panose="020B0609020204030204" pitchFamily="49" charset="0"/>
              </a:rPr>
              <a:t> = n - 1)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[1] 0.9269045</a:t>
            </a:r>
          </a:p>
        </p:txBody>
      </p:sp>
    </p:spTree>
    <p:extLst>
      <p:ext uri="{BB962C8B-B14F-4D97-AF65-F5344CB8AC3E}">
        <p14:creationId xmlns:p14="http://schemas.microsoft.com/office/powerpoint/2010/main" val="20688977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s-419" dirty="0"/>
              <a:t>Resuelto 7.3 (Varianza muestral insesgada)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2160"/>
            <a:ext cx="10515600" cy="5404803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n &lt;- 10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mu &lt;- 8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</a:t>
            </a:r>
            <a:r>
              <a:rPr lang="es-ES" dirty="0" err="1">
                <a:latin typeface="Consolas" panose="020B0609020204030204" pitchFamily="49" charset="0"/>
              </a:rPr>
              <a:t>var_p</a:t>
            </a:r>
            <a:r>
              <a:rPr lang="es-ES" dirty="0">
                <a:latin typeface="Consolas" panose="020B0609020204030204" pitchFamily="49" charset="0"/>
              </a:rPr>
              <a:t> &lt;- 9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</a:t>
            </a:r>
            <a:r>
              <a:rPr lang="es-ES" dirty="0" err="1">
                <a:latin typeface="Consolas" panose="020B0609020204030204" pitchFamily="49" charset="0"/>
              </a:rPr>
              <a:t>sd_p</a:t>
            </a:r>
            <a:r>
              <a:rPr lang="es-ES" dirty="0">
                <a:latin typeface="Consolas" panose="020B0609020204030204" pitchFamily="49" charset="0"/>
              </a:rPr>
              <a:t> &lt;- </a:t>
            </a:r>
            <a:r>
              <a:rPr lang="es-ES" dirty="0" err="1">
                <a:latin typeface="Consolas" panose="020B0609020204030204" pitchFamily="49" charset="0"/>
              </a:rPr>
              <a:t>sqrt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var_p</a:t>
            </a:r>
            <a:r>
              <a:rPr lang="es-ES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s-E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it-IT" dirty="0">
                <a:latin typeface="Consolas" panose="020B0609020204030204" pitchFamily="49" charset="0"/>
              </a:rPr>
              <a:t>&gt; #Calcular usando varianza muestral INSESGADA</a:t>
            </a:r>
          </a:p>
          <a:p>
            <a:pPr marL="0" indent="0">
              <a:buNone/>
            </a:pPr>
            <a:r>
              <a:rPr lang="it-IT" dirty="0">
                <a:latin typeface="Consolas" panose="020B0609020204030204" pitchFamily="49" charset="0"/>
              </a:rPr>
              <a:t>&gt; si &lt;- 3.753*n/(n-1) </a:t>
            </a:r>
          </a:p>
          <a:p>
            <a:pPr marL="0" indent="0">
              <a:buNone/>
            </a:pPr>
            <a:r>
              <a:rPr lang="it-IT" dirty="0">
                <a:latin typeface="Consolas" panose="020B0609020204030204" pitchFamily="49" charset="0"/>
              </a:rPr>
              <a:t>&gt; chi_si &lt;- (n-1)*si/var_p</a:t>
            </a:r>
          </a:p>
          <a:p>
            <a:pPr marL="0" indent="0">
              <a:buNone/>
            </a:pPr>
            <a:r>
              <a:rPr lang="it-IT" dirty="0">
                <a:latin typeface="Consolas" panose="020B0609020204030204" pitchFamily="49" charset="0"/>
              </a:rPr>
              <a:t>&gt; pchisq(chi_si, df = n - 1, lower.tail = FALSE)</a:t>
            </a:r>
          </a:p>
          <a:p>
            <a:pPr marL="0" indent="0">
              <a:buNone/>
            </a:pPr>
            <a:r>
              <a:rPr lang="it-IT" dirty="0">
                <a:highlight>
                  <a:srgbClr val="FFFF00"/>
                </a:highlight>
                <a:latin typeface="Consolas" panose="020B0609020204030204" pitchFamily="49" charset="0"/>
              </a:rPr>
              <a:t>[1] 0.8998713</a:t>
            </a: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1635765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s-419" dirty="0"/>
              <a:t>Resuelto 7.3 (Varianza muestral insesgada)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2160"/>
            <a:ext cx="10515600" cy="5404803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s-ES" sz="1200" dirty="0">
                <a:latin typeface="Consolas" panose="020B0609020204030204" pitchFamily="49" charset="0"/>
              </a:rPr>
              <a:t>&gt; #Graficando</a:t>
            </a:r>
          </a:p>
          <a:p>
            <a:pPr marL="0" indent="0">
              <a:buNone/>
            </a:pPr>
            <a:r>
              <a:rPr lang="es-ES" sz="1200" dirty="0">
                <a:latin typeface="Consolas" panose="020B0609020204030204" pitchFamily="49" charset="0"/>
              </a:rPr>
              <a:t>&gt; </a:t>
            </a:r>
            <a:r>
              <a:rPr lang="es-ES" sz="1200" dirty="0" err="1">
                <a:latin typeface="Consolas" panose="020B0609020204030204" pitchFamily="49" charset="0"/>
              </a:rPr>
              <a:t>data.frame</a:t>
            </a:r>
            <a:r>
              <a:rPr lang="es-ES" sz="1200" dirty="0">
                <a:latin typeface="Consolas" panose="020B0609020204030204" pitchFamily="49" charset="0"/>
              </a:rPr>
              <a:t>(x = c(0, 50)) %&gt;% </a:t>
            </a:r>
          </a:p>
          <a:p>
            <a:pPr marL="0" indent="0">
              <a:buNone/>
            </a:pPr>
            <a:r>
              <a:rPr lang="es-ES" sz="1200" dirty="0">
                <a:latin typeface="Consolas" panose="020B0609020204030204" pitchFamily="49" charset="0"/>
              </a:rPr>
              <a:t>+ </a:t>
            </a:r>
            <a:r>
              <a:rPr lang="es-ES" sz="1200" dirty="0" err="1">
                <a:latin typeface="Consolas" panose="020B0609020204030204" pitchFamily="49" charset="0"/>
              </a:rPr>
              <a:t>ggplot</a:t>
            </a:r>
            <a:r>
              <a:rPr lang="es-ES" sz="1200" dirty="0">
                <a:latin typeface="Consolas" panose="020B0609020204030204" pitchFamily="49" charset="0"/>
              </a:rPr>
              <a:t>(aes(x)) +</a:t>
            </a:r>
          </a:p>
          <a:p>
            <a:pPr marL="0" indent="0">
              <a:buNone/>
            </a:pPr>
            <a:r>
              <a:rPr lang="es-ES" sz="1200" dirty="0">
                <a:latin typeface="Consolas" panose="020B0609020204030204" pitchFamily="49" charset="0"/>
              </a:rPr>
              <a:t>+ </a:t>
            </a:r>
            <a:r>
              <a:rPr lang="es-ES" sz="1200" dirty="0" err="1">
                <a:latin typeface="Consolas" panose="020B0609020204030204" pitchFamily="49" charset="0"/>
              </a:rPr>
              <a:t>stat_function</a:t>
            </a:r>
            <a:r>
              <a:rPr lang="es-ES" sz="1200" dirty="0">
                <a:latin typeface="Consolas" panose="020B0609020204030204" pitchFamily="49" charset="0"/>
              </a:rPr>
              <a:t>(</a:t>
            </a:r>
            <a:r>
              <a:rPr lang="es-ES" sz="1200" dirty="0" err="1">
                <a:latin typeface="Consolas" panose="020B0609020204030204" pitchFamily="49" charset="0"/>
              </a:rPr>
              <a:t>fun</a:t>
            </a:r>
            <a:r>
              <a:rPr lang="es-ES" sz="1200" dirty="0">
                <a:latin typeface="Consolas" panose="020B0609020204030204" pitchFamily="49" charset="0"/>
              </a:rPr>
              <a:t> = </a:t>
            </a:r>
            <a:r>
              <a:rPr lang="es-ES" sz="1200" dirty="0" err="1">
                <a:latin typeface="Consolas" panose="020B0609020204030204" pitchFamily="49" charset="0"/>
              </a:rPr>
              <a:t>dchisq</a:t>
            </a:r>
            <a:r>
              <a:rPr lang="es-ES" sz="1200" dirty="0">
                <a:latin typeface="Consolas" panose="020B0609020204030204" pitchFamily="49" charset="0"/>
              </a:rPr>
              <a:t>, n = 10000, </a:t>
            </a:r>
            <a:r>
              <a:rPr lang="es-ES" sz="1200" dirty="0" err="1">
                <a:latin typeface="Consolas" panose="020B0609020204030204" pitchFamily="49" charset="0"/>
              </a:rPr>
              <a:t>args</a:t>
            </a:r>
            <a:r>
              <a:rPr lang="es-ES" sz="1200" dirty="0">
                <a:latin typeface="Consolas" panose="020B0609020204030204" pitchFamily="49" charset="0"/>
              </a:rPr>
              <a:t> = </a:t>
            </a:r>
            <a:r>
              <a:rPr lang="es-ES" sz="1200" dirty="0" err="1">
                <a:latin typeface="Consolas" panose="020B0609020204030204" pitchFamily="49" charset="0"/>
              </a:rPr>
              <a:t>list</a:t>
            </a:r>
            <a:r>
              <a:rPr lang="es-ES" sz="1200" dirty="0">
                <a:latin typeface="Consolas" panose="020B0609020204030204" pitchFamily="49" charset="0"/>
              </a:rPr>
              <a:t>(</a:t>
            </a:r>
            <a:r>
              <a:rPr lang="es-ES" sz="1200" dirty="0" err="1">
                <a:latin typeface="Consolas" panose="020B0609020204030204" pitchFamily="49" charset="0"/>
              </a:rPr>
              <a:t>df</a:t>
            </a:r>
            <a:r>
              <a:rPr lang="es-ES" sz="1200" dirty="0">
                <a:latin typeface="Consolas" panose="020B0609020204030204" pitchFamily="49" charset="0"/>
              </a:rPr>
              <a:t> = n-1)) +</a:t>
            </a:r>
          </a:p>
          <a:p>
            <a:pPr marL="0" indent="0">
              <a:buNone/>
            </a:pPr>
            <a:r>
              <a:rPr lang="es-ES" sz="1200" dirty="0">
                <a:latin typeface="Consolas" panose="020B0609020204030204" pitchFamily="49" charset="0"/>
              </a:rPr>
              <a:t>+ </a:t>
            </a:r>
            <a:r>
              <a:rPr lang="es-ES" sz="1200" dirty="0" err="1">
                <a:latin typeface="Consolas" panose="020B0609020204030204" pitchFamily="49" charset="0"/>
              </a:rPr>
              <a:t>geom_area</a:t>
            </a:r>
            <a:r>
              <a:rPr lang="es-ES" sz="1200" dirty="0">
                <a:latin typeface="Consolas" panose="020B0609020204030204" pitchFamily="49" charset="0"/>
              </a:rPr>
              <a:t>(</a:t>
            </a:r>
            <a:r>
              <a:rPr lang="es-ES" sz="1200" dirty="0" err="1">
                <a:latin typeface="Consolas" panose="020B0609020204030204" pitchFamily="49" charset="0"/>
              </a:rPr>
              <a:t>stat</a:t>
            </a:r>
            <a:r>
              <a:rPr lang="es-ES" sz="1200" dirty="0">
                <a:latin typeface="Consolas" panose="020B0609020204030204" pitchFamily="49" charset="0"/>
              </a:rPr>
              <a:t> = '</a:t>
            </a:r>
            <a:r>
              <a:rPr lang="es-ES" sz="1200" dirty="0" err="1">
                <a:latin typeface="Consolas" panose="020B0609020204030204" pitchFamily="49" charset="0"/>
              </a:rPr>
              <a:t>function</a:t>
            </a:r>
            <a:r>
              <a:rPr lang="es-ES" sz="1200" dirty="0">
                <a:latin typeface="Consolas" panose="020B0609020204030204" pitchFamily="49" charset="0"/>
              </a:rPr>
              <a:t>', </a:t>
            </a:r>
            <a:r>
              <a:rPr lang="es-ES" sz="1200" dirty="0" err="1">
                <a:latin typeface="Consolas" panose="020B0609020204030204" pitchFamily="49" charset="0"/>
              </a:rPr>
              <a:t>fun</a:t>
            </a:r>
            <a:r>
              <a:rPr lang="es-ES" sz="1200" dirty="0">
                <a:latin typeface="Consolas" panose="020B0609020204030204" pitchFamily="49" charset="0"/>
              </a:rPr>
              <a:t> = </a:t>
            </a:r>
            <a:r>
              <a:rPr lang="es-ES" sz="1200" dirty="0" err="1">
                <a:latin typeface="Consolas" panose="020B0609020204030204" pitchFamily="49" charset="0"/>
              </a:rPr>
              <a:t>dchisq</a:t>
            </a:r>
            <a:r>
              <a:rPr lang="es-ES" sz="1200" dirty="0">
                <a:latin typeface="Consolas" panose="020B0609020204030204" pitchFamily="49" charset="0"/>
              </a:rPr>
              <a:t>, </a:t>
            </a:r>
            <a:r>
              <a:rPr lang="es-ES" sz="1200" dirty="0" err="1">
                <a:latin typeface="Consolas" panose="020B0609020204030204" pitchFamily="49" charset="0"/>
              </a:rPr>
              <a:t>args</a:t>
            </a:r>
            <a:r>
              <a:rPr lang="es-ES" sz="1200" dirty="0">
                <a:latin typeface="Consolas" panose="020B0609020204030204" pitchFamily="49" charset="0"/>
              </a:rPr>
              <a:t> = </a:t>
            </a:r>
            <a:r>
              <a:rPr lang="es-ES" sz="1200" dirty="0" err="1">
                <a:latin typeface="Consolas" panose="020B0609020204030204" pitchFamily="49" charset="0"/>
              </a:rPr>
              <a:t>list</a:t>
            </a:r>
            <a:r>
              <a:rPr lang="es-ES" sz="1200" dirty="0">
                <a:latin typeface="Consolas" panose="020B0609020204030204" pitchFamily="49" charset="0"/>
              </a:rPr>
              <a:t>(</a:t>
            </a:r>
            <a:r>
              <a:rPr lang="es-ES" sz="1200" dirty="0" err="1">
                <a:latin typeface="Consolas" panose="020B0609020204030204" pitchFamily="49" charset="0"/>
              </a:rPr>
              <a:t>df</a:t>
            </a:r>
            <a:r>
              <a:rPr lang="es-ES" sz="1200" dirty="0">
                <a:latin typeface="Consolas" panose="020B0609020204030204" pitchFamily="49" charset="0"/>
              </a:rPr>
              <a:t> = n-1), </a:t>
            </a:r>
            <a:r>
              <a:rPr lang="es-ES" sz="1200" dirty="0" err="1">
                <a:latin typeface="Consolas" panose="020B0609020204030204" pitchFamily="49" charset="0"/>
              </a:rPr>
              <a:t>fill</a:t>
            </a:r>
            <a:r>
              <a:rPr lang="es-ES" sz="1200" dirty="0">
                <a:latin typeface="Consolas" panose="020B0609020204030204" pitchFamily="49" charset="0"/>
              </a:rPr>
              <a:t> = 'blue', </a:t>
            </a:r>
            <a:r>
              <a:rPr lang="es-ES" sz="1200" dirty="0" err="1">
                <a:latin typeface="Consolas" panose="020B0609020204030204" pitchFamily="49" charset="0"/>
              </a:rPr>
              <a:t>xlim</a:t>
            </a:r>
            <a:r>
              <a:rPr lang="es-ES" sz="1200" dirty="0">
                <a:latin typeface="Consolas" panose="020B0609020204030204" pitchFamily="49" charset="0"/>
              </a:rPr>
              <a:t> = c(</a:t>
            </a:r>
            <a:r>
              <a:rPr lang="es-ES" sz="1200" dirty="0" err="1">
                <a:latin typeface="Consolas" panose="020B0609020204030204" pitchFamily="49" charset="0"/>
              </a:rPr>
              <a:t>chi_s</a:t>
            </a:r>
            <a:r>
              <a:rPr lang="es-ES" sz="1200" dirty="0">
                <a:latin typeface="Consolas" panose="020B0609020204030204" pitchFamily="49" charset="0"/>
              </a:rPr>
              <a:t>, 50), </a:t>
            </a:r>
            <a:r>
              <a:rPr lang="es-ES" sz="1200" dirty="0" err="1">
                <a:latin typeface="Consolas" panose="020B0609020204030204" pitchFamily="49" charset="0"/>
              </a:rPr>
              <a:t>alpha</a:t>
            </a:r>
            <a:r>
              <a:rPr lang="es-ES" sz="1200" dirty="0">
                <a:latin typeface="Consolas" panose="020B0609020204030204" pitchFamily="49" charset="0"/>
              </a:rPr>
              <a:t> = 0.2) +</a:t>
            </a:r>
          </a:p>
          <a:p>
            <a:pPr marL="0" indent="0">
              <a:buNone/>
            </a:pPr>
            <a:r>
              <a:rPr lang="es-ES" sz="1200" dirty="0">
                <a:latin typeface="Consolas" panose="020B0609020204030204" pitchFamily="49" charset="0"/>
              </a:rPr>
              <a:t>+ </a:t>
            </a:r>
            <a:r>
              <a:rPr lang="es-ES" sz="1200" dirty="0" err="1">
                <a:latin typeface="Consolas" panose="020B0609020204030204" pitchFamily="49" charset="0"/>
              </a:rPr>
              <a:t>labs</a:t>
            </a:r>
            <a:r>
              <a:rPr lang="es-ES" sz="1200" dirty="0">
                <a:latin typeface="Consolas" panose="020B0609020204030204" pitchFamily="49" charset="0"/>
              </a:rPr>
              <a:t>(</a:t>
            </a:r>
            <a:r>
              <a:rPr lang="es-ES" sz="1200" dirty="0" err="1">
                <a:latin typeface="Consolas" panose="020B0609020204030204" pitchFamily="49" charset="0"/>
              </a:rPr>
              <a:t>title</a:t>
            </a:r>
            <a:r>
              <a:rPr lang="es-ES" sz="1200" dirty="0">
                <a:latin typeface="Consolas" panose="020B0609020204030204" pitchFamily="49" charset="0"/>
              </a:rPr>
              <a:t> = "Resuelto 7.3", </a:t>
            </a:r>
          </a:p>
          <a:p>
            <a:pPr marL="0" indent="0">
              <a:buNone/>
            </a:pPr>
            <a:r>
              <a:rPr lang="es-ES" sz="1200" dirty="0">
                <a:latin typeface="Consolas" panose="020B0609020204030204" pitchFamily="49" charset="0"/>
              </a:rPr>
              <a:t>+    </a:t>
            </a:r>
            <a:r>
              <a:rPr lang="es-ES" sz="1200" dirty="0" err="1">
                <a:latin typeface="Consolas" panose="020B0609020204030204" pitchFamily="49" charset="0"/>
              </a:rPr>
              <a:t>subtitle</a:t>
            </a:r>
            <a:r>
              <a:rPr lang="es-ES" sz="1200" dirty="0">
                <a:latin typeface="Consolas" panose="020B0609020204030204" pitchFamily="49" charset="0"/>
              </a:rPr>
              <a:t> = "Chi-Cuadrada", </a:t>
            </a:r>
          </a:p>
          <a:p>
            <a:pPr marL="0" indent="0">
              <a:buNone/>
            </a:pPr>
            <a:r>
              <a:rPr lang="es-ES" sz="1200" dirty="0">
                <a:latin typeface="Consolas" panose="020B0609020204030204" pitchFamily="49" charset="0"/>
              </a:rPr>
              <a:t>+    x = "X^2", </a:t>
            </a:r>
          </a:p>
          <a:p>
            <a:pPr marL="0" indent="0">
              <a:buNone/>
            </a:pPr>
            <a:r>
              <a:rPr lang="es-ES" sz="1200" dirty="0">
                <a:latin typeface="Consolas" panose="020B0609020204030204" pitchFamily="49" charset="0"/>
              </a:rPr>
              <a:t>+    y = "Densidad f(x)") +</a:t>
            </a:r>
          </a:p>
          <a:p>
            <a:pPr marL="0" indent="0">
              <a:buNone/>
            </a:pPr>
            <a:r>
              <a:rPr lang="es-ES" sz="1200" dirty="0">
                <a:latin typeface="Consolas" panose="020B0609020204030204" pitchFamily="49" charset="0"/>
              </a:rPr>
              <a:t>+ </a:t>
            </a:r>
            <a:r>
              <a:rPr lang="es-ES" sz="1200" dirty="0" err="1">
                <a:latin typeface="Consolas" panose="020B0609020204030204" pitchFamily="49" charset="0"/>
              </a:rPr>
              <a:t>theme_bw</a:t>
            </a:r>
            <a:r>
              <a:rPr lang="es-ES" sz="1200" dirty="0">
                <a:latin typeface="Consolas" panose="020B0609020204030204" pitchFamily="49" charset="0"/>
              </a:rPr>
              <a:t>() + </a:t>
            </a:r>
          </a:p>
          <a:p>
            <a:pPr marL="0" indent="0">
              <a:buNone/>
            </a:pPr>
            <a:r>
              <a:rPr lang="es-ES" sz="1200" dirty="0">
                <a:latin typeface="Consolas" panose="020B0609020204030204" pitchFamily="49" charset="0"/>
              </a:rPr>
              <a:t>+ </a:t>
            </a:r>
            <a:r>
              <a:rPr lang="es-ES" sz="1200" dirty="0" err="1">
                <a:latin typeface="Consolas" panose="020B0609020204030204" pitchFamily="49" charset="0"/>
              </a:rPr>
              <a:t>theme</a:t>
            </a:r>
            <a:r>
              <a:rPr lang="es-ES" sz="1200" dirty="0">
                <a:latin typeface="Consolas" panose="020B0609020204030204" pitchFamily="49" charset="0"/>
              </a:rPr>
              <a:t>(</a:t>
            </a:r>
            <a:r>
              <a:rPr lang="es-ES" sz="1200" dirty="0" err="1">
                <a:latin typeface="Consolas" panose="020B0609020204030204" pitchFamily="49" charset="0"/>
              </a:rPr>
              <a:t>panel.grid.major.x</a:t>
            </a:r>
            <a:r>
              <a:rPr lang="es-ES" sz="1200" dirty="0">
                <a:latin typeface="Consolas" panose="020B0609020204030204" pitchFamily="49" charset="0"/>
              </a:rPr>
              <a:t> = </a:t>
            </a:r>
            <a:r>
              <a:rPr lang="es-ES" sz="1200" dirty="0" err="1">
                <a:latin typeface="Consolas" panose="020B0609020204030204" pitchFamily="49" charset="0"/>
              </a:rPr>
              <a:t>element_blank</a:t>
            </a:r>
            <a:r>
              <a:rPr lang="es-ES" sz="1200" dirty="0">
                <a:latin typeface="Consolas" panose="020B0609020204030204" pitchFamily="49" charset="0"/>
              </a:rPr>
              <a:t>(), </a:t>
            </a:r>
          </a:p>
          <a:p>
            <a:pPr marL="0" indent="0">
              <a:buNone/>
            </a:pPr>
            <a:r>
              <a:rPr lang="es-ES" sz="1200" dirty="0">
                <a:latin typeface="Consolas" panose="020B0609020204030204" pitchFamily="49" charset="0"/>
              </a:rPr>
              <a:t>+     </a:t>
            </a:r>
            <a:r>
              <a:rPr lang="es-ES" sz="1200" dirty="0" err="1">
                <a:latin typeface="Consolas" panose="020B0609020204030204" pitchFamily="49" charset="0"/>
              </a:rPr>
              <a:t>panel.grid.minor.x</a:t>
            </a:r>
            <a:r>
              <a:rPr lang="es-ES" sz="1200" dirty="0">
                <a:latin typeface="Consolas" panose="020B0609020204030204" pitchFamily="49" charset="0"/>
              </a:rPr>
              <a:t> = </a:t>
            </a:r>
            <a:r>
              <a:rPr lang="es-ES" sz="1200" dirty="0" err="1">
                <a:latin typeface="Consolas" panose="020B0609020204030204" pitchFamily="49" charset="0"/>
              </a:rPr>
              <a:t>element_blank</a:t>
            </a:r>
            <a:r>
              <a:rPr lang="es-ES" sz="1200" dirty="0">
                <a:latin typeface="Consolas" panose="020B0609020204030204" pitchFamily="49" charset="0"/>
              </a:rPr>
              <a:t>(), </a:t>
            </a:r>
          </a:p>
          <a:p>
            <a:pPr marL="0" indent="0">
              <a:buNone/>
            </a:pPr>
            <a:r>
              <a:rPr lang="es-ES" sz="1200" dirty="0">
                <a:latin typeface="Consolas" panose="020B0609020204030204" pitchFamily="49" charset="0"/>
              </a:rPr>
              <a:t>+     </a:t>
            </a:r>
            <a:r>
              <a:rPr lang="es-ES" sz="1200" dirty="0" err="1">
                <a:latin typeface="Consolas" panose="020B0609020204030204" pitchFamily="49" charset="0"/>
              </a:rPr>
              <a:t>panel.grid.minor.y</a:t>
            </a:r>
            <a:r>
              <a:rPr lang="es-ES" sz="1200" dirty="0">
                <a:latin typeface="Consolas" panose="020B0609020204030204" pitchFamily="49" charset="0"/>
              </a:rPr>
              <a:t> = </a:t>
            </a:r>
            <a:r>
              <a:rPr lang="es-ES" sz="1200" dirty="0" err="1">
                <a:latin typeface="Consolas" panose="020B0609020204030204" pitchFamily="49" charset="0"/>
              </a:rPr>
              <a:t>element_blank</a:t>
            </a:r>
            <a:r>
              <a:rPr lang="es-ES" sz="1200" dirty="0">
                <a:latin typeface="Consolas" panose="020B0609020204030204" pitchFamily="49" charset="0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7922977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s-419" dirty="0"/>
              <a:t>Resuelto 7.3 (Varianza muestral insesgada)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C5007C-EA85-D51E-BD88-95B55402A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209" y="999000"/>
            <a:ext cx="6049582" cy="48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3343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BB7AA6-FADF-4C74-BB6D-7BFBB63F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Media muestral (de nuevo)</a:t>
            </a:r>
            <a:endParaRPr lang="es-419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6D3240-91F8-449F-81B7-432D6F81E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Regresamos al caso de varianza desconocida</a:t>
            </a:r>
          </a:p>
        </p:txBody>
      </p:sp>
    </p:spTree>
    <p:extLst>
      <p:ext uri="{BB962C8B-B14F-4D97-AF65-F5344CB8AC3E}">
        <p14:creationId xmlns:p14="http://schemas.microsoft.com/office/powerpoint/2010/main" val="21021700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s-419" dirty="0"/>
                  <a:t>Distribución de la media muestral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acc>
                  </m:oMath>
                </a14:m>
                <a:r>
                  <a:rPr lang="en-US" b="1" i="1" dirty="0"/>
                  <a:t> </a:t>
                </a:r>
                <a:r>
                  <a:rPr lang="en-US" dirty="0"/>
                  <a:t>(</a:t>
                </a:r>
                <a:r>
                  <a:rPr lang="es-419" dirty="0"/>
                  <a:t>Varianza desconocida</a:t>
                </a:r>
                <a:r>
                  <a:rPr lang="en-US" dirty="0"/>
                  <a:t>)</a:t>
                </a:r>
                <a:endParaRPr lang="en-US" b="1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275" t="-3670" b="-12844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70000"/>
                  </a:lnSpc>
                </a:pPr>
                <a:r>
                  <a:rPr lang="es-419" dirty="0"/>
                  <a:t>Como consecuencia del </a:t>
                </a:r>
                <a:r>
                  <a:rPr lang="es-419" b="1" dirty="0">
                    <a:solidFill>
                      <a:srgbClr val="003A5D"/>
                    </a:solidFill>
                  </a:rPr>
                  <a:t>TLC</a:t>
                </a:r>
                <a:r>
                  <a:rPr lang="es-419" dirty="0">
                    <a:solidFill>
                      <a:srgbClr val="003A5D"/>
                    </a:solidFill>
                  </a:rPr>
                  <a:t> </a:t>
                </a:r>
                <a:r>
                  <a:rPr lang="es-419" dirty="0"/>
                  <a:t>tenemos que: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419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es-VE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V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VE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s-V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f>
                            <m:f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  <m:r>
                        <a:rPr lang="es-419" i="1"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V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V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419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s-VE" dirty="0"/>
              </a:p>
              <a:p>
                <a:pPr>
                  <a:lnSpc>
                    <a:spcPct val="170000"/>
                  </a:lnSpc>
                </a:pPr>
                <a:r>
                  <a:rPr lang="es-419" dirty="0"/>
                  <a:t>Cuando la varianza poblacional (y por ende la desviación típica) es desconocida, podríamos reemplazar en </a:t>
                </a:r>
                <a14:m>
                  <m:oMath xmlns:m="http://schemas.openxmlformats.org/officeDocument/2006/math">
                    <m:r>
                      <a:rPr lang="es-VE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𝒁</m:t>
                    </m:r>
                  </m:oMath>
                </a14:m>
                <a:r>
                  <a:rPr lang="es-419" dirty="0"/>
                  <a:t> la </a:t>
                </a:r>
                <a14:m>
                  <m:oMath xmlns:m="http://schemas.openxmlformats.org/officeDocument/2006/math"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</m:oMath>
                </a14:m>
                <a:r>
                  <a:rPr lang="es-419" b="1" dirty="0"/>
                  <a:t> </a:t>
                </a:r>
                <a:r>
                  <a:rPr lang="es-419" dirty="0"/>
                  <a:t>por la deviación típica muestral </a:t>
                </a:r>
                <a14:m>
                  <m:oMath xmlns:m="http://schemas.openxmlformats.org/officeDocument/2006/math">
                    <m:r>
                      <a:rPr lang="es-VE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s-419" dirty="0"/>
                  <a:t> (raíz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s-419" dirty="0"/>
                  <a:t>)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f>
                            <m:f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V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  <m:r>
                        <a:rPr lang="es-V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ad>
                            <m:radPr>
                              <m:degHide m:val="on"/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num>
                        <m:den>
                          <m:r>
                            <a:rPr lang="es-V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es-419" dirty="0"/>
              </a:p>
              <a:p>
                <a:pPr>
                  <a:lnSpc>
                    <a:spcPct val="170000"/>
                  </a:lnSpc>
                </a:pPr>
                <a:r>
                  <a:rPr lang="es-419" dirty="0"/>
                  <a:t>Un teorema de Estadística demuestra, con cierta complejidad, que si de una población normal se extraen muestra, y de ella se calculan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acc>
                  </m:oMath>
                </a14:m>
                <a:r>
                  <a:rPr lang="es-419" b="1" dirty="0">
                    <a:solidFill>
                      <a:srgbClr val="003A5D"/>
                    </a:solidFill>
                  </a:rPr>
                  <a:t> </a:t>
                </a:r>
                <a:r>
                  <a:rPr lang="es-419" dirty="0"/>
                  <a:t>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s-419" dirty="0"/>
                  <a:t>, estos son independientes entre sí.</a:t>
                </a:r>
              </a:p>
              <a:p>
                <a:pPr>
                  <a:lnSpc>
                    <a:spcPct val="170000"/>
                  </a:lnSpc>
                </a:pPr>
                <a:r>
                  <a:rPr lang="es-419" dirty="0"/>
                  <a:t>Entonces la estructura está replicando una construcción que se distribuye como una </a:t>
                </a:r>
                <a:r>
                  <a:rPr lang="es-419" b="1" dirty="0">
                    <a:solidFill>
                      <a:srgbClr val="003A5D"/>
                    </a:solidFill>
                  </a:rPr>
                  <a:t>T-</a:t>
                </a:r>
                <a:r>
                  <a:rPr lang="es-419" b="1" dirty="0" err="1">
                    <a:solidFill>
                      <a:srgbClr val="003A5D"/>
                    </a:solidFill>
                  </a:rPr>
                  <a:t>Student</a:t>
                </a:r>
                <a:r>
                  <a:rPr lang="es-419" dirty="0"/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36421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s-419" dirty="0"/>
                  <a:t>Distribución de la media muestral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acc>
                  </m:oMath>
                </a14:m>
                <a:r>
                  <a:rPr lang="en-US" b="1" i="1" dirty="0"/>
                  <a:t> </a:t>
                </a:r>
                <a:r>
                  <a:rPr lang="en-US" dirty="0"/>
                  <a:t>(</a:t>
                </a:r>
                <a:r>
                  <a:rPr lang="es-419" dirty="0"/>
                  <a:t>Varianza desconocida</a:t>
                </a:r>
                <a:r>
                  <a:rPr lang="en-US" dirty="0"/>
                  <a:t>)</a:t>
                </a:r>
                <a:endParaRPr lang="en-US" b="1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275" t="-3670" b="-12844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419" sz="31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419" sz="31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VE" sz="3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sz="3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419" sz="31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31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419" sz="31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en-US" sz="3100" i="1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r>
                                <a:rPr lang="en-US" sz="3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s-419" sz="3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f>
                                <m:fPr>
                                  <m:ctrlPr>
                                    <a:rPr lang="es-419" sz="3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419" sz="3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s-419" sz="31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s-419" sz="31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rad>
                                </m:den>
                              </m:f>
                            </m:den>
                          </m:f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VE" sz="31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VE" sz="31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s-VE" sz="3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419" sz="31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𝜒</m:t>
                                      </m:r>
                                    </m:e>
                                    <m:sub>
                                      <m:r>
                                        <a:rPr lang="es-VE" sz="31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s-VE" sz="31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s-VE" sz="31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s-VE" sz="31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s-419" sz="3100" i="1">
                                      <a:solidFill>
                                        <a:srgbClr val="003A5D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s-VE" sz="31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s-VE" sz="31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s-VE" sz="31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VE" sz="31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s-VE" sz="31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a:rPr lang="es-VE" sz="3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s-VE" sz="3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s-VE" sz="3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VE" sz="3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s-VE" sz="3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VE" sz="3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s-VE" sz="3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419" sz="410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419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419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VE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419" sz="2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419" sz="28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s-419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f>
                                <m:fPr>
                                  <m:ctrlPr>
                                    <a:rPr lang="es-419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419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s-419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s-419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rad>
                                </m:den>
                              </m:f>
                            </m:den>
                          </m:f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VE" sz="2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VE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s-VE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419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𝜒</m:t>
                                      </m:r>
                                    </m:e>
                                    <m:sub>
                                      <m:r>
                                        <a:rPr lang="es-VE" sz="28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s-VE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s-VE" sz="2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s-VE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s-419" sz="2800" i="1">
                                      <a:solidFill>
                                        <a:srgbClr val="003A5D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s-VE" sz="28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s-VE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s-VE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VE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s-VE" sz="28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a:rPr lang="es-VE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rad>
                                <m:radPr>
                                  <m:degHide m:val="on"/>
                                  <m:ctrlP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den>
                          </m:f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419" sz="28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419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>
                                    <m:fPr>
                                      <m:ctrlPr>
                                        <a:rPr lang="es-419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VE" sz="2800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s-419" sz="28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s-VE" sz="2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s-VE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s-VE" sz="2800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  <m:sSup>
                                        <m:sSupPr>
                                          <m:ctrlPr>
                                            <a:rPr lang="es-419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s-419" sz="2800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p>
                                          <m:r>
                                            <a:rPr lang="es-419" sz="28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s-419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s-419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s-419" sz="28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num>
                                <m:den>
                                  <m:f>
                                    <m:fPr>
                                      <m:ctrlPr>
                                        <a:rPr lang="es-419" sz="2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VE" sz="2800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s-VE" sz="2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s-VE" sz="2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s-VE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s-VE" sz="2800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r>
                                        <a:rPr lang="es-419" sz="28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den>
                                  </m:f>
                                </m:den>
                              </m:f>
                            </m:e>
                          </m:rad>
                        </m:den>
                      </m:f>
                      <m:r>
                        <a:rPr lang="es-VE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VE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rad>
                                <m:radPr>
                                  <m:degHide m:val="on"/>
                                  <m:ctrlP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den>
                          </m:f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VE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VE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VE" sz="28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s-419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s-VE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VE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s-VE" sz="28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sSup>
                                    <m:sSupPr>
                                      <m:ctrlPr>
                                        <a:rPr lang="es-419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419" sz="28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p>
                                      <m:r>
                                        <a:rPr lang="es-419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s-419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419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s-419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s-VE" sz="28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s-VE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s-VE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VE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s-VE" sz="28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a:rPr lang="es-VE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VE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rad>
                                <m:radPr>
                                  <m:degHide m:val="on"/>
                                  <m:ctrlP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den>
                          </m:f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VE" sz="2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VE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s-419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419" sz="28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p>
                                      <m:r>
                                        <a:rPr lang="es-419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s-419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419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s-419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rad>
                        </m:den>
                      </m:f>
                      <m:r>
                        <a:rPr lang="es-VE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ad>
                            <m:radPr>
                              <m:degHide m:val="on"/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num>
                        <m:den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s-V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  <m:r>
                        <a:rPr lang="es-VE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V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ad>
                            <m:radPr>
                              <m:degHide m:val="on"/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num>
                        <m:den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  <m:r>
                        <a:rPr lang="es-V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sSub>
                        <m:sSubPr>
                          <m:ctrlPr>
                            <a:rPr lang="es-V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V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V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s-V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V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s-V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s-419" sz="4000" dirty="0"/>
                            <m:t> </m:t>
                          </m:r>
                        </m:sub>
                      </m:sSub>
                    </m:oMath>
                  </m:oMathPara>
                </a14:m>
                <a:endParaRPr lang="es-419" sz="4000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4000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sz="4000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acc>
                    <m:r>
                      <a:rPr lang="es-419" sz="4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419" sz="4000" dirty="0"/>
                  <a:t>se distribuye como una </a:t>
                </a:r>
                <a:r>
                  <a:rPr lang="es-419" sz="4000" b="1" dirty="0">
                    <a:solidFill>
                      <a:srgbClr val="003A5D"/>
                    </a:solidFill>
                  </a:rPr>
                  <a:t>T-</a:t>
                </a:r>
                <a:r>
                  <a:rPr lang="es-419" sz="4000" b="1" dirty="0" err="1">
                    <a:solidFill>
                      <a:srgbClr val="003A5D"/>
                    </a:solidFill>
                  </a:rPr>
                  <a:t>Student</a:t>
                </a:r>
                <a:r>
                  <a:rPr lang="es-419" sz="4000" dirty="0"/>
                  <a:t> con </a:t>
                </a:r>
                <a:r>
                  <a:rPr lang="es-419" sz="4000" b="1" dirty="0">
                    <a:solidFill>
                      <a:srgbClr val="003A5D"/>
                    </a:solidFill>
                  </a:rPr>
                  <a:t>n-1</a:t>
                </a:r>
                <a:r>
                  <a:rPr lang="es-419" sz="4000" dirty="0"/>
                  <a:t> grados de libertad.</a:t>
                </a:r>
              </a:p>
              <a:p>
                <a:pPr>
                  <a:lnSpc>
                    <a:spcPct val="170000"/>
                  </a:lnSpc>
                </a:pPr>
                <a:r>
                  <a:rPr lang="es-419" sz="4000" dirty="0"/>
                  <a:t>Simplemente hemos reemplazado un parámetro desconocido por su estimador.</a:t>
                </a:r>
              </a:p>
              <a:p>
                <a:pPr>
                  <a:lnSpc>
                    <a:spcPct val="170000"/>
                  </a:lnSpc>
                </a:pPr>
                <a:endParaRPr lang="es-419" sz="400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419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419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>
            <a:extLst>
              <a:ext uri="{FF2B5EF4-FFF2-40B4-BE49-F238E27FC236}">
                <a16:creationId xmlns:a16="http://schemas.microsoft.com/office/drawing/2014/main" id="{692A840F-A84A-405C-ABB3-5F3727FC0DC9}"/>
              </a:ext>
            </a:extLst>
          </p:cNvPr>
          <p:cNvSpPr/>
          <p:nvPr/>
        </p:nvSpPr>
        <p:spPr>
          <a:xfrm>
            <a:off x="6325962" y="1027992"/>
            <a:ext cx="251791" cy="609600"/>
          </a:xfrm>
          <a:prstGeom prst="rightBrace">
            <a:avLst/>
          </a:prstGeom>
          <a:ln w="12700">
            <a:solidFill>
              <a:srgbClr val="003A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3FED7E87-960C-4E84-AB07-3B64B239EA6C}"/>
              </a:ext>
            </a:extLst>
          </p:cNvPr>
          <p:cNvSpPr/>
          <p:nvPr/>
        </p:nvSpPr>
        <p:spPr>
          <a:xfrm>
            <a:off x="6325962" y="1848481"/>
            <a:ext cx="251791" cy="381261"/>
          </a:xfrm>
          <a:prstGeom prst="rightBrac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1880DA5B-DE81-4586-B28F-EE5A23FACD24}"/>
              </a:ext>
            </a:extLst>
          </p:cNvPr>
          <p:cNvSpPr/>
          <p:nvPr/>
        </p:nvSpPr>
        <p:spPr>
          <a:xfrm>
            <a:off x="6335902" y="2250000"/>
            <a:ext cx="251791" cy="381261"/>
          </a:xfrm>
          <a:prstGeom prst="rightBrac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6A4BE0-6683-46F1-AA73-1AB519A627C3}"/>
              </a:ext>
            </a:extLst>
          </p:cNvPr>
          <p:cNvSpPr txBox="1"/>
          <p:nvPr/>
        </p:nvSpPr>
        <p:spPr>
          <a:xfrm>
            <a:off x="6572198" y="1178903"/>
            <a:ext cx="368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400" dirty="0">
                <a:solidFill>
                  <a:srgbClr val="003A5D"/>
                </a:solidFill>
                <a:latin typeface="Georgia" panose="02040502050405020303" pitchFamily="18" charset="0"/>
              </a:rPr>
              <a:t>Media muestral tipificada</a:t>
            </a:r>
            <a:endParaRPr lang="en-US" sz="1400" dirty="0">
              <a:solidFill>
                <a:srgbClr val="003A5D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FCDCA0-9322-433B-B965-F06CB740454B}"/>
              </a:ext>
            </a:extLst>
          </p:cNvPr>
          <p:cNvSpPr txBox="1"/>
          <p:nvPr/>
        </p:nvSpPr>
        <p:spPr>
          <a:xfrm>
            <a:off x="6572197" y="1916421"/>
            <a:ext cx="36807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400" dirty="0">
                <a:solidFill>
                  <a:srgbClr val="FF0000"/>
                </a:solidFill>
                <a:latin typeface="Georgia" panose="02040502050405020303" pitchFamily="18" charset="0"/>
              </a:rPr>
              <a:t>Función de varianza muestral</a:t>
            </a:r>
            <a:endParaRPr lang="en-US" sz="1400" dirty="0">
              <a:solidFill>
                <a:srgbClr val="FF0000"/>
              </a:solidFill>
              <a:latin typeface="Georgia" panose="0204050205040502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485084-DA71-4713-8242-4AA1F0C9E323}"/>
                  </a:ext>
                </a:extLst>
              </p:cNvPr>
              <p:cNvSpPr txBox="1"/>
              <p:nvPr/>
            </p:nvSpPr>
            <p:spPr>
              <a:xfrm>
                <a:off x="6572197" y="2292138"/>
                <a:ext cx="3922644" cy="312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419" sz="1400" dirty="0">
                    <a:solidFill>
                      <a:srgbClr val="00B050"/>
                    </a:solidFill>
                    <a:latin typeface="Georgia" panose="02040502050405020303" pitchFamily="18" charset="0"/>
                  </a:rPr>
                  <a:t>Grados de libertad de función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sz="1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1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s-419" sz="1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419" sz="14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400" dirty="0">
                  <a:solidFill>
                    <a:srgbClr val="00B050"/>
                  </a:solidFill>
                  <a:latin typeface="Georgia" panose="02040502050405020303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485084-DA71-4713-8242-4AA1F0C9E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197" y="2292138"/>
                <a:ext cx="3922644" cy="312586"/>
              </a:xfrm>
              <a:prstGeom prst="rect">
                <a:avLst/>
              </a:prstGeom>
              <a:blipFill>
                <a:blip r:embed="rId4"/>
                <a:stretch>
                  <a:fillRect l="-466" t="-3922" b="-19608"/>
                </a:stretch>
              </a:blipFill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04319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s-419" dirty="0"/>
                  <a:t>Distribución de la media muestral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acc>
                  </m:oMath>
                </a14:m>
                <a:r>
                  <a:rPr lang="en-US" b="1" i="1" dirty="0"/>
                  <a:t> </a:t>
                </a:r>
                <a:r>
                  <a:rPr lang="en-US" dirty="0"/>
                  <a:t>(</a:t>
                </a:r>
                <a:r>
                  <a:rPr lang="es-419" dirty="0"/>
                  <a:t>Varianza desconocida</a:t>
                </a:r>
                <a:r>
                  <a:rPr lang="en-US" dirty="0"/>
                  <a:t>)</a:t>
                </a:r>
                <a:endParaRPr lang="en-US" b="1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275" t="-3670" b="-12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70000"/>
                  </a:lnSpc>
                </a:pPr>
                <a:r>
                  <a:rPr lang="es-419" dirty="0"/>
                  <a:t>Reemplazos tan “elegantes”, no ocurren con varianzas muestral </a:t>
                </a:r>
                <a:r>
                  <a:rPr lang="es-419" b="1" dirty="0">
                    <a:solidFill>
                      <a:srgbClr val="003A5D"/>
                    </a:solidFill>
                  </a:rPr>
                  <a:t>sesgada</a:t>
                </a:r>
                <a:r>
                  <a:rPr lang="es-419" dirty="0"/>
                  <a:t>.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rad>
                              <m:radPr>
                                <m:degHide m:val="on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den>
                        </m:f>
                      </m:num>
                      <m:den>
                        <m:rad>
                          <m:radPr>
                            <m:degHide m:val="on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>
                                  <m:f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sSup>
                                      <m:sSupPr>
                                        <m:ctrlP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p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s-419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num>
                              <m:den>
                                <m:f>
                                  <m:f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</m:den>
                            </m:f>
                          </m:e>
                        </m:rad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  <m:rad>
                              <m:radPr>
                                <m:degHide m:val="on"/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den>
                        </m:f>
                      </m:num>
                      <m:den>
                        <m:rad>
                          <m:radPr>
                            <m:degHide m:val="on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sSup>
                                  <m:sSup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</m:e>
                        </m:rad>
                      </m:den>
                    </m:f>
                  </m:oMath>
                </a14:m>
                <a:endParaRPr lang="es-419" dirty="0"/>
              </a:p>
              <a:p>
                <a:pPr marL="514350" indent="-514350">
                  <a:lnSpc>
                    <a:spcPct val="17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−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  <m:rad>
                          <m:radPr>
                            <m:degHide m:val="on"/>
                            <m:ctrlPr>
                              <a:rPr lang="es-419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  <m:r>
                          <a:rPr lang="es-419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num>
                      <m:den>
                        <m:r>
                          <a:rPr lang="es-419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ad>
                          <m:radPr>
                            <m:degHide m:val="on"/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den>
                    </m:f>
                  </m:oMath>
                </a14:m>
                <a:endParaRPr lang="es-419" dirty="0"/>
              </a:p>
              <a:p>
                <a:pPr marL="514350" indent="-514350">
                  <a:lnSpc>
                    <a:spcPct val="17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−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s-419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ad>
                          <m:radPr>
                            <m:degHide m:val="on"/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s-419" dirty="0"/>
                  <a:t>n-1)</a:t>
                </a:r>
              </a:p>
              <a:p>
                <a:pPr>
                  <a:lnSpc>
                    <a:spcPct val="170000"/>
                  </a:lnSpc>
                </a:pPr>
                <a:r>
                  <a:rPr lang="es-419" dirty="0"/>
                  <a:t>Sigue distribuyéndose como una </a:t>
                </a:r>
                <a:r>
                  <a:rPr lang="es-419" b="1" dirty="0">
                    <a:solidFill>
                      <a:srgbClr val="003A5D"/>
                    </a:solidFill>
                  </a:rPr>
                  <a:t>T-</a:t>
                </a:r>
                <a:r>
                  <a:rPr lang="es-419" b="1" dirty="0" err="1">
                    <a:solidFill>
                      <a:srgbClr val="003A5D"/>
                    </a:solidFill>
                  </a:rPr>
                  <a:t>Student</a:t>
                </a:r>
                <a:r>
                  <a:rPr lang="es-419" dirty="0"/>
                  <a:t> con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n</a:t>
                </a:r>
                <a:r>
                  <a:rPr lang="es-419" dirty="0"/>
                  <a:t> – 1 grados de libertad</a:t>
                </a:r>
              </a:p>
              <a:p>
                <a:pPr>
                  <a:lnSpc>
                    <a:spcPct val="170000"/>
                  </a:lnSpc>
                </a:pPr>
                <a:r>
                  <a:rPr lang="es-419" dirty="0"/>
                  <a:t>En la medida que crece la complejidad de la fórmula del estadístico, la implementación de varianza muestral sesgada se vuelve más engorrosa.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endParaRPr lang="es-419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endParaRPr lang="es-419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22" r="-928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34327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8BDB2-E18E-4378-A323-B877A523D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Propuesto 7.7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55348-03DD-42CE-B1C6-3C00C43A3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419" sz="2400" i="1" dirty="0"/>
              <a:t>Si x</a:t>
            </a:r>
            <a:r>
              <a:rPr lang="es-419" sz="2400" i="1" baseline="-25000" dirty="0"/>
              <a:t>1</a:t>
            </a:r>
            <a:r>
              <a:rPr lang="es-419" sz="2400" i="1" dirty="0"/>
              <a:t>, x</a:t>
            </a:r>
            <a:r>
              <a:rPr lang="es-419" sz="2400" i="1" baseline="-25000" dirty="0"/>
              <a:t>2</a:t>
            </a:r>
            <a:r>
              <a:rPr lang="es-419" sz="2400" i="1" dirty="0"/>
              <a:t>, x</a:t>
            </a:r>
            <a:r>
              <a:rPr lang="es-419" sz="2400" i="1" baseline="-25000" dirty="0"/>
              <a:t>3</a:t>
            </a:r>
            <a:r>
              <a:rPr lang="es-419" sz="2400" i="1" dirty="0"/>
              <a:t>, …, x</a:t>
            </a:r>
            <a:r>
              <a:rPr lang="es-419" sz="2400" i="1" baseline="-25000" dirty="0"/>
              <a:t>15</a:t>
            </a:r>
            <a:r>
              <a:rPr lang="es-419" sz="2400" i="1" dirty="0"/>
              <a:t> es una muestra aleatoria de tamaño 15 de una población distribuida normalmente con media </a:t>
            </a:r>
            <a:r>
              <a:rPr lang="el-GR" sz="2400" i="1" dirty="0"/>
              <a:t>μ</a:t>
            </a:r>
            <a:r>
              <a:rPr lang="es-419" sz="2400" i="1" dirty="0"/>
              <a:t> y varianza </a:t>
            </a:r>
            <a:r>
              <a:rPr lang="el-GR" sz="2400" i="1" dirty="0"/>
              <a:t>σ</a:t>
            </a:r>
            <a:r>
              <a:rPr lang="es-VE" sz="2400" i="1" baseline="30000" dirty="0"/>
              <a:t>2</a:t>
            </a:r>
            <a:r>
              <a:rPr lang="es-419" sz="2400" i="1" dirty="0"/>
              <a:t>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419" sz="2400" i="1" dirty="0"/>
              <a:t>Suponiendo que </a:t>
            </a:r>
            <a:r>
              <a:rPr lang="el-GR" sz="2400" i="1" dirty="0"/>
              <a:t>μ</a:t>
            </a:r>
            <a:r>
              <a:rPr lang="es-VE" sz="2400" i="1" dirty="0"/>
              <a:t> </a:t>
            </a:r>
            <a:r>
              <a:rPr lang="en-US" sz="2400" i="1" dirty="0"/>
              <a:t>= 6 y </a:t>
            </a:r>
            <a:r>
              <a:rPr lang="el-GR" sz="2400" i="1" dirty="0"/>
              <a:t>σ</a:t>
            </a:r>
            <a:r>
              <a:rPr lang="es-VE" sz="2400" i="1" baseline="30000" dirty="0"/>
              <a:t>2</a:t>
            </a:r>
            <a:r>
              <a:rPr lang="es-419" sz="2400" i="1" dirty="0"/>
              <a:t> = 4; calcular:</a:t>
            </a:r>
          </a:p>
          <a:p>
            <a:pPr marL="514350" indent="-514350">
              <a:lnSpc>
                <a:spcPct val="150000"/>
              </a:lnSpc>
              <a:buFont typeface="+mj-lt"/>
              <a:buAutoNum type="romanLcPeriod"/>
            </a:pPr>
            <a:r>
              <a:rPr lang="es-419" sz="2400" i="1" dirty="0"/>
              <a:t>P(5 ≤ x̄  ≤ 8)</a:t>
            </a:r>
          </a:p>
          <a:p>
            <a:pPr marL="514350" indent="-514350">
              <a:lnSpc>
                <a:spcPct val="150000"/>
              </a:lnSpc>
              <a:buFont typeface="+mj-lt"/>
              <a:buAutoNum type="romanLcPeriod"/>
            </a:pPr>
            <a:r>
              <a:rPr lang="es-419" sz="2400" i="1" dirty="0"/>
              <a:t>P(1,2427 ≤ s</a:t>
            </a:r>
            <a:r>
              <a:rPr lang="es-VE" sz="2400" i="1" baseline="30000" dirty="0" smtClean="0"/>
              <a:t>2’</a:t>
            </a:r>
            <a:r>
              <a:rPr lang="es-419" sz="2400" i="1" dirty="0" smtClean="0"/>
              <a:t> </a:t>
            </a:r>
            <a:r>
              <a:rPr lang="es-419" sz="2400" i="1" dirty="0"/>
              <a:t>≤ 2,0773).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419" sz="2400" i="1" dirty="0"/>
              <a:t>Suponiendo que </a:t>
            </a:r>
            <a:r>
              <a:rPr lang="el-GR" sz="2400" i="1" dirty="0"/>
              <a:t>σ</a:t>
            </a:r>
            <a:r>
              <a:rPr lang="es-VE" sz="2400" i="1" baseline="30000" dirty="0"/>
              <a:t>2</a:t>
            </a:r>
            <a:r>
              <a:rPr lang="es-419" sz="2400" i="1" dirty="0"/>
              <a:t> es desconocida, y sabiendo que s</a:t>
            </a:r>
            <a:r>
              <a:rPr lang="es-VE" sz="2400" i="1" baseline="30000" dirty="0" smtClean="0"/>
              <a:t>2´</a:t>
            </a:r>
            <a:r>
              <a:rPr lang="es-419" sz="2400" i="1" dirty="0" smtClean="0"/>
              <a:t>= </a:t>
            </a:r>
            <a:r>
              <a:rPr lang="es-419" sz="2400" i="1" dirty="0"/>
              <a:t>6,25, calcular:</a:t>
            </a:r>
          </a:p>
          <a:p>
            <a:pPr marL="514350" indent="-514350">
              <a:lnSpc>
                <a:spcPct val="150000"/>
              </a:lnSpc>
              <a:buFont typeface="+mj-lt"/>
              <a:buAutoNum type="romanLcPeriod" startAt="3"/>
            </a:pPr>
            <a:r>
              <a:rPr lang="es-419" sz="2400" i="1" dirty="0"/>
              <a:t>P(5,1014 ≤ x̄  ≤ 6,8986)</a:t>
            </a:r>
          </a:p>
          <a:p>
            <a:pPr>
              <a:lnSpc>
                <a:spcPct val="150000"/>
              </a:lnSpc>
            </a:pPr>
            <a:r>
              <a:rPr lang="es-419" sz="2400" i="1" dirty="0"/>
              <a:t>Asuma que la varianza muestral es sesgada y realice la transformación correspondiente.</a:t>
            </a:r>
          </a:p>
        </p:txBody>
      </p:sp>
    </p:spTree>
    <p:extLst>
      <p:ext uri="{BB962C8B-B14F-4D97-AF65-F5344CB8AC3E}">
        <p14:creationId xmlns:p14="http://schemas.microsoft.com/office/powerpoint/2010/main" val="312775757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Propuesto 7.7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&gt; n &lt;- 15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&gt; mu &lt;- 6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&gt; </a:t>
            </a:r>
            <a:r>
              <a:rPr lang="es-ES" sz="1600" dirty="0" err="1">
                <a:latin typeface="Consolas" panose="020B0609020204030204" pitchFamily="49" charset="0"/>
              </a:rPr>
              <a:t>var_p</a:t>
            </a:r>
            <a:r>
              <a:rPr lang="es-ES" sz="1600" dirty="0">
                <a:latin typeface="Consolas" panose="020B0609020204030204" pitchFamily="49" charset="0"/>
              </a:rPr>
              <a:t> &lt;- 4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&gt; </a:t>
            </a:r>
            <a:r>
              <a:rPr lang="es-ES" sz="1600" dirty="0" err="1">
                <a:latin typeface="Consolas" panose="020B0609020204030204" pitchFamily="49" charset="0"/>
              </a:rPr>
              <a:t>desv_p</a:t>
            </a:r>
            <a:r>
              <a:rPr lang="es-ES" sz="1600" dirty="0">
                <a:latin typeface="Consolas" panose="020B0609020204030204" pitchFamily="49" charset="0"/>
              </a:rPr>
              <a:t> &lt;- </a:t>
            </a:r>
            <a:r>
              <a:rPr lang="es-ES" sz="1600" dirty="0" err="1">
                <a:latin typeface="Consolas" panose="020B0609020204030204" pitchFamily="49" charset="0"/>
              </a:rPr>
              <a:t>sqrt</a:t>
            </a:r>
            <a:r>
              <a:rPr lang="es-ES" sz="1600" dirty="0">
                <a:latin typeface="Consolas" panose="020B0609020204030204" pitchFamily="49" charset="0"/>
              </a:rPr>
              <a:t>(</a:t>
            </a:r>
            <a:r>
              <a:rPr lang="es-ES" sz="1600" dirty="0" err="1">
                <a:latin typeface="Consolas" panose="020B0609020204030204" pitchFamily="49" charset="0"/>
              </a:rPr>
              <a:t>var_p</a:t>
            </a:r>
            <a:r>
              <a:rPr lang="es-ES" sz="16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s-E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&gt; ###i) P(5 &lt;= </a:t>
            </a:r>
            <a:r>
              <a:rPr lang="es-ES" sz="1600" dirty="0" err="1">
                <a:latin typeface="Consolas" panose="020B0609020204030204" pitchFamily="49" charset="0"/>
              </a:rPr>
              <a:t>X_bar</a:t>
            </a:r>
            <a:r>
              <a:rPr lang="es-ES" sz="1600" dirty="0">
                <a:latin typeface="Consolas" panose="020B0609020204030204" pitchFamily="49" charset="0"/>
              </a:rPr>
              <a:t> &lt;= 8)</a:t>
            </a:r>
          </a:p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&gt; </a:t>
            </a:r>
            <a:r>
              <a:rPr lang="es-ES" sz="1600" dirty="0" err="1">
                <a:latin typeface="Consolas" panose="020B0609020204030204" pitchFamily="49" charset="0"/>
              </a:rPr>
              <a:t>pnorm</a:t>
            </a:r>
            <a:r>
              <a:rPr lang="es-ES" sz="1600" dirty="0">
                <a:latin typeface="Consolas" panose="020B0609020204030204" pitchFamily="49" charset="0"/>
              </a:rPr>
              <a:t>(8, mean = mu, </a:t>
            </a:r>
            <a:r>
              <a:rPr lang="es-ES" sz="1600" dirty="0" err="1">
                <a:latin typeface="Consolas" panose="020B0609020204030204" pitchFamily="49" charset="0"/>
              </a:rPr>
              <a:t>sd</a:t>
            </a:r>
            <a:r>
              <a:rPr lang="es-ES" sz="1600" dirty="0">
                <a:latin typeface="Consolas" panose="020B0609020204030204" pitchFamily="49" charset="0"/>
              </a:rPr>
              <a:t> = </a:t>
            </a:r>
            <a:r>
              <a:rPr lang="es-ES" sz="1600" dirty="0" err="1">
                <a:latin typeface="Consolas" panose="020B0609020204030204" pitchFamily="49" charset="0"/>
              </a:rPr>
              <a:t>sqrt</a:t>
            </a:r>
            <a:r>
              <a:rPr lang="es-ES" sz="1600" dirty="0">
                <a:latin typeface="Consolas" panose="020B0609020204030204" pitchFamily="49" charset="0"/>
              </a:rPr>
              <a:t>(</a:t>
            </a:r>
            <a:r>
              <a:rPr lang="es-ES" sz="1600" dirty="0" err="1">
                <a:latin typeface="Consolas" panose="020B0609020204030204" pitchFamily="49" charset="0"/>
              </a:rPr>
              <a:t>var_p</a:t>
            </a:r>
            <a:r>
              <a:rPr lang="es-ES" sz="1600" dirty="0">
                <a:latin typeface="Consolas" panose="020B0609020204030204" pitchFamily="49" charset="0"/>
              </a:rPr>
              <a:t>/n)) - </a:t>
            </a:r>
            <a:r>
              <a:rPr lang="es-ES" sz="1600" dirty="0" err="1">
                <a:latin typeface="Consolas" panose="020B0609020204030204" pitchFamily="49" charset="0"/>
              </a:rPr>
              <a:t>pnorm</a:t>
            </a:r>
            <a:r>
              <a:rPr lang="es-ES" sz="1600" dirty="0">
                <a:latin typeface="Consolas" panose="020B0609020204030204" pitchFamily="49" charset="0"/>
              </a:rPr>
              <a:t>(5, mean = mu, </a:t>
            </a:r>
            <a:r>
              <a:rPr lang="es-ES" sz="1600" dirty="0" err="1">
                <a:latin typeface="Consolas" panose="020B0609020204030204" pitchFamily="49" charset="0"/>
              </a:rPr>
              <a:t>sd</a:t>
            </a:r>
            <a:r>
              <a:rPr lang="es-ES" sz="1600" dirty="0">
                <a:latin typeface="Consolas" panose="020B0609020204030204" pitchFamily="49" charset="0"/>
              </a:rPr>
              <a:t> = </a:t>
            </a:r>
            <a:r>
              <a:rPr lang="es-ES" sz="1600" dirty="0" err="1">
                <a:latin typeface="Consolas" panose="020B0609020204030204" pitchFamily="49" charset="0"/>
              </a:rPr>
              <a:t>sqrt</a:t>
            </a:r>
            <a:r>
              <a:rPr lang="es-ES" sz="1600" dirty="0">
                <a:latin typeface="Consolas" panose="020B0609020204030204" pitchFamily="49" charset="0"/>
              </a:rPr>
              <a:t>(</a:t>
            </a:r>
            <a:r>
              <a:rPr lang="es-ES" sz="1600" dirty="0" err="1">
                <a:latin typeface="Consolas" panose="020B0609020204030204" pitchFamily="49" charset="0"/>
              </a:rPr>
              <a:t>var_p</a:t>
            </a:r>
            <a:r>
              <a:rPr lang="es-ES" sz="1600" dirty="0">
                <a:latin typeface="Consolas" panose="020B0609020204030204" pitchFamily="49" charset="0"/>
              </a:rPr>
              <a:t>/n))</a:t>
            </a:r>
          </a:p>
          <a:p>
            <a:pPr marL="0" indent="0">
              <a:buNone/>
            </a:pPr>
            <a:r>
              <a:rPr lang="es-ES" sz="1600" dirty="0">
                <a:highlight>
                  <a:srgbClr val="FFFF00"/>
                </a:highlight>
                <a:latin typeface="Consolas" panose="020B0609020204030204" pitchFamily="49" charset="0"/>
              </a:rPr>
              <a:t>[1] 0.9735425</a:t>
            </a:r>
          </a:p>
        </p:txBody>
      </p:sp>
    </p:spTree>
    <p:extLst>
      <p:ext uri="{BB962C8B-B14F-4D97-AF65-F5344CB8AC3E}">
        <p14:creationId xmlns:p14="http://schemas.microsoft.com/office/powerpoint/2010/main" val="125454811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Propuesto 7.7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&gt; #Alternativamente</a:t>
            </a:r>
          </a:p>
          <a:p>
            <a:pPr marL="0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&gt; z_score_1 &lt;- (5 - mu)*</a:t>
            </a:r>
            <a:r>
              <a:rPr lang="es-ES" sz="2400" dirty="0" err="1">
                <a:latin typeface="Consolas" panose="020B0609020204030204" pitchFamily="49" charset="0"/>
              </a:rPr>
              <a:t>sqrt</a:t>
            </a:r>
            <a:r>
              <a:rPr lang="es-ES" sz="2400" dirty="0">
                <a:latin typeface="Consolas" panose="020B0609020204030204" pitchFamily="49" charset="0"/>
              </a:rPr>
              <a:t>(n)/</a:t>
            </a:r>
            <a:r>
              <a:rPr lang="es-ES" sz="2400" dirty="0" err="1">
                <a:latin typeface="Consolas" panose="020B0609020204030204" pitchFamily="49" charset="0"/>
              </a:rPr>
              <a:t>desv_p</a:t>
            </a:r>
            <a:r>
              <a:rPr lang="es-ES" sz="2400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&gt; z_score_1</a:t>
            </a:r>
          </a:p>
          <a:p>
            <a:pPr marL="0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[1] </a:t>
            </a:r>
            <a:r>
              <a:rPr lang="es-ES" sz="2400">
                <a:latin typeface="Consolas" panose="020B0609020204030204" pitchFamily="49" charset="0"/>
              </a:rPr>
              <a:t>-1.936492</a:t>
            </a:r>
          </a:p>
          <a:p>
            <a:pPr marL="0" indent="0">
              <a:buNone/>
            </a:pPr>
            <a:endParaRPr lang="es-E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&gt; z_score_2 &lt;- (8 - mu)*</a:t>
            </a:r>
            <a:r>
              <a:rPr lang="es-ES" sz="2400" dirty="0" err="1">
                <a:latin typeface="Consolas" panose="020B0609020204030204" pitchFamily="49" charset="0"/>
              </a:rPr>
              <a:t>sqrt</a:t>
            </a:r>
            <a:r>
              <a:rPr lang="es-ES" sz="2400" dirty="0">
                <a:latin typeface="Consolas" panose="020B0609020204030204" pitchFamily="49" charset="0"/>
              </a:rPr>
              <a:t>(n)/</a:t>
            </a:r>
            <a:r>
              <a:rPr lang="es-ES" sz="2400" dirty="0" err="1">
                <a:latin typeface="Consolas" panose="020B0609020204030204" pitchFamily="49" charset="0"/>
              </a:rPr>
              <a:t>desv_p</a:t>
            </a:r>
            <a:r>
              <a:rPr lang="es-ES" sz="2400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&gt; z_score_2</a:t>
            </a:r>
          </a:p>
          <a:p>
            <a:pPr marL="0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[1] 3.872983</a:t>
            </a:r>
          </a:p>
          <a:p>
            <a:pPr marL="0" indent="0">
              <a:buNone/>
            </a:pPr>
            <a:endParaRPr lang="es-E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&gt; </a:t>
            </a:r>
            <a:r>
              <a:rPr lang="es-ES" sz="2400" dirty="0" err="1">
                <a:latin typeface="Consolas" panose="020B0609020204030204" pitchFamily="49" charset="0"/>
              </a:rPr>
              <a:t>pnorm</a:t>
            </a:r>
            <a:r>
              <a:rPr lang="es-ES" sz="2400" dirty="0">
                <a:latin typeface="Consolas" panose="020B0609020204030204" pitchFamily="49" charset="0"/>
              </a:rPr>
              <a:t>(z_score_2) - </a:t>
            </a:r>
            <a:r>
              <a:rPr lang="es-ES" sz="2400" dirty="0" err="1">
                <a:latin typeface="Consolas" panose="020B0609020204030204" pitchFamily="49" charset="0"/>
              </a:rPr>
              <a:t>pnorm</a:t>
            </a:r>
            <a:r>
              <a:rPr lang="es-ES" sz="2400" dirty="0">
                <a:latin typeface="Consolas" panose="020B0609020204030204" pitchFamily="49" charset="0"/>
              </a:rPr>
              <a:t>(z_score_1)</a:t>
            </a:r>
          </a:p>
          <a:p>
            <a:pPr marL="0" indent="0">
              <a:buNone/>
            </a:pPr>
            <a:r>
              <a:rPr lang="es-ES" sz="2400" dirty="0">
                <a:highlight>
                  <a:srgbClr val="FFFF00"/>
                </a:highlight>
                <a:latin typeface="Consolas" panose="020B0609020204030204" pitchFamily="49" charset="0"/>
              </a:rPr>
              <a:t>[1] 0.9735425</a:t>
            </a:r>
          </a:p>
        </p:txBody>
      </p:sp>
    </p:spTree>
    <p:extLst>
      <p:ext uri="{BB962C8B-B14F-4D97-AF65-F5344CB8AC3E}">
        <p14:creationId xmlns:p14="http://schemas.microsoft.com/office/powerpoint/2010/main" val="232883692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Propuesto 7.7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s-ES" sz="1050" dirty="0">
                <a:latin typeface="Consolas" panose="020B0609020204030204" pitchFamily="49" charset="0"/>
              </a:rPr>
              <a:t>&gt; #Graficando </a:t>
            </a:r>
          </a:p>
          <a:p>
            <a:pPr marL="0" indent="0">
              <a:buNone/>
            </a:pPr>
            <a:r>
              <a:rPr lang="es-ES" sz="1050" dirty="0">
                <a:latin typeface="Consolas" panose="020B0609020204030204" pitchFamily="49" charset="0"/>
              </a:rPr>
              <a:t>&gt; </a:t>
            </a:r>
            <a:r>
              <a:rPr lang="es-ES" sz="1050" dirty="0" err="1">
                <a:latin typeface="Consolas" panose="020B0609020204030204" pitchFamily="49" charset="0"/>
              </a:rPr>
              <a:t>data.frame</a:t>
            </a:r>
            <a:r>
              <a:rPr lang="es-ES" sz="1050" dirty="0">
                <a:latin typeface="Consolas" panose="020B0609020204030204" pitchFamily="49" charset="0"/>
              </a:rPr>
              <a:t>(x = c(-5, 5)) %&gt;% </a:t>
            </a:r>
          </a:p>
          <a:p>
            <a:pPr marL="0" indent="0">
              <a:buNone/>
            </a:pPr>
            <a:r>
              <a:rPr lang="es-ES" sz="1050" dirty="0">
                <a:latin typeface="Consolas" panose="020B0609020204030204" pitchFamily="49" charset="0"/>
              </a:rPr>
              <a:t>+   </a:t>
            </a:r>
            <a:r>
              <a:rPr lang="es-ES" sz="1050" dirty="0" err="1">
                <a:latin typeface="Consolas" panose="020B0609020204030204" pitchFamily="49" charset="0"/>
              </a:rPr>
              <a:t>ggplot</a:t>
            </a:r>
            <a:r>
              <a:rPr lang="es-ES" sz="1050" dirty="0">
                <a:latin typeface="Consolas" panose="020B0609020204030204" pitchFamily="49" charset="0"/>
              </a:rPr>
              <a:t>(aes(x)) +</a:t>
            </a:r>
          </a:p>
          <a:p>
            <a:pPr marL="0" indent="0">
              <a:buNone/>
            </a:pPr>
            <a:r>
              <a:rPr lang="es-ES" sz="1050" dirty="0">
                <a:latin typeface="Consolas" panose="020B0609020204030204" pitchFamily="49" charset="0"/>
              </a:rPr>
              <a:t>+   </a:t>
            </a:r>
            <a:r>
              <a:rPr lang="es-ES" sz="1050" dirty="0" err="1">
                <a:latin typeface="Consolas" panose="020B0609020204030204" pitchFamily="49" charset="0"/>
              </a:rPr>
              <a:t>stat_function</a:t>
            </a:r>
            <a:r>
              <a:rPr lang="es-ES" sz="1050" dirty="0">
                <a:latin typeface="Consolas" panose="020B0609020204030204" pitchFamily="49" charset="0"/>
              </a:rPr>
              <a:t>(</a:t>
            </a:r>
            <a:r>
              <a:rPr lang="es-ES" sz="1050" dirty="0" err="1">
                <a:latin typeface="Consolas" panose="020B0609020204030204" pitchFamily="49" charset="0"/>
              </a:rPr>
              <a:t>fun</a:t>
            </a:r>
            <a:r>
              <a:rPr lang="es-ES" sz="1050" dirty="0">
                <a:latin typeface="Consolas" panose="020B0609020204030204" pitchFamily="49" charset="0"/>
              </a:rPr>
              <a:t> = </a:t>
            </a:r>
            <a:r>
              <a:rPr lang="es-ES" sz="1050" dirty="0" err="1">
                <a:latin typeface="Consolas" panose="020B0609020204030204" pitchFamily="49" charset="0"/>
              </a:rPr>
              <a:t>dnorm</a:t>
            </a:r>
            <a:r>
              <a:rPr lang="es-ES" sz="1050" dirty="0">
                <a:latin typeface="Consolas" panose="020B0609020204030204" pitchFamily="49" charset="0"/>
              </a:rPr>
              <a:t>, n = 10000, </a:t>
            </a:r>
            <a:r>
              <a:rPr lang="es-ES" sz="1050" dirty="0" err="1">
                <a:latin typeface="Consolas" panose="020B0609020204030204" pitchFamily="49" charset="0"/>
              </a:rPr>
              <a:t>args</a:t>
            </a:r>
            <a:r>
              <a:rPr lang="es-ES" sz="1050" dirty="0">
                <a:latin typeface="Consolas" panose="020B0609020204030204" pitchFamily="49" charset="0"/>
              </a:rPr>
              <a:t> = </a:t>
            </a:r>
            <a:r>
              <a:rPr lang="es-ES" sz="1050" dirty="0" err="1">
                <a:latin typeface="Consolas" panose="020B0609020204030204" pitchFamily="49" charset="0"/>
              </a:rPr>
              <a:t>list</a:t>
            </a:r>
            <a:r>
              <a:rPr lang="es-ES" sz="1050" dirty="0">
                <a:latin typeface="Consolas" panose="020B0609020204030204" pitchFamily="49" charset="0"/>
              </a:rPr>
              <a:t>(mean = 0, </a:t>
            </a:r>
            <a:r>
              <a:rPr lang="es-ES" sz="1050" dirty="0" err="1">
                <a:latin typeface="Consolas" panose="020B0609020204030204" pitchFamily="49" charset="0"/>
              </a:rPr>
              <a:t>sd</a:t>
            </a:r>
            <a:r>
              <a:rPr lang="es-ES" sz="1050" dirty="0">
                <a:latin typeface="Consolas" panose="020B0609020204030204" pitchFamily="49" charset="0"/>
              </a:rPr>
              <a:t> = 1)) +</a:t>
            </a:r>
          </a:p>
          <a:p>
            <a:pPr marL="0" indent="0">
              <a:buNone/>
            </a:pPr>
            <a:r>
              <a:rPr lang="es-ES" sz="1050" dirty="0">
                <a:latin typeface="Consolas" panose="020B0609020204030204" pitchFamily="49" charset="0"/>
              </a:rPr>
              <a:t>+   </a:t>
            </a:r>
            <a:r>
              <a:rPr lang="es-ES" sz="1050" dirty="0" err="1">
                <a:latin typeface="Consolas" panose="020B0609020204030204" pitchFamily="49" charset="0"/>
              </a:rPr>
              <a:t>geom_area</a:t>
            </a:r>
            <a:r>
              <a:rPr lang="es-ES" sz="1050" dirty="0">
                <a:latin typeface="Consolas" panose="020B0609020204030204" pitchFamily="49" charset="0"/>
              </a:rPr>
              <a:t>(</a:t>
            </a:r>
            <a:r>
              <a:rPr lang="es-ES" sz="1050" dirty="0" err="1">
                <a:latin typeface="Consolas" panose="020B0609020204030204" pitchFamily="49" charset="0"/>
              </a:rPr>
              <a:t>stat</a:t>
            </a:r>
            <a:r>
              <a:rPr lang="es-ES" sz="1050" dirty="0">
                <a:latin typeface="Consolas" panose="020B0609020204030204" pitchFamily="49" charset="0"/>
              </a:rPr>
              <a:t> = '</a:t>
            </a:r>
            <a:r>
              <a:rPr lang="es-ES" sz="1050" dirty="0" err="1">
                <a:latin typeface="Consolas" panose="020B0609020204030204" pitchFamily="49" charset="0"/>
              </a:rPr>
              <a:t>function</a:t>
            </a:r>
            <a:r>
              <a:rPr lang="es-ES" sz="1050" dirty="0">
                <a:latin typeface="Consolas" panose="020B0609020204030204" pitchFamily="49" charset="0"/>
              </a:rPr>
              <a:t>', </a:t>
            </a:r>
            <a:r>
              <a:rPr lang="es-ES" sz="1050" dirty="0" err="1">
                <a:latin typeface="Consolas" panose="020B0609020204030204" pitchFamily="49" charset="0"/>
              </a:rPr>
              <a:t>fun</a:t>
            </a:r>
            <a:r>
              <a:rPr lang="es-ES" sz="1050" dirty="0">
                <a:latin typeface="Consolas" panose="020B0609020204030204" pitchFamily="49" charset="0"/>
              </a:rPr>
              <a:t> = </a:t>
            </a:r>
            <a:r>
              <a:rPr lang="es-ES" sz="1050" dirty="0" err="1">
                <a:latin typeface="Consolas" panose="020B0609020204030204" pitchFamily="49" charset="0"/>
              </a:rPr>
              <a:t>dnorm</a:t>
            </a:r>
            <a:r>
              <a:rPr lang="es-ES" sz="1050" dirty="0">
                <a:latin typeface="Consolas" panose="020B0609020204030204" pitchFamily="49" charset="0"/>
              </a:rPr>
              <a:t>, </a:t>
            </a:r>
            <a:r>
              <a:rPr lang="es-ES" sz="1050" dirty="0" err="1">
                <a:latin typeface="Consolas" panose="020B0609020204030204" pitchFamily="49" charset="0"/>
              </a:rPr>
              <a:t>args</a:t>
            </a:r>
            <a:r>
              <a:rPr lang="es-ES" sz="1050" dirty="0">
                <a:latin typeface="Consolas" panose="020B0609020204030204" pitchFamily="49" charset="0"/>
              </a:rPr>
              <a:t> = </a:t>
            </a:r>
            <a:r>
              <a:rPr lang="es-ES" sz="1050" dirty="0" err="1">
                <a:latin typeface="Consolas" panose="020B0609020204030204" pitchFamily="49" charset="0"/>
              </a:rPr>
              <a:t>list</a:t>
            </a:r>
            <a:r>
              <a:rPr lang="es-ES" sz="1050" dirty="0">
                <a:latin typeface="Consolas" panose="020B0609020204030204" pitchFamily="49" charset="0"/>
              </a:rPr>
              <a:t>(mean = 0, </a:t>
            </a:r>
            <a:r>
              <a:rPr lang="es-ES" sz="1050" dirty="0" err="1">
                <a:latin typeface="Consolas" panose="020B0609020204030204" pitchFamily="49" charset="0"/>
              </a:rPr>
              <a:t>sd</a:t>
            </a:r>
            <a:r>
              <a:rPr lang="es-ES" sz="1050" dirty="0">
                <a:latin typeface="Consolas" panose="020B0609020204030204" pitchFamily="49" charset="0"/>
              </a:rPr>
              <a:t> = 1), </a:t>
            </a:r>
            <a:r>
              <a:rPr lang="es-ES" sz="1050" dirty="0" err="1">
                <a:latin typeface="Consolas" panose="020B0609020204030204" pitchFamily="49" charset="0"/>
              </a:rPr>
              <a:t>fill</a:t>
            </a:r>
            <a:r>
              <a:rPr lang="es-ES" sz="1050" dirty="0">
                <a:latin typeface="Consolas" panose="020B0609020204030204" pitchFamily="49" charset="0"/>
              </a:rPr>
              <a:t> = 'blue', </a:t>
            </a:r>
            <a:r>
              <a:rPr lang="es-ES" sz="1050" dirty="0" err="1">
                <a:latin typeface="Consolas" panose="020B0609020204030204" pitchFamily="49" charset="0"/>
              </a:rPr>
              <a:t>xlim</a:t>
            </a:r>
            <a:r>
              <a:rPr lang="es-ES" sz="1050" dirty="0">
                <a:latin typeface="Consolas" panose="020B0609020204030204" pitchFamily="49" charset="0"/>
              </a:rPr>
              <a:t> = c(z_score_1, z_score_2), </a:t>
            </a:r>
            <a:r>
              <a:rPr lang="es-ES" sz="1050" dirty="0" err="1">
                <a:latin typeface="Consolas" panose="020B0609020204030204" pitchFamily="49" charset="0"/>
              </a:rPr>
              <a:t>alpha</a:t>
            </a:r>
            <a:r>
              <a:rPr lang="es-ES" sz="1050" dirty="0">
                <a:latin typeface="Consolas" panose="020B0609020204030204" pitchFamily="49" charset="0"/>
              </a:rPr>
              <a:t> = 0.3) +</a:t>
            </a:r>
          </a:p>
          <a:p>
            <a:pPr marL="0" indent="0">
              <a:buNone/>
            </a:pPr>
            <a:r>
              <a:rPr lang="es-ES" sz="1050" dirty="0">
                <a:latin typeface="Consolas" panose="020B0609020204030204" pitchFamily="49" charset="0"/>
              </a:rPr>
              <a:t>+   </a:t>
            </a:r>
            <a:r>
              <a:rPr lang="es-ES" sz="1050" dirty="0" err="1">
                <a:latin typeface="Consolas" panose="020B0609020204030204" pitchFamily="49" charset="0"/>
              </a:rPr>
              <a:t>labs</a:t>
            </a:r>
            <a:r>
              <a:rPr lang="es-ES" sz="1050" dirty="0">
                <a:latin typeface="Consolas" panose="020B0609020204030204" pitchFamily="49" charset="0"/>
              </a:rPr>
              <a:t>(</a:t>
            </a:r>
            <a:r>
              <a:rPr lang="es-ES" sz="1050" dirty="0" err="1">
                <a:latin typeface="Consolas" panose="020B0609020204030204" pitchFamily="49" charset="0"/>
              </a:rPr>
              <a:t>title</a:t>
            </a:r>
            <a:r>
              <a:rPr lang="es-ES" sz="1050" dirty="0">
                <a:latin typeface="Consolas" panose="020B0609020204030204" pitchFamily="49" charset="0"/>
              </a:rPr>
              <a:t> = "Propuesto 7.7", </a:t>
            </a:r>
          </a:p>
          <a:p>
            <a:pPr marL="0" indent="0">
              <a:buNone/>
            </a:pPr>
            <a:r>
              <a:rPr lang="es-ES" sz="1050" dirty="0">
                <a:latin typeface="Consolas" panose="020B0609020204030204" pitchFamily="49" charset="0"/>
              </a:rPr>
              <a:t>+        </a:t>
            </a:r>
            <a:r>
              <a:rPr lang="es-ES" sz="1050" dirty="0" err="1">
                <a:latin typeface="Consolas" panose="020B0609020204030204" pitchFamily="49" charset="0"/>
              </a:rPr>
              <a:t>subtitle</a:t>
            </a:r>
            <a:r>
              <a:rPr lang="es-ES" sz="1050" dirty="0">
                <a:latin typeface="Consolas" panose="020B0609020204030204" pitchFamily="49" charset="0"/>
              </a:rPr>
              <a:t> = "Normal estandarizada", </a:t>
            </a:r>
          </a:p>
          <a:p>
            <a:pPr marL="0" indent="0">
              <a:buNone/>
            </a:pPr>
            <a:r>
              <a:rPr lang="es-ES" sz="1050" dirty="0">
                <a:latin typeface="Consolas" panose="020B0609020204030204" pitchFamily="49" charset="0"/>
              </a:rPr>
              <a:t>+        x = "Z", </a:t>
            </a:r>
          </a:p>
          <a:p>
            <a:pPr marL="0" indent="0">
              <a:buNone/>
            </a:pPr>
            <a:r>
              <a:rPr lang="es-ES" sz="1050" dirty="0">
                <a:latin typeface="Consolas" panose="020B0609020204030204" pitchFamily="49" charset="0"/>
              </a:rPr>
              <a:t>+        y = "Densidad f(x)") +</a:t>
            </a:r>
          </a:p>
          <a:p>
            <a:pPr marL="0" indent="0">
              <a:buNone/>
            </a:pPr>
            <a:r>
              <a:rPr lang="es-ES" sz="1050" dirty="0">
                <a:latin typeface="Consolas" panose="020B0609020204030204" pitchFamily="49" charset="0"/>
              </a:rPr>
              <a:t>+   </a:t>
            </a:r>
            <a:r>
              <a:rPr lang="es-ES" sz="1050" dirty="0" err="1">
                <a:latin typeface="Consolas" panose="020B0609020204030204" pitchFamily="49" charset="0"/>
              </a:rPr>
              <a:t>theme_bw</a:t>
            </a:r>
            <a:r>
              <a:rPr lang="es-ES" sz="1050" dirty="0">
                <a:latin typeface="Consolas" panose="020B0609020204030204" pitchFamily="49" charset="0"/>
              </a:rPr>
              <a:t>() + </a:t>
            </a:r>
          </a:p>
          <a:p>
            <a:pPr marL="0" indent="0">
              <a:buNone/>
            </a:pPr>
            <a:r>
              <a:rPr lang="es-ES" sz="1050" dirty="0">
                <a:latin typeface="Consolas" panose="020B0609020204030204" pitchFamily="49" charset="0"/>
              </a:rPr>
              <a:t>+   </a:t>
            </a:r>
            <a:r>
              <a:rPr lang="es-ES" sz="1050" dirty="0" err="1">
                <a:latin typeface="Consolas" panose="020B0609020204030204" pitchFamily="49" charset="0"/>
              </a:rPr>
              <a:t>theme</a:t>
            </a:r>
            <a:r>
              <a:rPr lang="es-ES" sz="1050" dirty="0">
                <a:latin typeface="Consolas" panose="020B0609020204030204" pitchFamily="49" charset="0"/>
              </a:rPr>
              <a:t>(</a:t>
            </a:r>
            <a:r>
              <a:rPr lang="es-ES" sz="1050" dirty="0" err="1">
                <a:latin typeface="Consolas" panose="020B0609020204030204" pitchFamily="49" charset="0"/>
              </a:rPr>
              <a:t>panel.grid.major.x</a:t>
            </a:r>
            <a:r>
              <a:rPr lang="es-ES" sz="1050" dirty="0">
                <a:latin typeface="Consolas" panose="020B0609020204030204" pitchFamily="49" charset="0"/>
              </a:rPr>
              <a:t> = </a:t>
            </a:r>
            <a:r>
              <a:rPr lang="es-ES" sz="1050" dirty="0" err="1">
                <a:latin typeface="Consolas" panose="020B0609020204030204" pitchFamily="49" charset="0"/>
              </a:rPr>
              <a:t>element_blank</a:t>
            </a:r>
            <a:r>
              <a:rPr lang="es-ES" sz="1050" dirty="0">
                <a:latin typeface="Consolas" panose="020B0609020204030204" pitchFamily="49" charset="0"/>
              </a:rPr>
              <a:t>(), </a:t>
            </a:r>
          </a:p>
          <a:p>
            <a:pPr marL="0" indent="0">
              <a:buNone/>
            </a:pPr>
            <a:r>
              <a:rPr lang="es-ES" sz="1050" dirty="0">
                <a:latin typeface="Consolas" panose="020B0609020204030204" pitchFamily="49" charset="0"/>
              </a:rPr>
              <a:t>+         </a:t>
            </a:r>
            <a:r>
              <a:rPr lang="es-ES" sz="1050" dirty="0" err="1">
                <a:latin typeface="Consolas" panose="020B0609020204030204" pitchFamily="49" charset="0"/>
              </a:rPr>
              <a:t>panel.grid.minor.x</a:t>
            </a:r>
            <a:r>
              <a:rPr lang="es-ES" sz="1050" dirty="0">
                <a:latin typeface="Consolas" panose="020B0609020204030204" pitchFamily="49" charset="0"/>
              </a:rPr>
              <a:t> = </a:t>
            </a:r>
            <a:r>
              <a:rPr lang="es-ES" sz="1050" dirty="0" err="1">
                <a:latin typeface="Consolas" panose="020B0609020204030204" pitchFamily="49" charset="0"/>
              </a:rPr>
              <a:t>element_blank</a:t>
            </a:r>
            <a:r>
              <a:rPr lang="es-ES" sz="1050" dirty="0">
                <a:latin typeface="Consolas" panose="020B0609020204030204" pitchFamily="49" charset="0"/>
              </a:rPr>
              <a:t>(), </a:t>
            </a:r>
          </a:p>
          <a:p>
            <a:pPr marL="0" indent="0">
              <a:buNone/>
            </a:pPr>
            <a:r>
              <a:rPr lang="es-ES" sz="1050" dirty="0">
                <a:latin typeface="Consolas" panose="020B0609020204030204" pitchFamily="49" charset="0"/>
              </a:rPr>
              <a:t>+         </a:t>
            </a:r>
            <a:r>
              <a:rPr lang="es-ES" sz="1050" dirty="0" err="1">
                <a:latin typeface="Consolas" panose="020B0609020204030204" pitchFamily="49" charset="0"/>
              </a:rPr>
              <a:t>panel.grid.minor.y</a:t>
            </a:r>
            <a:r>
              <a:rPr lang="es-ES" sz="1050" dirty="0">
                <a:latin typeface="Consolas" panose="020B0609020204030204" pitchFamily="49" charset="0"/>
              </a:rPr>
              <a:t> = </a:t>
            </a:r>
            <a:r>
              <a:rPr lang="es-ES" sz="1050" dirty="0" err="1">
                <a:latin typeface="Consolas" panose="020B0609020204030204" pitchFamily="49" charset="0"/>
              </a:rPr>
              <a:t>element_blank</a:t>
            </a:r>
            <a:r>
              <a:rPr lang="es-ES" sz="1050" dirty="0">
                <a:latin typeface="Consolas" panose="020B0609020204030204" pitchFamily="49" charset="0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333681632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Propuesto 7.7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B0312F-62EE-45DC-8749-F34F12E8B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943" y="999000"/>
            <a:ext cx="5746115" cy="48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57076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Propuesto 7.7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2160"/>
            <a:ext cx="10515600" cy="5404803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#ii) P(1,2427 &lt;= S_2 &lt;= 2,0773)</a:t>
            </a:r>
          </a:p>
          <a:p>
            <a:pPr marL="0" indent="0">
              <a:buNone/>
            </a:pPr>
            <a:r>
              <a:rPr lang="it-IT" dirty="0">
                <a:latin typeface="Consolas" panose="020B0609020204030204" pitchFamily="49" charset="0"/>
              </a:rPr>
              <a:t>&gt; si_1 &lt;- 1.2427*n/(n-1)</a:t>
            </a:r>
          </a:p>
          <a:p>
            <a:pPr marL="0" indent="0">
              <a:buNone/>
            </a:pPr>
            <a:r>
              <a:rPr lang="it-IT" dirty="0">
                <a:latin typeface="Consolas" panose="020B0609020204030204" pitchFamily="49" charset="0"/>
              </a:rPr>
              <a:t>&gt; si_2 &lt;- 2.0773*n/(n-1)</a:t>
            </a:r>
          </a:p>
          <a:p>
            <a:pPr marL="0" indent="0">
              <a:buNone/>
            </a:pPr>
            <a:endParaRPr lang="it-IT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it-IT" dirty="0">
                <a:latin typeface="Consolas" panose="020B0609020204030204" pitchFamily="49" charset="0"/>
              </a:rPr>
              <a:t>&gt; chi_1 &lt;- (si_1)*(n-1)/var_p</a:t>
            </a:r>
          </a:p>
          <a:p>
            <a:pPr marL="0" indent="0">
              <a:buNone/>
            </a:pPr>
            <a:r>
              <a:rPr lang="it-IT" dirty="0">
                <a:latin typeface="Consolas" panose="020B0609020204030204" pitchFamily="49" charset="0"/>
              </a:rPr>
              <a:t>&gt; chi_1</a:t>
            </a:r>
          </a:p>
          <a:p>
            <a:pPr marL="0" indent="0">
              <a:buNone/>
            </a:pPr>
            <a:r>
              <a:rPr lang="it-IT" dirty="0">
                <a:latin typeface="Consolas" panose="020B0609020204030204" pitchFamily="49" charset="0"/>
              </a:rPr>
              <a:t>[1] 4.660125</a:t>
            </a:r>
          </a:p>
          <a:p>
            <a:pPr marL="0" indent="0">
              <a:buNone/>
            </a:pPr>
            <a:endParaRPr lang="it-IT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it-IT" dirty="0">
                <a:latin typeface="Consolas" panose="020B0609020204030204" pitchFamily="49" charset="0"/>
              </a:rPr>
              <a:t>&gt; chi_2 &lt;- (si_2)*(n-1)/var_p</a:t>
            </a:r>
          </a:p>
          <a:p>
            <a:pPr marL="0" indent="0">
              <a:buNone/>
            </a:pPr>
            <a:r>
              <a:rPr lang="it-IT" dirty="0">
                <a:latin typeface="Consolas" panose="020B0609020204030204" pitchFamily="49" charset="0"/>
              </a:rPr>
              <a:t>&gt; chi_2</a:t>
            </a:r>
          </a:p>
          <a:p>
            <a:pPr marL="0" indent="0">
              <a:buNone/>
            </a:pPr>
            <a:r>
              <a:rPr lang="it-IT" dirty="0">
                <a:latin typeface="Consolas" panose="020B0609020204030204" pitchFamily="49" charset="0"/>
              </a:rPr>
              <a:t>[1] 7.789875</a:t>
            </a:r>
          </a:p>
          <a:p>
            <a:pPr marL="0" indent="0">
              <a:buNone/>
            </a:pPr>
            <a:endParaRPr lang="it-IT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it-IT" dirty="0">
                <a:latin typeface="Consolas" panose="020B0609020204030204" pitchFamily="49" charset="0"/>
              </a:rPr>
              <a:t>&gt; pchisq(chi_2, df = n-1) - pchisq(chi_1, df = n-1)</a:t>
            </a:r>
          </a:p>
          <a:p>
            <a:pPr marL="0" indent="0">
              <a:buNone/>
            </a:pPr>
            <a:r>
              <a:rPr lang="it-IT" dirty="0">
                <a:highlight>
                  <a:srgbClr val="FFFF00"/>
                </a:highlight>
                <a:latin typeface="Consolas" panose="020B0609020204030204" pitchFamily="49" charset="0"/>
              </a:rPr>
              <a:t>[1] 0.09002008</a:t>
            </a:r>
            <a:endParaRPr lang="es-ES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46157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Propuesto 7.7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2160"/>
            <a:ext cx="10515600" cy="5404803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 fontScale="47500" lnSpcReduction="20000"/>
          </a:bodyPr>
          <a:lstStyle/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#Graficando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</a:t>
            </a:r>
            <a:r>
              <a:rPr lang="es-ES" dirty="0" err="1">
                <a:latin typeface="Consolas" panose="020B0609020204030204" pitchFamily="49" charset="0"/>
              </a:rPr>
              <a:t>data.frame</a:t>
            </a:r>
            <a:r>
              <a:rPr lang="es-ES" dirty="0">
                <a:latin typeface="Consolas" panose="020B0609020204030204" pitchFamily="49" charset="0"/>
              </a:rPr>
              <a:t>(x = c(0, 50)) %&gt;%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</a:t>
            </a:r>
            <a:r>
              <a:rPr lang="es-ES" dirty="0" err="1">
                <a:latin typeface="Consolas" panose="020B0609020204030204" pitchFamily="49" charset="0"/>
              </a:rPr>
              <a:t>ggplot</a:t>
            </a:r>
            <a:r>
              <a:rPr lang="es-ES" dirty="0">
                <a:latin typeface="Consolas" panose="020B0609020204030204" pitchFamily="49" charset="0"/>
              </a:rPr>
              <a:t>(aes(x)) +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</a:t>
            </a:r>
            <a:r>
              <a:rPr lang="es-ES" dirty="0" err="1">
                <a:latin typeface="Consolas" panose="020B0609020204030204" pitchFamily="49" charset="0"/>
              </a:rPr>
              <a:t>stat_function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fun</a:t>
            </a:r>
            <a:r>
              <a:rPr lang="es-ES" dirty="0">
                <a:latin typeface="Consolas" panose="020B0609020204030204" pitchFamily="49" charset="0"/>
              </a:rPr>
              <a:t> = </a:t>
            </a:r>
            <a:r>
              <a:rPr lang="es-ES" dirty="0" err="1">
                <a:latin typeface="Consolas" panose="020B0609020204030204" pitchFamily="49" charset="0"/>
              </a:rPr>
              <a:t>dchisq</a:t>
            </a:r>
            <a:r>
              <a:rPr lang="es-ES" dirty="0">
                <a:latin typeface="Consolas" panose="020B0609020204030204" pitchFamily="49" charset="0"/>
              </a:rPr>
              <a:t>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        n = 10000,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        </a:t>
            </a:r>
            <a:r>
              <a:rPr lang="es-ES" dirty="0" err="1">
                <a:latin typeface="Consolas" panose="020B0609020204030204" pitchFamily="49" charset="0"/>
              </a:rPr>
              <a:t>args</a:t>
            </a:r>
            <a:r>
              <a:rPr lang="es-ES" dirty="0">
                <a:latin typeface="Consolas" panose="020B0609020204030204" pitchFamily="49" charset="0"/>
              </a:rPr>
              <a:t> = </a:t>
            </a:r>
            <a:r>
              <a:rPr lang="es-ES" dirty="0" err="1">
                <a:latin typeface="Consolas" panose="020B0609020204030204" pitchFamily="49" charset="0"/>
              </a:rPr>
              <a:t>list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df</a:t>
            </a:r>
            <a:r>
              <a:rPr lang="es-ES" dirty="0">
                <a:latin typeface="Consolas" panose="020B0609020204030204" pitchFamily="49" charset="0"/>
              </a:rPr>
              <a:t> = n - 1)) +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</a:t>
            </a:r>
            <a:r>
              <a:rPr lang="es-ES" dirty="0" err="1">
                <a:latin typeface="Consolas" panose="020B0609020204030204" pitchFamily="49" charset="0"/>
              </a:rPr>
              <a:t>geom_area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stat</a:t>
            </a:r>
            <a:r>
              <a:rPr lang="es-ES" dirty="0">
                <a:latin typeface="Consolas" panose="020B0609020204030204" pitchFamily="49" charset="0"/>
              </a:rPr>
              <a:t> = '</a:t>
            </a:r>
            <a:r>
              <a:rPr lang="es-ES" dirty="0" err="1">
                <a:latin typeface="Consolas" panose="020B0609020204030204" pitchFamily="49" charset="0"/>
              </a:rPr>
              <a:t>function</a:t>
            </a:r>
            <a:r>
              <a:rPr lang="es-ES" dirty="0">
                <a:latin typeface="Consolas" panose="020B0609020204030204" pitchFamily="49" charset="0"/>
              </a:rPr>
              <a:t>',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    </a:t>
            </a:r>
            <a:r>
              <a:rPr lang="es-ES" dirty="0" err="1">
                <a:latin typeface="Consolas" panose="020B0609020204030204" pitchFamily="49" charset="0"/>
              </a:rPr>
              <a:t>fun</a:t>
            </a:r>
            <a:r>
              <a:rPr lang="es-ES" dirty="0">
                <a:latin typeface="Consolas" panose="020B0609020204030204" pitchFamily="49" charset="0"/>
              </a:rPr>
              <a:t> = </a:t>
            </a:r>
            <a:r>
              <a:rPr lang="es-ES" dirty="0" err="1">
                <a:latin typeface="Consolas" panose="020B0609020204030204" pitchFamily="49" charset="0"/>
              </a:rPr>
              <a:t>dchisq</a:t>
            </a:r>
            <a:r>
              <a:rPr lang="es-ES" dirty="0">
                <a:latin typeface="Consolas" panose="020B0609020204030204" pitchFamily="49" charset="0"/>
              </a:rPr>
              <a:t>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    </a:t>
            </a:r>
            <a:r>
              <a:rPr lang="es-ES" dirty="0" err="1">
                <a:latin typeface="Consolas" panose="020B0609020204030204" pitchFamily="49" charset="0"/>
              </a:rPr>
              <a:t>args</a:t>
            </a:r>
            <a:r>
              <a:rPr lang="es-ES" dirty="0">
                <a:latin typeface="Consolas" panose="020B0609020204030204" pitchFamily="49" charset="0"/>
              </a:rPr>
              <a:t> = </a:t>
            </a:r>
            <a:r>
              <a:rPr lang="es-ES" dirty="0" err="1">
                <a:latin typeface="Consolas" panose="020B0609020204030204" pitchFamily="49" charset="0"/>
              </a:rPr>
              <a:t>list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df</a:t>
            </a:r>
            <a:r>
              <a:rPr lang="es-ES" dirty="0">
                <a:latin typeface="Consolas" panose="020B0609020204030204" pitchFamily="49" charset="0"/>
              </a:rPr>
              <a:t> = n - 1),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    </a:t>
            </a:r>
            <a:r>
              <a:rPr lang="es-ES" dirty="0" err="1">
                <a:latin typeface="Consolas" panose="020B0609020204030204" pitchFamily="49" charset="0"/>
              </a:rPr>
              <a:t>fill</a:t>
            </a:r>
            <a:r>
              <a:rPr lang="es-ES" dirty="0">
                <a:latin typeface="Consolas" panose="020B0609020204030204" pitchFamily="49" charset="0"/>
              </a:rPr>
              <a:t> = 'blue',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    </a:t>
            </a:r>
            <a:r>
              <a:rPr lang="es-ES" dirty="0" err="1">
                <a:latin typeface="Consolas" panose="020B0609020204030204" pitchFamily="49" charset="0"/>
              </a:rPr>
              <a:t>xlim</a:t>
            </a:r>
            <a:r>
              <a:rPr lang="es-ES" dirty="0">
                <a:latin typeface="Consolas" panose="020B0609020204030204" pitchFamily="49" charset="0"/>
              </a:rPr>
              <a:t> = c(chi_1, chi_2),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    </a:t>
            </a:r>
            <a:r>
              <a:rPr lang="es-ES" dirty="0" err="1">
                <a:latin typeface="Consolas" panose="020B0609020204030204" pitchFamily="49" charset="0"/>
              </a:rPr>
              <a:t>alpha</a:t>
            </a:r>
            <a:r>
              <a:rPr lang="es-ES" dirty="0">
                <a:latin typeface="Consolas" panose="020B0609020204030204" pitchFamily="49" charset="0"/>
              </a:rPr>
              <a:t> = 0.3) +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</a:t>
            </a:r>
            <a:r>
              <a:rPr lang="es-ES" dirty="0" err="1">
                <a:latin typeface="Consolas" panose="020B0609020204030204" pitchFamily="49" charset="0"/>
              </a:rPr>
              <a:t>labs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title</a:t>
            </a:r>
            <a:r>
              <a:rPr lang="es-ES" dirty="0">
                <a:latin typeface="Consolas" panose="020B0609020204030204" pitchFamily="49" charset="0"/>
              </a:rPr>
              <a:t> = "Propuesto 7.7 (</a:t>
            </a:r>
            <a:r>
              <a:rPr lang="es-ES" dirty="0" err="1">
                <a:latin typeface="Consolas" panose="020B0609020204030204" pitchFamily="49" charset="0"/>
              </a:rPr>
              <a:t>ii</a:t>
            </a:r>
            <a:r>
              <a:rPr lang="es-ES" dirty="0">
                <a:latin typeface="Consolas" panose="020B0609020204030204" pitchFamily="49" charset="0"/>
              </a:rPr>
              <a:t>)",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</a:t>
            </a:r>
            <a:r>
              <a:rPr lang="es-ES" dirty="0" err="1">
                <a:latin typeface="Consolas" panose="020B0609020204030204" pitchFamily="49" charset="0"/>
              </a:rPr>
              <a:t>subtitle</a:t>
            </a:r>
            <a:r>
              <a:rPr lang="es-ES" dirty="0">
                <a:latin typeface="Consolas" panose="020B0609020204030204" pitchFamily="49" charset="0"/>
              </a:rPr>
              <a:t> = "Chi-Cuadrada",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x = "X^2",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y = "Densidad f(x)") +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</a:t>
            </a:r>
            <a:r>
              <a:rPr lang="es-ES" dirty="0" err="1">
                <a:latin typeface="Consolas" panose="020B0609020204030204" pitchFamily="49" charset="0"/>
              </a:rPr>
              <a:t>theme_bw</a:t>
            </a:r>
            <a:r>
              <a:rPr lang="es-ES" dirty="0">
                <a:latin typeface="Consolas" panose="020B0609020204030204" pitchFamily="49" charset="0"/>
              </a:rPr>
              <a:t>() +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</a:t>
            </a:r>
            <a:r>
              <a:rPr lang="es-ES" dirty="0" err="1">
                <a:latin typeface="Consolas" panose="020B0609020204030204" pitchFamily="49" charset="0"/>
              </a:rPr>
              <a:t>theme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panel.grid.major.x</a:t>
            </a:r>
            <a:r>
              <a:rPr lang="es-ES" dirty="0">
                <a:latin typeface="Consolas" panose="020B0609020204030204" pitchFamily="49" charset="0"/>
              </a:rPr>
              <a:t> = </a:t>
            </a:r>
            <a:r>
              <a:rPr lang="es-ES" dirty="0" err="1">
                <a:latin typeface="Consolas" panose="020B0609020204030204" pitchFamily="49" charset="0"/>
              </a:rPr>
              <a:t>element_blank</a:t>
            </a:r>
            <a:r>
              <a:rPr lang="es-ES" dirty="0">
                <a:latin typeface="Consolas" panose="020B0609020204030204" pitchFamily="49" charset="0"/>
              </a:rPr>
              <a:t>(),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</a:t>
            </a:r>
            <a:r>
              <a:rPr lang="es-ES" dirty="0" err="1">
                <a:latin typeface="Consolas" panose="020B0609020204030204" pitchFamily="49" charset="0"/>
              </a:rPr>
              <a:t>panel.grid.minor.x</a:t>
            </a:r>
            <a:r>
              <a:rPr lang="es-ES" dirty="0">
                <a:latin typeface="Consolas" panose="020B0609020204030204" pitchFamily="49" charset="0"/>
              </a:rPr>
              <a:t> = </a:t>
            </a:r>
            <a:r>
              <a:rPr lang="es-ES" dirty="0" err="1">
                <a:latin typeface="Consolas" panose="020B0609020204030204" pitchFamily="49" charset="0"/>
              </a:rPr>
              <a:t>element_blank</a:t>
            </a:r>
            <a:r>
              <a:rPr lang="es-ES" dirty="0">
                <a:latin typeface="Consolas" panose="020B0609020204030204" pitchFamily="49" charset="0"/>
              </a:rPr>
              <a:t>(),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</a:t>
            </a:r>
            <a:r>
              <a:rPr lang="es-ES" dirty="0" err="1">
                <a:latin typeface="Consolas" panose="020B0609020204030204" pitchFamily="49" charset="0"/>
              </a:rPr>
              <a:t>panel.grid.minor.y</a:t>
            </a:r>
            <a:r>
              <a:rPr lang="es-ES" dirty="0">
                <a:latin typeface="Consolas" panose="020B0609020204030204" pitchFamily="49" charset="0"/>
              </a:rPr>
              <a:t> = </a:t>
            </a:r>
            <a:r>
              <a:rPr lang="es-ES" dirty="0" err="1">
                <a:latin typeface="Consolas" panose="020B0609020204030204" pitchFamily="49" charset="0"/>
              </a:rPr>
              <a:t>element_blank</a:t>
            </a:r>
            <a:r>
              <a:rPr lang="es-ES" dirty="0">
                <a:latin typeface="Consolas" panose="020B0609020204030204" pitchFamily="49" charset="0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331482969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Propuesto 7.7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E0F34-B812-46D1-6587-C69CFAD91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435" y="999000"/>
            <a:ext cx="6339130" cy="48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42663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Propuesto 7.7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2160"/>
            <a:ext cx="10515600" cy="5404803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&gt; #iii) P(5.1014 &lt;= </a:t>
            </a:r>
            <a:r>
              <a:rPr lang="es-ES" sz="1600" dirty="0" err="1">
                <a:latin typeface="Consolas" panose="020B0609020204030204" pitchFamily="49" charset="0"/>
              </a:rPr>
              <a:t>X_bar</a:t>
            </a:r>
            <a:r>
              <a:rPr lang="es-ES" sz="1600" dirty="0">
                <a:latin typeface="Consolas" panose="020B0609020204030204" pitchFamily="49" charset="0"/>
              </a:rPr>
              <a:t> &lt;= 6.8986) </a:t>
            </a:r>
            <a:br>
              <a:rPr lang="es-ES" sz="1600" dirty="0">
                <a:latin typeface="Consolas" panose="020B0609020204030204" pitchFamily="49" charset="0"/>
              </a:rPr>
            </a:br>
            <a:r>
              <a:rPr lang="de-DE" sz="1600" dirty="0">
                <a:latin typeface="Consolas" panose="020B0609020204030204" pitchFamily="49" charset="0"/>
              </a:rPr>
              <a:t>&gt; s_2 &lt;- 6.25</a:t>
            </a:r>
          </a:p>
          <a:p>
            <a:pPr marL="0" indent="0">
              <a:buNone/>
            </a:pPr>
            <a:r>
              <a:rPr lang="de-DE" sz="1600" dirty="0">
                <a:latin typeface="Consolas" panose="020B0609020204030204" pitchFamily="49" charset="0"/>
              </a:rPr>
              <a:t>&gt; s_2i &lt;- s_2*n/(n-1)</a:t>
            </a:r>
          </a:p>
          <a:p>
            <a:pPr marL="0" indent="0">
              <a:buNone/>
            </a:pPr>
            <a:endParaRPr lang="de-DE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e-DE" sz="1600" dirty="0">
                <a:latin typeface="Consolas" panose="020B0609020204030204" pitchFamily="49" charset="0"/>
              </a:rPr>
              <a:t>&gt; pt(q = (6.8986-mu)*sqrt(n)/sqrt(s_2i), df = n-1) - pt((5.1014-mu)*sqrt(n)/sqrt(s_2i), n-1)</a:t>
            </a:r>
          </a:p>
          <a:p>
            <a:pPr marL="0" indent="0">
              <a:buNone/>
            </a:pPr>
            <a:r>
              <a:rPr lang="de-DE" sz="1600" dirty="0">
                <a:highlight>
                  <a:srgbClr val="FFFF00"/>
                </a:highlight>
                <a:latin typeface="Consolas" panose="020B0609020204030204" pitchFamily="49" charset="0"/>
              </a:rPr>
              <a:t>[1] 0.7999593</a:t>
            </a:r>
          </a:p>
          <a:p>
            <a:pPr marL="0" indent="0">
              <a:buNone/>
            </a:pPr>
            <a:endParaRPr lang="de-DE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e-DE" sz="1600" dirty="0">
                <a:latin typeface="Consolas" panose="020B0609020204030204" pitchFamily="49" charset="0"/>
              </a:rPr>
              <a:t>&gt; #Alternativamente</a:t>
            </a:r>
          </a:p>
          <a:p>
            <a:pPr marL="0" indent="0">
              <a:buNone/>
            </a:pPr>
            <a:r>
              <a:rPr lang="de-DE" sz="1600" dirty="0">
                <a:latin typeface="Consolas" panose="020B0609020204030204" pitchFamily="49" charset="0"/>
              </a:rPr>
              <a:t>&gt; t_1 &lt;- (5.1014-mu)*sqrt(n)/sqrt(s_2i)</a:t>
            </a:r>
          </a:p>
          <a:p>
            <a:pPr marL="0" indent="0">
              <a:buNone/>
            </a:pPr>
            <a:r>
              <a:rPr lang="de-DE" sz="1600" dirty="0">
                <a:latin typeface="Consolas" panose="020B0609020204030204" pitchFamily="49" charset="0"/>
              </a:rPr>
              <a:t>&gt; t_1</a:t>
            </a:r>
          </a:p>
          <a:p>
            <a:pPr marL="0" indent="0">
              <a:buNone/>
            </a:pPr>
            <a:r>
              <a:rPr lang="de-DE" sz="1600" dirty="0">
                <a:latin typeface="Consolas" panose="020B0609020204030204" pitchFamily="49" charset="0"/>
              </a:rPr>
              <a:t>[1] -1.344901</a:t>
            </a:r>
          </a:p>
          <a:p>
            <a:pPr marL="0" indent="0">
              <a:buNone/>
            </a:pPr>
            <a:endParaRPr lang="de-DE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e-DE" sz="1600" dirty="0">
                <a:latin typeface="Consolas" panose="020B0609020204030204" pitchFamily="49" charset="0"/>
              </a:rPr>
              <a:t>&gt; t_2 &lt;- (6.8986-mu)*sqrt(n)/sqrt(s_2i)</a:t>
            </a:r>
          </a:p>
          <a:p>
            <a:pPr marL="0" indent="0">
              <a:buNone/>
            </a:pPr>
            <a:r>
              <a:rPr lang="de-DE" sz="1600" dirty="0">
                <a:latin typeface="Consolas" panose="020B0609020204030204" pitchFamily="49" charset="0"/>
              </a:rPr>
              <a:t>&gt; t_2</a:t>
            </a:r>
          </a:p>
          <a:p>
            <a:pPr marL="0" indent="0">
              <a:buNone/>
            </a:pPr>
            <a:r>
              <a:rPr lang="de-DE" sz="1600" dirty="0">
                <a:latin typeface="Consolas" panose="020B0609020204030204" pitchFamily="49" charset="0"/>
              </a:rPr>
              <a:t>[1] 1.344901</a:t>
            </a:r>
          </a:p>
          <a:p>
            <a:pPr marL="0" indent="0">
              <a:buNone/>
            </a:pPr>
            <a:endParaRPr lang="de-DE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e-DE" sz="1600" dirty="0">
                <a:latin typeface="Consolas" panose="020B0609020204030204" pitchFamily="49" charset="0"/>
              </a:rPr>
              <a:t>&gt; pt(q = t_2, df = n-1) - pt(q = t_1, df = n-1)</a:t>
            </a:r>
          </a:p>
          <a:p>
            <a:pPr marL="0" indent="0">
              <a:buNone/>
            </a:pPr>
            <a:r>
              <a:rPr lang="de-DE" sz="1600" dirty="0">
                <a:highlight>
                  <a:srgbClr val="FFFF00"/>
                </a:highlight>
                <a:latin typeface="Consolas" panose="020B0609020204030204" pitchFamily="49" charset="0"/>
              </a:rPr>
              <a:t>[1] 0.7999593</a:t>
            </a:r>
            <a:endParaRPr lang="es-ES" sz="16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20322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Propuesto 7.7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2160"/>
            <a:ext cx="10515600" cy="5404803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0" indent="0">
              <a:buNone/>
            </a:pPr>
            <a:r>
              <a:rPr lang="de-DE" sz="1600" dirty="0">
                <a:latin typeface="Consolas" panose="020B0609020204030204" pitchFamily="49" charset="0"/>
              </a:rPr>
              <a:t>&gt; data.frame(x = c(-4, 4)) %&gt;% </a:t>
            </a:r>
          </a:p>
          <a:p>
            <a:pPr marL="0" indent="0">
              <a:buNone/>
            </a:pPr>
            <a:r>
              <a:rPr lang="de-DE" sz="1600" dirty="0">
                <a:latin typeface="Consolas" panose="020B0609020204030204" pitchFamily="49" charset="0"/>
              </a:rPr>
              <a:t>+   ggplot(aes(x)) +</a:t>
            </a:r>
          </a:p>
          <a:p>
            <a:pPr marL="0" indent="0">
              <a:buNone/>
            </a:pPr>
            <a:r>
              <a:rPr lang="de-DE" sz="1600" dirty="0">
                <a:latin typeface="Consolas" panose="020B0609020204030204" pitchFamily="49" charset="0"/>
              </a:rPr>
              <a:t>+   stat_function(fun = dt, </a:t>
            </a:r>
          </a:p>
          <a:p>
            <a:pPr marL="0" indent="0">
              <a:buNone/>
            </a:pPr>
            <a:r>
              <a:rPr lang="de-DE" sz="1600" dirty="0">
                <a:latin typeface="Consolas" panose="020B0609020204030204" pitchFamily="49" charset="0"/>
              </a:rPr>
              <a:t>+                 n = 10000, </a:t>
            </a:r>
          </a:p>
          <a:p>
            <a:pPr marL="0" indent="0">
              <a:buNone/>
            </a:pPr>
            <a:r>
              <a:rPr lang="de-DE" sz="1600" dirty="0">
                <a:latin typeface="Consolas" panose="020B0609020204030204" pitchFamily="49" charset="0"/>
              </a:rPr>
              <a:t>+                 args = list(df = n - 1)) +</a:t>
            </a:r>
          </a:p>
          <a:p>
            <a:pPr marL="0" indent="0">
              <a:buNone/>
            </a:pPr>
            <a:r>
              <a:rPr lang="de-DE" sz="1600" dirty="0">
                <a:latin typeface="Consolas" panose="020B0609020204030204" pitchFamily="49" charset="0"/>
              </a:rPr>
              <a:t>+   geom_area(stat = 'function', </a:t>
            </a:r>
          </a:p>
          <a:p>
            <a:pPr marL="0" indent="0">
              <a:buNone/>
            </a:pPr>
            <a:r>
              <a:rPr lang="de-DE" sz="1600" dirty="0">
                <a:latin typeface="Consolas" panose="020B0609020204030204" pitchFamily="49" charset="0"/>
              </a:rPr>
              <a:t>+             fun = dt, </a:t>
            </a:r>
          </a:p>
          <a:p>
            <a:pPr marL="0" indent="0">
              <a:buNone/>
            </a:pPr>
            <a:r>
              <a:rPr lang="de-DE" sz="1600" dirty="0">
                <a:latin typeface="Consolas" panose="020B0609020204030204" pitchFamily="49" charset="0"/>
              </a:rPr>
              <a:t>+             args = list(df = n - 1), </a:t>
            </a:r>
          </a:p>
          <a:p>
            <a:pPr marL="0" indent="0">
              <a:buNone/>
            </a:pPr>
            <a:r>
              <a:rPr lang="de-DE" sz="1600" dirty="0">
                <a:latin typeface="Consolas" panose="020B0609020204030204" pitchFamily="49" charset="0"/>
              </a:rPr>
              <a:t>+             fill = 'blue', </a:t>
            </a:r>
          </a:p>
          <a:p>
            <a:pPr marL="0" indent="0">
              <a:buNone/>
            </a:pPr>
            <a:r>
              <a:rPr lang="de-DE" sz="1600" dirty="0">
                <a:latin typeface="Consolas" panose="020B0609020204030204" pitchFamily="49" charset="0"/>
              </a:rPr>
              <a:t>+             xlim = c(t_1, t_2), </a:t>
            </a:r>
          </a:p>
          <a:p>
            <a:pPr marL="0" indent="0">
              <a:buNone/>
            </a:pPr>
            <a:r>
              <a:rPr lang="de-DE" sz="1600" dirty="0">
                <a:latin typeface="Consolas" panose="020B0609020204030204" pitchFamily="49" charset="0"/>
              </a:rPr>
              <a:t>+             alpha = 0.3) +</a:t>
            </a:r>
          </a:p>
          <a:p>
            <a:pPr marL="0" indent="0">
              <a:buNone/>
            </a:pPr>
            <a:r>
              <a:rPr lang="de-DE" sz="1600" dirty="0">
                <a:latin typeface="Consolas" panose="020B0609020204030204" pitchFamily="49" charset="0"/>
              </a:rPr>
              <a:t>+   labs(title = "Propuesto 7.7 (iii)", </a:t>
            </a:r>
          </a:p>
          <a:p>
            <a:pPr marL="0" indent="0">
              <a:buNone/>
            </a:pPr>
            <a:r>
              <a:rPr lang="de-DE" sz="1600" dirty="0">
                <a:latin typeface="Consolas" panose="020B0609020204030204" pitchFamily="49" charset="0"/>
              </a:rPr>
              <a:t>+        subtitle = "Chi-Cuadrada", </a:t>
            </a:r>
          </a:p>
          <a:p>
            <a:pPr marL="0" indent="0">
              <a:buNone/>
            </a:pPr>
            <a:r>
              <a:rPr lang="de-DE" sz="1600" dirty="0">
                <a:latin typeface="Consolas" panose="020B0609020204030204" pitchFamily="49" charset="0"/>
              </a:rPr>
              <a:t>+        x = "T", </a:t>
            </a:r>
          </a:p>
          <a:p>
            <a:pPr marL="0" indent="0">
              <a:buNone/>
            </a:pPr>
            <a:r>
              <a:rPr lang="de-DE" sz="1600" dirty="0">
                <a:latin typeface="Consolas" panose="020B0609020204030204" pitchFamily="49" charset="0"/>
              </a:rPr>
              <a:t>+        y = "Densidad f(x)") +</a:t>
            </a:r>
          </a:p>
          <a:p>
            <a:pPr marL="0" indent="0">
              <a:buNone/>
            </a:pPr>
            <a:r>
              <a:rPr lang="de-DE" sz="1600" dirty="0">
                <a:latin typeface="Consolas" panose="020B0609020204030204" pitchFamily="49" charset="0"/>
              </a:rPr>
              <a:t>+   theme_bw() + </a:t>
            </a:r>
          </a:p>
          <a:p>
            <a:pPr marL="0" indent="0">
              <a:buNone/>
            </a:pPr>
            <a:r>
              <a:rPr lang="de-DE" sz="1600" dirty="0">
                <a:latin typeface="Consolas" panose="020B0609020204030204" pitchFamily="49" charset="0"/>
              </a:rPr>
              <a:t>+   theme(panel.grid.major.x = element_blank(), </a:t>
            </a:r>
          </a:p>
          <a:p>
            <a:pPr marL="0" indent="0">
              <a:buNone/>
            </a:pPr>
            <a:r>
              <a:rPr lang="de-DE" sz="1600" dirty="0">
                <a:latin typeface="Consolas" panose="020B0609020204030204" pitchFamily="49" charset="0"/>
              </a:rPr>
              <a:t>+         panel.grid.minor.x = element_blank(), </a:t>
            </a:r>
          </a:p>
          <a:p>
            <a:pPr marL="0" indent="0">
              <a:buNone/>
            </a:pPr>
            <a:r>
              <a:rPr lang="de-DE" sz="1600" dirty="0">
                <a:latin typeface="Consolas" panose="020B0609020204030204" pitchFamily="49" charset="0"/>
              </a:rPr>
              <a:t>+         panel.grid.minor.y = element_blank())</a:t>
            </a:r>
          </a:p>
        </p:txBody>
      </p:sp>
    </p:spTree>
    <p:extLst>
      <p:ext uri="{BB962C8B-B14F-4D97-AF65-F5344CB8AC3E}">
        <p14:creationId xmlns:p14="http://schemas.microsoft.com/office/powerpoint/2010/main" val="208988218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Propuesto 7.7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47DBBC-C9C9-9483-3CFB-89710539A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435" y="999000"/>
            <a:ext cx="6339130" cy="48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633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BB7AA6-FADF-4C74-BB6D-7BFBB63F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Proporción muestral</a:t>
            </a:r>
            <a:endParaRPr lang="es-419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6D3240-91F8-449F-81B7-432D6F81E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Definición y distribución</a:t>
            </a:r>
          </a:p>
        </p:txBody>
      </p:sp>
    </p:spTree>
    <p:extLst>
      <p:ext uri="{BB962C8B-B14F-4D97-AF65-F5344CB8AC3E}">
        <p14:creationId xmlns:p14="http://schemas.microsoft.com/office/powerpoint/2010/main" val="1884966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419" dirty="0"/>
                  <a:t>Proporción muestral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</m:acc>
                  </m:oMath>
                </a14:m>
                <a:endParaRPr lang="en-US" b="1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7" t="-8257" b="-2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Acercamiento a proporciones poblacionales </a:t>
                </a: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 en el que se establece como cociente de una </a:t>
                </a:r>
                <a:r>
                  <a:rPr lang="es-419" b="1" dirty="0">
                    <a:solidFill>
                      <a:srgbClr val="003A5D"/>
                    </a:solidFill>
                    <a:ea typeface="Cambria Math" panose="02040503050406030204" pitchFamily="18" charset="0"/>
                  </a:rPr>
                  <a:t>característica deseada </a:t>
                </a:r>
                <a:r>
                  <a:rPr lang="es-419" dirty="0">
                    <a:ea typeface="Cambria Math" panose="02040503050406030204" pitchFamily="18" charset="0"/>
                  </a:rPr>
                  <a:t>sobre el </a:t>
                </a:r>
                <a:r>
                  <a:rPr lang="es-419" b="1" dirty="0">
                    <a:solidFill>
                      <a:srgbClr val="003A5D"/>
                    </a:solidFill>
                    <a:ea typeface="Cambria Math" panose="02040503050406030204" pitchFamily="18" charset="0"/>
                  </a:rPr>
                  <a:t>total de la población</a:t>
                </a:r>
                <a:r>
                  <a:rPr lang="es-419" dirty="0">
                    <a:ea typeface="Cambria Math" panose="020405030504060302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Formula del estadístico a través de una muestra con reemplazamiento: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419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Donde </a:t>
                </a:r>
                <a:r>
                  <a:rPr lang="es-419" b="1" i="1" dirty="0">
                    <a:solidFill>
                      <a:srgbClr val="003A5D"/>
                    </a:solidFill>
                    <a:ea typeface="Cambria Math" panose="02040503050406030204" pitchFamily="18" charset="0"/>
                  </a:rPr>
                  <a:t>n</a:t>
                </a:r>
                <a:r>
                  <a:rPr lang="es-419" dirty="0">
                    <a:ea typeface="Cambria Math" panose="02040503050406030204" pitchFamily="18" charset="0"/>
                  </a:rPr>
                  <a:t> es el tamaño de la muestra y </a:t>
                </a:r>
                <a:r>
                  <a:rPr lang="es-419" b="1" i="1" dirty="0">
                    <a:solidFill>
                      <a:srgbClr val="003A5D"/>
                    </a:solidFill>
                    <a:ea typeface="Cambria Math" panose="02040503050406030204" pitchFamily="18" charset="0"/>
                  </a:rPr>
                  <a:t>x </a:t>
                </a:r>
                <a:r>
                  <a:rPr lang="es-419" dirty="0">
                    <a:ea typeface="Cambria Math" panose="02040503050406030204" pitchFamily="18" charset="0"/>
                  </a:rPr>
                  <a:t>el número de elementos de la muestra con determinada característica. </a:t>
                </a:r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Si una muestra aleatoria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x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1</a:t>
                </a:r>
                <a:r>
                  <a:rPr lang="es-419" dirty="0"/>
                  <a:t>,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x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2</a:t>
                </a:r>
                <a:r>
                  <a:rPr lang="es-419" dirty="0"/>
                  <a:t>,…, </a:t>
                </a:r>
                <a:r>
                  <a:rPr lang="es-419" b="1" i="1" dirty="0" err="1">
                    <a:solidFill>
                      <a:srgbClr val="003A5D"/>
                    </a:solidFill>
                  </a:rPr>
                  <a:t>x</a:t>
                </a:r>
                <a:r>
                  <a:rPr lang="es-419" b="1" i="1" baseline="-25000" dirty="0" err="1">
                    <a:solidFill>
                      <a:srgbClr val="003A5D"/>
                    </a:solidFill>
                  </a:rPr>
                  <a:t>n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 </a:t>
                </a:r>
                <a:r>
                  <a:rPr lang="es-419" dirty="0"/>
                  <a:t>de tamaño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n</a:t>
                </a:r>
                <a:r>
                  <a:rPr lang="es-419" dirty="0"/>
                  <a:t> de una población binomial con </a:t>
                </a: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s-419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 </a:t>
                </a:r>
                <a:endParaRPr lang="es-419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𝑛𝑝</m:t>
                    </m:r>
                  </m:oMath>
                </a14:m>
                <a:r>
                  <a:rPr lang="es-419" dirty="0"/>
                  <a:t>, </a:t>
                </a: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𝑛𝑝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es-419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462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419" dirty="0"/>
                  <a:t>Distribución de proporción muestral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</m:acc>
                  </m:oMath>
                </a14:m>
                <a:endParaRPr lang="en-US" b="1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1507" t="-8257" b="-2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s-419" dirty="0"/>
                  <a:t> </a:t>
                </a: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𝑛𝑝</m:t>
                        </m:r>
                      </m:num>
                      <m:den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s-419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s-419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𝑛𝑝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𝑝𝑞</m:t>
                        </m:r>
                      </m:num>
                      <m:den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s-419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Si la población sigue una binomial, el estadístico también.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Empleando el </a:t>
                </a:r>
                <a:r>
                  <a:rPr lang="es-419" b="1" dirty="0">
                    <a:solidFill>
                      <a:srgbClr val="003A5D"/>
                    </a:solidFill>
                  </a:rPr>
                  <a:t>teorema binomial </a:t>
                </a:r>
                <a:r>
                  <a:rPr lang="es-419" dirty="0"/>
                  <a:t>y </a:t>
                </a:r>
                <a:r>
                  <a:rPr lang="es-419" b="1" dirty="0">
                    <a:solidFill>
                      <a:srgbClr val="003A5D"/>
                    </a:solidFill>
                  </a:rPr>
                  <a:t>TLC</a:t>
                </a:r>
                <a:r>
                  <a:rPr lang="es-419" dirty="0"/>
                  <a:t> (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n</a:t>
                </a:r>
                <a:r>
                  <a:rPr lang="es-419" dirty="0"/>
                  <a:t>&gt;30).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419" dirty="0"/>
                  <a:t>,</a:t>
                </a:r>
                <a:r>
                  <a:rPr lang="es-419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𝑝𝑞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419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acc>
                      <m:accPr>
                        <m:chr m:val="̂"/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m:rPr>
                        <m:nor/>
                      </m:rPr>
                      <a:rPr lang="es-419" dirty="0"/>
                      <m:t>,</m:t>
                    </m:r>
                    <m:r>
                      <m:rPr>
                        <m:nor/>
                      </m:rPr>
                      <a:rPr lang="es-419" dirty="0"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419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s-419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s-419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∞</m:t>
                            </m:r>
                          </m:lim>
                        </m:limLow>
                      </m:fName>
                      <m:e>
                        <m:acc>
                          <m:accPr>
                            <m:chr m:val="̂"/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nor/>
                          </m:rPr>
                          <a:rPr lang="es-419" dirty="0"/>
                          <m:t>,</m:t>
                        </m:r>
                        <m:r>
                          <m:rPr>
                            <m:nor/>
                          </m:rPr>
                          <a:rPr lang="es-419" dirty="0">
                            <a:ea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es-419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s-419" dirty="0"/>
                          <m:t> </m:t>
                        </m:r>
                      </m:e>
                    </m:func>
                  </m:oMath>
                </a14:m>
                <a:r>
                  <a:rPr lang="es-419" dirty="0"/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s-419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̂"/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pt-B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rad>
                          </m:den>
                        </m:f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s-419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es-419" dirty="0"/>
                          <m:t>,</m:t>
                        </m:r>
                        <m:r>
                          <a:rPr lang="es-419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s-419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s-419" dirty="0"/>
                          <m:t> </m:t>
                        </m:r>
                      </m:e>
                    </m:func>
                  </m:oMath>
                </a14:m>
                <a:endParaRPr lang="es-419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56548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8BDB2-E18E-4378-A323-B877A523D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Propuesto 7.16 (Resolver solamente 7.16)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55348-03DD-42CE-B1C6-3C00C43A3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VE" i="1" dirty="0"/>
              <a:t>7.15: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VE" i="1" dirty="0"/>
              <a:t>Dada una muestra aleatoria de tamaño 40 de una población binomial, donde p = 0,25 calcular la probabilidad de que la proporción muestral esté entre 0,20 y 0,30.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VE" i="1" dirty="0"/>
              <a:t>7.16: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VE" i="1" dirty="0"/>
              <a:t>Usar la aproximación normal para calcular la probabilidad pedida en el ejercicio anterior</a:t>
            </a:r>
            <a:endParaRPr lang="es-419" i="1" dirty="0"/>
          </a:p>
          <a:p>
            <a:pPr marL="0" indent="0">
              <a:buNone/>
            </a:pPr>
            <a:endParaRPr lang="es-419" i="1" dirty="0"/>
          </a:p>
        </p:txBody>
      </p:sp>
    </p:spTree>
    <p:extLst>
      <p:ext uri="{BB962C8B-B14F-4D97-AF65-F5344CB8AC3E}">
        <p14:creationId xmlns:p14="http://schemas.microsoft.com/office/powerpoint/2010/main" val="251241018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Propuesto 7.15 y 7.16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2160"/>
            <a:ext cx="10515600" cy="5404803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&gt; n &lt;- 40</a:t>
            </a:r>
          </a:p>
          <a:p>
            <a:pPr marL="0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&gt; p &lt;- 0.25</a:t>
            </a:r>
          </a:p>
          <a:p>
            <a:pPr marL="0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&gt; q &lt;- 1 - p</a:t>
            </a:r>
          </a:p>
          <a:p>
            <a:pPr marL="0" indent="0">
              <a:buNone/>
            </a:pPr>
            <a:endParaRPr lang="es-E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&gt; mu &lt;- p</a:t>
            </a:r>
          </a:p>
          <a:p>
            <a:pPr marL="0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&gt; </a:t>
            </a:r>
            <a:r>
              <a:rPr lang="es-ES" sz="2400" dirty="0" err="1">
                <a:latin typeface="Consolas" panose="020B0609020204030204" pitchFamily="49" charset="0"/>
              </a:rPr>
              <a:t>var_p</a:t>
            </a:r>
            <a:r>
              <a:rPr lang="es-ES" sz="2400" dirty="0">
                <a:latin typeface="Consolas" panose="020B0609020204030204" pitchFamily="49" charset="0"/>
              </a:rPr>
              <a:t> &lt;- p*q/n</a:t>
            </a:r>
          </a:p>
          <a:p>
            <a:pPr marL="0" indent="0">
              <a:buNone/>
            </a:pPr>
            <a:endParaRPr lang="es-E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&gt; </a:t>
            </a:r>
            <a:r>
              <a:rPr lang="es-ES" sz="2400" dirty="0" err="1">
                <a:latin typeface="Consolas" panose="020B0609020204030204" pitchFamily="49" charset="0"/>
              </a:rPr>
              <a:t>pnorm</a:t>
            </a:r>
            <a:r>
              <a:rPr lang="es-ES" sz="2400" dirty="0">
                <a:latin typeface="Consolas" panose="020B0609020204030204" pitchFamily="49" charset="0"/>
              </a:rPr>
              <a:t>(0.3, mu, </a:t>
            </a:r>
            <a:r>
              <a:rPr lang="es-ES" sz="2400" dirty="0" err="1">
                <a:latin typeface="Consolas" panose="020B0609020204030204" pitchFamily="49" charset="0"/>
              </a:rPr>
              <a:t>sqrt</a:t>
            </a:r>
            <a:r>
              <a:rPr lang="es-ES" sz="2400" dirty="0">
                <a:latin typeface="Consolas" panose="020B0609020204030204" pitchFamily="49" charset="0"/>
              </a:rPr>
              <a:t>(</a:t>
            </a:r>
            <a:r>
              <a:rPr lang="es-ES" sz="2400" dirty="0" err="1">
                <a:latin typeface="Consolas" panose="020B0609020204030204" pitchFamily="49" charset="0"/>
              </a:rPr>
              <a:t>var_p</a:t>
            </a:r>
            <a:r>
              <a:rPr lang="es-ES" sz="2400" dirty="0">
                <a:latin typeface="Consolas" panose="020B0609020204030204" pitchFamily="49" charset="0"/>
              </a:rPr>
              <a:t>)) - </a:t>
            </a:r>
            <a:r>
              <a:rPr lang="es-ES" sz="2400" dirty="0" err="1">
                <a:latin typeface="Consolas" panose="020B0609020204030204" pitchFamily="49" charset="0"/>
              </a:rPr>
              <a:t>pnorm</a:t>
            </a:r>
            <a:r>
              <a:rPr lang="es-ES" sz="2400" dirty="0">
                <a:latin typeface="Consolas" panose="020B0609020204030204" pitchFamily="49" charset="0"/>
              </a:rPr>
              <a:t>(0.2, mu, </a:t>
            </a:r>
            <a:r>
              <a:rPr lang="es-ES" sz="2400" dirty="0" err="1">
                <a:latin typeface="Consolas" panose="020B0609020204030204" pitchFamily="49" charset="0"/>
              </a:rPr>
              <a:t>sqrt</a:t>
            </a:r>
            <a:r>
              <a:rPr lang="es-ES" sz="2400" dirty="0">
                <a:latin typeface="Consolas" panose="020B0609020204030204" pitchFamily="49" charset="0"/>
              </a:rPr>
              <a:t>(</a:t>
            </a:r>
            <a:r>
              <a:rPr lang="es-ES" sz="2400" dirty="0" err="1">
                <a:latin typeface="Consolas" panose="020B0609020204030204" pitchFamily="49" charset="0"/>
              </a:rPr>
              <a:t>var_p</a:t>
            </a:r>
            <a:r>
              <a:rPr lang="es-ES" sz="2400" dirty="0"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s-ES" sz="2400" dirty="0">
                <a:highlight>
                  <a:srgbClr val="FFFF00"/>
                </a:highlight>
                <a:latin typeface="Consolas" panose="020B0609020204030204" pitchFamily="49" charset="0"/>
              </a:rPr>
              <a:t>[1] 0.5347912</a:t>
            </a:r>
          </a:p>
        </p:txBody>
      </p:sp>
    </p:spTree>
    <p:extLst>
      <p:ext uri="{BB962C8B-B14F-4D97-AF65-F5344CB8AC3E}">
        <p14:creationId xmlns:p14="http://schemas.microsoft.com/office/powerpoint/2010/main" val="385627640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Propuesto 7.15 y 7.16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2160"/>
            <a:ext cx="10515600" cy="5404803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0">
              <a:buNone/>
            </a:pPr>
            <a:r>
              <a:rPr lang="pl-PL" dirty="0">
                <a:latin typeface="Consolas" panose="020B0609020204030204" pitchFamily="49" charset="0"/>
              </a:rPr>
              <a:t>&gt; #Alternativamente</a:t>
            </a:r>
          </a:p>
          <a:p>
            <a:pPr marL="0" indent="0">
              <a:buNone/>
            </a:pPr>
            <a:r>
              <a:rPr lang="pl-PL" dirty="0">
                <a:latin typeface="Consolas" panose="020B0609020204030204" pitchFamily="49" charset="0"/>
              </a:rPr>
              <a:t>&gt; z_1 &lt;- (0.2 - mu)/sqrt(var_p)</a:t>
            </a:r>
          </a:p>
          <a:p>
            <a:pPr marL="0" indent="0">
              <a:buNone/>
            </a:pPr>
            <a:r>
              <a:rPr lang="pl-PL" dirty="0">
                <a:latin typeface="Consolas" panose="020B0609020204030204" pitchFamily="49" charset="0"/>
              </a:rPr>
              <a:t>&gt; z_1</a:t>
            </a:r>
          </a:p>
          <a:p>
            <a:pPr marL="0" indent="0">
              <a:buNone/>
            </a:pPr>
            <a:r>
              <a:rPr lang="pl-PL" dirty="0">
                <a:latin typeface="Consolas" panose="020B0609020204030204" pitchFamily="49" charset="0"/>
              </a:rPr>
              <a:t>[1] -0.7302967</a:t>
            </a:r>
          </a:p>
          <a:p>
            <a:pPr marL="0" indent="0">
              <a:buNone/>
            </a:pPr>
            <a:endParaRPr lang="pl-PL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l-PL" dirty="0">
                <a:latin typeface="Consolas" panose="020B0609020204030204" pitchFamily="49" charset="0"/>
              </a:rPr>
              <a:t>&gt; z_2 &lt;- (0.3 - mu)/sqrt(var_p)</a:t>
            </a:r>
          </a:p>
          <a:p>
            <a:pPr marL="0" indent="0">
              <a:buNone/>
            </a:pPr>
            <a:r>
              <a:rPr lang="pl-PL" dirty="0">
                <a:latin typeface="Consolas" panose="020B0609020204030204" pitchFamily="49" charset="0"/>
              </a:rPr>
              <a:t>&gt; z_2</a:t>
            </a:r>
          </a:p>
          <a:p>
            <a:pPr marL="0" indent="0">
              <a:buNone/>
            </a:pPr>
            <a:r>
              <a:rPr lang="pl-PL" dirty="0">
                <a:latin typeface="Consolas" panose="020B0609020204030204" pitchFamily="49" charset="0"/>
              </a:rPr>
              <a:t>[1] 0.7302967</a:t>
            </a:r>
          </a:p>
          <a:p>
            <a:pPr marL="0" indent="0">
              <a:buNone/>
            </a:pPr>
            <a:endParaRPr lang="pl-PL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l-PL" dirty="0">
                <a:latin typeface="Consolas" panose="020B0609020204030204" pitchFamily="49" charset="0"/>
              </a:rPr>
              <a:t>&gt; pnorm(z_2) - pnorm(z_1)</a:t>
            </a:r>
          </a:p>
          <a:p>
            <a:pPr marL="0" indent="0">
              <a:buNone/>
            </a:pPr>
            <a:r>
              <a:rPr lang="pl-PL" dirty="0">
                <a:highlight>
                  <a:srgbClr val="FFFF00"/>
                </a:highlight>
                <a:latin typeface="Consolas" panose="020B0609020204030204" pitchFamily="49" charset="0"/>
              </a:rPr>
              <a:t>[1] 0.5347912</a:t>
            </a:r>
            <a:endParaRPr lang="es-ES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67778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Propuesto 7.15 y 7.16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2160"/>
            <a:ext cx="10515600" cy="5404803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 fontScale="47500" lnSpcReduction="20000"/>
          </a:bodyPr>
          <a:lstStyle/>
          <a:p>
            <a:pPr marL="0" indent="0">
              <a:buNone/>
            </a:pPr>
            <a:r>
              <a:rPr lang="pl-PL" dirty="0">
                <a:latin typeface="Consolas" panose="020B0609020204030204" pitchFamily="49" charset="0"/>
              </a:rPr>
              <a:t>&gt; #</a:t>
            </a:r>
            <a:r>
              <a:rPr lang="es-419" dirty="0">
                <a:latin typeface="Consolas" panose="020B0609020204030204" pitchFamily="49" charset="0"/>
              </a:rPr>
              <a:t>Grafico</a:t>
            </a:r>
            <a:endParaRPr lang="pl-PL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l-PL" dirty="0">
                <a:latin typeface="Consolas" panose="020B0609020204030204" pitchFamily="49" charset="0"/>
              </a:rPr>
              <a:t>&gt; data.frame(x = c(-3.5, 3.5)) %&gt;% </a:t>
            </a:r>
          </a:p>
          <a:p>
            <a:pPr marL="0" indent="0">
              <a:buNone/>
            </a:pPr>
            <a:r>
              <a:rPr lang="pl-PL" dirty="0">
                <a:latin typeface="Consolas" panose="020B0609020204030204" pitchFamily="49" charset="0"/>
              </a:rPr>
              <a:t>+   ggplot(aes(x)) +</a:t>
            </a:r>
          </a:p>
          <a:p>
            <a:pPr marL="0" indent="0">
              <a:buNone/>
            </a:pPr>
            <a:r>
              <a:rPr lang="pl-PL" dirty="0">
                <a:latin typeface="Consolas" panose="020B0609020204030204" pitchFamily="49" charset="0"/>
              </a:rPr>
              <a:t>+   stat_function(fun = dnorm, </a:t>
            </a:r>
          </a:p>
          <a:p>
            <a:pPr marL="0" indent="0">
              <a:buNone/>
            </a:pPr>
            <a:r>
              <a:rPr lang="pl-PL" dirty="0">
                <a:latin typeface="Consolas" panose="020B0609020204030204" pitchFamily="49" charset="0"/>
              </a:rPr>
              <a:t>+                 n = 10000, </a:t>
            </a:r>
          </a:p>
          <a:p>
            <a:pPr marL="0" indent="0">
              <a:buNone/>
            </a:pPr>
            <a:r>
              <a:rPr lang="pl-PL" dirty="0">
                <a:latin typeface="Consolas" panose="020B0609020204030204" pitchFamily="49" charset="0"/>
              </a:rPr>
              <a:t>+                 args = list(mean = 0, sd = 1)) +</a:t>
            </a:r>
          </a:p>
          <a:p>
            <a:pPr marL="0" indent="0">
              <a:buNone/>
            </a:pPr>
            <a:r>
              <a:rPr lang="pl-PL" dirty="0">
                <a:latin typeface="Consolas" panose="020B0609020204030204" pitchFamily="49" charset="0"/>
              </a:rPr>
              <a:t>+   geom_area(stat = 'function', </a:t>
            </a:r>
          </a:p>
          <a:p>
            <a:pPr marL="0" indent="0">
              <a:buNone/>
            </a:pPr>
            <a:r>
              <a:rPr lang="pl-PL" dirty="0">
                <a:latin typeface="Consolas" panose="020B0609020204030204" pitchFamily="49" charset="0"/>
              </a:rPr>
              <a:t>+             fun = dnorm, </a:t>
            </a:r>
          </a:p>
          <a:p>
            <a:pPr marL="0" indent="0">
              <a:buNone/>
            </a:pPr>
            <a:r>
              <a:rPr lang="pl-PL" dirty="0">
                <a:latin typeface="Consolas" panose="020B0609020204030204" pitchFamily="49" charset="0"/>
              </a:rPr>
              <a:t>+             args = list(mean = 0, sd = 1), </a:t>
            </a:r>
          </a:p>
          <a:p>
            <a:pPr marL="0" indent="0">
              <a:buNone/>
            </a:pPr>
            <a:r>
              <a:rPr lang="pl-PL" dirty="0">
                <a:latin typeface="Consolas" panose="020B0609020204030204" pitchFamily="49" charset="0"/>
              </a:rPr>
              <a:t>+             fill = 'blue', </a:t>
            </a:r>
          </a:p>
          <a:p>
            <a:pPr marL="0" indent="0">
              <a:buNone/>
            </a:pPr>
            <a:r>
              <a:rPr lang="pl-PL" dirty="0">
                <a:latin typeface="Consolas" panose="020B0609020204030204" pitchFamily="49" charset="0"/>
              </a:rPr>
              <a:t>+             xlim = c(z_1, z_2), </a:t>
            </a:r>
          </a:p>
          <a:p>
            <a:pPr marL="0" indent="0">
              <a:buNone/>
            </a:pPr>
            <a:r>
              <a:rPr lang="pl-PL" dirty="0">
                <a:latin typeface="Consolas" panose="020B0609020204030204" pitchFamily="49" charset="0"/>
              </a:rPr>
              <a:t>+             alpha = 0.3) +</a:t>
            </a:r>
          </a:p>
          <a:p>
            <a:pPr marL="0" indent="0">
              <a:buNone/>
            </a:pPr>
            <a:r>
              <a:rPr lang="pl-PL" dirty="0">
                <a:latin typeface="Consolas" panose="020B0609020204030204" pitchFamily="49" charset="0"/>
              </a:rPr>
              <a:t>+   labs(title = "Propuesto 7.16", </a:t>
            </a:r>
          </a:p>
          <a:p>
            <a:pPr marL="0" indent="0">
              <a:buNone/>
            </a:pPr>
            <a:r>
              <a:rPr lang="pl-PL" dirty="0">
                <a:latin typeface="Consolas" panose="020B0609020204030204" pitchFamily="49" charset="0"/>
              </a:rPr>
              <a:t>+        subtitle = "Nomral estandarizada", </a:t>
            </a:r>
          </a:p>
          <a:p>
            <a:pPr marL="0" indent="0">
              <a:buNone/>
            </a:pPr>
            <a:r>
              <a:rPr lang="pl-PL" dirty="0">
                <a:latin typeface="Consolas" panose="020B0609020204030204" pitchFamily="49" charset="0"/>
              </a:rPr>
              <a:t>+        x = "Z", </a:t>
            </a:r>
          </a:p>
          <a:p>
            <a:pPr marL="0" indent="0">
              <a:buNone/>
            </a:pPr>
            <a:r>
              <a:rPr lang="pl-PL" dirty="0">
                <a:latin typeface="Consolas" panose="020B0609020204030204" pitchFamily="49" charset="0"/>
              </a:rPr>
              <a:t>+        y = "Densidad f(x)") +</a:t>
            </a:r>
          </a:p>
          <a:p>
            <a:pPr marL="0" indent="0">
              <a:buNone/>
            </a:pPr>
            <a:r>
              <a:rPr lang="pl-PL" dirty="0">
                <a:latin typeface="Consolas" panose="020B0609020204030204" pitchFamily="49" charset="0"/>
              </a:rPr>
              <a:t>+   theme_bw() + </a:t>
            </a:r>
          </a:p>
          <a:p>
            <a:pPr marL="0" indent="0">
              <a:buNone/>
            </a:pPr>
            <a:r>
              <a:rPr lang="pl-PL" dirty="0">
                <a:latin typeface="Consolas" panose="020B0609020204030204" pitchFamily="49" charset="0"/>
              </a:rPr>
              <a:t>+   theme(panel.grid.major.x = element_blank(), </a:t>
            </a:r>
          </a:p>
          <a:p>
            <a:pPr marL="0" indent="0">
              <a:buNone/>
            </a:pPr>
            <a:r>
              <a:rPr lang="pl-PL" dirty="0">
                <a:latin typeface="Consolas" panose="020B0609020204030204" pitchFamily="49" charset="0"/>
              </a:rPr>
              <a:t>+         panel.grid.minor.x = element_blank(), </a:t>
            </a:r>
          </a:p>
          <a:p>
            <a:pPr marL="0" indent="0">
              <a:buNone/>
            </a:pPr>
            <a:r>
              <a:rPr lang="pl-PL" dirty="0">
                <a:latin typeface="Consolas" panose="020B0609020204030204" pitchFamily="49" charset="0"/>
              </a:rPr>
              <a:t>+         panel.grid.minor.y = element_blank())</a:t>
            </a:r>
            <a:endParaRPr lang="es-ES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174041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Propuesto 7.15 y 7.16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744EEA-A2DC-C242-289D-A6AD6039C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992" y="999000"/>
            <a:ext cx="7066017" cy="48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14910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BB7AA6-FADF-4C74-BB6D-7BFBB63F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Diferencia de medias muestrales</a:t>
            </a:r>
            <a:endParaRPr lang="es-419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6D3240-91F8-449F-81B7-432D6F81E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Definición y distribución</a:t>
            </a:r>
          </a:p>
        </p:txBody>
      </p:sp>
    </p:spTree>
    <p:extLst>
      <p:ext uri="{BB962C8B-B14F-4D97-AF65-F5344CB8AC3E}">
        <p14:creationId xmlns:p14="http://schemas.microsoft.com/office/powerpoint/2010/main" val="72664775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419" dirty="0"/>
                  <a:t>Diferencia de medias muestrales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acc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</m:oMath>
                </a14:m>
                <a:endParaRPr lang="en-US" b="1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7" t="-8257" b="-2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Partiendo de dos poblaciones </a:t>
                </a:r>
                <a:r>
                  <a:rPr lang="es-419" b="1" dirty="0">
                    <a:solidFill>
                      <a:srgbClr val="003A5D"/>
                    </a:solidFill>
                  </a:rPr>
                  <a:t>independientes</a:t>
                </a:r>
                <a:r>
                  <a:rPr lang="es-419" dirty="0"/>
                  <a:t> con distribuciones normales.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𝑃𝑜𝑏𝑙𝑎𝑐𝑖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 ~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419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419" i="1">
                          <a:latin typeface="Cambria Math" panose="02040503050406030204" pitchFamily="18" charset="0"/>
                        </a:rPr>
                        <m:t>𝑃𝑜𝑏𝑙𝑎𝑐𝑖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 ~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s-419" i="1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s-419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Se puede elaborar un estadístico que es en sí diferencia de estadísticos.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es-419" dirty="0"/>
                  <a:t>Para varianzas poblacionales </a:t>
                </a:r>
                <a:r>
                  <a:rPr lang="es-419" b="1" dirty="0">
                    <a:solidFill>
                      <a:srgbClr val="003A5D"/>
                    </a:solidFill>
                  </a:rPr>
                  <a:t>conocidas</a:t>
                </a:r>
                <a:r>
                  <a:rPr lang="es-419" dirty="0"/>
                  <a:t>: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s-419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s-419" i="1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s-419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  <m:r>
                      <a:rPr lang="es-419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419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s-419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s-419" i="1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  <m:r>
                      <a:rPr lang="es-419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De forma conjunta: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s-419" b="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s-419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s-419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s-419" i="1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s-419" dirty="0"/>
                  <a:t>))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497870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419" dirty="0"/>
                  <a:t>Distribución de diferencia de medias muestrales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acc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</m:oMath>
                </a14:m>
                <a:endParaRPr lang="en-US" b="1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7" t="-8257" b="-2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Valor esperado: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s-419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s-419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s-419" dirty="0"/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Varianza: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s-419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𝐶𝑜𝑣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s-419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s-419" dirty="0"/>
                  <a:t>)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s-419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s-419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(−</m:t>
                        </m:r>
                        <m: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419" b="0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s-419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</m:oMath>
                </a14:m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s-419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s-419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</m:oMath>
                </a14:m>
                <a:r>
                  <a:rPr lang="es-419" dirty="0"/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234972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419" dirty="0"/>
                  <a:t>Distribución de diferencia de medias muestrales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acc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</m:oMath>
                </a14:m>
                <a:endParaRPr lang="en-US" b="1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7" t="-8257" b="-2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60000"/>
                  </a:lnSpc>
                </a:pPr>
                <a:r>
                  <a:rPr lang="es-419" dirty="0"/>
                  <a:t>Por lo tanto la distribución es:</a:t>
                </a:r>
              </a:p>
              <a:p>
                <a:pPr marL="0" indent="0" algn="ctr">
                  <a:lnSpc>
                    <a:spcPct val="160000"/>
                  </a:lnSpc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s-419" i="1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s-419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nor/>
                      </m:rPr>
                      <a:rPr lang="es-419" dirty="0"/>
                      <m:t>− </m:t>
                    </m:r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s-419" i="1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es-419" dirty="0"/>
                      <m:t>+ 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r>
                  <a:rPr lang="es-419" dirty="0"/>
                  <a:t>)</a:t>
                </a:r>
              </a:p>
              <a:p>
                <a:pPr>
                  <a:lnSpc>
                    <a:spcPct val="160000"/>
                  </a:lnSpc>
                </a:pPr>
                <a:r>
                  <a:rPr lang="es-419" dirty="0"/>
                  <a:t>Para normalizar:</a:t>
                </a: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acc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̅"/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)−(</m:t>
                          </m:r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s-419" dirty="0"/>
                            <m:t>− </m:t>
                          </m:r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  <m:sup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sSub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m:rPr>
                                  <m:nor/>
                                </m:rPr>
                                <a:rPr lang="es-419" dirty="0"/>
                                <m:t>+ </m:t>
                              </m:r>
                              <m:f>
                                <m:f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  <m:sup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sSub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den>
                      </m:f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s-419" b="0" dirty="0"/>
              </a:p>
              <a:p>
                <a:pPr>
                  <a:lnSpc>
                    <a:spcPct val="160000"/>
                  </a:lnSpc>
                </a:pPr>
                <a:r>
                  <a:rPr lang="es-419" dirty="0"/>
                  <a:t>Aplica para poblaciones normalmente distribuidas, y para no-normales se aproxima mediante el Teorema del Límite Central. 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700621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8BDB2-E18E-4378-A323-B877A523D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Propuesto 7.13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955348-03DD-42CE-B1C6-3C00C43A31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s-419" i="1" dirty="0"/>
                  <a:t>Se toma una muestra aleatoria de tamaño 25 de una población con media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s-419" i="1" dirty="0"/>
                  <a:t> y varianza de 25, y otra muestra aleatoria de tamaño 36 de una población con media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s-419" i="1" dirty="0"/>
                  <a:t> y varianza 16.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s-419" i="1" dirty="0"/>
                  <a:t>Calcular la probabilidad de que la diferencia de medias muestrales se diferencie de la diferencia de la media de la población en menos de 3.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s-419" i="1" dirty="0"/>
                  <a:t>En Español: Calcular la probabilidad que la diferencia entre el estadístico y parámetro sea menor a 3.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955348-03DD-42CE-B1C6-3C00C43A31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06705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Propuesto 7.13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2160"/>
            <a:ext cx="10515600" cy="5404803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 fontScale="62500" lnSpcReduction="20000"/>
          </a:bodyPr>
          <a:lstStyle/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#P(|(X_bar - </a:t>
            </a:r>
            <a:r>
              <a:rPr lang="es-ES" dirty="0" err="1">
                <a:latin typeface="Consolas" panose="020B0609020204030204" pitchFamily="49" charset="0"/>
              </a:rPr>
              <a:t>Y_bar</a:t>
            </a:r>
            <a:r>
              <a:rPr lang="es-ES" dirty="0">
                <a:latin typeface="Consolas" panose="020B0609020204030204" pitchFamily="49" charset="0"/>
              </a:rPr>
              <a:t>) - (</a:t>
            </a:r>
            <a:r>
              <a:rPr lang="es-ES" dirty="0" err="1">
                <a:latin typeface="Consolas" panose="020B0609020204030204" pitchFamily="49" charset="0"/>
              </a:rPr>
              <a:t>mu_x</a:t>
            </a:r>
            <a:r>
              <a:rPr lang="es-ES" dirty="0">
                <a:latin typeface="Consolas" panose="020B0609020204030204" pitchFamily="49" charset="0"/>
              </a:rPr>
              <a:t> - </a:t>
            </a:r>
            <a:r>
              <a:rPr lang="es-ES" dirty="0" err="1">
                <a:latin typeface="Consolas" panose="020B0609020204030204" pitchFamily="49" charset="0"/>
              </a:rPr>
              <a:t>mx_y</a:t>
            </a:r>
            <a:r>
              <a:rPr lang="es-ES" dirty="0">
                <a:latin typeface="Consolas" panose="020B0609020204030204" pitchFamily="49" charset="0"/>
              </a:rPr>
              <a:t>)| &lt; 3)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</a:t>
            </a:r>
            <a:r>
              <a:rPr lang="es-ES" dirty="0" err="1">
                <a:latin typeface="Consolas" panose="020B0609020204030204" pitchFamily="49" charset="0"/>
              </a:rPr>
              <a:t>nx</a:t>
            </a:r>
            <a:r>
              <a:rPr lang="es-ES" dirty="0">
                <a:latin typeface="Consolas" panose="020B0609020204030204" pitchFamily="49" charset="0"/>
              </a:rPr>
              <a:t> &lt;- 25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</a:t>
            </a:r>
            <a:r>
              <a:rPr lang="es-ES" dirty="0" err="1">
                <a:latin typeface="Consolas" panose="020B0609020204030204" pitchFamily="49" charset="0"/>
              </a:rPr>
              <a:t>var_x</a:t>
            </a:r>
            <a:r>
              <a:rPr lang="es-ES" dirty="0">
                <a:latin typeface="Consolas" panose="020B0609020204030204" pitchFamily="49" charset="0"/>
              </a:rPr>
              <a:t> &lt;- 25</a:t>
            </a:r>
          </a:p>
          <a:p>
            <a:pPr marL="0" indent="0">
              <a:buNone/>
            </a:pPr>
            <a:endParaRPr lang="es-E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</a:t>
            </a:r>
            <a:r>
              <a:rPr lang="es-ES" dirty="0" err="1">
                <a:latin typeface="Consolas" panose="020B0609020204030204" pitchFamily="49" charset="0"/>
              </a:rPr>
              <a:t>ny</a:t>
            </a:r>
            <a:r>
              <a:rPr lang="es-ES" dirty="0">
                <a:latin typeface="Consolas" panose="020B0609020204030204" pitchFamily="49" charset="0"/>
              </a:rPr>
              <a:t> &lt;- 36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</a:t>
            </a:r>
            <a:r>
              <a:rPr lang="es-ES" dirty="0" err="1">
                <a:latin typeface="Consolas" panose="020B0609020204030204" pitchFamily="49" charset="0"/>
              </a:rPr>
              <a:t>var_y</a:t>
            </a:r>
            <a:r>
              <a:rPr lang="es-ES" dirty="0">
                <a:latin typeface="Consolas" panose="020B0609020204030204" pitchFamily="49" charset="0"/>
              </a:rPr>
              <a:t> &lt;- 16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z_1 &lt;- -3/</a:t>
            </a:r>
            <a:r>
              <a:rPr lang="es-ES" dirty="0" err="1">
                <a:latin typeface="Consolas" panose="020B0609020204030204" pitchFamily="49" charset="0"/>
              </a:rPr>
              <a:t>sqrt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var_x</a:t>
            </a:r>
            <a:r>
              <a:rPr lang="es-ES" dirty="0">
                <a:latin typeface="Consolas" panose="020B0609020204030204" pitchFamily="49" charset="0"/>
              </a:rPr>
              <a:t>/</a:t>
            </a:r>
            <a:r>
              <a:rPr lang="es-ES" dirty="0" err="1">
                <a:latin typeface="Consolas" panose="020B0609020204030204" pitchFamily="49" charset="0"/>
              </a:rPr>
              <a:t>nx</a:t>
            </a:r>
            <a:r>
              <a:rPr lang="es-ES" dirty="0">
                <a:latin typeface="Consolas" panose="020B0609020204030204" pitchFamily="49" charset="0"/>
              </a:rPr>
              <a:t> + </a:t>
            </a:r>
            <a:r>
              <a:rPr lang="es-ES" dirty="0" err="1">
                <a:latin typeface="Consolas" panose="020B0609020204030204" pitchFamily="49" charset="0"/>
              </a:rPr>
              <a:t>var_y</a:t>
            </a:r>
            <a:r>
              <a:rPr lang="es-ES" dirty="0">
                <a:latin typeface="Consolas" panose="020B0609020204030204" pitchFamily="49" charset="0"/>
              </a:rPr>
              <a:t>/</a:t>
            </a:r>
            <a:r>
              <a:rPr lang="es-ES" dirty="0" err="1">
                <a:latin typeface="Consolas" panose="020B0609020204030204" pitchFamily="49" charset="0"/>
              </a:rPr>
              <a:t>ny</a:t>
            </a:r>
            <a:r>
              <a:rPr lang="es-ES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z_1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[1] -2.496151</a:t>
            </a:r>
          </a:p>
          <a:p>
            <a:pPr marL="0" indent="0">
              <a:buNone/>
            </a:pPr>
            <a:endParaRPr lang="es-E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z_2 &lt;- 3/</a:t>
            </a:r>
            <a:r>
              <a:rPr lang="es-ES" dirty="0" err="1">
                <a:latin typeface="Consolas" panose="020B0609020204030204" pitchFamily="49" charset="0"/>
              </a:rPr>
              <a:t>sqrt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var_x</a:t>
            </a:r>
            <a:r>
              <a:rPr lang="es-ES" dirty="0">
                <a:latin typeface="Consolas" panose="020B0609020204030204" pitchFamily="49" charset="0"/>
              </a:rPr>
              <a:t>/</a:t>
            </a:r>
            <a:r>
              <a:rPr lang="es-ES" dirty="0" err="1">
                <a:latin typeface="Consolas" panose="020B0609020204030204" pitchFamily="49" charset="0"/>
              </a:rPr>
              <a:t>nx</a:t>
            </a:r>
            <a:r>
              <a:rPr lang="es-ES" dirty="0">
                <a:latin typeface="Consolas" panose="020B0609020204030204" pitchFamily="49" charset="0"/>
              </a:rPr>
              <a:t> + </a:t>
            </a:r>
            <a:r>
              <a:rPr lang="es-ES" dirty="0" err="1">
                <a:latin typeface="Consolas" panose="020B0609020204030204" pitchFamily="49" charset="0"/>
              </a:rPr>
              <a:t>var_y</a:t>
            </a:r>
            <a:r>
              <a:rPr lang="es-ES" dirty="0">
                <a:latin typeface="Consolas" panose="020B0609020204030204" pitchFamily="49" charset="0"/>
              </a:rPr>
              <a:t>/</a:t>
            </a:r>
            <a:r>
              <a:rPr lang="es-ES" dirty="0" err="1">
                <a:latin typeface="Consolas" panose="020B0609020204030204" pitchFamily="49" charset="0"/>
              </a:rPr>
              <a:t>ny</a:t>
            </a:r>
            <a:r>
              <a:rPr lang="es-ES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z_2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[1] 2.496151</a:t>
            </a:r>
          </a:p>
          <a:p>
            <a:pPr marL="0" indent="0">
              <a:buNone/>
            </a:pPr>
            <a:endParaRPr lang="es-E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</a:t>
            </a:r>
            <a:r>
              <a:rPr lang="es-ES" dirty="0" err="1">
                <a:latin typeface="Consolas" panose="020B0609020204030204" pitchFamily="49" charset="0"/>
              </a:rPr>
              <a:t>pnorm</a:t>
            </a:r>
            <a:r>
              <a:rPr lang="es-ES" dirty="0">
                <a:latin typeface="Consolas" panose="020B0609020204030204" pitchFamily="49" charset="0"/>
              </a:rPr>
              <a:t>(z_2) - </a:t>
            </a:r>
            <a:r>
              <a:rPr lang="es-ES" dirty="0" err="1">
                <a:latin typeface="Consolas" panose="020B0609020204030204" pitchFamily="49" charset="0"/>
              </a:rPr>
              <a:t>pnorm</a:t>
            </a:r>
            <a:r>
              <a:rPr lang="es-ES" dirty="0">
                <a:latin typeface="Consolas" panose="020B0609020204030204" pitchFamily="49" charset="0"/>
              </a:rPr>
              <a:t>(z_1)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[1] 0.9874451</a:t>
            </a:r>
          </a:p>
        </p:txBody>
      </p:sp>
    </p:spTree>
    <p:extLst>
      <p:ext uri="{BB962C8B-B14F-4D97-AF65-F5344CB8AC3E}">
        <p14:creationId xmlns:p14="http://schemas.microsoft.com/office/powerpoint/2010/main" val="204452276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Propuesto 7.13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2160"/>
            <a:ext cx="10515600" cy="5404803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 fontScale="47500" lnSpcReduction="20000"/>
          </a:bodyPr>
          <a:lstStyle/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#Graficando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</a:t>
            </a:r>
            <a:r>
              <a:rPr lang="es-ES" dirty="0" err="1">
                <a:latin typeface="Consolas" panose="020B0609020204030204" pitchFamily="49" charset="0"/>
              </a:rPr>
              <a:t>data.frame</a:t>
            </a:r>
            <a:r>
              <a:rPr lang="es-ES" dirty="0">
                <a:latin typeface="Consolas" panose="020B0609020204030204" pitchFamily="49" charset="0"/>
              </a:rPr>
              <a:t>(x = c(-3.5, 3.5)) %&gt;%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</a:t>
            </a:r>
            <a:r>
              <a:rPr lang="es-ES" dirty="0" err="1">
                <a:latin typeface="Consolas" panose="020B0609020204030204" pitchFamily="49" charset="0"/>
              </a:rPr>
              <a:t>ggplot</a:t>
            </a:r>
            <a:r>
              <a:rPr lang="es-ES" dirty="0">
                <a:latin typeface="Consolas" panose="020B0609020204030204" pitchFamily="49" charset="0"/>
              </a:rPr>
              <a:t>(aes(x)) +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</a:t>
            </a:r>
            <a:r>
              <a:rPr lang="es-ES" dirty="0" err="1">
                <a:latin typeface="Consolas" panose="020B0609020204030204" pitchFamily="49" charset="0"/>
              </a:rPr>
              <a:t>stat_function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fun</a:t>
            </a:r>
            <a:r>
              <a:rPr lang="es-ES" dirty="0">
                <a:latin typeface="Consolas" panose="020B0609020204030204" pitchFamily="49" charset="0"/>
              </a:rPr>
              <a:t> = </a:t>
            </a:r>
            <a:r>
              <a:rPr lang="es-ES" dirty="0" err="1">
                <a:latin typeface="Consolas" panose="020B0609020204030204" pitchFamily="49" charset="0"/>
              </a:rPr>
              <a:t>dnorm</a:t>
            </a:r>
            <a:r>
              <a:rPr lang="es-ES" dirty="0">
                <a:latin typeface="Consolas" panose="020B0609020204030204" pitchFamily="49" charset="0"/>
              </a:rPr>
              <a:t>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        n = 10000,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        </a:t>
            </a:r>
            <a:r>
              <a:rPr lang="es-ES" dirty="0" err="1">
                <a:latin typeface="Consolas" panose="020B0609020204030204" pitchFamily="49" charset="0"/>
              </a:rPr>
              <a:t>args</a:t>
            </a:r>
            <a:r>
              <a:rPr lang="es-ES" dirty="0">
                <a:latin typeface="Consolas" panose="020B0609020204030204" pitchFamily="49" charset="0"/>
              </a:rPr>
              <a:t> = </a:t>
            </a:r>
            <a:r>
              <a:rPr lang="es-ES" dirty="0" err="1">
                <a:latin typeface="Consolas" panose="020B0609020204030204" pitchFamily="49" charset="0"/>
              </a:rPr>
              <a:t>list</a:t>
            </a:r>
            <a:r>
              <a:rPr lang="es-ES" dirty="0">
                <a:latin typeface="Consolas" panose="020B0609020204030204" pitchFamily="49" charset="0"/>
              </a:rPr>
              <a:t>(mean = 0, </a:t>
            </a:r>
            <a:r>
              <a:rPr lang="es-ES" dirty="0" err="1">
                <a:latin typeface="Consolas" panose="020B0609020204030204" pitchFamily="49" charset="0"/>
              </a:rPr>
              <a:t>sd</a:t>
            </a:r>
            <a:r>
              <a:rPr lang="es-ES" dirty="0">
                <a:latin typeface="Consolas" panose="020B0609020204030204" pitchFamily="49" charset="0"/>
              </a:rPr>
              <a:t> = 1)) +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</a:t>
            </a:r>
            <a:r>
              <a:rPr lang="es-ES" dirty="0" err="1">
                <a:latin typeface="Consolas" panose="020B0609020204030204" pitchFamily="49" charset="0"/>
              </a:rPr>
              <a:t>geom_area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stat</a:t>
            </a:r>
            <a:r>
              <a:rPr lang="es-ES" dirty="0">
                <a:latin typeface="Consolas" panose="020B0609020204030204" pitchFamily="49" charset="0"/>
              </a:rPr>
              <a:t> = '</a:t>
            </a:r>
            <a:r>
              <a:rPr lang="es-ES" dirty="0" err="1">
                <a:latin typeface="Consolas" panose="020B0609020204030204" pitchFamily="49" charset="0"/>
              </a:rPr>
              <a:t>function</a:t>
            </a:r>
            <a:r>
              <a:rPr lang="es-ES" dirty="0">
                <a:latin typeface="Consolas" panose="020B0609020204030204" pitchFamily="49" charset="0"/>
              </a:rPr>
              <a:t>',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    </a:t>
            </a:r>
            <a:r>
              <a:rPr lang="es-ES" dirty="0" err="1">
                <a:latin typeface="Consolas" panose="020B0609020204030204" pitchFamily="49" charset="0"/>
              </a:rPr>
              <a:t>fun</a:t>
            </a:r>
            <a:r>
              <a:rPr lang="es-ES" dirty="0">
                <a:latin typeface="Consolas" panose="020B0609020204030204" pitchFamily="49" charset="0"/>
              </a:rPr>
              <a:t> = </a:t>
            </a:r>
            <a:r>
              <a:rPr lang="es-ES" dirty="0" err="1">
                <a:latin typeface="Consolas" panose="020B0609020204030204" pitchFamily="49" charset="0"/>
              </a:rPr>
              <a:t>dnorm</a:t>
            </a:r>
            <a:r>
              <a:rPr lang="es-ES" dirty="0">
                <a:latin typeface="Consolas" panose="020B0609020204030204" pitchFamily="49" charset="0"/>
              </a:rPr>
              <a:t>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    </a:t>
            </a:r>
            <a:r>
              <a:rPr lang="es-ES" dirty="0" err="1">
                <a:latin typeface="Consolas" panose="020B0609020204030204" pitchFamily="49" charset="0"/>
              </a:rPr>
              <a:t>args</a:t>
            </a:r>
            <a:r>
              <a:rPr lang="es-ES" dirty="0">
                <a:latin typeface="Consolas" panose="020B0609020204030204" pitchFamily="49" charset="0"/>
              </a:rPr>
              <a:t> = </a:t>
            </a:r>
            <a:r>
              <a:rPr lang="es-ES" dirty="0" err="1">
                <a:latin typeface="Consolas" panose="020B0609020204030204" pitchFamily="49" charset="0"/>
              </a:rPr>
              <a:t>list</a:t>
            </a:r>
            <a:r>
              <a:rPr lang="es-ES" dirty="0">
                <a:latin typeface="Consolas" panose="020B0609020204030204" pitchFamily="49" charset="0"/>
              </a:rPr>
              <a:t>(mean = 0, </a:t>
            </a:r>
            <a:r>
              <a:rPr lang="es-ES" dirty="0" err="1">
                <a:latin typeface="Consolas" panose="020B0609020204030204" pitchFamily="49" charset="0"/>
              </a:rPr>
              <a:t>sd</a:t>
            </a:r>
            <a:r>
              <a:rPr lang="es-ES" dirty="0">
                <a:latin typeface="Consolas" panose="020B0609020204030204" pitchFamily="49" charset="0"/>
              </a:rPr>
              <a:t> = 1),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    </a:t>
            </a:r>
            <a:r>
              <a:rPr lang="es-ES" dirty="0" err="1">
                <a:latin typeface="Consolas" panose="020B0609020204030204" pitchFamily="49" charset="0"/>
              </a:rPr>
              <a:t>fill</a:t>
            </a:r>
            <a:r>
              <a:rPr lang="es-ES" dirty="0">
                <a:latin typeface="Consolas" panose="020B0609020204030204" pitchFamily="49" charset="0"/>
              </a:rPr>
              <a:t> = 'blue',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    </a:t>
            </a:r>
            <a:r>
              <a:rPr lang="es-ES" dirty="0" err="1">
                <a:latin typeface="Consolas" panose="020B0609020204030204" pitchFamily="49" charset="0"/>
              </a:rPr>
              <a:t>xlim</a:t>
            </a:r>
            <a:r>
              <a:rPr lang="es-ES" dirty="0">
                <a:latin typeface="Consolas" panose="020B0609020204030204" pitchFamily="49" charset="0"/>
              </a:rPr>
              <a:t> = c(z_1, z_2),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    </a:t>
            </a:r>
            <a:r>
              <a:rPr lang="es-ES" dirty="0" err="1">
                <a:latin typeface="Consolas" panose="020B0609020204030204" pitchFamily="49" charset="0"/>
              </a:rPr>
              <a:t>alpha</a:t>
            </a:r>
            <a:r>
              <a:rPr lang="es-ES" dirty="0">
                <a:latin typeface="Consolas" panose="020B0609020204030204" pitchFamily="49" charset="0"/>
              </a:rPr>
              <a:t> = 0.3) +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</a:t>
            </a:r>
            <a:r>
              <a:rPr lang="es-ES" dirty="0" err="1">
                <a:latin typeface="Consolas" panose="020B0609020204030204" pitchFamily="49" charset="0"/>
              </a:rPr>
              <a:t>labs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title</a:t>
            </a:r>
            <a:r>
              <a:rPr lang="es-ES" dirty="0">
                <a:latin typeface="Consolas" panose="020B0609020204030204" pitchFamily="49" charset="0"/>
              </a:rPr>
              <a:t> = "Propuesto 7.13",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</a:t>
            </a:r>
            <a:r>
              <a:rPr lang="es-ES" dirty="0" err="1">
                <a:latin typeface="Consolas" panose="020B0609020204030204" pitchFamily="49" charset="0"/>
              </a:rPr>
              <a:t>subtitle</a:t>
            </a:r>
            <a:r>
              <a:rPr lang="es-ES" dirty="0">
                <a:latin typeface="Consolas" panose="020B0609020204030204" pitchFamily="49" charset="0"/>
              </a:rPr>
              <a:t> = "Normal Estandarizada",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x = "Z",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y = "Densidad f(x)") +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</a:t>
            </a:r>
            <a:r>
              <a:rPr lang="es-ES" dirty="0" err="1">
                <a:latin typeface="Consolas" panose="020B0609020204030204" pitchFamily="49" charset="0"/>
              </a:rPr>
              <a:t>theme_bw</a:t>
            </a:r>
            <a:r>
              <a:rPr lang="es-ES" dirty="0">
                <a:latin typeface="Consolas" panose="020B0609020204030204" pitchFamily="49" charset="0"/>
              </a:rPr>
              <a:t>() +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</a:t>
            </a:r>
            <a:r>
              <a:rPr lang="es-ES" dirty="0" err="1">
                <a:latin typeface="Consolas" panose="020B0609020204030204" pitchFamily="49" charset="0"/>
              </a:rPr>
              <a:t>theme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panel.grid.major.x</a:t>
            </a:r>
            <a:r>
              <a:rPr lang="es-ES" dirty="0">
                <a:latin typeface="Consolas" panose="020B0609020204030204" pitchFamily="49" charset="0"/>
              </a:rPr>
              <a:t> = </a:t>
            </a:r>
            <a:r>
              <a:rPr lang="es-ES" dirty="0" err="1">
                <a:latin typeface="Consolas" panose="020B0609020204030204" pitchFamily="49" charset="0"/>
              </a:rPr>
              <a:t>element_blank</a:t>
            </a:r>
            <a:r>
              <a:rPr lang="es-ES" dirty="0">
                <a:latin typeface="Consolas" panose="020B0609020204030204" pitchFamily="49" charset="0"/>
              </a:rPr>
              <a:t>(),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</a:t>
            </a:r>
            <a:r>
              <a:rPr lang="es-ES" dirty="0" err="1">
                <a:latin typeface="Consolas" panose="020B0609020204030204" pitchFamily="49" charset="0"/>
              </a:rPr>
              <a:t>panel.grid.minor.x</a:t>
            </a:r>
            <a:r>
              <a:rPr lang="es-ES" dirty="0">
                <a:latin typeface="Consolas" panose="020B0609020204030204" pitchFamily="49" charset="0"/>
              </a:rPr>
              <a:t> = </a:t>
            </a:r>
            <a:r>
              <a:rPr lang="es-ES" dirty="0" err="1">
                <a:latin typeface="Consolas" panose="020B0609020204030204" pitchFamily="49" charset="0"/>
              </a:rPr>
              <a:t>element_blank</a:t>
            </a:r>
            <a:r>
              <a:rPr lang="es-ES" dirty="0">
                <a:latin typeface="Consolas" panose="020B0609020204030204" pitchFamily="49" charset="0"/>
              </a:rPr>
              <a:t>(),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</a:t>
            </a:r>
            <a:r>
              <a:rPr lang="es-ES" dirty="0" err="1">
                <a:latin typeface="Consolas" panose="020B0609020204030204" pitchFamily="49" charset="0"/>
              </a:rPr>
              <a:t>panel.grid.minor.y</a:t>
            </a:r>
            <a:r>
              <a:rPr lang="es-ES" dirty="0">
                <a:latin typeface="Consolas" panose="020B0609020204030204" pitchFamily="49" charset="0"/>
              </a:rPr>
              <a:t> = </a:t>
            </a:r>
            <a:r>
              <a:rPr lang="es-ES" dirty="0" err="1">
                <a:latin typeface="Consolas" panose="020B0609020204030204" pitchFamily="49" charset="0"/>
              </a:rPr>
              <a:t>element_blank</a:t>
            </a:r>
            <a:r>
              <a:rPr lang="es-ES" dirty="0">
                <a:latin typeface="Consolas" panose="020B0609020204030204" pitchFamily="49" charset="0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166926913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Propuesto 7.13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64AB90-FC24-8617-D45C-8BBAB9F1E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435" y="999000"/>
            <a:ext cx="6339130" cy="48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08486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DC74C-7387-CCC4-28E5-3A1522C0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Espacio de intervención: 30 segundos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2D7072-22D5-5CE2-66CC-3EAF549E6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 algn="ctr">
              <a:buNone/>
            </a:pPr>
            <a:r>
              <a:rPr lang="es-VE" i="1" dirty="0"/>
              <a:t>¿Qué pasa cuando las varianzas poblacionales son desconocidas?</a:t>
            </a:r>
          </a:p>
        </p:txBody>
      </p:sp>
    </p:spTree>
    <p:extLst>
      <p:ext uri="{BB962C8B-B14F-4D97-AF65-F5344CB8AC3E}">
        <p14:creationId xmlns:p14="http://schemas.microsoft.com/office/powerpoint/2010/main" val="428711991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FC5183E-D8B7-B45E-6EFF-CC50ABCD101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419" dirty="0"/>
                  <a:t>Distribución de diferencia de medias muestrales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acc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</m:oMath>
                </a14:m>
                <a:endParaRPr lang="es-419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FC5183E-D8B7-B45E-6EFF-CC50ABCD10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7" t="-8257" b="-21101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A95DE0-AF5B-19DC-72BF-FAD49791D5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s-419" dirty="0"/>
                  <a:t>Para muestras </a:t>
                </a:r>
                <a:r>
                  <a:rPr lang="es-419" b="1" dirty="0">
                    <a:solidFill>
                      <a:srgbClr val="003A5D"/>
                    </a:solidFill>
                  </a:rPr>
                  <a:t>independientes</a:t>
                </a:r>
                <a:r>
                  <a:rPr lang="es-419" dirty="0"/>
                  <a:t> de tamaño </a:t>
                </a:r>
                <a:r>
                  <a:rPr lang="es-419" b="1" dirty="0">
                    <a:solidFill>
                      <a:srgbClr val="003A5D"/>
                    </a:solidFill>
                  </a:rPr>
                  <a:t>relativamente grandes</a:t>
                </a:r>
                <a:r>
                  <a:rPr lang="es-419" dirty="0"/>
                  <a:t>, tradicionalmente se haría un simple reemplazo de varianzas poblacionales por varianzas muestrales en la fórmula.</a:t>
                </a:r>
              </a:p>
              <a:p>
                <a:pPr marL="0" indent="0" algn="ctr">
                  <a:lnSpc>
                    <a:spcPct val="16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s-419" i="1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s-419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m:rPr>
                          <m:nor/>
                        </m:rPr>
                        <a:rPr lang="es-419" dirty="0"/>
                        <m:t>− </m:t>
                      </m:r>
                      <m:sSub>
                        <m:sSub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s-419" i="1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es-419" dirty="0"/>
                        <m:t>+ 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es-419" dirty="0"/>
                        <m:t>)</m:t>
                      </m:r>
                    </m:oMath>
                  </m:oMathPara>
                </a14:m>
                <a:endParaRPr lang="es-419" dirty="0"/>
              </a:p>
              <a:p>
                <a:pPr>
                  <a:lnSpc>
                    <a:spcPct val="160000"/>
                  </a:lnSpc>
                </a:pPr>
                <a:r>
                  <a:rPr lang="es-419" dirty="0"/>
                  <a:t>Así se procede nominalmente según el Casuso.</a:t>
                </a:r>
              </a:p>
              <a:p>
                <a:pPr>
                  <a:lnSpc>
                    <a:spcPct val="160000"/>
                  </a:lnSpc>
                </a:pPr>
                <a:r>
                  <a:rPr lang="es-419" dirty="0"/>
                  <a:t>Se ignora un poco del </a:t>
                </a:r>
                <a:r>
                  <a:rPr lang="es-419" b="1" i="1" dirty="0" err="1">
                    <a:solidFill>
                      <a:srgbClr val="003A5D"/>
                    </a:solidFill>
                  </a:rPr>
                  <a:t>nuance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 </a:t>
                </a:r>
                <a:r>
                  <a:rPr lang="es-419" dirty="0"/>
                  <a:t>al realizar esta aproximación.</a:t>
                </a:r>
                <a:endParaRPr lang="es-419" b="1" dirty="0"/>
              </a:p>
              <a:p>
                <a:pPr algn="just">
                  <a:lnSpc>
                    <a:spcPct val="160000"/>
                  </a:lnSpc>
                </a:pPr>
                <a:r>
                  <a:rPr lang="es-419" dirty="0"/>
                  <a:t>Para efectos de esta clase veremos dos casos alternativos que siguen el mismo principio pero se apoyan en el uso de la </a:t>
                </a:r>
                <a:r>
                  <a:rPr lang="es-419" b="1" dirty="0">
                    <a:solidFill>
                      <a:srgbClr val="003A5D"/>
                    </a:solidFill>
                  </a:rPr>
                  <a:t>T-</a:t>
                </a:r>
                <a:r>
                  <a:rPr lang="es-419" b="1" dirty="0" err="1">
                    <a:solidFill>
                      <a:srgbClr val="003A5D"/>
                    </a:solidFill>
                  </a:rPr>
                  <a:t>Student</a:t>
                </a:r>
                <a:r>
                  <a:rPr lang="es-419" dirty="0"/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A95DE0-AF5B-19DC-72BF-FAD49791D5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r="-870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505391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419" dirty="0"/>
                  <a:t>Distribución de diferencia de medias muestrales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acc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</m:oMath>
                </a14:m>
                <a:endParaRPr lang="en-US" b="1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7" t="-8257" b="-2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25000" lnSpcReduction="20000"/>
              </a:bodyPr>
              <a:lstStyle/>
              <a:p>
                <a:pPr marL="1371600" indent="-1371600">
                  <a:lnSpc>
                    <a:spcPct val="150000"/>
                  </a:lnSpc>
                  <a:buFont typeface="+mj-lt"/>
                  <a:buAutoNum type="alphaLcParenR" startAt="2"/>
                </a:pPr>
                <a:r>
                  <a:rPr lang="es-419" sz="8000" dirty="0"/>
                  <a:t>Para varianzas poblacionales </a:t>
                </a:r>
                <a:r>
                  <a:rPr lang="es-419" sz="8000" b="1" dirty="0">
                    <a:solidFill>
                      <a:srgbClr val="003A5D"/>
                    </a:solidFill>
                  </a:rPr>
                  <a:t>desconocidas</a:t>
                </a:r>
                <a:r>
                  <a:rPr lang="es-419" sz="8000" dirty="0"/>
                  <a:t> e </a:t>
                </a:r>
                <a:r>
                  <a:rPr lang="es-419" sz="8000" b="1" dirty="0">
                    <a:solidFill>
                      <a:srgbClr val="003A5D"/>
                    </a:solidFill>
                  </a:rPr>
                  <a:t>iguales</a:t>
                </a:r>
                <a:r>
                  <a:rPr lang="es-419" sz="8000" dirty="0"/>
                  <a:t>: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s-419" sz="8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419" sz="8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s-419" sz="80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s-419" sz="8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s-419" sz="8000" dirty="0"/>
                  <a:t>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419" sz="8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419" sz="8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s-419" sz="8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s-419" sz="8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s-419" sz="8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sz="8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8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419" sz="8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419" sz="8000" dirty="0"/>
              </a:p>
              <a:p>
                <a:pPr>
                  <a:lnSpc>
                    <a:spcPct val="150000"/>
                  </a:lnSpc>
                </a:pPr>
                <a:r>
                  <a:rPr lang="es-419" sz="8000" dirty="0"/>
                  <a:t>El valor esperado se mantiene igual: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800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sz="8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s-419" sz="8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sz="80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s-419" sz="8000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s-419" sz="8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sz="80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  <m:r>
                        <a:rPr lang="es-419" sz="8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419" sz="8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419" sz="8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s-419" sz="8000" b="0" i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419" sz="8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419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s-419" sz="8000" b="1" dirty="0">
                  <a:solidFill>
                    <a:srgbClr val="003A5D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sz="8000" dirty="0"/>
                  <a:t>Se calcula una varianza muestral </a:t>
                </a:r>
                <a:r>
                  <a:rPr lang="es-419" sz="8000" b="1" dirty="0">
                    <a:solidFill>
                      <a:srgbClr val="003A5D"/>
                    </a:solidFill>
                  </a:rPr>
                  <a:t>amalgamada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419" sz="8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419" sz="8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419" sz="8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s-419" sz="8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s-419" sz="8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8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419" sz="8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419" sz="8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sz="8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s-419" sz="8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s-419" sz="8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419" sz="8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sSubSup>
                            <m:sSubSupPr>
                              <m:ctrlPr>
                                <a:rPr lang="es-419" sz="8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419" sz="8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419" sz="8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s-419" sz="8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s-419" sz="8000" b="0" i="1" smtClean="0">
                              <a:latin typeface="Cambria Math" panose="02040503050406030204" pitchFamily="18" charset="0"/>
                            </a:rPr>
                            <m:t>+(</m:t>
                          </m:r>
                          <m:sSub>
                            <m:sSubPr>
                              <m:ctrlPr>
                                <a:rPr lang="es-419" sz="8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8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419" sz="8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s-419" sz="8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sz="8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419" sz="8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Sup>
                            <m:sSubSupPr>
                              <m:ctrlPr>
                                <a:rPr lang="es-419" sz="8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419" sz="8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419" sz="8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s-419" sz="8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s-419" sz="8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8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419" sz="8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s-419" sz="8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419" sz="8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8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419" sz="8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s-419" sz="8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sz="8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419" sz="8000" b="0" dirty="0"/>
              </a:p>
              <a:p>
                <a:pPr>
                  <a:lnSpc>
                    <a:spcPct val="150000"/>
                  </a:lnSpc>
                </a:pPr>
                <a:r>
                  <a:rPr lang="es-419" sz="8000" dirty="0"/>
                  <a:t>Considerando la propiedad aditiva de Chi-Cuadradas:</a:t>
                </a:r>
                <a:endParaRPr lang="es-419" sz="8000" b="0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419" sz="8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s-419" sz="8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419" sz="8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419" sz="8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es-419" sz="8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s-419" sz="8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s-419" sz="8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8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419" sz="8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s-419" sz="8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419" sz="8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8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419" sz="8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s-419" sz="8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sz="8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419" sz="8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s-419" sz="8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sz="8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s-419" sz="8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419" sz="8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sSubSup>
                        <m:sSubSupPr>
                          <m:ctrlPr>
                            <a:rPr lang="es-419" sz="8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419" sz="8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sSub>
                            <m:sSubPr>
                              <m:ctrlPr>
                                <a:rPr lang="es-419" sz="8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8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419" sz="8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s-419" sz="80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419" sz="8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8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419" sz="8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s-419" sz="8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sz="8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s-419" sz="8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80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320459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419" dirty="0"/>
                  <a:t>Distribución de diferencia de medias muestrales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acc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</m:oMath>
                </a14:m>
                <a:endParaRPr lang="en-US" b="1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7" t="-8257" b="-2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sz="2800" dirty="0"/>
                  <a:t>A efectos prácticos: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2800" i="1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s-419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s-419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sz="2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s-419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s-419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sz="28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  <m:r>
                        <a:rPr lang="es-419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s-419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419" sz="28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419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s-419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s-419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419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s-419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419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s-419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419" sz="28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419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s-419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s-419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419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s-419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s-419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419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419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s-419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s-419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s-419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s-419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419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es-419" sz="2800" dirty="0"/>
                        <m:t>+ </m:t>
                      </m:r>
                      <m:f>
                        <m:fPr>
                          <m:ctrlPr>
                            <a:rPr lang="es-419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s-419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419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s-419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Construimos el estadístico de forma tal: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</m:e>
                          </m:d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s-419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s-419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ad>
                            <m:radPr>
                              <m:degHide m:val="on"/>
                              <m:ctrlPr>
                                <a:rPr lang="es-419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m:rPr>
                                  <m:nor/>
                                </m:rPr>
                                <a:rPr lang="es-419" dirty="0"/>
                                <m:t>+ </m:t>
                              </m:r>
                              <m:f>
                                <m:f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den>
                      </m:f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sSub>
                        <m:sSub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Se distribuye como una </a:t>
                </a:r>
                <a:r>
                  <a:rPr lang="es-419" b="1" dirty="0">
                    <a:solidFill>
                      <a:srgbClr val="003A5D"/>
                    </a:solidFill>
                    <a:ea typeface="Cambria Math" panose="02040503050406030204" pitchFamily="18" charset="0"/>
                  </a:rPr>
                  <a:t>T-</a:t>
                </a:r>
                <a:r>
                  <a:rPr lang="es-419" b="1" dirty="0" err="1">
                    <a:solidFill>
                      <a:srgbClr val="003A5D"/>
                    </a:solidFill>
                    <a:ea typeface="Cambria Math" panose="02040503050406030204" pitchFamily="18" charset="0"/>
                  </a:rPr>
                  <a:t>Student</a:t>
                </a:r>
                <a:r>
                  <a:rPr lang="es-419" dirty="0">
                    <a:ea typeface="Cambria Math" panose="02040503050406030204" pitchFamily="18" charset="0"/>
                  </a:rPr>
                  <a:t> con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s-419" b="1" i="1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s-419" b="1" i="1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s-419" b="1" dirty="0">
                    <a:solidFill>
                      <a:srgbClr val="003A5D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es-419" dirty="0">
                    <a:ea typeface="Cambria Math" panose="02040503050406030204" pitchFamily="18" charset="0"/>
                  </a:rPr>
                  <a:t>grados de libertad.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Nuevamente, el resultado final es un reemplazo en la fórmula con varianza conocida.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Aunque la derivación requiere de más pasos.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170348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DC74C-7387-CCC4-28E5-3A1522C0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Espacio de intervención: 3 minutos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2D7072-22D5-5CE2-66CC-3EAF549E62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s-VE" i="1" dirty="0"/>
              </a:p>
              <a:p>
                <a:pPr marL="0" indent="0">
                  <a:buNone/>
                </a:pPr>
                <a:endParaRPr lang="es-VE" i="1" dirty="0"/>
              </a:p>
              <a:p>
                <a:pPr marL="0" indent="0">
                  <a:buNone/>
                </a:pPr>
                <a:endParaRPr lang="es-VE" i="1" dirty="0"/>
              </a:p>
              <a:p>
                <a:pPr marL="0" indent="0" algn="ctr">
                  <a:buNone/>
                </a:pPr>
                <a:r>
                  <a:rPr lang="es-VE" i="1" dirty="0"/>
                  <a:t>Reconstruya la estructura de la T-</a:t>
                </a:r>
                <a:r>
                  <a:rPr lang="es-VE" i="1" dirty="0" err="1"/>
                  <a:t>Student</a:t>
                </a:r>
                <a:r>
                  <a:rPr lang="es-VE" i="1" dirty="0"/>
                  <a:t> que resulta en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acc>
                          </m:e>
                        </m:d>
                        <m:r>
                          <a:rPr lang="es-419" i="1">
                            <a:latin typeface="Cambria Math" panose="02040503050406030204" pitchFamily="18" charset="0"/>
                          </a:rPr>
                          <m:t>−(</m:t>
                        </m:r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s-419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s-419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s-419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es-419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den>
                            </m:f>
                            <m:r>
                              <m:rPr>
                                <m:nor/>
                              </m:rPr>
                              <a:rPr lang="es-419" dirty="0"/>
                              <m:t>+ </m:t>
                            </m:r>
                            <m:f>
                              <m:f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den>
                            </m:f>
                          </m:e>
                        </m:rad>
                      </m:den>
                    </m:f>
                  </m:oMath>
                </a14:m>
                <a:r>
                  <a:rPr lang="es-VE" i="1" dirty="0"/>
                  <a:t> 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2D7072-22D5-5CE2-66CC-3EAF549E62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454677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419" dirty="0"/>
                  <a:t>Distribución de diferencia de medias muestrales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acc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</m:oMath>
                </a14:m>
                <a:endParaRPr lang="en-US" b="1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7" t="-8257" b="-2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sSub>
                                <m:sSub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s-419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Sup>
                                        <m:sSubSupPr>
                                          <m:ctrlP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  <m:sup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m:rPr>
                                      <m:nor/>
                                    </m:rPr>
                                    <a:rPr lang="es-419" dirty="0"/>
                                    <m:t>+ </m:t>
                                  </m:r>
                                  <m:f>
                                    <m:f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Sup>
                                        <m:sSubSupPr>
                                          <m:ctrlP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  <m:sup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rad>
                            </m:den>
                          </m:f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419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𝜒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</m:s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sSub>
                                <m:sSub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s-419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m:rPr>
                                      <m:nor/>
                                    </m:rPr>
                                    <a:rPr lang="es-419" dirty="0"/>
                                    <m:t>+ </m:t>
                                  </m:r>
                                  <m:f>
                                    <m:f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rad>
                            </m:den>
                          </m:f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>
                                    <m:f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Sup>
                                        <m:sSubSupPr>
                                          <m:ctrlP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b>
                                        <m:sup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</m:s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num>
                                <m:den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sSub>
                                <m:sSub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s-419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f>
                                    <m:f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419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m:rPr>
                                      <m:nor/>
                                    </m:rPr>
                                    <a:rPr lang="es-419" dirty="0"/>
                                    <m:t>+ </m:t>
                                  </m:r>
                                  <m:f>
                                    <m:f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419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rad>
                            </m:den>
                          </m:f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419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sub>
                                    <m:sup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p>
                                    <m:sSup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rad>
                        </m:den>
                      </m:f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sSub>
                                <m:sSub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s-419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ad>
                                <m:radPr>
                                  <m:degHide m:val="on"/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s-419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f>
                                    <m:f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m:rPr>
                                      <m:nor/>
                                    </m:rPr>
                                    <a:rPr lang="es-419" dirty="0"/>
                                    <m:t>+ </m:t>
                                  </m:r>
                                  <m:f>
                                    <m:f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rad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s-419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d>
                            <m:d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</m:e>
                          </m:d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s-419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d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f>
                                <m:f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m:rPr>
                                  <m:nor/>
                                </m:rPr>
                                <a:rPr lang="es-419" dirty="0"/>
                                <m:t>+ </m:t>
                              </m:r>
                              <m:f>
                                <m:f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den>
                      </m:f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</m:e>
                          </m:d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s-419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s-419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ad>
                            <m:radPr>
                              <m:degHide m:val="on"/>
                              <m:ctrlPr>
                                <a:rPr lang="es-419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m:rPr>
                                  <m:nor/>
                                </m:rPr>
                                <a:rPr lang="es-419" dirty="0"/>
                                <m:t>+ </m:t>
                              </m:r>
                              <m:f>
                                <m:f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den>
                      </m:f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sSub>
                        <m:sSub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419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836106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8BDB2-E18E-4378-A323-B877A523D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Propuesto 7.8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55348-03DD-42CE-B1C6-3C00C43A3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s-419" i="1" dirty="0"/>
              <a:t>Si x</a:t>
            </a:r>
            <a:r>
              <a:rPr lang="es-419" i="1" baseline="-25000" dirty="0"/>
              <a:t>1</a:t>
            </a:r>
            <a:r>
              <a:rPr lang="es-419" i="1" dirty="0"/>
              <a:t>, x</a:t>
            </a:r>
            <a:r>
              <a:rPr lang="es-419" i="1" baseline="-25000" dirty="0"/>
              <a:t>2</a:t>
            </a:r>
            <a:r>
              <a:rPr lang="es-419" i="1" dirty="0"/>
              <a:t>, …, x</a:t>
            </a:r>
            <a:r>
              <a:rPr lang="es-419" i="1" baseline="-25000" dirty="0"/>
              <a:t>10</a:t>
            </a:r>
            <a:r>
              <a:rPr lang="es-419" i="1" dirty="0"/>
              <a:t> es una muestra aleatoria de una población normal con media 8 y varianza </a:t>
            </a:r>
            <a:r>
              <a:rPr lang="el-GR" i="1" dirty="0"/>
              <a:t>σ</a:t>
            </a:r>
            <a:r>
              <a:rPr lang="es-VE" i="1" baseline="30000" dirty="0"/>
              <a:t>2</a:t>
            </a:r>
            <a:r>
              <a:rPr lang="es-419" i="1" baseline="-25000" dirty="0"/>
              <a:t>x</a:t>
            </a:r>
            <a:r>
              <a:rPr lang="es-VE" i="1" dirty="0"/>
              <a:t> , e y</a:t>
            </a:r>
            <a:r>
              <a:rPr lang="es-419" i="1" baseline="-25000" dirty="0"/>
              <a:t>1</a:t>
            </a:r>
            <a:r>
              <a:rPr lang="es-419" i="1" dirty="0"/>
              <a:t>, </a:t>
            </a:r>
            <a:r>
              <a:rPr lang="es-VE" i="1" dirty="0"/>
              <a:t>y</a:t>
            </a:r>
            <a:r>
              <a:rPr lang="es-419" i="1" baseline="-25000" dirty="0"/>
              <a:t>2</a:t>
            </a:r>
            <a:r>
              <a:rPr lang="es-419" i="1" dirty="0"/>
              <a:t> … y</a:t>
            </a:r>
            <a:r>
              <a:rPr lang="es-419" i="1" baseline="-25000" dirty="0"/>
              <a:t>15</a:t>
            </a:r>
            <a:r>
              <a:rPr lang="es-419" i="1" dirty="0"/>
              <a:t> es una muestra aleatoria de una población normal con media 12 y varianza </a:t>
            </a:r>
            <a:r>
              <a:rPr lang="el-GR" i="1" dirty="0"/>
              <a:t>σ</a:t>
            </a:r>
            <a:r>
              <a:rPr lang="es-VE" i="1" baseline="30000" dirty="0"/>
              <a:t>2</a:t>
            </a:r>
            <a:r>
              <a:rPr lang="es-419" i="1" baseline="-25000" dirty="0"/>
              <a:t>y</a:t>
            </a:r>
            <a:r>
              <a:rPr lang="es-VE" i="1" dirty="0"/>
              <a:t> </a:t>
            </a:r>
            <a:r>
              <a:rPr lang="es-419" i="1" dirty="0"/>
              <a:t>. Sabiendo que </a:t>
            </a:r>
            <a:r>
              <a:rPr lang="el-GR" i="1" dirty="0"/>
              <a:t>σ</a:t>
            </a:r>
            <a:r>
              <a:rPr lang="es-VE" i="1" baseline="30000" dirty="0"/>
              <a:t>2</a:t>
            </a:r>
            <a:r>
              <a:rPr lang="es-419" i="1" baseline="-25000" dirty="0"/>
              <a:t>x</a:t>
            </a:r>
            <a:r>
              <a:rPr lang="es-419" i="1" dirty="0"/>
              <a:t> = </a:t>
            </a:r>
            <a:r>
              <a:rPr lang="el-GR" i="1" dirty="0"/>
              <a:t>σ</a:t>
            </a:r>
            <a:r>
              <a:rPr lang="es-VE" i="1" baseline="30000" dirty="0"/>
              <a:t>2</a:t>
            </a:r>
            <a:r>
              <a:rPr lang="es-419" i="1" baseline="-25000" dirty="0"/>
              <a:t>y</a:t>
            </a:r>
            <a:r>
              <a:rPr lang="es-419" i="1" dirty="0"/>
              <a:t>, y que s</a:t>
            </a:r>
            <a:r>
              <a:rPr lang="es-VE" i="1" baseline="30000" dirty="0"/>
              <a:t> 2</a:t>
            </a:r>
            <a:r>
              <a:rPr lang="es-419" i="1" baseline="-25000" dirty="0"/>
              <a:t>x </a:t>
            </a:r>
            <a:r>
              <a:rPr lang="es-419" i="1" dirty="0"/>
              <a:t>= 3,8 y s</a:t>
            </a:r>
            <a:r>
              <a:rPr lang="es-VE" i="1" baseline="30000" dirty="0"/>
              <a:t> </a:t>
            </a:r>
            <a:r>
              <a:rPr lang="es-VE" i="1" baseline="30000" dirty="0" smtClean="0"/>
              <a:t>2’</a:t>
            </a:r>
            <a:r>
              <a:rPr lang="es-419" i="1" baseline="-25000" dirty="0" smtClean="0"/>
              <a:t>y </a:t>
            </a:r>
            <a:r>
              <a:rPr lang="es-419" i="1" dirty="0"/>
              <a:t>= 5,7.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419" i="1" dirty="0"/>
              <a:t>Calcular P(-5,69 ≤ </a:t>
            </a:r>
            <a:r>
              <a:rPr lang="es-419" dirty="0"/>
              <a:t>x̄</a:t>
            </a:r>
            <a:r>
              <a:rPr lang="es-419" i="1" dirty="0"/>
              <a:t>  - </a:t>
            </a:r>
            <a:r>
              <a:rPr lang="en-US" dirty="0"/>
              <a:t>ȳ </a:t>
            </a:r>
            <a:r>
              <a:rPr lang="es-419" i="1" dirty="0"/>
              <a:t>≤ -2,31)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419" i="1" dirty="0"/>
              <a:t>Asuma varianzas muestrales sesgadas y transforme adecuadamente.</a:t>
            </a:r>
          </a:p>
        </p:txBody>
      </p:sp>
    </p:spTree>
    <p:extLst>
      <p:ext uri="{BB962C8B-B14F-4D97-AF65-F5344CB8AC3E}">
        <p14:creationId xmlns:p14="http://schemas.microsoft.com/office/powerpoint/2010/main" val="251382419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Propuesto 7.8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2160"/>
            <a:ext cx="10515600" cy="5404803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0">
              <a:buNone/>
            </a:pPr>
            <a:r>
              <a:rPr lang="pl-PL" sz="2400" dirty="0">
                <a:latin typeface="Consolas" panose="020B0609020204030204" pitchFamily="49" charset="0"/>
              </a:rPr>
              <a:t>&gt; nx &lt;- 10</a:t>
            </a:r>
          </a:p>
          <a:p>
            <a:pPr marL="0" indent="0">
              <a:buNone/>
            </a:pPr>
            <a:r>
              <a:rPr lang="pl-PL" sz="2400" dirty="0">
                <a:latin typeface="Consolas" panose="020B0609020204030204" pitchFamily="49" charset="0"/>
              </a:rPr>
              <a:t>&gt; mu_x &lt;- 8</a:t>
            </a:r>
          </a:p>
          <a:p>
            <a:pPr marL="0" indent="0">
              <a:buNone/>
            </a:pPr>
            <a:r>
              <a:rPr lang="pl-PL" sz="2400" dirty="0">
                <a:latin typeface="Consolas" panose="020B0609020204030204" pitchFamily="49" charset="0"/>
              </a:rPr>
              <a:t>&gt; s_2x &lt;- 3.8</a:t>
            </a:r>
          </a:p>
          <a:p>
            <a:pPr marL="0" indent="0">
              <a:buNone/>
            </a:pPr>
            <a:r>
              <a:rPr lang="pl-PL" sz="2400" dirty="0">
                <a:latin typeface="Consolas" panose="020B0609020204030204" pitchFamily="49" charset="0"/>
              </a:rPr>
              <a:t>&gt; s_2xi &lt;- s_2x*nx/(nx-1)</a:t>
            </a:r>
          </a:p>
          <a:p>
            <a:pPr marL="0" indent="0">
              <a:buNone/>
            </a:pPr>
            <a:endParaRPr lang="pl-PL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l-PL" sz="2400" dirty="0">
                <a:latin typeface="Consolas" panose="020B0609020204030204" pitchFamily="49" charset="0"/>
              </a:rPr>
              <a:t>&gt; ny &lt;- 15</a:t>
            </a:r>
          </a:p>
          <a:p>
            <a:pPr marL="0" indent="0">
              <a:buNone/>
            </a:pPr>
            <a:r>
              <a:rPr lang="pl-PL" sz="2400" dirty="0">
                <a:latin typeface="Consolas" panose="020B0609020204030204" pitchFamily="49" charset="0"/>
              </a:rPr>
              <a:t>&gt; mu_y &lt;- 12</a:t>
            </a:r>
          </a:p>
          <a:p>
            <a:pPr marL="0" indent="0">
              <a:buNone/>
            </a:pPr>
            <a:r>
              <a:rPr lang="pl-PL" sz="2400" dirty="0">
                <a:latin typeface="Consolas" panose="020B0609020204030204" pitchFamily="49" charset="0"/>
              </a:rPr>
              <a:t>&gt; s_2y &lt;- 5.7</a:t>
            </a:r>
          </a:p>
          <a:p>
            <a:pPr marL="0" indent="0">
              <a:buNone/>
            </a:pPr>
            <a:r>
              <a:rPr lang="pl-PL" sz="2400" dirty="0">
                <a:latin typeface="Consolas" panose="020B0609020204030204" pitchFamily="49" charset="0"/>
              </a:rPr>
              <a:t>&gt; s_2yi &lt;- s_2y*ny/(ny-1)</a:t>
            </a:r>
          </a:p>
          <a:p>
            <a:pPr marL="0" indent="0">
              <a:buNone/>
            </a:pPr>
            <a:endParaRPr lang="pl-PL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l-PL" sz="2400" dirty="0">
                <a:latin typeface="Consolas" panose="020B0609020204030204" pitchFamily="49" charset="0"/>
              </a:rPr>
              <a:t>&gt; s_2a &lt;- ((nx - 1)*s_2xi + (ny - 1)*s_2yi)/(nx + ny -2)</a:t>
            </a:r>
          </a:p>
          <a:p>
            <a:pPr marL="0" indent="0">
              <a:buNone/>
            </a:pPr>
            <a:r>
              <a:rPr lang="pl-PL" sz="2400" dirty="0">
                <a:latin typeface="Consolas" panose="020B0609020204030204" pitchFamily="49" charset="0"/>
              </a:rPr>
              <a:t>&gt; s_a &lt;- sqrt(s_2a)</a:t>
            </a:r>
            <a:endParaRPr lang="es-ES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557307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Propuesto 7.8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2160"/>
            <a:ext cx="10515600" cy="5404803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&gt; t_1 &lt;- (-5.69 - (</a:t>
            </a:r>
            <a:r>
              <a:rPr lang="es-ES" sz="2400" dirty="0" err="1">
                <a:latin typeface="Consolas" panose="020B0609020204030204" pitchFamily="49" charset="0"/>
              </a:rPr>
              <a:t>mu_x</a:t>
            </a:r>
            <a:r>
              <a:rPr lang="es-ES" sz="2400" dirty="0">
                <a:latin typeface="Consolas" panose="020B0609020204030204" pitchFamily="49" charset="0"/>
              </a:rPr>
              <a:t> - </a:t>
            </a:r>
            <a:r>
              <a:rPr lang="es-ES" sz="2400" dirty="0" err="1">
                <a:latin typeface="Consolas" panose="020B0609020204030204" pitchFamily="49" charset="0"/>
              </a:rPr>
              <a:t>mu_y</a:t>
            </a:r>
            <a:r>
              <a:rPr lang="es-ES" sz="2400" dirty="0">
                <a:latin typeface="Consolas" panose="020B0609020204030204" pitchFamily="49" charset="0"/>
              </a:rPr>
              <a:t>))/(</a:t>
            </a:r>
            <a:r>
              <a:rPr lang="es-ES" sz="2400" dirty="0" err="1">
                <a:latin typeface="Consolas" panose="020B0609020204030204" pitchFamily="49" charset="0"/>
              </a:rPr>
              <a:t>s_a</a:t>
            </a:r>
            <a:r>
              <a:rPr lang="es-ES" sz="2400" dirty="0">
                <a:latin typeface="Consolas" panose="020B0609020204030204" pitchFamily="49" charset="0"/>
              </a:rPr>
              <a:t>*</a:t>
            </a:r>
            <a:r>
              <a:rPr lang="es-ES" sz="2400" dirty="0" err="1">
                <a:latin typeface="Consolas" panose="020B0609020204030204" pitchFamily="49" charset="0"/>
              </a:rPr>
              <a:t>sqrt</a:t>
            </a:r>
            <a:r>
              <a:rPr lang="es-ES" sz="2400" dirty="0">
                <a:latin typeface="Consolas" panose="020B0609020204030204" pitchFamily="49" charset="0"/>
              </a:rPr>
              <a:t>((1/</a:t>
            </a:r>
            <a:r>
              <a:rPr lang="es-ES" sz="2400" dirty="0" err="1">
                <a:latin typeface="Consolas" panose="020B0609020204030204" pitchFamily="49" charset="0"/>
              </a:rPr>
              <a:t>nx</a:t>
            </a:r>
            <a:r>
              <a:rPr lang="es-ES" sz="2400" dirty="0">
                <a:latin typeface="Consolas" panose="020B0609020204030204" pitchFamily="49" charset="0"/>
              </a:rPr>
              <a:t>)+(1/</a:t>
            </a:r>
            <a:r>
              <a:rPr lang="es-ES" sz="2400" dirty="0" err="1">
                <a:latin typeface="Consolas" panose="020B0609020204030204" pitchFamily="49" charset="0"/>
              </a:rPr>
              <a:t>ny</a:t>
            </a:r>
            <a:r>
              <a:rPr lang="es-ES" sz="2400" dirty="0">
                <a:latin typeface="Consolas" panose="020B0609020204030204" pitchFamily="49" charset="0"/>
              </a:rPr>
              <a:t>)))</a:t>
            </a:r>
          </a:p>
          <a:p>
            <a:pPr marL="0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&gt; t_1</a:t>
            </a:r>
          </a:p>
          <a:p>
            <a:pPr marL="0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[1] -1.786458</a:t>
            </a:r>
          </a:p>
          <a:p>
            <a:pPr marL="0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&gt; </a:t>
            </a:r>
          </a:p>
          <a:p>
            <a:pPr marL="0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&gt; t_2 &lt;- (-2.31 - (</a:t>
            </a:r>
            <a:r>
              <a:rPr lang="es-ES" sz="2400" dirty="0" err="1">
                <a:latin typeface="Consolas" panose="020B0609020204030204" pitchFamily="49" charset="0"/>
              </a:rPr>
              <a:t>mu_x</a:t>
            </a:r>
            <a:r>
              <a:rPr lang="es-ES" sz="2400" dirty="0">
                <a:latin typeface="Consolas" panose="020B0609020204030204" pitchFamily="49" charset="0"/>
              </a:rPr>
              <a:t> - </a:t>
            </a:r>
            <a:r>
              <a:rPr lang="es-ES" sz="2400" dirty="0" err="1">
                <a:latin typeface="Consolas" panose="020B0609020204030204" pitchFamily="49" charset="0"/>
              </a:rPr>
              <a:t>mu_y</a:t>
            </a:r>
            <a:r>
              <a:rPr lang="es-ES" sz="2400" dirty="0">
                <a:latin typeface="Consolas" panose="020B0609020204030204" pitchFamily="49" charset="0"/>
              </a:rPr>
              <a:t>))/(</a:t>
            </a:r>
            <a:r>
              <a:rPr lang="es-ES" sz="2400" dirty="0" err="1">
                <a:latin typeface="Consolas" panose="020B0609020204030204" pitchFamily="49" charset="0"/>
              </a:rPr>
              <a:t>s_a</a:t>
            </a:r>
            <a:r>
              <a:rPr lang="es-ES" sz="2400" dirty="0">
                <a:latin typeface="Consolas" panose="020B0609020204030204" pitchFamily="49" charset="0"/>
              </a:rPr>
              <a:t>*</a:t>
            </a:r>
            <a:r>
              <a:rPr lang="es-ES" sz="2400" dirty="0" err="1">
                <a:latin typeface="Consolas" panose="020B0609020204030204" pitchFamily="49" charset="0"/>
              </a:rPr>
              <a:t>sqrt</a:t>
            </a:r>
            <a:r>
              <a:rPr lang="es-ES" sz="2400" dirty="0">
                <a:latin typeface="Consolas" panose="020B0609020204030204" pitchFamily="49" charset="0"/>
              </a:rPr>
              <a:t>((1/</a:t>
            </a:r>
            <a:r>
              <a:rPr lang="es-ES" sz="2400" dirty="0" err="1">
                <a:latin typeface="Consolas" panose="020B0609020204030204" pitchFamily="49" charset="0"/>
              </a:rPr>
              <a:t>nx</a:t>
            </a:r>
            <a:r>
              <a:rPr lang="es-ES" sz="2400" dirty="0">
                <a:latin typeface="Consolas" panose="020B0609020204030204" pitchFamily="49" charset="0"/>
              </a:rPr>
              <a:t>)+(1/</a:t>
            </a:r>
            <a:r>
              <a:rPr lang="es-ES" sz="2400" dirty="0" err="1">
                <a:latin typeface="Consolas" panose="020B0609020204030204" pitchFamily="49" charset="0"/>
              </a:rPr>
              <a:t>ny</a:t>
            </a:r>
            <a:r>
              <a:rPr lang="es-ES" sz="2400" dirty="0">
                <a:latin typeface="Consolas" panose="020B0609020204030204" pitchFamily="49" charset="0"/>
              </a:rPr>
              <a:t>)))</a:t>
            </a:r>
          </a:p>
          <a:p>
            <a:pPr marL="0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&gt; t_2</a:t>
            </a:r>
          </a:p>
          <a:p>
            <a:pPr marL="0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[1] 1.786458</a:t>
            </a:r>
          </a:p>
          <a:p>
            <a:pPr marL="0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&gt; </a:t>
            </a:r>
          </a:p>
          <a:p>
            <a:pPr marL="0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&gt; pt(t_2, </a:t>
            </a:r>
            <a:r>
              <a:rPr lang="es-ES" sz="2400" dirty="0" err="1">
                <a:latin typeface="Consolas" panose="020B0609020204030204" pitchFamily="49" charset="0"/>
              </a:rPr>
              <a:t>df</a:t>
            </a:r>
            <a:r>
              <a:rPr lang="es-ES" sz="2400" dirty="0">
                <a:latin typeface="Consolas" panose="020B0609020204030204" pitchFamily="49" charset="0"/>
              </a:rPr>
              <a:t> = </a:t>
            </a:r>
            <a:r>
              <a:rPr lang="es-ES" sz="2400" dirty="0" err="1">
                <a:latin typeface="Consolas" panose="020B0609020204030204" pitchFamily="49" charset="0"/>
              </a:rPr>
              <a:t>nx</a:t>
            </a:r>
            <a:r>
              <a:rPr lang="es-ES" sz="2400" dirty="0">
                <a:latin typeface="Consolas" panose="020B0609020204030204" pitchFamily="49" charset="0"/>
              </a:rPr>
              <a:t> + </a:t>
            </a:r>
            <a:r>
              <a:rPr lang="es-ES" sz="2400" dirty="0" err="1">
                <a:latin typeface="Consolas" panose="020B0609020204030204" pitchFamily="49" charset="0"/>
              </a:rPr>
              <a:t>ny</a:t>
            </a:r>
            <a:r>
              <a:rPr lang="es-ES" sz="2400" dirty="0">
                <a:latin typeface="Consolas" panose="020B0609020204030204" pitchFamily="49" charset="0"/>
              </a:rPr>
              <a:t> - 2) - pt(t_1, </a:t>
            </a:r>
            <a:r>
              <a:rPr lang="es-ES" sz="2400" dirty="0" err="1">
                <a:latin typeface="Consolas" panose="020B0609020204030204" pitchFamily="49" charset="0"/>
              </a:rPr>
              <a:t>df</a:t>
            </a:r>
            <a:r>
              <a:rPr lang="es-ES" sz="2400" dirty="0">
                <a:latin typeface="Consolas" panose="020B0609020204030204" pitchFamily="49" charset="0"/>
              </a:rPr>
              <a:t> = </a:t>
            </a:r>
            <a:r>
              <a:rPr lang="es-ES" sz="2400" dirty="0" err="1">
                <a:latin typeface="Consolas" panose="020B0609020204030204" pitchFamily="49" charset="0"/>
              </a:rPr>
              <a:t>nx</a:t>
            </a:r>
            <a:r>
              <a:rPr lang="es-ES" sz="2400" dirty="0">
                <a:latin typeface="Consolas" panose="020B0609020204030204" pitchFamily="49" charset="0"/>
              </a:rPr>
              <a:t> + </a:t>
            </a:r>
            <a:r>
              <a:rPr lang="es-ES" sz="2400" dirty="0" err="1">
                <a:latin typeface="Consolas" panose="020B0609020204030204" pitchFamily="49" charset="0"/>
              </a:rPr>
              <a:t>ny</a:t>
            </a:r>
            <a:r>
              <a:rPr lang="es-ES" sz="2400" dirty="0">
                <a:latin typeface="Consolas" panose="020B0609020204030204" pitchFamily="49" charset="0"/>
              </a:rPr>
              <a:t> - 2)</a:t>
            </a:r>
          </a:p>
          <a:p>
            <a:pPr marL="0" indent="0">
              <a:buNone/>
            </a:pPr>
            <a:r>
              <a:rPr lang="es-ES" sz="2400" dirty="0">
                <a:highlight>
                  <a:srgbClr val="FFFF00"/>
                </a:highlight>
                <a:latin typeface="Consolas" panose="020B0609020204030204" pitchFamily="49" charset="0"/>
              </a:rPr>
              <a:t>[1] 0.9127844</a:t>
            </a:r>
          </a:p>
        </p:txBody>
      </p:sp>
    </p:spTree>
    <p:extLst>
      <p:ext uri="{BB962C8B-B14F-4D97-AF65-F5344CB8AC3E}">
        <p14:creationId xmlns:p14="http://schemas.microsoft.com/office/powerpoint/2010/main" val="308491389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Propuesto 7.8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2160"/>
            <a:ext cx="10515600" cy="5404803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 fontScale="47500" lnSpcReduction="20000"/>
          </a:bodyPr>
          <a:lstStyle/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#Graficando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</a:t>
            </a:r>
            <a:r>
              <a:rPr lang="es-ES" dirty="0" err="1">
                <a:latin typeface="Consolas" panose="020B0609020204030204" pitchFamily="49" charset="0"/>
              </a:rPr>
              <a:t>data.frame</a:t>
            </a:r>
            <a:r>
              <a:rPr lang="es-ES" dirty="0">
                <a:latin typeface="Consolas" panose="020B0609020204030204" pitchFamily="49" charset="0"/>
              </a:rPr>
              <a:t>(x = c(-4, 4)) %&gt;%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</a:t>
            </a:r>
            <a:r>
              <a:rPr lang="es-ES" dirty="0" err="1">
                <a:latin typeface="Consolas" panose="020B0609020204030204" pitchFamily="49" charset="0"/>
              </a:rPr>
              <a:t>ggplot</a:t>
            </a:r>
            <a:r>
              <a:rPr lang="es-ES" dirty="0">
                <a:latin typeface="Consolas" panose="020B0609020204030204" pitchFamily="49" charset="0"/>
              </a:rPr>
              <a:t>(aes(x)) +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</a:t>
            </a:r>
            <a:r>
              <a:rPr lang="es-ES" dirty="0" err="1">
                <a:latin typeface="Consolas" panose="020B0609020204030204" pitchFamily="49" charset="0"/>
              </a:rPr>
              <a:t>stat_function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fun</a:t>
            </a:r>
            <a:r>
              <a:rPr lang="es-ES" dirty="0">
                <a:latin typeface="Consolas" panose="020B0609020204030204" pitchFamily="49" charset="0"/>
              </a:rPr>
              <a:t> = </a:t>
            </a:r>
            <a:r>
              <a:rPr lang="es-ES" dirty="0" err="1">
                <a:latin typeface="Consolas" panose="020B0609020204030204" pitchFamily="49" charset="0"/>
              </a:rPr>
              <a:t>dt</a:t>
            </a:r>
            <a:r>
              <a:rPr lang="es-ES" dirty="0">
                <a:latin typeface="Consolas" panose="020B0609020204030204" pitchFamily="49" charset="0"/>
              </a:rPr>
              <a:t>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        n = 10000,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        </a:t>
            </a:r>
            <a:r>
              <a:rPr lang="es-ES" dirty="0" err="1">
                <a:latin typeface="Consolas" panose="020B0609020204030204" pitchFamily="49" charset="0"/>
              </a:rPr>
              <a:t>args</a:t>
            </a:r>
            <a:r>
              <a:rPr lang="es-ES" dirty="0">
                <a:latin typeface="Consolas" panose="020B0609020204030204" pitchFamily="49" charset="0"/>
              </a:rPr>
              <a:t> = </a:t>
            </a:r>
            <a:r>
              <a:rPr lang="es-ES" dirty="0" err="1">
                <a:latin typeface="Consolas" panose="020B0609020204030204" pitchFamily="49" charset="0"/>
              </a:rPr>
              <a:t>list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df</a:t>
            </a:r>
            <a:r>
              <a:rPr lang="es-ES" dirty="0">
                <a:latin typeface="Consolas" panose="020B0609020204030204" pitchFamily="49" charset="0"/>
              </a:rPr>
              <a:t> = </a:t>
            </a:r>
            <a:r>
              <a:rPr lang="es-ES" dirty="0" err="1">
                <a:latin typeface="Consolas" panose="020B0609020204030204" pitchFamily="49" charset="0"/>
              </a:rPr>
              <a:t>nx</a:t>
            </a:r>
            <a:r>
              <a:rPr lang="es-ES" dirty="0">
                <a:latin typeface="Consolas" panose="020B0609020204030204" pitchFamily="49" charset="0"/>
              </a:rPr>
              <a:t> + </a:t>
            </a:r>
            <a:r>
              <a:rPr lang="es-ES" dirty="0" err="1">
                <a:latin typeface="Consolas" panose="020B0609020204030204" pitchFamily="49" charset="0"/>
              </a:rPr>
              <a:t>ny</a:t>
            </a:r>
            <a:r>
              <a:rPr lang="es-ES" dirty="0">
                <a:latin typeface="Consolas" panose="020B0609020204030204" pitchFamily="49" charset="0"/>
              </a:rPr>
              <a:t> - 2)) +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</a:t>
            </a:r>
            <a:r>
              <a:rPr lang="es-ES" dirty="0" err="1">
                <a:latin typeface="Consolas" panose="020B0609020204030204" pitchFamily="49" charset="0"/>
              </a:rPr>
              <a:t>geom_area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stat</a:t>
            </a:r>
            <a:r>
              <a:rPr lang="es-ES" dirty="0">
                <a:latin typeface="Consolas" panose="020B0609020204030204" pitchFamily="49" charset="0"/>
              </a:rPr>
              <a:t> = '</a:t>
            </a:r>
            <a:r>
              <a:rPr lang="es-ES" dirty="0" err="1">
                <a:latin typeface="Consolas" panose="020B0609020204030204" pitchFamily="49" charset="0"/>
              </a:rPr>
              <a:t>function</a:t>
            </a:r>
            <a:r>
              <a:rPr lang="es-ES" dirty="0">
                <a:latin typeface="Consolas" panose="020B0609020204030204" pitchFamily="49" charset="0"/>
              </a:rPr>
              <a:t>',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    </a:t>
            </a:r>
            <a:r>
              <a:rPr lang="es-ES" dirty="0" err="1">
                <a:latin typeface="Consolas" panose="020B0609020204030204" pitchFamily="49" charset="0"/>
              </a:rPr>
              <a:t>fun</a:t>
            </a:r>
            <a:r>
              <a:rPr lang="es-ES" dirty="0">
                <a:latin typeface="Consolas" panose="020B0609020204030204" pitchFamily="49" charset="0"/>
              </a:rPr>
              <a:t> = </a:t>
            </a:r>
            <a:r>
              <a:rPr lang="es-ES" dirty="0" err="1">
                <a:latin typeface="Consolas" panose="020B0609020204030204" pitchFamily="49" charset="0"/>
              </a:rPr>
              <a:t>dt</a:t>
            </a:r>
            <a:r>
              <a:rPr lang="es-ES" dirty="0">
                <a:latin typeface="Consolas" panose="020B0609020204030204" pitchFamily="49" charset="0"/>
              </a:rPr>
              <a:t>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    </a:t>
            </a:r>
            <a:r>
              <a:rPr lang="es-ES" dirty="0" err="1">
                <a:latin typeface="Consolas" panose="020B0609020204030204" pitchFamily="49" charset="0"/>
              </a:rPr>
              <a:t>args</a:t>
            </a:r>
            <a:r>
              <a:rPr lang="es-ES" dirty="0">
                <a:latin typeface="Consolas" panose="020B0609020204030204" pitchFamily="49" charset="0"/>
              </a:rPr>
              <a:t> = </a:t>
            </a:r>
            <a:r>
              <a:rPr lang="es-ES" dirty="0" err="1">
                <a:latin typeface="Consolas" panose="020B0609020204030204" pitchFamily="49" charset="0"/>
              </a:rPr>
              <a:t>list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df</a:t>
            </a:r>
            <a:r>
              <a:rPr lang="es-ES" dirty="0">
                <a:latin typeface="Consolas" panose="020B0609020204030204" pitchFamily="49" charset="0"/>
              </a:rPr>
              <a:t> = </a:t>
            </a:r>
            <a:r>
              <a:rPr lang="es-ES" dirty="0" err="1">
                <a:latin typeface="Consolas" panose="020B0609020204030204" pitchFamily="49" charset="0"/>
              </a:rPr>
              <a:t>nx</a:t>
            </a:r>
            <a:r>
              <a:rPr lang="es-ES" dirty="0">
                <a:latin typeface="Consolas" panose="020B0609020204030204" pitchFamily="49" charset="0"/>
              </a:rPr>
              <a:t> + </a:t>
            </a:r>
            <a:r>
              <a:rPr lang="es-ES" dirty="0" err="1">
                <a:latin typeface="Consolas" panose="020B0609020204030204" pitchFamily="49" charset="0"/>
              </a:rPr>
              <a:t>ny</a:t>
            </a:r>
            <a:r>
              <a:rPr lang="es-ES" dirty="0">
                <a:latin typeface="Consolas" panose="020B0609020204030204" pitchFamily="49" charset="0"/>
              </a:rPr>
              <a:t> - 2),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    </a:t>
            </a:r>
            <a:r>
              <a:rPr lang="es-ES" dirty="0" err="1">
                <a:latin typeface="Consolas" panose="020B0609020204030204" pitchFamily="49" charset="0"/>
              </a:rPr>
              <a:t>fill</a:t>
            </a:r>
            <a:r>
              <a:rPr lang="es-ES" dirty="0">
                <a:latin typeface="Consolas" panose="020B0609020204030204" pitchFamily="49" charset="0"/>
              </a:rPr>
              <a:t> = 'blue',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    </a:t>
            </a:r>
            <a:r>
              <a:rPr lang="es-ES" dirty="0" err="1">
                <a:latin typeface="Consolas" panose="020B0609020204030204" pitchFamily="49" charset="0"/>
              </a:rPr>
              <a:t>xlim</a:t>
            </a:r>
            <a:r>
              <a:rPr lang="es-ES" dirty="0">
                <a:latin typeface="Consolas" panose="020B0609020204030204" pitchFamily="49" charset="0"/>
              </a:rPr>
              <a:t> = c(t_1, t_2),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    </a:t>
            </a:r>
            <a:r>
              <a:rPr lang="es-ES" dirty="0" err="1">
                <a:latin typeface="Consolas" panose="020B0609020204030204" pitchFamily="49" charset="0"/>
              </a:rPr>
              <a:t>alpha</a:t>
            </a:r>
            <a:r>
              <a:rPr lang="es-ES" dirty="0">
                <a:latin typeface="Consolas" panose="020B0609020204030204" pitchFamily="49" charset="0"/>
              </a:rPr>
              <a:t> = 0.3) +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</a:t>
            </a:r>
            <a:r>
              <a:rPr lang="es-ES" dirty="0" err="1">
                <a:latin typeface="Consolas" panose="020B0609020204030204" pitchFamily="49" charset="0"/>
              </a:rPr>
              <a:t>labs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title</a:t>
            </a:r>
            <a:r>
              <a:rPr lang="es-ES" dirty="0">
                <a:latin typeface="Consolas" panose="020B0609020204030204" pitchFamily="49" charset="0"/>
              </a:rPr>
              <a:t> = "Propuesto 7.8 (Modificado)",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</a:t>
            </a:r>
            <a:r>
              <a:rPr lang="es-ES" dirty="0" err="1">
                <a:latin typeface="Consolas" panose="020B0609020204030204" pitchFamily="49" charset="0"/>
              </a:rPr>
              <a:t>subtitle</a:t>
            </a:r>
            <a:r>
              <a:rPr lang="es-ES" dirty="0">
                <a:latin typeface="Consolas" panose="020B0609020204030204" pitchFamily="49" charset="0"/>
              </a:rPr>
              <a:t> = "T-</a:t>
            </a:r>
            <a:r>
              <a:rPr lang="es-ES" dirty="0" err="1">
                <a:latin typeface="Consolas" panose="020B0609020204030204" pitchFamily="49" charset="0"/>
              </a:rPr>
              <a:t>Student</a:t>
            </a:r>
            <a:r>
              <a:rPr lang="es-ES" dirty="0">
                <a:latin typeface="Consolas" panose="020B0609020204030204" pitchFamily="49" charset="0"/>
              </a:rPr>
              <a:t>",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x = "T",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y = "Densidad f(x)") +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</a:t>
            </a:r>
            <a:r>
              <a:rPr lang="es-ES" dirty="0" err="1">
                <a:latin typeface="Consolas" panose="020B0609020204030204" pitchFamily="49" charset="0"/>
              </a:rPr>
              <a:t>theme_bw</a:t>
            </a:r>
            <a:r>
              <a:rPr lang="es-ES" dirty="0">
                <a:latin typeface="Consolas" panose="020B0609020204030204" pitchFamily="49" charset="0"/>
              </a:rPr>
              <a:t>() +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</a:t>
            </a:r>
            <a:r>
              <a:rPr lang="es-ES" dirty="0" err="1">
                <a:latin typeface="Consolas" panose="020B0609020204030204" pitchFamily="49" charset="0"/>
              </a:rPr>
              <a:t>theme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panel.grid.major.x</a:t>
            </a:r>
            <a:r>
              <a:rPr lang="es-ES" dirty="0">
                <a:latin typeface="Consolas" panose="020B0609020204030204" pitchFamily="49" charset="0"/>
              </a:rPr>
              <a:t> = </a:t>
            </a:r>
            <a:r>
              <a:rPr lang="es-ES" dirty="0" err="1">
                <a:latin typeface="Consolas" panose="020B0609020204030204" pitchFamily="49" charset="0"/>
              </a:rPr>
              <a:t>element_blank</a:t>
            </a:r>
            <a:r>
              <a:rPr lang="es-ES" dirty="0">
                <a:latin typeface="Consolas" panose="020B0609020204030204" pitchFamily="49" charset="0"/>
              </a:rPr>
              <a:t>(),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</a:t>
            </a:r>
            <a:r>
              <a:rPr lang="es-ES" dirty="0" err="1">
                <a:latin typeface="Consolas" panose="020B0609020204030204" pitchFamily="49" charset="0"/>
              </a:rPr>
              <a:t>panel.grid.minor.x</a:t>
            </a:r>
            <a:r>
              <a:rPr lang="es-ES" dirty="0">
                <a:latin typeface="Consolas" panose="020B0609020204030204" pitchFamily="49" charset="0"/>
              </a:rPr>
              <a:t> = </a:t>
            </a:r>
            <a:r>
              <a:rPr lang="es-ES" dirty="0" err="1">
                <a:latin typeface="Consolas" panose="020B0609020204030204" pitchFamily="49" charset="0"/>
              </a:rPr>
              <a:t>element_blank</a:t>
            </a:r>
            <a:r>
              <a:rPr lang="es-ES" dirty="0">
                <a:latin typeface="Consolas" panose="020B0609020204030204" pitchFamily="49" charset="0"/>
              </a:rPr>
              <a:t>(),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</a:t>
            </a:r>
            <a:r>
              <a:rPr lang="es-ES" dirty="0" err="1">
                <a:latin typeface="Consolas" panose="020B0609020204030204" pitchFamily="49" charset="0"/>
              </a:rPr>
              <a:t>panel.grid.minor.y</a:t>
            </a:r>
            <a:r>
              <a:rPr lang="es-ES" dirty="0">
                <a:latin typeface="Consolas" panose="020B0609020204030204" pitchFamily="49" charset="0"/>
              </a:rPr>
              <a:t> = </a:t>
            </a:r>
            <a:r>
              <a:rPr lang="es-ES" dirty="0" err="1">
                <a:latin typeface="Consolas" panose="020B0609020204030204" pitchFamily="49" charset="0"/>
              </a:rPr>
              <a:t>element_blank</a:t>
            </a:r>
            <a:r>
              <a:rPr lang="es-ES" dirty="0">
                <a:latin typeface="Consolas" panose="020B0609020204030204" pitchFamily="49" charset="0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403382613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Resuelto 7.8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291BC1-75BE-E3B2-2989-B71691432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992" y="999000"/>
            <a:ext cx="7066017" cy="48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66915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419" dirty="0"/>
                  <a:t>Distribución de diferencia de medias muestrales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acc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</m:oMath>
                </a14:m>
                <a:endParaRPr lang="en-US" b="1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7" t="-8257" b="-2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lphaLcParenR" startAt="3"/>
                </a:pPr>
                <a:r>
                  <a:rPr lang="es-419" dirty="0"/>
                  <a:t>Para varianzas poblacionales </a:t>
                </a:r>
                <a:r>
                  <a:rPr lang="es-419" b="1" dirty="0">
                    <a:solidFill>
                      <a:srgbClr val="003A5D"/>
                    </a:solidFill>
                  </a:rPr>
                  <a:t>desconocidas</a:t>
                </a:r>
                <a:r>
                  <a:rPr lang="es-419" dirty="0"/>
                  <a:t> y </a:t>
                </a:r>
                <a:r>
                  <a:rPr lang="es-419" b="1" dirty="0">
                    <a:solidFill>
                      <a:srgbClr val="003A5D"/>
                    </a:solidFill>
                  </a:rPr>
                  <a:t>diferentes</a:t>
                </a:r>
                <a:r>
                  <a:rPr lang="es-419" dirty="0"/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419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419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419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s-419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s-419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Sup>
                        <m:sSubSupPr>
                          <m:ctrlPr>
                            <a:rPr lang="es-419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419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419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s-419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Mantenemos el mismo valor esperado, pero la varianza cambia: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s-419" b="0" i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s-419" b="1" dirty="0">
                  <a:solidFill>
                    <a:srgbClr val="003A5D"/>
                  </a:solidFill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s-419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</m:oMath>
                </a14:m>
                <a:r>
                  <a:rPr lang="es-419" dirty="0"/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Tendremos que construir una expresión conjunta de elementos normales y chi-cuadrados.</a:t>
                </a:r>
              </a:p>
              <a:p>
                <a:pPr>
                  <a:lnSpc>
                    <a:spcPct val="150000"/>
                  </a:lnSpc>
                </a:pPr>
                <a:endParaRPr lang="es-419" b="1" dirty="0">
                  <a:solidFill>
                    <a:srgbClr val="003A5D"/>
                  </a:solidFill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01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4173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419" dirty="0"/>
                  <a:t>Distribución de diferencia de medias muestrales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acc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</m:oMath>
                </a14:m>
                <a:endParaRPr lang="en-US" b="1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7" t="-8257" b="-2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Podemos construir el estadístico: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</m:e>
                          </m:d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s-419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  <m:sup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sSub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m:rPr>
                                  <m:nor/>
                                </m:rPr>
                                <a:rPr lang="es-419" dirty="0"/>
                                <m:t>+ </m:t>
                              </m:r>
                              <m:f>
                                <m:f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  <m:sup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sSub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den>
                      </m:f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sSub>
                        <m:sSubPr>
                          <m:ctrlP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Se distribuye como una </a:t>
                </a:r>
                <a:r>
                  <a:rPr lang="es-419" b="1" dirty="0">
                    <a:solidFill>
                      <a:srgbClr val="003A5D"/>
                    </a:solidFill>
                  </a:rPr>
                  <a:t>T-</a:t>
                </a:r>
                <a:r>
                  <a:rPr lang="es-419" b="1" dirty="0" err="1">
                    <a:solidFill>
                      <a:srgbClr val="003A5D"/>
                    </a:solidFill>
                  </a:rPr>
                  <a:t>Student</a:t>
                </a:r>
                <a:r>
                  <a:rPr lang="es-419" dirty="0"/>
                  <a:t> con </a:t>
                </a:r>
                <a14:m>
                  <m:oMath xmlns:m="http://schemas.openxmlformats.org/officeDocument/2006/math"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s-419" dirty="0"/>
                  <a:t> grados de libertad, siendo </a:t>
                </a:r>
                <a14:m>
                  <m:oMath xmlns:m="http://schemas.openxmlformats.org/officeDocument/2006/math"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endParaRPr lang="es-419" b="1" dirty="0">
                  <a:solidFill>
                    <a:srgbClr val="003A5D"/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419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419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  <m:sup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sSub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m:rPr>
                                  <m:nor/>
                                </m:rPr>
                                <a:rPr lang="es-419" dirty="0"/>
                                <m:t>+ </m:t>
                              </m:r>
                              <m:f>
                                <m:f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  <m:sup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sSub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s-419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s-419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f>
                            <m:fPr>
                              <m:ctrlPr>
                                <a:rPr lang="es-419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f>
                                    <m:f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Sup>
                                        <m:sSubSupPr>
                                          <m:ctrlP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  <m:sup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  <m:r>
                            <a:rPr lang="es-419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f>
                                    <m:f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Sup>
                                        <m:sSubSupPr>
                                          <m:ctrlP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s-419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  <m:sup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419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s-419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s-419" dirty="0">
                  <a:solidFill>
                    <a:srgbClr val="003A5D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s-419" b="1" dirty="0">
                  <a:solidFill>
                    <a:srgbClr val="003A5D"/>
                  </a:solidFill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992492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8BDB2-E18E-4378-A323-B877A523D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Propuesto 7.8 (Modificado)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55348-03DD-42CE-B1C6-3C00C43A3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s-419" i="1" dirty="0"/>
              <a:t>Si x</a:t>
            </a:r>
            <a:r>
              <a:rPr lang="es-419" i="1" baseline="-25000" dirty="0"/>
              <a:t>1</a:t>
            </a:r>
            <a:r>
              <a:rPr lang="es-419" i="1" dirty="0"/>
              <a:t>, x</a:t>
            </a:r>
            <a:r>
              <a:rPr lang="es-419" i="1" baseline="-25000" dirty="0"/>
              <a:t>2</a:t>
            </a:r>
            <a:r>
              <a:rPr lang="es-419" i="1" dirty="0"/>
              <a:t>, …, x</a:t>
            </a:r>
            <a:r>
              <a:rPr lang="es-419" i="1" baseline="-25000" dirty="0"/>
              <a:t>10</a:t>
            </a:r>
            <a:r>
              <a:rPr lang="es-419" i="1" dirty="0"/>
              <a:t> es una muestra aleatoria de una población normal con media 8 y varianza </a:t>
            </a:r>
            <a:r>
              <a:rPr lang="el-GR" i="1" dirty="0"/>
              <a:t>σ</a:t>
            </a:r>
            <a:r>
              <a:rPr lang="es-VE" i="1" baseline="30000" dirty="0"/>
              <a:t>2</a:t>
            </a:r>
            <a:r>
              <a:rPr lang="es-419" i="1" baseline="-25000" dirty="0"/>
              <a:t>x</a:t>
            </a:r>
            <a:r>
              <a:rPr lang="es-VE" i="1" dirty="0"/>
              <a:t> , e y</a:t>
            </a:r>
            <a:r>
              <a:rPr lang="es-419" i="1" baseline="-25000" dirty="0"/>
              <a:t>1</a:t>
            </a:r>
            <a:r>
              <a:rPr lang="es-419" i="1" dirty="0"/>
              <a:t>, </a:t>
            </a:r>
            <a:r>
              <a:rPr lang="es-VE" i="1" dirty="0"/>
              <a:t>y</a:t>
            </a:r>
            <a:r>
              <a:rPr lang="es-419" i="1" baseline="-25000" dirty="0"/>
              <a:t>2</a:t>
            </a:r>
            <a:r>
              <a:rPr lang="es-419" i="1" dirty="0"/>
              <a:t> … y</a:t>
            </a:r>
            <a:r>
              <a:rPr lang="es-419" i="1" baseline="-25000" dirty="0"/>
              <a:t>15</a:t>
            </a:r>
            <a:r>
              <a:rPr lang="es-419" i="1" dirty="0"/>
              <a:t> es una muestra aleatoria de una población normal con media 12 y varianza </a:t>
            </a:r>
            <a:r>
              <a:rPr lang="el-GR" i="1" dirty="0"/>
              <a:t>σ</a:t>
            </a:r>
            <a:r>
              <a:rPr lang="es-VE" i="1" baseline="30000" dirty="0"/>
              <a:t>2</a:t>
            </a:r>
            <a:r>
              <a:rPr lang="es-419" i="1" baseline="-25000" dirty="0"/>
              <a:t>y</a:t>
            </a:r>
            <a:r>
              <a:rPr lang="es-VE" i="1" dirty="0"/>
              <a:t> </a:t>
            </a:r>
            <a:r>
              <a:rPr lang="es-419" i="1" dirty="0"/>
              <a:t>. Sabiendo que </a:t>
            </a:r>
            <a:r>
              <a:rPr lang="el-GR" i="1" dirty="0"/>
              <a:t>σ</a:t>
            </a:r>
            <a:r>
              <a:rPr lang="es-VE" i="1" baseline="30000" dirty="0"/>
              <a:t>2</a:t>
            </a:r>
            <a:r>
              <a:rPr lang="es-419" i="1" baseline="-25000" dirty="0"/>
              <a:t>x</a:t>
            </a:r>
            <a:r>
              <a:rPr lang="es-419" i="1" dirty="0"/>
              <a:t> ≠ </a:t>
            </a:r>
            <a:r>
              <a:rPr lang="el-GR" i="1" dirty="0"/>
              <a:t>σ</a:t>
            </a:r>
            <a:r>
              <a:rPr lang="es-VE" i="1" baseline="30000" dirty="0"/>
              <a:t>2</a:t>
            </a:r>
            <a:r>
              <a:rPr lang="es-419" i="1" baseline="-25000" dirty="0"/>
              <a:t>y</a:t>
            </a:r>
            <a:r>
              <a:rPr lang="es-419" i="1" dirty="0"/>
              <a:t>, y que s</a:t>
            </a:r>
            <a:r>
              <a:rPr lang="es-VE" i="1" baseline="30000" dirty="0"/>
              <a:t> 2</a:t>
            </a:r>
            <a:r>
              <a:rPr lang="es-419" i="1" baseline="-25000" dirty="0"/>
              <a:t>x </a:t>
            </a:r>
            <a:r>
              <a:rPr lang="es-419" i="1" dirty="0"/>
              <a:t>= 3,8 y s</a:t>
            </a:r>
            <a:r>
              <a:rPr lang="es-VE" i="1" baseline="30000" dirty="0"/>
              <a:t> 2</a:t>
            </a:r>
            <a:r>
              <a:rPr lang="es-419" i="1" baseline="-25000" dirty="0"/>
              <a:t>y </a:t>
            </a:r>
            <a:r>
              <a:rPr lang="es-419" i="1" dirty="0"/>
              <a:t>= 5,7.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419" i="1" dirty="0"/>
              <a:t>Calcular P(-5,69 ≤ </a:t>
            </a:r>
            <a:r>
              <a:rPr lang="es-419" dirty="0"/>
              <a:t>x̄</a:t>
            </a:r>
            <a:r>
              <a:rPr lang="es-419" i="1" dirty="0"/>
              <a:t>  - </a:t>
            </a:r>
            <a:r>
              <a:rPr lang="en-US" dirty="0"/>
              <a:t>ȳ </a:t>
            </a:r>
            <a:r>
              <a:rPr lang="es-419" i="1" dirty="0"/>
              <a:t>≤ -2,31)</a:t>
            </a:r>
          </a:p>
        </p:txBody>
      </p:sp>
    </p:spTree>
    <p:extLst>
      <p:ext uri="{BB962C8B-B14F-4D97-AF65-F5344CB8AC3E}">
        <p14:creationId xmlns:p14="http://schemas.microsoft.com/office/powerpoint/2010/main" val="235362866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Propuesto 7.8 (Modificado)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2160"/>
            <a:ext cx="10515600" cy="5404803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0" indent="0">
              <a:buNone/>
            </a:pPr>
            <a:r>
              <a:rPr lang="es-ES" sz="1600" dirty="0">
                <a:latin typeface="Consolas" panose="020B0609020204030204" pitchFamily="49" charset="0"/>
              </a:rPr>
              <a:t>&gt; #Resolucion:</a:t>
            </a:r>
          </a:p>
          <a:p>
            <a:pPr marL="0" indent="0">
              <a:buNone/>
            </a:pPr>
            <a:r>
              <a:rPr lang="pl-PL" sz="1600" dirty="0">
                <a:latin typeface="Consolas" panose="020B0609020204030204" pitchFamily="49" charset="0"/>
              </a:rPr>
              <a:t>&gt; nx &lt;- 10</a:t>
            </a:r>
          </a:p>
          <a:p>
            <a:pPr marL="0" indent="0">
              <a:buNone/>
            </a:pPr>
            <a:r>
              <a:rPr lang="pl-PL" sz="1600" dirty="0">
                <a:latin typeface="Consolas" panose="020B0609020204030204" pitchFamily="49" charset="0"/>
              </a:rPr>
              <a:t>&gt; mu_x &lt;- 8</a:t>
            </a:r>
          </a:p>
          <a:p>
            <a:pPr marL="0" indent="0">
              <a:buNone/>
            </a:pPr>
            <a:r>
              <a:rPr lang="pl-PL" sz="1600" dirty="0">
                <a:latin typeface="Consolas" panose="020B0609020204030204" pitchFamily="49" charset="0"/>
              </a:rPr>
              <a:t>&gt; s_2x &lt;- 3.8</a:t>
            </a:r>
          </a:p>
          <a:p>
            <a:pPr marL="0" indent="0">
              <a:buNone/>
            </a:pPr>
            <a:r>
              <a:rPr lang="pl-PL" sz="1600" dirty="0">
                <a:latin typeface="Consolas" panose="020B0609020204030204" pitchFamily="49" charset="0"/>
              </a:rPr>
              <a:t>&gt; s_2xi &lt;- s_2x*nx/(nx-1)</a:t>
            </a:r>
          </a:p>
          <a:p>
            <a:pPr marL="0" indent="0">
              <a:buNone/>
            </a:pPr>
            <a:endParaRPr lang="pl-PL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l-PL" sz="1600" dirty="0">
                <a:latin typeface="Consolas" panose="020B0609020204030204" pitchFamily="49" charset="0"/>
              </a:rPr>
              <a:t>&gt; ny &lt;- 15</a:t>
            </a:r>
          </a:p>
          <a:p>
            <a:pPr marL="0" indent="0">
              <a:buNone/>
            </a:pPr>
            <a:r>
              <a:rPr lang="pl-PL" sz="1600" dirty="0">
                <a:latin typeface="Consolas" panose="020B0609020204030204" pitchFamily="49" charset="0"/>
              </a:rPr>
              <a:t>&gt; mu_y &lt;- 12</a:t>
            </a:r>
          </a:p>
          <a:p>
            <a:pPr marL="0" indent="0">
              <a:buNone/>
            </a:pPr>
            <a:r>
              <a:rPr lang="pl-PL" sz="1600" dirty="0">
                <a:latin typeface="Consolas" panose="020B0609020204030204" pitchFamily="49" charset="0"/>
              </a:rPr>
              <a:t>&gt; s_2y &lt;- 5.7</a:t>
            </a:r>
          </a:p>
          <a:p>
            <a:pPr marL="0" indent="0">
              <a:buNone/>
            </a:pPr>
            <a:r>
              <a:rPr lang="pl-PL" sz="1600" dirty="0">
                <a:latin typeface="Consolas" panose="020B0609020204030204" pitchFamily="49" charset="0"/>
              </a:rPr>
              <a:t>&gt; s_2yi &lt;- s_2y*ny/(ny-1)</a:t>
            </a:r>
          </a:p>
          <a:p>
            <a:pPr marL="0" indent="0">
              <a:buNone/>
            </a:pPr>
            <a:endParaRPr lang="pl-PL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l-PL" sz="1600" dirty="0">
                <a:latin typeface="Consolas" panose="020B0609020204030204" pitchFamily="49" charset="0"/>
              </a:rPr>
              <a:t>&gt; t_1 &lt;- (-5.69 - (mu_x - mu_y))/sqrt((s_2xi/nx)+(s_2yi/ny))</a:t>
            </a:r>
          </a:p>
          <a:p>
            <a:pPr marL="0" indent="0">
              <a:buNone/>
            </a:pPr>
            <a:r>
              <a:rPr lang="pl-PL" sz="1600" dirty="0">
                <a:latin typeface="Consolas" panose="020B0609020204030204" pitchFamily="49" charset="0"/>
              </a:rPr>
              <a:t>&gt; t_1</a:t>
            </a:r>
          </a:p>
          <a:p>
            <a:pPr marL="0" indent="0">
              <a:buNone/>
            </a:pPr>
            <a:r>
              <a:rPr lang="pl-PL" sz="1600" dirty="0">
                <a:latin typeface="Consolas" panose="020B0609020204030204" pitchFamily="49" charset="0"/>
              </a:rPr>
              <a:t>[1] -1.855726</a:t>
            </a:r>
          </a:p>
          <a:p>
            <a:pPr marL="0" indent="0">
              <a:buNone/>
            </a:pPr>
            <a:endParaRPr lang="pl-PL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l-PL" sz="1600" dirty="0">
                <a:latin typeface="Consolas" panose="020B0609020204030204" pitchFamily="49" charset="0"/>
              </a:rPr>
              <a:t>&gt; t_2 &lt;- (-2.31 - (mu_x - mu_y))/sqrt((s_2xi/nx)+(s_2yi/ny))</a:t>
            </a:r>
          </a:p>
          <a:p>
            <a:pPr marL="0" indent="0">
              <a:buNone/>
            </a:pPr>
            <a:r>
              <a:rPr lang="pl-PL" sz="1600" dirty="0">
                <a:latin typeface="Consolas" panose="020B0609020204030204" pitchFamily="49" charset="0"/>
              </a:rPr>
              <a:t>&gt; t_2</a:t>
            </a:r>
          </a:p>
          <a:p>
            <a:pPr marL="0" indent="0">
              <a:buNone/>
            </a:pPr>
            <a:r>
              <a:rPr lang="pl-PL" sz="1600" dirty="0">
                <a:latin typeface="Consolas" panose="020B0609020204030204" pitchFamily="49" charset="0"/>
              </a:rPr>
              <a:t>[1] 1.855726</a:t>
            </a:r>
            <a:endParaRPr lang="es-E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99599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Propuesto 7.8 (Modificado)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2160"/>
            <a:ext cx="10515600" cy="5404803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&gt; v &lt;- (((s_2xi/</a:t>
            </a:r>
            <a:r>
              <a:rPr lang="en-US" sz="1600" dirty="0" err="1">
                <a:latin typeface="Consolas" panose="020B0609020204030204" pitchFamily="49" charset="0"/>
              </a:rPr>
              <a:t>nx</a:t>
            </a:r>
            <a:r>
              <a:rPr lang="en-US" sz="1600" dirty="0">
                <a:latin typeface="Consolas" panose="020B0609020204030204" pitchFamily="49" charset="0"/>
              </a:rPr>
              <a:t>)+(s_2yi/</a:t>
            </a:r>
            <a:r>
              <a:rPr lang="en-US" sz="1600" dirty="0" err="1">
                <a:latin typeface="Consolas" panose="020B0609020204030204" pitchFamily="49" charset="0"/>
              </a:rPr>
              <a:t>ny</a:t>
            </a:r>
            <a:r>
              <a:rPr lang="en-US" sz="1600" dirty="0">
                <a:latin typeface="Consolas" panose="020B0609020204030204" pitchFamily="49" charset="0"/>
              </a:rPr>
              <a:t>))^2)/((((s_2xi/</a:t>
            </a:r>
            <a:r>
              <a:rPr lang="en-US" sz="1600" dirty="0" err="1">
                <a:latin typeface="Consolas" panose="020B0609020204030204" pitchFamily="49" charset="0"/>
              </a:rPr>
              <a:t>nx</a:t>
            </a:r>
            <a:r>
              <a:rPr lang="en-US" sz="1600" dirty="0">
                <a:latin typeface="Consolas" panose="020B0609020204030204" pitchFamily="49" charset="0"/>
              </a:rPr>
              <a:t>)^2)/(nx-1))+(((s_2yi/</a:t>
            </a:r>
            <a:r>
              <a:rPr lang="en-US" sz="1600" dirty="0" err="1">
                <a:latin typeface="Consolas" panose="020B0609020204030204" pitchFamily="49" charset="0"/>
              </a:rPr>
              <a:t>ny</a:t>
            </a:r>
            <a:r>
              <a:rPr lang="en-US" sz="1600" dirty="0">
                <a:latin typeface="Consolas" panose="020B0609020204030204" pitchFamily="49" charset="0"/>
              </a:rPr>
              <a:t>)^2)/(ny-1)))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&gt; v</a:t>
            </a:r>
          </a:p>
          <a:p>
            <a:pPr marL="0" indent="0">
              <a:buNone/>
            </a:pPr>
            <a:r>
              <a:rPr lang="en-US" sz="1600" dirty="0">
                <a:highlight>
                  <a:srgbClr val="FFFF00"/>
                </a:highlight>
                <a:latin typeface="Consolas" panose="020B0609020204030204" pitchFamily="49" charset="0"/>
              </a:rPr>
              <a:t>[1] 21.73405</a:t>
            </a: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&gt; pt(t_2, </a:t>
            </a:r>
            <a:r>
              <a:rPr lang="en-US" sz="1600" dirty="0" err="1">
                <a:latin typeface="Consolas" panose="020B0609020204030204" pitchFamily="49" charset="0"/>
              </a:rPr>
              <a:t>df</a:t>
            </a:r>
            <a:r>
              <a:rPr lang="en-US" sz="1600" dirty="0">
                <a:latin typeface="Consolas" panose="020B0609020204030204" pitchFamily="49" charset="0"/>
              </a:rPr>
              <a:t> = v) - pt(t_1, </a:t>
            </a:r>
            <a:r>
              <a:rPr lang="en-US" sz="1600" dirty="0" err="1">
                <a:latin typeface="Consolas" panose="020B0609020204030204" pitchFamily="49" charset="0"/>
              </a:rPr>
              <a:t>df</a:t>
            </a:r>
            <a:r>
              <a:rPr lang="en-US" sz="1600" dirty="0">
                <a:latin typeface="Consolas" panose="020B0609020204030204" pitchFamily="49" charset="0"/>
              </a:rPr>
              <a:t> = v)</a:t>
            </a:r>
          </a:p>
          <a:p>
            <a:pPr marL="0" indent="0">
              <a:buNone/>
            </a:pPr>
            <a:r>
              <a:rPr lang="en-US" sz="1600" dirty="0">
                <a:highlight>
                  <a:srgbClr val="FFFF00"/>
                </a:highlight>
                <a:latin typeface="Consolas" panose="020B0609020204030204" pitchFamily="49" charset="0"/>
              </a:rPr>
              <a:t>[1] 0.9228952</a:t>
            </a:r>
            <a:endParaRPr lang="es-ES" sz="16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3138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Propuesto 7.8 (Modificado)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2160"/>
            <a:ext cx="10515600" cy="5404803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 fontScale="47500" lnSpcReduction="20000"/>
          </a:bodyPr>
          <a:lstStyle/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#Graficando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</a:t>
            </a:r>
            <a:r>
              <a:rPr lang="es-ES" dirty="0" err="1">
                <a:latin typeface="Consolas" panose="020B0609020204030204" pitchFamily="49" charset="0"/>
              </a:rPr>
              <a:t>data.frame</a:t>
            </a:r>
            <a:r>
              <a:rPr lang="es-ES" dirty="0">
                <a:latin typeface="Consolas" panose="020B0609020204030204" pitchFamily="49" charset="0"/>
              </a:rPr>
              <a:t>(x = c(-4, 4)) %&gt;%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</a:t>
            </a:r>
            <a:r>
              <a:rPr lang="es-ES" dirty="0" err="1">
                <a:latin typeface="Consolas" panose="020B0609020204030204" pitchFamily="49" charset="0"/>
              </a:rPr>
              <a:t>ggplot</a:t>
            </a:r>
            <a:r>
              <a:rPr lang="es-ES" dirty="0">
                <a:latin typeface="Consolas" panose="020B0609020204030204" pitchFamily="49" charset="0"/>
              </a:rPr>
              <a:t>(aes(x)) +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</a:t>
            </a:r>
            <a:r>
              <a:rPr lang="es-ES" dirty="0" err="1">
                <a:latin typeface="Consolas" panose="020B0609020204030204" pitchFamily="49" charset="0"/>
              </a:rPr>
              <a:t>stat_function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fun</a:t>
            </a:r>
            <a:r>
              <a:rPr lang="es-ES" dirty="0">
                <a:latin typeface="Consolas" panose="020B0609020204030204" pitchFamily="49" charset="0"/>
              </a:rPr>
              <a:t> = </a:t>
            </a:r>
            <a:r>
              <a:rPr lang="es-ES" dirty="0" err="1">
                <a:latin typeface="Consolas" panose="020B0609020204030204" pitchFamily="49" charset="0"/>
              </a:rPr>
              <a:t>dt</a:t>
            </a:r>
            <a:r>
              <a:rPr lang="es-ES" dirty="0">
                <a:latin typeface="Consolas" panose="020B0609020204030204" pitchFamily="49" charset="0"/>
              </a:rPr>
              <a:t>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        n = 10000,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        </a:t>
            </a:r>
            <a:r>
              <a:rPr lang="es-ES" dirty="0" err="1">
                <a:latin typeface="Consolas" panose="020B0609020204030204" pitchFamily="49" charset="0"/>
              </a:rPr>
              <a:t>args</a:t>
            </a:r>
            <a:r>
              <a:rPr lang="es-ES" dirty="0">
                <a:latin typeface="Consolas" panose="020B0609020204030204" pitchFamily="49" charset="0"/>
              </a:rPr>
              <a:t> = </a:t>
            </a:r>
            <a:r>
              <a:rPr lang="es-ES" dirty="0" err="1">
                <a:latin typeface="Consolas" panose="020B0609020204030204" pitchFamily="49" charset="0"/>
              </a:rPr>
              <a:t>list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df</a:t>
            </a:r>
            <a:r>
              <a:rPr lang="es-ES" dirty="0">
                <a:latin typeface="Consolas" panose="020B0609020204030204" pitchFamily="49" charset="0"/>
              </a:rPr>
              <a:t> = v)) +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</a:t>
            </a:r>
            <a:r>
              <a:rPr lang="es-ES" dirty="0" err="1">
                <a:latin typeface="Consolas" panose="020B0609020204030204" pitchFamily="49" charset="0"/>
              </a:rPr>
              <a:t>geom_area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stat</a:t>
            </a:r>
            <a:r>
              <a:rPr lang="es-ES" dirty="0">
                <a:latin typeface="Consolas" panose="020B0609020204030204" pitchFamily="49" charset="0"/>
              </a:rPr>
              <a:t> = '</a:t>
            </a:r>
            <a:r>
              <a:rPr lang="es-ES" dirty="0" err="1">
                <a:latin typeface="Consolas" panose="020B0609020204030204" pitchFamily="49" charset="0"/>
              </a:rPr>
              <a:t>function</a:t>
            </a:r>
            <a:r>
              <a:rPr lang="es-ES" dirty="0">
                <a:latin typeface="Consolas" panose="020B0609020204030204" pitchFamily="49" charset="0"/>
              </a:rPr>
              <a:t>',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    </a:t>
            </a:r>
            <a:r>
              <a:rPr lang="es-ES" dirty="0" err="1">
                <a:latin typeface="Consolas" panose="020B0609020204030204" pitchFamily="49" charset="0"/>
              </a:rPr>
              <a:t>fun</a:t>
            </a:r>
            <a:r>
              <a:rPr lang="es-ES" dirty="0">
                <a:latin typeface="Consolas" panose="020B0609020204030204" pitchFamily="49" charset="0"/>
              </a:rPr>
              <a:t> = </a:t>
            </a:r>
            <a:r>
              <a:rPr lang="es-ES" dirty="0" err="1">
                <a:latin typeface="Consolas" panose="020B0609020204030204" pitchFamily="49" charset="0"/>
              </a:rPr>
              <a:t>dt</a:t>
            </a:r>
            <a:r>
              <a:rPr lang="es-ES" dirty="0">
                <a:latin typeface="Consolas" panose="020B0609020204030204" pitchFamily="49" charset="0"/>
              </a:rPr>
              <a:t>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    </a:t>
            </a:r>
            <a:r>
              <a:rPr lang="es-ES" dirty="0" err="1">
                <a:latin typeface="Consolas" panose="020B0609020204030204" pitchFamily="49" charset="0"/>
              </a:rPr>
              <a:t>args</a:t>
            </a:r>
            <a:r>
              <a:rPr lang="es-ES" dirty="0">
                <a:latin typeface="Consolas" panose="020B0609020204030204" pitchFamily="49" charset="0"/>
              </a:rPr>
              <a:t> = </a:t>
            </a:r>
            <a:r>
              <a:rPr lang="es-ES" dirty="0" err="1">
                <a:latin typeface="Consolas" panose="020B0609020204030204" pitchFamily="49" charset="0"/>
              </a:rPr>
              <a:t>list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df</a:t>
            </a:r>
            <a:r>
              <a:rPr lang="es-ES" dirty="0">
                <a:latin typeface="Consolas" panose="020B0609020204030204" pitchFamily="49" charset="0"/>
              </a:rPr>
              <a:t> = v),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    </a:t>
            </a:r>
            <a:r>
              <a:rPr lang="es-ES" dirty="0" err="1">
                <a:latin typeface="Consolas" panose="020B0609020204030204" pitchFamily="49" charset="0"/>
              </a:rPr>
              <a:t>fill</a:t>
            </a:r>
            <a:r>
              <a:rPr lang="es-ES" dirty="0">
                <a:latin typeface="Consolas" panose="020B0609020204030204" pitchFamily="49" charset="0"/>
              </a:rPr>
              <a:t> = 'blue',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    </a:t>
            </a:r>
            <a:r>
              <a:rPr lang="es-ES" dirty="0" err="1">
                <a:latin typeface="Consolas" panose="020B0609020204030204" pitchFamily="49" charset="0"/>
              </a:rPr>
              <a:t>xlim</a:t>
            </a:r>
            <a:r>
              <a:rPr lang="es-ES" dirty="0">
                <a:latin typeface="Consolas" panose="020B0609020204030204" pitchFamily="49" charset="0"/>
              </a:rPr>
              <a:t> = c(t_1, t_2),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    </a:t>
            </a:r>
            <a:r>
              <a:rPr lang="es-ES" dirty="0" err="1">
                <a:latin typeface="Consolas" panose="020B0609020204030204" pitchFamily="49" charset="0"/>
              </a:rPr>
              <a:t>alpha</a:t>
            </a:r>
            <a:r>
              <a:rPr lang="es-ES" dirty="0">
                <a:latin typeface="Consolas" panose="020B0609020204030204" pitchFamily="49" charset="0"/>
              </a:rPr>
              <a:t> = 0.3) +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</a:t>
            </a:r>
            <a:r>
              <a:rPr lang="es-ES" dirty="0" err="1">
                <a:latin typeface="Consolas" panose="020B0609020204030204" pitchFamily="49" charset="0"/>
              </a:rPr>
              <a:t>labs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title</a:t>
            </a:r>
            <a:r>
              <a:rPr lang="es-ES" dirty="0">
                <a:latin typeface="Consolas" panose="020B0609020204030204" pitchFamily="49" charset="0"/>
              </a:rPr>
              <a:t> = "Propuesto 7.8 (Modificado)",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</a:t>
            </a:r>
            <a:r>
              <a:rPr lang="es-ES" dirty="0" err="1">
                <a:latin typeface="Consolas" panose="020B0609020204030204" pitchFamily="49" charset="0"/>
              </a:rPr>
              <a:t>subtitle</a:t>
            </a:r>
            <a:r>
              <a:rPr lang="es-ES" dirty="0">
                <a:latin typeface="Consolas" panose="020B0609020204030204" pitchFamily="49" charset="0"/>
              </a:rPr>
              <a:t> = "T-</a:t>
            </a:r>
            <a:r>
              <a:rPr lang="es-ES" dirty="0" err="1">
                <a:latin typeface="Consolas" panose="020B0609020204030204" pitchFamily="49" charset="0"/>
              </a:rPr>
              <a:t>Student</a:t>
            </a:r>
            <a:r>
              <a:rPr lang="es-ES" dirty="0">
                <a:latin typeface="Consolas" panose="020B0609020204030204" pitchFamily="49" charset="0"/>
              </a:rPr>
              <a:t>",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x = "T",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y = "Densidad f(x)") +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</a:t>
            </a:r>
            <a:r>
              <a:rPr lang="es-ES" dirty="0" err="1">
                <a:latin typeface="Consolas" panose="020B0609020204030204" pitchFamily="49" charset="0"/>
              </a:rPr>
              <a:t>theme_bw</a:t>
            </a:r>
            <a:r>
              <a:rPr lang="es-ES" dirty="0">
                <a:latin typeface="Consolas" panose="020B0609020204030204" pitchFamily="49" charset="0"/>
              </a:rPr>
              <a:t>() +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</a:t>
            </a:r>
            <a:r>
              <a:rPr lang="es-ES" dirty="0" err="1">
                <a:latin typeface="Consolas" panose="020B0609020204030204" pitchFamily="49" charset="0"/>
              </a:rPr>
              <a:t>theme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panel.grid.major.x</a:t>
            </a:r>
            <a:r>
              <a:rPr lang="es-ES" dirty="0">
                <a:latin typeface="Consolas" panose="020B0609020204030204" pitchFamily="49" charset="0"/>
              </a:rPr>
              <a:t> = </a:t>
            </a:r>
            <a:r>
              <a:rPr lang="es-ES" dirty="0" err="1">
                <a:latin typeface="Consolas" panose="020B0609020204030204" pitchFamily="49" charset="0"/>
              </a:rPr>
              <a:t>element_blank</a:t>
            </a:r>
            <a:r>
              <a:rPr lang="es-ES" dirty="0">
                <a:latin typeface="Consolas" panose="020B0609020204030204" pitchFamily="49" charset="0"/>
              </a:rPr>
              <a:t>(),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</a:t>
            </a:r>
            <a:r>
              <a:rPr lang="es-ES" dirty="0" err="1">
                <a:latin typeface="Consolas" panose="020B0609020204030204" pitchFamily="49" charset="0"/>
              </a:rPr>
              <a:t>panel.grid.minor.x</a:t>
            </a:r>
            <a:r>
              <a:rPr lang="es-ES" dirty="0">
                <a:latin typeface="Consolas" panose="020B0609020204030204" pitchFamily="49" charset="0"/>
              </a:rPr>
              <a:t> = </a:t>
            </a:r>
            <a:r>
              <a:rPr lang="es-ES" dirty="0" err="1">
                <a:latin typeface="Consolas" panose="020B0609020204030204" pitchFamily="49" charset="0"/>
              </a:rPr>
              <a:t>element_blank</a:t>
            </a:r>
            <a:r>
              <a:rPr lang="es-ES" dirty="0">
                <a:latin typeface="Consolas" panose="020B0609020204030204" pitchFamily="49" charset="0"/>
              </a:rPr>
              <a:t>(),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</a:t>
            </a:r>
            <a:r>
              <a:rPr lang="es-ES" dirty="0" err="1">
                <a:latin typeface="Consolas" panose="020B0609020204030204" pitchFamily="49" charset="0"/>
              </a:rPr>
              <a:t>panel.grid.minor.y</a:t>
            </a:r>
            <a:r>
              <a:rPr lang="es-ES" dirty="0">
                <a:latin typeface="Consolas" panose="020B0609020204030204" pitchFamily="49" charset="0"/>
              </a:rPr>
              <a:t> = </a:t>
            </a:r>
            <a:r>
              <a:rPr lang="es-ES" dirty="0" err="1">
                <a:latin typeface="Consolas" panose="020B0609020204030204" pitchFamily="49" charset="0"/>
              </a:rPr>
              <a:t>element_blank</a:t>
            </a:r>
            <a:r>
              <a:rPr lang="es-ES" dirty="0">
                <a:latin typeface="Consolas" panose="020B0609020204030204" pitchFamily="49" charset="0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208383383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Propuesto 7.8 (Modificado)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5A8A99-49AD-B733-F5DA-589221B05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000" y="999000"/>
            <a:ext cx="7050000" cy="48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7036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BB7AA6-FADF-4C74-BB6D-7BFBB63F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Diferencia de proporciones muestrales</a:t>
            </a:r>
            <a:endParaRPr lang="es-419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6D3240-91F8-449F-81B7-432D6F81E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Definición y distribución</a:t>
            </a:r>
          </a:p>
        </p:txBody>
      </p:sp>
    </p:spTree>
    <p:extLst>
      <p:ext uri="{BB962C8B-B14F-4D97-AF65-F5344CB8AC3E}">
        <p14:creationId xmlns:p14="http://schemas.microsoft.com/office/powerpoint/2010/main" val="304005339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419" dirty="0"/>
                  <a:t>Diferencia de proporciones muestrales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419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s-419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acc>
                    <m:r>
                      <a:rPr lang="es-419" b="0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acc>
                  </m:oMath>
                </a14:m>
                <a:endParaRPr lang="en-US" b="1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7" t="-11927" b="-174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Principios similares a otras diferencias de estadísticos provenientes de poblaciones diferentes.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419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419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acc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acc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dirty="0">
                  <a:ea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913554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s-419" dirty="0"/>
                  <a:t>Distribución de diferencia de proporciones muestrales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419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s-419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acc>
                    <m:r>
                      <a:rPr lang="es-419" b="0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acc>
                  </m:oMath>
                </a14:m>
                <a:endParaRPr lang="en-US" b="1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275" t="-5505" b="-110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Su distribución en conjunto: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acc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acc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Normalizando: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419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̂"/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acc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acc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s-419" dirty="0">
                              <a:ea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419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den>
                      </m:f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639840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8BDB2-E18E-4378-A323-B877A523D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Propuesto 7.18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55348-03DD-42CE-B1C6-3C00C43A3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VE" sz="2400" i="1" dirty="0"/>
              <a:t>Se toma una muestra de tamaño 20 de una población binomial con </a:t>
            </a:r>
            <a:r>
              <a:rPr lang="es-VE" sz="2400" i="1" dirty="0" err="1"/>
              <a:t>p</a:t>
            </a:r>
            <a:r>
              <a:rPr lang="es-VE" sz="2400" i="1" baseline="-25000" dirty="0" err="1"/>
              <a:t>x</a:t>
            </a:r>
            <a:r>
              <a:rPr lang="es-VE" sz="2400" i="1" dirty="0"/>
              <a:t> = 0,5, y una muestra de tamaño 25 de una población binomial con </a:t>
            </a:r>
            <a:r>
              <a:rPr lang="es-VE" sz="2400" i="1" dirty="0" err="1"/>
              <a:t>p</a:t>
            </a:r>
            <a:r>
              <a:rPr lang="es-VE" sz="2400" i="1" baseline="-25000" dirty="0" err="1"/>
              <a:t>y</a:t>
            </a:r>
            <a:r>
              <a:rPr lang="es-VE" sz="2400" i="1" dirty="0"/>
              <a:t> = 0,45.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VE" sz="2400" i="1" dirty="0"/>
              <a:t>¿Cuál es la probabilidad de que la proporción muestral de la primera población exceda en un 10% o más a la proporción muestral  de la segunda población?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ES" sz="2400" b="1" i="1" dirty="0">
                <a:solidFill>
                  <a:srgbClr val="003A5D"/>
                </a:solidFill>
              </a:rPr>
              <a:t>Nota: </a:t>
            </a:r>
            <a:r>
              <a:rPr lang="es-ES" sz="2400" i="1" dirty="0"/>
              <a:t>En este ejercicio cuando </a:t>
            </a:r>
            <a:r>
              <a:rPr lang="es-ES" sz="2400" i="1" dirty="0" err="1"/>
              <a:t>Casuso</a:t>
            </a:r>
            <a:r>
              <a:rPr lang="es-ES" sz="2400" i="1" dirty="0"/>
              <a:t> pide una diferencia mayor a 10% realmente se refiere a una diferencia de 0.10 entre proporciones muestrales (10 puntos porcentuales).</a:t>
            </a:r>
          </a:p>
          <a:p>
            <a:pPr marL="0" indent="0">
              <a:lnSpc>
                <a:spcPct val="150000"/>
              </a:lnSpc>
              <a:buNone/>
            </a:pPr>
            <a:endParaRPr lang="es-VE" i="1" dirty="0"/>
          </a:p>
          <a:p>
            <a:pPr marL="0" indent="0">
              <a:lnSpc>
                <a:spcPct val="150000"/>
              </a:lnSpc>
              <a:buNone/>
            </a:pPr>
            <a:endParaRPr lang="es-VE" i="1" dirty="0"/>
          </a:p>
        </p:txBody>
      </p:sp>
    </p:spTree>
    <p:extLst>
      <p:ext uri="{BB962C8B-B14F-4D97-AF65-F5344CB8AC3E}">
        <p14:creationId xmlns:p14="http://schemas.microsoft.com/office/powerpoint/2010/main" val="324743515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Propuesto 7.18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2160"/>
            <a:ext cx="10515600" cy="5404803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&gt; </a:t>
            </a:r>
            <a:r>
              <a:rPr lang="es-ES" sz="2400" dirty="0" err="1">
                <a:latin typeface="Consolas" panose="020B0609020204030204" pitchFamily="49" charset="0"/>
              </a:rPr>
              <a:t>nx</a:t>
            </a:r>
            <a:r>
              <a:rPr lang="es-ES" sz="2400" dirty="0">
                <a:latin typeface="Consolas" panose="020B0609020204030204" pitchFamily="49" charset="0"/>
              </a:rPr>
              <a:t> &lt;- 20</a:t>
            </a:r>
          </a:p>
          <a:p>
            <a:pPr marL="0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&gt; </a:t>
            </a:r>
            <a:r>
              <a:rPr lang="es-ES" sz="2400" dirty="0" err="1">
                <a:latin typeface="Consolas" panose="020B0609020204030204" pitchFamily="49" charset="0"/>
              </a:rPr>
              <a:t>px</a:t>
            </a:r>
            <a:r>
              <a:rPr lang="es-ES" sz="2400" dirty="0">
                <a:latin typeface="Consolas" panose="020B0609020204030204" pitchFamily="49" charset="0"/>
              </a:rPr>
              <a:t> &lt;- 0.50</a:t>
            </a:r>
          </a:p>
          <a:p>
            <a:pPr marL="0" indent="0">
              <a:buNone/>
            </a:pPr>
            <a:endParaRPr lang="es-E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&gt; </a:t>
            </a:r>
            <a:r>
              <a:rPr lang="es-ES" sz="2400" dirty="0" err="1">
                <a:latin typeface="Consolas" panose="020B0609020204030204" pitchFamily="49" charset="0"/>
              </a:rPr>
              <a:t>ny</a:t>
            </a:r>
            <a:r>
              <a:rPr lang="es-ES" sz="2400" dirty="0">
                <a:latin typeface="Consolas" panose="020B0609020204030204" pitchFamily="49" charset="0"/>
              </a:rPr>
              <a:t> &lt;- 25</a:t>
            </a:r>
          </a:p>
          <a:p>
            <a:pPr marL="0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&gt; </a:t>
            </a:r>
            <a:r>
              <a:rPr lang="es-ES" sz="2400" dirty="0" err="1">
                <a:latin typeface="Consolas" panose="020B0609020204030204" pitchFamily="49" charset="0"/>
              </a:rPr>
              <a:t>py</a:t>
            </a:r>
            <a:r>
              <a:rPr lang="es-ES" sz="2400" dirty="0">
                <a:latin typeface="Consolas" panose="020B0609020204030204" pitchFamily="49" charset="0"/>
              </a:rPr>
              <a:t> &lt;- 0.45</a:t>
            </a:r>
          </a:p>
          <a:p>
            <a:pPr marL="0" indent="0">
              <a:buNone/>
            </a:pPr>
            <a:endParaRPr lang="es-E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&gt; </a:t>
            </a:r>
            <a:r>
              <a:rPr lang="es-ES" sz="2400" dirty="0" err="1">
                <a:latin typeface="Consolas" panose="020B0609020204030204" pitchFamily="49" charset="0"/>
              </a:rPr>
              <a:t>mu_p_dif</a:t>
            </a:r>
            <a:r>
              <a:rPr lang="es-ES" sz="2400" dirty="0">
                <a:latin typeface="Consolas" panose="020B0609020204030204" pitchFamily="49" charset="0"/>
              </a:rPr>
              <a:t> &lt;- </a:t>
            </a:r>
            <a:r>
              <a:rPr lang="es-ES" sz="2400" dirty="0" err="1">
                <a:latin typeface="Consolas" panose="020B0609020204030204" pitchFamily="49" charset="0"/>
              </a:rPr>
              <a:t>px</a:t>
            </a:r>
            <a:r>
              <a:rPr lang="es-ES" sz="2400" dirty="0">
                <a:latin typeface="Consolas" panose="020B0609020204030204" pitchFamily="49" charset="0"/>
              </a:rPr>
              <a:t> - </a:t>
            </a:r>
            <a:r>
              <a:rPr lang="es-ES" sz="2400" dirty="0" err="1">
                <a:latin typeface="Consolas" panose="020B0609020204030204" pitchFamily="49" charset="0"/>
              </a:rPr>
              <a:t>py</a:t>
            </a:r>
            <a:endParaRPr lang="es-E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&gt; </a:t>
            </a:r>
            <a:r>
              <a:rPr lang="es-ES" sz="2400" dirty="0" err="1">
                <a:latin typeface="Consolas" panose="020B0609020204030204" pitchFamily="49" charset="0"/>
              </a:rPr>
              <a:t>var_p_dif</a:t>
            </a:r>
            <a:r>
              <a:rPr lang="es-ES" sz="2400" dirty="0">
                <a:latin typeface="Consolas" panose="020B0609020204030204" pitchFamily="49" charset="0"/>
              </a:rPr>
              <a:t> &lt;- (</a:t>
            </a:r>
            <a:r>
              <a:rPr lang="es-ES" sz="2400" dirty="0" err="1">
                <a:latin typeface="Consolas" panose="020B0609020204030204" pitchFamily="49" charset="0"/>
              </a:rPr>
              <a:t>px</a:t>
            </a:r>
            <a:r>
              <a:rPr lang="es-ES" sz="2400" dirty="0">
                <a:latin typeface="Consolas" panose="020B0609020204030204" pitchFamily="49" charset="0"/>
              </a:rPr>
              <a:t>*(1-px)/</a:t>
            </a:r>
            <a:r>
              <a:rPr lang="es-ES" sz="2400" dirty="0" err="1">
                <a:latin typeface="Consolas" panose="020B0609020204030204" pitchFamily="49" charset="0"/>
              </a:rPr>
              <a:t>nx</a:t>
            </a:r>
            <a:r>
              <a:rPr lang="es-ES" sz="2400" dirty="0">
                <a:latin typeface="Consolas" panose="020B0609020204030204" pitchFamily="49" charset="0"/>
              </a:rPr>
              <a:t>) + (</a:t>
            </a:r>
            <a:r>
              <a:rPr lang="es-ES" sz="2400" dirty="0" err="1">
                <a:latin typeface="Consolas" panose="020B0609020204030204" pitchFamily="49" charset="0"/>
              </a:rPr>
              <a:t>py</a:t>
            </a:r>
            <a:r>
              <a:rPr lang="es-ES" sz="2400" dirty="0">
                <a:latin typeface="Consolas" panose="020B0609020204030204" pitchFamily="49" charset="0"/>
              </a:rPr>
              <a:t>*(1-py)/</a:t>
            </a:r>
            <a:r>
              <a:rPr lang="es-ES" sz="2400" dirty="0" err="1">
                <a:latin typeface="Consolas" panose="020B0609020204030204" pitchFamily="49" charset="0"/>
              </a:rPr>
              <a:t>ny</a:t>
            </a:r>
            <a:r>
              <a:rPr lang="es-ES" sz="24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s-E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&gt; </a:t>
            </a:r>
            <a:r>
              <a:rPr lang="es-ES" sz="2400" dirty="0" err="1">
                <a:latin typeface="Consolas" panose="020B0609020204030204" pitchFamily="49" charset="0"/>
              </a:rPr>
              <a:t>pnorm</a:t>
            </a:r>
            <a:r>
              <a:rPr lang="es-ES" sz="2400" dirty="0">
                <a:latin typeface="Consolas" panose="020B0609020204030204" pitchFamily="49" charset="0"/>
              </a:rPr>
              <a:t>(0.10, </a:t>
            </a:r>
            <a:r>
              <a:rPr lang="es-ES" sz="2400" dirty="0" err="1">
                <a:latin typeface="Consolas" panose="020B0609020204030204" pitchFamily="49" charset="0"/>
              </a:rPr>
              <a:t>mu_p_dif</a:t>
            </a:r>
            <a:r>
              <a:rPr lang="es-ES" sz="2400" dirty="0">
                <a:latin typeface="Consolas" panose="020B0609020204030204" pitchFamily="49" charset="0"/>
              </a:rPr>
              <a:t>, </a:t>
            </a:r>
            <a:r>
              <a:rPr lang="es-ES" sz="2400" dirty="0" err="1">
                <a:latin typeface="Consolas" panose="020B0609020204030204" pitchFamily="49" charset="0"/>
              </a:rPr>
              <a:t>sqrt</a:t>
            </a:r>
            <a:r>
              <a:rPr lang="es-ES" sz="2400" dirty="0">
                <a:latin typeface="Consolas" panose="020B0609020204030204" pitchFamily="49" charset="0"/>
              </a:rPr>
              <a:t>(</a:t>
            </a:r>
            <a:r>
              <a:rPr lang="es-ES" sz="2400" dirty="0" err="1">
                <a:latin typeface="Consolas" panose="020B0609020204030204" pitchFamily="49" charset="0"/>
              </a:rPr>
              <a:t>var_p_dif</a:t>
            </a:r>
            <a:r>
              <a:rPr lang="es-ES" sz="2400" dirty="0">
                <a:latin typeface="Consolas" panose="020B0609020204030204" pitchFamily="49" charset="0"/>
              </a:rPr>
              <a:t>), </a:t>
            </a:r>
            <a:r>
              <a:rPr lang="es-ES" sz="2400" dirty="0" err="1">
                <a:latin typeface="Consolas" panose="020B0609020204030204" pitchFamily="49" charset="0"/>
              </a:rPr>
              <a:t>lower.tail</a:t>
            </a:r>
            <a:r>
              <a:rPr lang="es-ES" sz="2400" dirty="0">
                <a:latin typeface="Consolas" panose="020B0609020204030204" pitchFamily="49" charset="0"/>
              </a:rPr>
              <a:t> = FALSE)</a:t>
            </a:r>
          </a:p>
          <a:p>
            <a:pPr marL="0" indent="0">
              <a:buNone/>
            </a:pPr>
            <a:r>
              <a:rPr lang="es-ES" sz="2400" dirty="0">
                <a:highlight>
                  <a:srgbClr val="FFFF00"/>
                </a:highlight>
                <a:latin typeface="Consolas" panose="020B0609020204030204" pitchFamily="49" charset="0"/>
              </a:rPr>
              <a:t>[1] 0.3691609</a:t>
            </a:r>
            <a:endParaRPr lang="es-ES" sz="20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93079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Propuesto 7.18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2160"/>
            <a:ext cx="10515600" cy="5404803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#Alternativamente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z_1 &lt;- (0.10 - </a:t>
            </a:r>
            <a:r>
              <a:rPr lang="es-ES" dirty="0" err="1">
                <a:latin typeface="Consolas" panose="020B0609020204030204" pitchFamily="49" charset="0"/>
              </a:rPr>
              <a:t>mu_p_dif</a:t>
            </a:r>
            <a:r>
              <a:rPr lang="es-ES" dirty="0">
                <a:latin typeface="Consolas" panose="020B0609020204030204" pitchFamily="49" charset="0"/>
              </a:rPr>
              <a:t>)/</a:t>
            </a:r>
            <a:r>
              <a:rPr lang="es-ES" dirty="0" err="1">
                <a:latin typeface="Consolas" panose="020B0609020204030204" pitchFamily="49" charset="0"/>
              </a:rPr>
              <a:t>sqrt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var_p_dif</a:t>
            </a:r>
            <a:r>
              <a:rPr lang="es-ES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z_1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[1] 0.3340766</a:t>
            </a:r>
          </a:p>
          <a:p>
            <a:pPr marL="0" indent="0">
              <a:buNone/>
            </a:pPr>
            <a:endParaRPr lang="es-E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</a:t>
            </a:r>
            <a:r>
              <a:rPr lang="es-ES" dirty="0" err="1">
                <a:latin typeface="Consolas" panose="020B0609020204030204" pitchFamily="49" charset="0"/>
              </a:rPr>
              <a:t>pnorm</a:t>
            </a:r>
            <a:r>
              <a:rPr lang="es-ES" dirty="0">
                <a:latin typeface="Consolas" panose="020B0609020204030204" pitchFamily="49" charset="0"/>
              </a:rPr>
              <a:t>(z_1, </a:t>
            </a:r>
            <a:r>
              <a:rPr lang="es-ES" dirty="0" err="1">
                <a:latin typeface="Consolas" panose="020B0609020204030204" pitchFamily="49" charset="0"/>
              </a:rPr>
              <a:t>lower.tail</a:t>
            </a:r>
            <a:r>
              <a:rPr lang="es-ES" dirty="0">
                <a:latin typeface="Consolas" panose="020B0609020204030204" pitchFamily="49" charset="0"/>
              </a:rPr>
              <a:t> = FALSE)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  <a:latin typeface="Consolas" panose="020B0609020204030204" pitchFamily="49" charset="0"/>
              </a:rPr>
              <a:t>[1] 0.3691609</a:t>
            </a:r>
          </a:p>
        </p:txBody>
      </p:sp>
    </p:spTree>
    <p:extLst>
      <p:ext uri="{BB962C8B-B14F-4D97-AF65-F5344CB8AC3E}">
        <p14:creationId xmlns:p14="http://schemas.microsoft.com/office/powerpoint/2010/main" val="323146060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Propuesto 7.18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1FCA-855B-4DA4-B864-3D93B9A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2160"/>
            <a:ext cx="10515600" cy="5404803"/>
          </a:xfrm>
          <a:solidFill>
            <a:srgbClr val="E7E6E6">
              <a:alpha val="50196"/>
            </a:srgbClr>
          </a:solidFill>
        </p:spPr>
        <p:txBody>
          <a:bodyPr vert="horz" lIns="91440" tIns="45720" rIns="91440" bIns="45720" rtlCol="0">
            <a:normAutofit fontScale="40000" lnSpcReduction="20000"/>
          </a:bodyPr>
          <a:lstStyle/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#Graficando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&gt; </a:t>
            </a:r>
            <a:r>
              <a:rPr lang="es-ES" dirty="0" err="1">
                <a:latin typeface="Consolas" panose="020B0609020204030204" pitchFamily="49" charset="0"/>
              </a:rPr>
              <a:t>data.frame</a:t>
            </a:r>
            <a:r>
              <a:rPr lang="es-ES" dirty="0">
                <a:latin typeface="Consolas" panose="020B0609020204030204" pitchFamily="49" charset="0"/>
              </a:rPr>
              <a:t>(x = c(-3.5, 3.5)) %&gt;%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</a:t>
            </a:r>
            <a:r>
              <a:rPr lang="es-ES" dirty="0" err="1">
                <a:latin typeface="Consolas" panose="020B0609020204030204" pitchFamily="49" charset="0"/>
              </a:rPr>
              <a:t>ggplot</a:t>
            </a:r>
            <a:r>
              <a:rPr lang="es-ES" dirty="0">
                <a:latin typeface="Consolas" panose="020B0609020204030204" pitchFamily="49" charset="0"/>
              </a:rPr>
              <a:t>(aes(x)) +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</a:t>
            </a:r>
            <a:r>
              <a:rPr lang="es-ES" dirty="0" err="1">
                <a:latin typeface="Consolas" panose="020B0609020204030204" pitchFamily="49" charset="0"/>
              </a:rPr>
              <a:t>stat_function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fun</a:t>
            </a:r>
            <a:r>
              <a:rPr lang="es-ES" dirty="0">
                <a:latin typeface="Consolas" panose="020B0609020204030204" pitchFamily="49" charset="0"/>
              </a:rPr>
              <a:t> = </a:t>
            </a:r>
            <a:r>
              <a:rPr lang="es-ES" dirty="0" err="1">
                <a:latin typeface="Consolas" panose="020B0609020204030204" pitchFamily="49" charset="0"/>
              </a:rPr>
              <a:t>dnorm</a:t>
            </a:r>
            <a:r>
              <a:rPr lang="es-ES" dirty="0">
                <a:latin typeface="Consolas" panose="020B0609020204030204" pitchFamily="49" charset="0"/>
              </a:rPr>
              <a:t>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        n = 10000,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        </a:t>
            </a:r>
            <a:r>
              <a:rPr lang="es-ES" dirty="0" err="1">
                <a:latin typeface="Consolas" panose="020B0609020204030204" pitchFamily="49" charset="0"/>
              </a:rPr>
              <a:t>args</a:t>
            </a:r>
            <a:r>
              <a:rPr lang="es-ES" dirty="0">
                <a:latin typeface="Consolas" panose="020B0609020204030204" pitchFamily="49" charset="0"/>
              </a:rPr>
              <a:t> = </a:t>
            </a:r>
            <a:r>
              <a:rPr lang="es-ES" dirty="0" err="1">
                <a:latin typeface="Consolas" panose="020B0609020204030204" pitchFamily="49" charset="0"/>
              </a:rPr>
              <a:t>list</a:t>
            </a:r>
            <a:r>
              <a:rPr lang="es-ES" dirty="0">
                <a:latin typeface="Consolas" panose="020B0609020204030204" pitchFamily="49" charset="0"/>
              </a:rPr>
              <a:t>(mean = 0, </a:t>
            </a:r>
            <a:r>
              <a:rPr lang="es-ES" dirty="0" err="1">
                <a:latin typeface="Consolas" panose="020B0609020204030204" pitchFamily="49" charset="0"/>
              </a:rPr>
              <a:t>sd</a:t>
            </a:r>
            <a:r>
              <a:rPr lang="es-ES" dirty="0">
                <a:latin typeface="Consolas" panose="020B0609020204030204" pitchFamily="49" charset="0"/>
              </a:rPr>
              <a:t> = 1)) +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</a:t>
            </a:r>
            <a:r>
              <a:rPr lang="es-ES" dirty="0" err="1">
                <a:latin typeface="Consolas" panose="020B0609020204030204" pitchFamily="49" charset="0"/>
              </a:rPr>
              <a:t>geom_area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stat</a:t>
            </a:r>
            <a:r>
              <a:rPr lang="es-ES" dirty="0">
                <a:latin typeface="Consolas" panose="020B0609020204030204" pitchFamily="49" charset="0"/>
              </a:rPr>
              <a:t> = '</a:t>
            </a:r>
            <a:r>
              <a:rPr lang="es-ES" dirty="0" err="1">
                <a:latin typeface="Consolas" panose="020B0609020204030204" pitchFamily="49" charset="0"/>
              </a:rPr>
              <a:t>function</a:t>
            </a:r>
            <a:r>
              <a:rPr lang="es-ES" dirty="0">
                <a:latin typeface="Consolas" panose="020B0609020204030204" pitchFamily="49" charset="0"/>
              </a:rPr>
              <a:t>',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    </a:t>
            </a:r>
            <a:r>
              <a:rPr lang="es-ES" dirty="0" err="1">
                <a:latin typeface="Consolas" panose="020B0609020204030204" pitchFamily="49" charset="0"/>
              </a:rPr>
              <a:t>fun</a:t>
            </a:r>
            <a:r>
              <a:rPr lang="es-ES" dirty="0">
                <a:latin typeface="Consolas" panose="020B0609020204030204" pitchFamily="49" charset="0"/>
              </a:rPr>
              <a:t> = </a:t>
            </a:r>
            <a:r>
              <a:rPr lang="es-ES" dirty="0" err="1">
                <a:latin typeface="Consolas" panose="020B0609020204030204" pitchFamily="49" charset="0"/>
              </a:rPr>
              <a:t>dnorm</a:t>
            </a:r>
            <a:r>
              <a:rPr lang="es-ES" dirty="0">
                <a:latin typeface="Consolas" panose="020B0609020204030204" pitchFamily="49" charset="0"/>
              </a:rPr>
              <a:t>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    </a:t>
            </a:r>
            <a:r>
              <a:rPr lang="es-ES" dirty="0" err="1">
                <a:latin typeface="Consolas" panose="020B0609020204030204" pitchFamily="49" charset="0"/>
              </a:rPr>
              <a:t>args</a:t>
            </a:r>
            <a:r>
              <a:rPr lang="es-ES" dirty="0">
                <a:latin typeface="Consolas" panose="020B0609020204030204" pitchFamily="49" charset="0"/>
              </a:rPr>
              <a:t> = </a:t>
            </a:r>
            <a:r>
              <a:rPr lang="es-ES" dirty="0" err="1">
                <a:latin typeface="Consolas" panose="020B0609020204030204" pitchFamily="49" charset="0"/>
              </a:rPr>
              <a:t>list</a:t>
            </a:r>
            <a:r>
              <a:rPr lang="es-ES" dirty="0">
                <a:latin typeface="Consolas" panose="020B0609020204030204" pitchFamily="49" charset="0"/>
              </a:rPr>
              <a:t>(mean = 0, </a:t>
            </a:r>
            <a:r>
              <a:rPr lang="es-ES" dirty="0" err="1">
                <a:latin typeface="Consolas" panose="020B0609020204030204" pitchFamily="49" charset="0"/>
              </a:rPr>
              <a:t>sd</a:t>
            </a:r>
            <a:r>
              <a:rPr lang="es-ES" dirty="0">
                <a:latin typeface="Consolas" panose="020B0609020204030204" pitchFamily="49" charset="0"/>
              </a:rPr>
              <a:t> = 1),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    </a:t>
            </a:r>
            <a:r>
              <a:rPr lang="es-ES" dirty="0" err="1">
                <a:latin typeface="Consolas" panose="020B0609020204030204" pitchFamily="49" charset="0"/>
              </a:rPr>
              <a:t>fill</a:t>
            </a:r>
            <a:r>
              <a:rPr lang="es-ES" dirty="0">
                <a:latin typeface="Consolas" panose="020B0609020204030204" pitchFamily="49" charset="0"/>
              </a:rPr>
              <a:t> = 'blue',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    </a:t>
            </a:r>
            <a:r>
              <a:rPr lang="es-ES" dirty="0" err="1">
                <a:latin typeface="Consolas" panose="020B0609020204030204" pitchFamily="49" charset="0"/>
              </a:rPr>
              <a:t>xlim</a:t>
            </a:r>
            <a:r>
              <a:rPr lang="es-ES" dirty="0">
                <a:latin typeface="Consolas" panose="020B0609020204030204" pitchFamily="49" charset="0"/>
              </a:rPr>
              <a:t> = c(z_1, 3.5),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    </a:t>
            </a:r>
            <a:r>
              <a:rPr lang="es-ES" dirty="0" err="1">
                <a:latin typeface="Consolas" panose="020B0609020204030204" pitchFamily="49" charset="0"/>
              </a:rPr>
              <a:t>alpha</a:t>
            </a:r>
            <a:r>
              <a:rPr lang="es-ES" dirty="0">
                <a:latin typeface="Consolas" panose="020B0609020204030204" pitchFamily="49" charset="0"/>
              </a:rPr>
              <a:t> = 0.3) +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</a:t>
            </a:r>
            <a:r>
              <a:rPr lang="es-ES" dirty="0" err="1">
                <a:latin typeface="Consolas" panose="020B0609020204030204" pitchFamily="49" charset="0"/>
              </a:rPr>
              <a:t>labs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title</a:t>
            </a:r>
            <a:r>
              <a:rPr lang="es-ES" dirty="0">
                <a:latin typeface="Consolas" panose="020B0609020204030204" pitchFamily="49" charset="0"/>
              </a:rPr>
              <a:t> = "Propuesto 7.18",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</a:t>
            </a:r>
            <a:r>
              <a:rPr lang="es-ES" dirty="0" err="1">
                <a:latin typeface="Consolas" panose="020B0609020204030204" pitchFamily="49" charset="0"/>
              </a:rPr>
              <a:t>subtitle</a:t>
            </a:r>
            <a:r>
              <a:rPr lang="es-ES" dirty="0">
                <a:latin typeface="Consolas" panose="020B0609020204030204" pitchFamily="49" charset="0"/>
              </a:rPr>
              <a:t> = "Normal estandarizada",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x = "Z",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y = "Densidad f(x)") +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</a:t>
            </a:r>
            <a:r>
              <a:rPr lang="es-ES" dirty="0" err="1">
                <a:latin typeface="Consolas" panose="020B0609020204030204" pitchFamily="49" charset="0"/>
              </a:rPr>
              <a:t>scale_x_continuous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breaks</a:t>
            </a:r>
            <a:r>
              <a:rPr lang="es-ES" dirty="0">
                <a:latin typeface="Consolas" panose="020B0609020204030204" pitchFamily="49" charset="0"/>
              </a:rPr>
              <a:t> = </a:t>
            </a:r>
            <a:r>
              <a:rPr lang="es-ES" dirty="0" err="1">
                <a:latin typeface="Consolas" panose="020B0609020204030204" pitchFamily="49" charset="0"/>
              </a:rPr>
              <a:t>seq</a:t>
            </a:r>
            <a:r>
              <a:rPr lang="es-ES" dirty="0">
                <a:latin typeface="Consolas" panose="020B0609020204030204" pitchFamily="49" charset="0"/>
              </a:rPr>
              <a:t>(-4, 4)) +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</a:t>
            </a:r>
            <a:r>
              <a:rPr lang="es-ES" dirty="0" err="1">
                <a:latin typeface="Consolas" panose="020B0609020204030204" pitchFamily="49" charset="0"/>
              </a:rPr>
              <a:t>theme_bw</a:t>
            </a:r>
            <a:r>
              <a:rPr lang="es-ES" dirty="0">
                <a:latin typeface="Consolas" panose="020B0609020204030204" pitchFamily="49" charset="0"/>
              </a:rPr>
              <a:t>() +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</a:t>
            </a:r>
            <a:r>
              <a:rPr lang="es-ES" dirty="0" err="1">
                <a:latin typeface="Consolas" panose="020B0609020204030204" pitchFamily="49" charset="0"/>
              </a:rPr>
              <a:t>theme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panel.grid.major.x</a:t>
            </a:r>
            <a:r>
              <a:rPr lang="es-ES" dirty="0">
                <a:latin typeface="Consolas" panose="020B0609020204030204" pitchFamily="49" charset="0"/>
              </a:rPr>
              <a:t> = </a:t>
            </a:r>
            <a:r>
              <a:rPr lang="es-ES" dirty="0" err="1">
                <a:latin typeface="Consolas" panose="020B0609020204030204" pitchFamily="49" charset="0"/>
              </a:rPr>
              <a:t>element_blank</a:t>
            </a:r>
            <a:r>
              <a:rPr lang="es-ES" dirty="0">
                <a:latin typeface="Consolas" panose="020B0609020204030204" pitchFamily="49" charset="0"/>
              </a:rPr>
              <a:t>(),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</a:t>
            </a:r>
            <a:r>
              <a:rPr lang="es-ES" dirty="0" err="1">
                <a:latin typeface="Consolas" panose="020B0609020204030204" pitchFamily="49" charset="0"/>
              </a:rPr>
              <a:t>panel.grid.minor.x</a:t>
            </a:r>
            <a:r>
              <a:rPr lang="es-ES" dirty="0">
                <a:latin typeface="Consolas" panose="020B0609020204030204" pitchFamily="49" charset="0"/>
              </a:rPr>
              <a:t> = </a:t>
            </a:r>
            <a:r>
              <a:rPr lang="es-ES" dirty="0" err="1">
                <a:latin typeface="Consolas" panose="020B0609020204030204" pitchFamily="49" charset="0"/>
              </a:rPr>
              <a:t>element_blank</a:t>
            </a:r>
            <a:r>
              <a:rPr lang="es-ES" dirty="0">
                <a:latin typeface="Consolas" panose="020B0609020204030204" pitchFamily="49" charset="0"/>
              </a:rPr>
              <a:t>(), 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+         </a:t>
            </a:r>
            <a:r>
              <a:rPr lang="es-ES" dirty="0" err="1">
                <a:latin typeface="Consolas" panose="020B0609020204030204" pitchFamily="49" charset="0"/>
              </a:rPr>
              <a:t>panel.grid.minor.y</a:t>
            </a:r>
            <a:r>
              <a:rPr lang="es-ES" dirty="0">
                <a:latin typeface="Consolas" panose="020B0609020204030204" pitchFamily="49" charset="0"/>
              </a:rPr>
              <a:t> = </a:t>
            </a:r>
            <a:r>
              <a:rPr lang="es-ES" dirty="0" err="1">
                <a:latin typeface="Consolas" panose="020B0609020204030204" pitchFamily="49" charset="0"/>
              </a:rPr>
              <a:t>element_blank</a:t>
            </a:r>
            <a:r>
              <a:rPr lang="es-ES" dirty="0">
                <a:latin typeface="Consolas" panose="020B0609020204030204" pitchFamily="49" charset="0"/>
              </a:rPr>
              <a:t>())</a:t>
            </a:r>
            <a:endParaRPr lang="es-ES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93845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Propuesto 7.18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831D71-7E1E-4CD2-7448-27A358500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992" y="999000"/>
            <a:ext cx="7066017" cy="48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58551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BB7AA6-FADF-4C74-BB6D-7BFBB63F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Proporción de varianzas muestrales</a:t>
            </a:r>
            <a:endParaRPr lang="es-419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6D3240-91F8-449F-81B7-432D6F81E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Definición y distribución</a:t>
            </a:r>
          </a:p>
        </p:txBody>
      </p:sp>
    </p:spTree>
    <p:extLst>
      <p:ext uri="{BB962C8B-B14F-4D97-AF65-F5344CB8AC3E}">
        <p14:creationId xmlns:p14="http://schemas.microsoft.com/office/powerpoint/2010/main" val="426895372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s-419" dirty="0"/>
                  <a:t>Distribución de proporciones de varianzas muestrales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s-419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s-419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en-US" b="1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275" t="-5505" b="-110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25000" lnSpcReduction="20000"/>
              </a:bodyPr>
              <a:lstStyle/>
              <a:p>
                <a:pPr>
                  <a:lnSpc>
                    <a:spcPct val="170000"/>
                  </a:lnSpc>
                </a:pPr>
                <a:r>
                  <a:rPr lang="es-419" sz="8000" dirty="0">
                    <a:ea typeface="Cambria Math" panose="02040503050406030204" pitchFamily="18" charset="0"/>
                  </a:rPr>
                  <a:t>Cuando no se dispone de información sobre la relación entre varianzas de dos poblaciones, podemos acercarlas vía un ratio de sus varianzas muestrales insesgadas.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419" sz="8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s-419" sz="8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419" sz="8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419" sz="8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s-419" sz="8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s-419" sz="8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419" sz="8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419" sz="8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s-419" sz="8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s-419" sz="800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70000"/>
                  </a:lnSpc>
                </a:pPr>
                <a:r>
                  <a:rPr lang="es-419" sz="8000" dirty="0">
                    <a:ea typeface="Cambria Math" panose="02040503050406030204" pitchFamily="18" charset="0"/>
                  </a:rPr>
                  <a:t>Donde valores superiores a </a:t>
                </a:r>
                <a:r>
                  <a:rPr lang="es-419" sz="8000" b="1" dirty="0">
                    <a:solidFill>
                      <a:srgbClr val="003A5D"/>
                    </a:solidFill>
                    <a:ea typeface="Cambria Math" panose="02040503050406030204" pitchFamily="18" charset="0"/>
                  </a:rPr>
                  <a:t>1</a:t>
                </a:r>
                <a:r>
                  <a:rPr lang="es-419" sz="8000" dirty="0">
                    <a:ea typeface="Cambria Math" panose="02040503050406030204" pitchFamily="18" charset="0"/>
                  </a:rPr>
                  <a:t> implican que es mayor la varianza de la muestra </a:t>
                </a:r>
                <a14:m>
                  <m:oMath xmlns:m="http://schemas.openxmlformats.org/officeDocument/2006/math">
                    <m:r>
                      <a:rPr lang="es-419" sz="8000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s-419" sz="8000" b="0" dirty="0">
                    <a:ea typeface="Cambria Math" panose="02040503050406030204" pitchFamily="18" charset="0"/>
                  </a:rPr>
                  <a:t>. </a:t>
                </a:r>
              </a:p>
              <a:p>
                <a:pPr>
                  <a:lnSpc>
                    <a:spcPct val="170000"/>
                  </a:lnSpc>
                </a:pPr>
                <a:r>
                  <a:rPr lang="es-419" sz="8000" b="0" dirty="0">
                    <a:ea typeface="Cambria Math" panose="02040503050406030204" pitchFamily="18" charset="0"/>
                  </a:rPr>
                  <a:t>Valores menores a </a:t>
                </a:r>
                <a:r>
                  <a:rPr lang="es-419" sz="8000" b="1" dirty="0">
                    <a:solidFill>
                      <a:srgbClr val="003A5D"/>
                    </a:solidFill>
                    <a:ea typeface="Cambria Math" panose="02040503050406030204" pitchFamily="18" charset="0"/>
                  </a:rPr>
                  <a:t>1 </a:t>
                </a:r>
                <a:r>
                  <a:rPr lang="es-419" sz="8000" dirty="0">
                    <a:ea typeface="Cambria Math" panose="02040503050406030204" pitchFamily="18" charset="0"/>
                  </a:rPr>
                  <a:t>significan que es mayor la varianza de la muestra </a:t>
                </a:r>
                <a14:m>
                  <m:oMath xmlns:m="http://schemas.openxmlformats.org/officeDocument/2006/math">
                    <m:r>
                      <a:rPr lang="es-419" sz="8000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s-419" sz="8000" b="1" dirty="0">
                    <a:solidFill>
                      <a:srgbClr val="003A5D"/>
                    </a:solidFill>
                    <a:ea typeface="Cambria Math" panose="02040503050406030204" pitchFamily="18" charset="0"/>
                  </a:rPr>
                  <a:t>.</a:t>
                </a:r>
              </a:p>
              <a:p>
                <a:pPr>
                  <a:lnSpc>
                    <a:spcPct val="170000"/>
                  </a:lnSpc>
                </a:pPr>
                <a:r>
                  <a:rPr lang="es-419" sz="8000" dirty="0">
                    <a:ea typeface="Cambria Math" panose="02040503050406030204" pitchFamily="18" charset="0"/>
                  </a:rPr>
                  <a:t>La unidad implica igualdad entre varianzas.</a:t>
                </a:r>
              </a:p>
              <a:p>
                <a:pPr>
                  <a:lnSpc>
                    <a:spcPct val="170000"/>
                  </a:lnSpc>
                </a:pPr>
                <a:r>
                  <a:rPr lang="es-419" sz="8000" dirty="0">
                    <a:ea typeface="Cambria Math" panose="02040503050406030204" pitchFamily="18" charset="0"/>
                  </a:rPr>
                  <a:t>La interpretación depende mucho de cuál varianza (y por ende población) es colocada en el numerador y denominador.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377818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s-419" dirty="0"/>
                  <a:t>Distribución de proporciones de varianzas muestrales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s-419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s-419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s-419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s-419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en-US" b="1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275" t="-5505" b="-110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7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En cuanto a su distribución, aproximaremos usando funciones de varianzas muestrales insesgadas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s-419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419" i="1" smtClean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 y divididas entre sus grados de libertad.</a:t>
                </a: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ctrlPr>
                                  <a:rPr lang="es-419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bSup>
                                  <m:sSubSup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sSubSup>
                                  <m:sSubSupPr>
                                    <m:ctrlPr>
                                      <a:rPr lang="es-419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s-419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den>
                            </m:f>
                          </m:num>
                          <m:den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b>
                                </m:sSub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bSup>
                                  <m:sSubSup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sSubSup>
                                  <m:sSubSup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den>
                            </m:f>
                          </m:num>
                          <m:den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Sup>
                              <m:sSub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Sup>
                              <m:sSub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num>
                      <m:den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b>
                            </m:s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Sup>
                              <m:sSub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Sup>
                              <m:sSub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den>
                    </m:f>
                    <m:r>
                      <a:rPr lang="es-419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419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Sup>
                              <m:sSub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num>
                      <m:den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s-419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Sup>
                              <m:sSub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den>
                    </m:f>
                  </m:oMath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 marL="0" indent="0" algn="ctr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sSub>
                        <m:sSubPr>
                          <m:ctrlP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s-419" dirty="0"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s-419" dirty="0"/>
                            <m:t> </m:t>
                          </m:r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s-419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70000"/>
                  </a:lnSpc>
                </a:pPr>
                <a:r>
                  <a:rPr lang="es-419" dirty="0">
                    <a:ea typeface="Cambria Math" panose="02040503050406030204" pitchFamily="18" charset="0"/>
                  </a:rPr>
                  <a:t>Se distribuye como una función </a:t>
                </a:r>
                <a:r>
                  <a:rPr lang="es-419" b="1" dirty="0">
                    <a:solidFill>
                      <a:srgbClr val="003A5D"/>
                    </a:solidFill>
                    <a:ea typeface="Cambria Math" panose="02040503050406030204" pitchFamily="18" charset="0"/>
                  </a:rPr>
                  <a:t>F-Snedecor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648833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BB7AA6-FADF-4C74-BB6D-7BFBB63F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Resumen</a:t>
            </a:r>
            <a:endParaRPr lang="es-419" dirty="0"/>
          </a:p>
        </p:txBody>
      </p:sp>
      <p:sp>
        <p:nvSpPr>
          <p:cNvPr id="2" name="Marcador de texto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Lógica para resolución de problemas</a:t>
            </a:r>
          </a:p>
        </p:txBody>
      </p:sp>
    </p:spTree>
    <p:extLst>
      <p:ext uri="{BB962C8B-B14F-4D97-AF65-F5344CB8AC3E}">
        <p14:creationId xmlns:p14="http://schemas.microsoft.com/office/powerpoint/2010/main" val="198759821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Resumen de pasos básicos para uso de estimadores</a:t>
            </a:r>
            <a:endParaRPr lang="en-US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D2B7B-D57E-4721-9C41-C48E6975A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s-419" b="0" dirty="0">
                <a:ea typeface="Cambria Math" panose="02040503050406030204" pitchFamily="18" charset="0"/>
              </a:rPr>
              <a:t>Generar o utilizar un estadístico en línea con el parámetro poblacional que deseamos inferir.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s-419" dirty="0">
                <a:ea typeface="Cambria Math" panose="02040503050406030204" pitchFamily="18" charset="0"/>
              </a:rPr>
              <a:t>Normalizar o transformar nuestro estadístico a una escala conocida o trabajable.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s-419" dirty="0">
                <a:ea typeface="Cambria Math" panose="02040503050406030204" pitchFamily="18" charset="0"/>
              </a:rPr>
              <a:t>Calcular número, probabilidad o valor correspondiente.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s-419" dirty="0">
                <a:ea typeface="Cambria Math" panose="02040503050406030204" pitchFamily="18" charset="0"/>
              </a:rPr>
              <a:t>Las fórmulas pueden implementarse para despejar componentes: </a:t>
            </a:r>
            <a:r>
              <a:rPr lang="es-419" b="1" dirty="0">
                <a:solidFill>
                  <a:srgbClr val="003A5D"/>
                </a:solidFill>
                <a:ea typeface="Cambria Math" panose="02040503050406030204" pitchFamily="18" charset="0"/>
              </a:rPr>
              <a:t>tamaño de muestra, valores no-estandarizados, etc.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s-419" b="0" dirty="0">
              <a:ea typeface="Cambria Math" panose="020405030504060302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s-419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82829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F4357B-7739-64ED-CF4A-BEB18B31C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Mensaje principal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78D337-D951-332A-AC1D-6135DA1A7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La inferencia estadística trata de acercarse a retratar la realidad de una población a través de información contenida en una muestra de dicha población.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Métricas muestrales conocidas como estadísticos son los principales instrumentos de trabajo para tal labor.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Los estadísticos más populares tienen propiedades probabilísticas conocidas y se pueden trabajar de forma estandarizada.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</p:txBody>
      </p:sp>
    </p:spTree>
    <p:extLst>
      <p:ext uri="{BB962C8B-B14F-4D97-AF65-F5344CB8AC3E}">
        <p14:creationId xmlns:p14="http://schemas.microsoft.com/office/powerpoint/2010/main" val="374448034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CB5B7C-2524-4454-BA98-4C573E5FA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r>
              <a:rPr lang="es-419" dirty="0"/>
              <a:t>Giorgio Cunto Morales</a:t>
            </a:r>
          </a:p>
          <a:p>
            <a:pPr marL="0" indent="0" algn="ctr">
              <a:buNone/>
            </a:pPr>
            <a:r>
              <a:rPr lang="es-419" sz="2400" dirty="0">
                <a:hlinkClick r:id="rId2"/>
              </a:rPr>
              <a:t>gcuntomo@ucab.edu.ve</a:t>
            </a:r>
            <a:r>
              <a:rPr lang="es-419" sz="2400" dirty="0"/>
              <a:t> | </a:t>
            </a:r>
            <a:r>
              <a:rPr lang="en-US" sz="2400" dirty="0">
                <a:hlinkClick r:id="rId3"/>
              </a:rPr>
              <a:t>https://www.linkedin.com/in/giorgiocmorales/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98922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16261</TotalTime>
  <Words>4623</Words>
  <Application>Microsoft Office PowerPoint</Application>
  <PresentationFormat>Panorámica</PresentationFormat>
  <Paragraphs>925</Paragraphs>
  <Slides>113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113</vt:i4>
      </vt:variant>
    </vt:vector>
  </HeadingPairs>
  <TitlesOfParts>
    <vt:vector size="119" baseType="lpstr">
      <vt:lpstr>Arial</vt:lpstr>
      <vt:lpstr>Calibri</vt:lpstr>
      <vt:lpstr>Cambria Math</vt:lpstr>
      <vt:lpstr>Consolas</vt:lpstr>
      <vt:lpstr>Georgia</vt:lpstr>
      <vt:lpstr>Office Theme</vt:lpstr>
      <vt:lpstr>Presentación de PowerPoint</vt:lpstr>
      <vt:lpstr>Mensaje principal</vt:lpstr>
      <vt:lpstr>Inferencia Estadística</vt:lpstr>
      <vt:lpstr>La Estadística Inferencial en una imagen</vt:lpstr>
      <vt:lpstr>Poblaciones y muestras</vt:lpstr>
      <vt:lpstr>Características de una muestra</vt:lpstr>
      <vt:lpstr>Muestreo aleatorio simple (Ejemplo del dado)</vt:lpstr>
      <vt:lpstr>Estadísticos muestrales</vt:lpstr>
      <vt:lpstr>Estadísticos muestrales</vt:lpstr>
      <vt:lpstr>Estadísticos muestrales</vt:lpstr>
      <vt:lpstr>Apartado: Distribución muestral</vt:lpstr>
      <vt:lpstr>Distribución de la media muestral X ̅</vt:lpstr>
      <vt:lpstr>La media muestral</vt:lpstr>
      <vt:lpstr>La media muestral X ̅</vt:lpstr>
      <vt:lpstr>Espacio de intervención: 1 minuto</vt:lpstr>
      <vt:lpstr>Valor esperado y varianza de la media muestral X ̅</vt:lpstr>
      <vt:lpstr>Valor esperado y varianza de la media muestral X ̅</vt:lpstr>
      <vt:lpstr>Distribución de la media muestral X ̅ (Varianza conocida)</vt:lpstr>
      <vt:lpstr>Distribución de la media muestral X ̅ (Varianza conocida)</vt:lpstr>
      <vt:lpstr>Distribución de la media muestral X ̅ (Varianza conocida)</vt:lpstr>
      <vt:lpstr>Resuelto 7.2</vt:lpstr>
      <vt:lpstr>Resuelto 7.2</vt:lpstr>
      <vt:lpstr>Resuelto 7.2</vt:lpstr>
      <vt:lpstr>Resuelto 7.2</vt:lpstr>
      <vt:lpstr>Resuelto 7.2</vt:lpstr>
      <vt:lpstr>Espacio de intervención: 1 minuto</vt:lpstr>
      <vt:lpstr>Muestreo de poblaciones finitas, sin reemplazamiento</vt:lpstr>
      <vt:lpstr>Muestreo de poblaciones finitas, sin reemplazamiento</vt:lpstr>
      <vt:lpstr>Espacio de intervención: 1 minuto</vt:lpstr>
      <vt:lpstr>La varianza muestral</vt:lpstr>
      <vt:lpstr>Varianza muestral S^2′ y S^2</vt:lpstr>
      <vt:lpstr>Cuasivarianza muestral (varianza muestral moderna) S^2 〖(S〗_c^2)</vt:lpstr>
      <vt:lpstr>El problema del Casuso con varianza y cuasivarianza muestral</vt:lpstr>
      <vt:lpstr>Para efectos de este curso</vt:lpstr>
      <vt:lpstr>¿Cómo proceder con los ejercicios?</vt:lpstr>
      <vt:lpstr>Pasar de S^2  a S^2′ y vice versa</vt:lpstr>
      <vt:lpstr>Distribución de S^2</vt:lpstr>
      <vt:lpstr>Distribución de S^2</vt:lpstr>
      <vt:lpstr>Espacio de intervención: 1 minuto</vt:lpstr>
      <vt:lpstr>Nota sobre grados de libertad</vt:lpstr>
      <vt:lpstr>Nota sobre grados de libertad</vt:lpstr>
      <vt:lpstr>Espacio de intervención: 3 minuto</vt:lpstr>
      <vt:lpstr>Distribución de S^2</vt:lpstr>
      <vt:lpstr>Resuelto 7.3 (Modificado)</vt:lpstr>
      <vt:lpstr>Resuelto 7.3 (Modificado)</vt:lpstr>
      <vt:lpstr>Resuelto 7.3 (Modificado)</vt:lpstr>
      <vt:lpstr>Resuelto 7.3 (Varianza muestral insesgada)</vt:lpstr>
      <vt:lpstr>Resuelto 7.3 (Varianza muestral insesgada)</vt:lpstr>
      <vt:lpstr>Resuelto 7.3 (Varianza muestral insesgada)</vt:lpstr>
      <vt:lpstr>Media muestral (de nuevo)</vt:lpstr>
      <vt:lpstr>Distribución de la media muestral X ̅ (Varianza desconocida)</vt:lpstr>
      <vt:lpstr>Distribución de la media muestral X ̅ (Varianza desconocida)</vt:lpstr>
      <vt:lpstr>Distribución de la media muestral X ̅ (Varianza desconocida)</vt:lpstr>
      <vt:lpstr>Propuesto 7.7</vt:lpstr>
      <vt:lpstr>Propuesto 7.7</vt:lpstr>
      <vt:lpstr>Propuesto 7.7</vt:lpstr>
      <vt:lpstr>Propuesto 7.7</vt:lpstr>
      <vt:lpstr>Propuesto 7.7</vt:lpstr>
      <vt:lpstr>Propuesto 7.7</vt:lpstr>
      <vt:lpstr>Propuesto 7.7</vt:lpstr>
      <vt:lpstr>Propuesto 7.7</vt:lpstr>
      <vt:lpstr>Propuesto 7.7</vt:lpstr>
      <vt:lpstr>Propuesto 7.7</vt:lpstr>
      <vt:lpstr>Propuesto 7.7</vt:lpstr>
      <vt:lpstr>Proporción muestral</vt:lpstr>
      <vt:lpstr>Proporción muestral p ̂</vt:lpstr>
      <vt:lpstr>Distribución de proporción muestral p ̂</vt:lpstr>
      <vt:lpstr>Propuesto 7.16 (Resolver solamente 7.16) </vt:lpstr>
      <vt:lpstr>Propuesto 7.15 y 7.16</vt:lpstr>
      <vt:lpstr>Propuesto 7.15 y 7.16</vt:lpstr>
      <vt:lpstr>Propuesto 7.15 y 7.16</vt:lpstr>
      <vt:lpstr>Propuesto 7.15 y 7.16</vt:lpstr>
      <vt:lpstr>Diferencia de medias muestrales</vt:lpstr>
      <vt:lpstr>Diferencia de medias muestrales X ̅-Y ̅</vt:lpstr>
      <vt:lpstr>Distribución de diferencia de medias muestrales X ̅-Y ̅</vt:lpstr>
      <vt:lpstr>Distribución de diferencia de medias muestrales X ̅-Y ̅</vt:lpstr>
      <vt:lpstr>Propuesto 7.13</vt:lpstr>
      <vt:lpstr>Propuesto 7.13</vt:lpstr>
      <vt:lpstr>Propuesto 7.13</vt:lpstr>
      <vt:lpstr>Propuesto 7.13</vt:lpstr>
      <vt:lpstr>Espacio de intervención: 30 segundos</vt:lpstr>
      <vt:lpstr>Distribución de diferencia de medias muestrales X ̅-Y ̅</vt:lpstr>
      <vt:lpstr>Distribución de diferencia de medias muestrales X ̅-Y ̅</vt:lpstr>
      <vt:lpstr>Distribución de diferencia de medias muestrales X ̅-Y ̅</vt:lpstr>
      <vt:lpstr>Espacio de intervención: 3 minutos</vt:lpstr>
      <vt:lpstr>Distribución de diferencia de medias muestrales X ̅-Y ̅</vt:lpstr>
      <vt:lpstr>Propuesto 7.8</vt:lpstr>
      <vt:lpstr>Propuesto 7.8</vt:lpstr>
      <vt:lpstr>Propuesto 7.8</vt:lpstr>
      <vt:lpstr>Propuesto 7.8</vt:lpstr>
      <vt:lpstr>Resuelto 7.8</vt:lpstr>
      <vt:lpstr>Distribución de diferencia de medias muestrales X ̅-Y ̅</vt:lpstr>
      <vt:lpstr>Distribución de diferencia de medias muestrales X ̅-Y ̅</vt:lpstr>
      <vt:lpstr>Propuesto 7.8 (Modificado)</vt:lpstr>
      <vt:lpstr>Propuesto 7.8 (Modificado)</vt:lpstr>
      <vt:lpstr>Propuesto 7.8 (Modificado)</vt:lpstr>
      <vt:lpstr>Propuesto 7.8 (Modificado)</vt:lpstr>
      <vt:lpstr>Propuesto 7.8 (Modificado)</vt:lpstr>
      <vt:lpstr>Diferencia de proporciones muestrales</vt:lpstr>
      <vt:lpstr>Diferencia de proporciones muestrales (p_x ) ̂-(p_y ) ̂</vt:lpstr>
      <vt:lpstr>Distribución de diferencia de proporciones muestrales (p_x ) ̂-(p_y ) ̂</vt:lpstr>
      <vt:lpstr>Propuesto 7.18</vt:lpstr>
      <vt:lpstr>Propuesto 7.18</vt:lpstr>
      <vt:lpstr>Propuesto 7.18</vt:lpstr>
      <vt:lpstr>Propuesto 7.18</vt:lpstr>
      <vt:lpstr>Propuesto 7.18</vt:lpstr>
      <vt:lpstr>Proporción de varianzas muestrales</vt:lpstr>
      <vt:lpstr>Distribución de proporciones de varianzas muestrales S_x^2∕S_y^2 </vt:lpstr>
      <vt:lpstr>Distribución de proporciones de varianzas muestrales S_x^2∕S_y^2 </vt:lpstr>
      <vt:lpstr>Resumen</vt:lpstr>
      <vt:lpstr>Resumen de pasos básicos para uso de estimadores</vt:lpstr>
      <vt:lpstr>Mensaje principal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Giorgio C Morales</dc:creator>
  <cp:lastModifiedBy>DTI</cp:lastModifiedBy>
  <cp:revision>245</cp:revision>
  <dcterms:created xsi:type="dcterms:W3CDTF">2020-04-17T00:45:03Z</dcterms:created>
  <dcterms:modified xsi:type="dcterms:W3CDTF">2023-04-26T14:57:46Z</dcterms:modified>
</cp:coreProperties>
</file>