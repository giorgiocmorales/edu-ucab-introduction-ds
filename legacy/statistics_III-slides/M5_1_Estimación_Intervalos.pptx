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02" r:id="rId3"/>
    <p:sldId id="339" r:id="rId4"/>
    <p:sldId id="462" r:id="rId5"/>
    <p:sldId id="324" r:id="rId6"/>
    <p:sldId id="422" r:id="rId7"/>
    <p:sldId id="423" r:id="rId8"/>
    <p:sldId id="424" r:id="rId9"/>
    <p:sldId id="291" r:id="rId10"/>
    <p:sldId id="284" r:id="rId11"/>
    <p:sldId id="425" r:id="rId12"/>
    <p:sldId id="480" r:id="rId13"/>
    <p:sldId id="281" r:id="rId14"/>
    <p:sldId id="283" r:id="rId15"/>
    <p:sldId id="287" r:id="rId16"/>
    <p:sldId id="285" r:id="rId17"/>
    <p:sldId id="431" r:id="rId18"/>
    <p:sldId id="437" r:id="rId19"/>
    <p:sldId id="352" r:id="rId20"/>
    <p:sldId id="353" r:id="rId21"/>
    <p:sldId id="341" r:id="rId22"/>
    <p:sldId id="432" r:id="rId23"/>
    <p:sldId id="429" r:id="rId24"/>
    <p:sldId id="430" r:id="rId25"/>
    <p:sldId id="340" r:id="rId26"/>
    <p:sldId id="433" r:id="rId27"/>
    <p:sldId id="435" r:id="rId28"/>
    <p:sldId id="277" r:id="rId29"/>
    <p:sldId id="335" r:id="rId30"/>
    <p:sldId id="336" r:id="rId31"/>
    <p:sldId id="436" r:id="rId32"/>
    <p:sldId id="504" r:id="rId33"/>
    <p:sldId id="342" r:id="rId34"/>
    <p:sldId id="279" r:id="rId35"/>
    <p:sldId id="348" r:id="rId36"/>
    <p:sldId id="428" r:id="rId37"/>
    <p:sldId id="314" r:id="rId38"/>
    <p:sldId id="481" r:id="rId39"/>
    <p:sldId id="439" r:id="rId40"/>
    <p:sldId id="440" r:id="rId41"/>
    <p:sldId id="355" r:id="rId42"/>
    <p:sldId id="479" r:id="rId43"/>
    <p:sldId id="438" r:id="rId44"/>
    <p:sldId id="360" r:id="rId45"/>
    <p:sldId id="442" r:id="rId46"/>
    <p:sldId id="443" r:id="rId47"/>
    <p:sldId id="377" r:id="rId48"/>
    <p:sldId id="446" r:id="rId49"/>
    <p:sldId id="444" r:id="rId50"/>
    <p:sldId id="295" r:id="rId51"/>
    <p:sldId id="296" r:id="rId52"/>
    <p:sldId id="299" r:id="rId53"/>
    <p:sldId id="298" r:id="rId54"/>
    <p:sldId id="300" r:id="rId55"/>
    <p:sldId id="482" r:id="rId56"/>
    <p:sldId id="316" r:id="rId57"/>
    <p:sldId id="483" r:id="rId58"/>
    <p:sldId id="366" r:id="rId59"/>
    <p:sldId id="447" r:id="rId60"/>
    <p:sldId id="448" r:id="rId61"/>
    <p:sldId id="294" r:id="rId62"/>
    <p:sldId id="370" r:id="rId63"/>
    <p:sldId id="450" r:id="rId64"/>
    <p:sldId id="449" r:id="rId65"/>
    <p:sldId id="489" r:id="rId66"/>
    <p:sldId id="344" r:id="rId67"/>
    <p:sldId id="451" r:id="rId68"/>
    <p:sldId id="302" r:id="rId69"/>
    <p:sldId id="303" r:id="rId70"/>
    <p:sldId id="455" r:id="rId71"/>
    <p:sldId id="490" r:id="rId72"/>
    <p:sldId id="491" r:id="rId73"/>
    <p:sldId id="452" r:id="rId74"/>
    <p:sldId id="453" r:id="rId75"/>
    <p:sldId id="319" r:id="rId76"/>
    <p:sldId id="318" r:id="rId77"/>
    <p:sldId id="484" r:id="rId78"/>
    <p:sldId id="477" r:id="rId79"/>
    <p:sldId id="454" r:id="rId80"/>
    <p:sldId id="458" r:id="rId81"/>
    <p:sldId id="485" r:id="rId82"/>
    <p:sldId id="474" r:id="rId83"/>
    <p:sldId id="386" r:id="rId84"/>
    <p:sldId id="461" r:id="rId85"/>
    <p:sldId id="460" r:id="rId86"/>
    <p:sldId id="395" r:id="rId87"/>
    <p:sldId id="396" r:id="rId88"/>
    <p:sldId id="305" r:id="rId89"/>
    <p:sldId id="398" r:id="rId90"/>
    <p:sldId id="399" r:id="rId91"/>
    <p:sldId id="401" r:id="rId92"/>
    <p:sldId id="463" r:id="rId93"/>
    <p:sldId id="345" r:id="rId94"/>
    <p:sldId id="488" r:id="rId95"/>
    <p:sldId id="306" r:id="rId96"/>
    <p:sldId id="464" r:id="rId97"/>
    <p:sldId id="308" r:id="rId98"/>
    <p:sldId id="465" r:id="rId99"/>
    <p:sldId id="467" r:id="rId100"/>
    <p:sldId id="466" r:id="rId101"/>
    <p:sldId id="413" r:id="rId102"/>
    <p:sldId id="468" r:id="rId103"/>
    <p:sldId id="403" r:id="rId104"/>
    <p:sldId id="469" r:id="rId105"/>
    <p:sldId id="471" r:id="rId106"/>
    <p:sldId id="472" r:id="rId107"/>
    <p:sldId id="407" r:id="rId108"/>
    <p:sldId id="473" r:id="rId109"/>
    <p:sldId id="346" r:id="rId110"/>
    <p:sldId id="486" r:id="rId111"/>
    <p:sldId id="487" r:id="rId112"/>
    <p:sldId id="475" r:id="rId113"/>
    <p:sldId id="410" r:id="rId114"/>
    <p:sldId id="411" r:id="rId115"/>
    <p:sldId id="312" r:id="rId116"/>
    <p:sldId id="418" r:id="rId117"/>
    <p:sldId id="476" r:id="rId118"/>
    <p:sldId id="347" r:id="rId119"/>
    <p:sldId id="478" r:id="rId120"/>
    <p:sldId id="320" r:id="rId121"/>
    <p:sldId id="321" r:id="rId122"/>
    <p:sldId id="503" r:id="rId123"/>
    <p:sldId id="276" r:id="rId1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51" autoAdjust="0"/>
    <p:restoredTop sz="94660"/>
  </p:normalViewPr>
  <p:slideViewPr>
    <p:cSldViewPr snapToGrid="0">
      <p:cViewPr varScale="1">
        <p:scale>
          <a:sx n="75" d="100"/>
          <a:sy n="75" d="100"/>
        </p:scale>
        <p:origin x="90" y="79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19FDA-64E3-4AE2-8866-4624A7B5228D}"/>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D52F877-47BE-4588-88BA-8CB06EF954D7}"/>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ESTADÍ</a:t>
            </a:r>
          </a:p>
        </p:txBody>
      </p:sp>
      <p:sp>
        <p:nvSpPr>
          <p:cNvPr id="4" name="Date Placeholder 3">
            <a:extLst>
              <a:ext uri="{FF2B5EF4-FFF2-40B4-BE49-F238E27FC236}">
                <a16:creationId xmlns:a16="http://schemas.microsoft.com/office/drawing/2014/main" id="{1DC48BE2-9CB5-4C5E-8562-2E2F3985C331}"/>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5" name="Footer Placeholder 4">
            <a:extLst>
              <a:ext uri="{FF2B5EF4-FFF2-40B4-BE49-F238E27FC236}">
                <a16:creationId xmlns:a16="http://schemas.microsoft.com/office/drawing/2014/main" id="{AD342264-421F-4D62-B951-6F2CA84F941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A86052C-8ACB-49D8-B8EF-3B485F1F3542}"/>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1389335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0BDA8-E557-4626-86BA-56B3E1FD52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E80CC3-0AE0-407B-AA10-92B5CA698B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AB793-7AFA-4089-A3A8-6F5D861A65AA}"/>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5" name="Footer Placeholder 4">
            <a:extLst>
              <a:ext uri="{FF2B5EF4-FFF2-40B4-BE49-F238E27FC236}">
                <a16:creationId xmlns:a16="http://schemas.microsoft.com/office/drawing/2014/main" id="{2D4AFA07-C55D-41EC-A7F6-0D9213E7D1A1}"/>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74F8243-5F9D-4E5D-A01D-354E1EF08F4D}"/>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205921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837F-6BD1-4AAD-9C8A-82F7955281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890E71-BEAA-4E89-9F9B-8D341D3EE9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4B1FB1-360D-4C6B-A023-DCAB577BB6E1}"/>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5" name="Footer Placeholder 4">
            <a:extLst>
              <a:ext uri="{FF2B5EF4-FFF2-40B4-BE49-F238E27FC236}">
                <a16:creationId xmlns:a16="http://schemas.microsoft.com/office/drawing/2014/main" id="{52ED68ED-D1DC-4D87-BF60-77747EFBC16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FE7893A-50E5-4DE3-9F41-A593BD958AD3}"/>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2287291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2B31-20AA-4B71-8958-20712FE714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3406AA-4B6F-43A3-89E7-B7AD5DB2D8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851F21-E287-4135-8D73-3856EB1770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02E284-D29E-4263-9B92-14E81D63512C}"/>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6" name="Footer Placeholder 5">
            <a:extLst>
              <a:ext uri="{FF2B5EF4-FFF2-40B4-BE49-F238E27FC236}">
                <a16:creationId xmlns:a16="http://schemas.microsoft.com/office/drawing/2014/main" id="{908DCAAE-6263-43B5-B6D0-A04C09AE27F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65A0485-671F-481D-A078-CC6F9C7F0E67}"/>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1392886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5756B-B1FD-4858-8717-BF0654D2E1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EDB432-76DA-4E5E-9D92-1FB6A4A5DC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745127-11B6-4861-A9DF-76B9382CF3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04DE2B-E6EC-47B4-8D56-743BDF7B64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D8FE8-2E69-44C5-96AD-36FCEF147F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BE675A-6736-4C8E-A9EE-9DCBE9359319}"/>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8" name="Footer Placeholder 7">
            <a:extLst>
              <a:ext uri="{FF2B5EF4-FFF2-40B4-BE49-F238E27FC236}">
                <a16:creationId xmlns:a16="http://schemas.microsoft.com/office/drawing/2014/main" id="{F772B57B-8AF2-4A15-B4AB-1BE127C6B0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1374B8D-E941-4327-989C-EF590E7BD4D2}"/>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627671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E511-F376-4864-963C-822DE63936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C292F6-7361-495F-B87A-97CFCF45C907}"/>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4" name="Footer Placeholder 3">
            <a:extLst>
              <a:ext uri="{FF2B5EF4-FFF2-40B4-BE49-F238E27FC236}">
                <a16:creationId xmlns:a16="http://schemas.microsoft.com/office/drawing/2014/main" id="{2E2ED667-FA23-4238-9DC9-603C68135D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385204F2-440D-421C-A4F3-993CC7D31A34}"/>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2820376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681DA9-86E2-446F-97B1-95945B321CD7}"/>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3" name="Footer Placeholder 2">
            <a:extLst>
              <a:ext uri="{FF2B5EF4-FFF2-40B4-BE49-F238E27FC236}">
                <a16:creationId xmlns:a16="http://schemas.microsoft.com/office/drawing/2014/main" id="{F861814C-C49F-4B1A-8D5A-E76A917DC14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3CB9687-9812-4C8F-B4CC-5F937D8B3BC0}"/>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1078134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DCBEF-82BA-4669-9E7B-51319881E5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CEEEAB-C165-4C1E-8D50-A5404E0105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86983C-47E0-45A6-AF00-81B08CEFFB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6A8D8-6B93-41B3-BEE8-E4CD53C991D0}"/>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6" name="Footer Placeholder 5">
            <a:extLst>
              <a:ext uri="{FF2B5EF4-FFF2-40B4-BE49-F238E27FC236}">
                <a16:creationId xmlns:a16="http://schemas.microsoft.com/office/drawing/2014/main" id="{F6624811-32C8-45C8-BACE-14B782A7683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14FE574-1E14-46C1-9D0E-93C544CFA8DB}"/>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1407844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E76A9-8C1D-43E1-88AA-91D262B7CB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A912B1-A51A-4595-A017-4DD32A003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95B3A8-74B0-4DBC-B6A3-50091F74F9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C9DFA-2481-4F4D-AB20-BAB63513114D}"/>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6" name="Footer Placeholder 5">
            <a:extLst>
              <a:ext uri="{FF2B5EF4-FFF2-40B4-BE49-F238E27FC236}">
                <a16:creationId xmlns:a16="http://schemas.microsoft.com/office/drawing/2014/main" id="{AA40A896-D462-4798-B918-D8D61CA34EA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C2D00F-802A-4AE9-9E23-8CE855E87E9B}"/>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2606788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78CE-E55C-4180-A5C8-9D020B415F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D56904-45A5-4B44-95EE-236498EDF8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31A5B-A008-4021-9A06-5401823374BA}"/>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5" name="Footer Placeholder 4">
            <a:extLst>
              <a:ext uri="{FF2B5EF4-FFF2-40B4-BE49-F238E27FC236}">
                <a16:creationId xmlns:a16="http://schemas.microsoft.com/office/drawing/2014/main" id="{E9114A92-A4D6-44F8-91CC-AA47B6B8DE9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82A0C67-F949-4EF9-A5E4-0D3DD082A44E}"/>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2602566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A3A273-84A6-45E5-AEDE-1EE145C1BB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CA47B9-E8B5-4E2B-8DB3-58F5ECC68B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529D8-B941-4F10-BAA8-BBB0C608833B}"/>
              </a:ext>
            </a:extLst>
          </p:cNvPr>
          <p:cNvSpPr>
            <a:spLocks noGrp="1"/>
          </p:cNvSpPr>
          <p:nvPr>
            <p:ph type="dt" sz="half" idx="10"/>
          </p:nvPr>
        </p:nvSpPr>
        <p:spPr>
          <a:xfrm>
            <a:off x="838200" y="6356350"/>
            <a:ext cx="2743200" cy="365125"/>
          </a:xfrm>
          <a:prstGeom prst="rect">
            <a:avLst/>
          </a:prstGeom>
        </p:spPr>
        <p:txBody>
          <a:bodyPr/>
          <a:lstStyle/>
          <a:p>
            <a:fld id="{1462ADC3-2B10-485C-82CB-6A33D6C50702}" type="datetimeFigureOut">
              <a:rPr lang="en-US" smtClean="0"/>
              <a:t>10/26/2022</a:t>
            </a:fld>
            <a:endParaRPr lang="en-US"/>
          </a:p>
        </p:txBody>
      </p:sp>
      <p:sp>
        <p:nvSpPr>
          <p:cNvPr id="5" name="Footer Placeholder 4">
            <a:extLst>
              <a:ext uri="{FF2B5EF4-FFF2-40B4-BE49-F238E27FC236}">
                <a16:creationId xmlns:a16="http://schemas.microsoft.com/office/drawing/2014/main" id="{37598421-F993-4FE9-AC55-80526D9A7C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B97208D-A169-4843-9917-E9B7D94B358F}"/>
              </a:ext>
            </a:extLst>
          </p:cNvPr>
          <p:cNvSpPr>
            <a:spLocks noGrp="1"/>
          </p:cNvSpPr>
          <p:nvPr>
            <p:ph type="sldNum" sz="quarter" idx="12"/>
          </p:nvPr>
        </p:nvSpPr>
        <p:spPr>
          <a:xfrm>
            <a:off x="8610600" y="6356350"/>
            <a:ext cx="2743200" cy="365125"/>
          </a:xfrm>
          <a:prstGeom prst="rect">
            <a:avLst/>
          </a:prstGeom>
        </p:spPr>
        <p:txBody>
          <a:bodyPr/>
          <a:lstStyle/>
          <a:p>
            <a:fld id="{E7AF9347-4A63-4EA3-8525-CCD5DB4C438E}" type="slidenum">
              <a:rPr lang="en-US" smtClean="0"/>
              <a:t>‹Nº›</a:t>
            </a:fld>
            <a:endParaRPr lang="en-US"/>
          </a:p>
        </p:txBody>
      </p:sp>
    </p:spTree>
    <p:extLst>
      <p:ext uri="{BB962C8B-B14F-4D97-AF65-F5344CB8AC3E}">
        <p14:creationId xmlns:p14="http://schemas.microsoft.com/office/powerpoint/2010/main" val="3327714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38040-58BC-42CF-B0E1-4021AAE0DFEE}"/>
              </a:ext>
            </a:extLst>
          </p:cNvPr>
          <p:cNvSpPr>
            <a:spLocks noGrp="1"/>
          </p:cNvSpPr>
          <p:nvPr>
            <p:ph type="title"/>
          </p:nvPr>
        </p:nvSpPr>
        <p:spPr>
          <a:xfrm>
            <a:off x="838200" y="21975"/>
            <a:ext cx="10515600" cy="66684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9A51C751-C9B4-420E-9FC2-17D521431204}"/>
              </a:ext>
            </a:extLst>
          </p:cNvPr>
          <p:cNvSpPr>
            <a:spLocks noGrp="1"/>
          </p:cNvSpPr>
          <p:nvPr>
            <p:ph type="body" idx="1"/>
          </p:nvPr>
        </p:nvSpPr>
        <p:spPr>
          <a:xfrm>
            <a:off x="838200" y="688816"/>
            <a:ext cx="10515600" cy="548814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EFC5EBC2-48FF-4AE7-8A93-8A46A84D23FA}"/>
              </a:ext>
            </a:extLst>
          </p:cNvPr>
          <p:cNvCxnSpPr>
            <a:cxnSpLocks/>
          </p:cNvCxnSpPr>
          <p:nvPr userDrawn="1"/>
        </p:nvCxnSpPr>
        <p:spPr>
          <a:xfrm>
            <a:off x="838200" y="723559"/>
            <a:ext cx="10515600" cy="0"/>
          </a:xfrm>
          <a:prstGeom prst="line">
            <a:avLst/>
          </a:prstGeom>
          <a:ln w="38100">
            <a:solidFill>
              <a:srgbClr val="003A5D"/>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C252427-CE25-435F-B457-304E4F500EFE}"/>
              </a:ext>
            </a:extLst>
          </p:cNvPr>
          <p:cNvCxnSpPr/>
          <p:nvPr userDrawn="1"/>
        </p:nvCxnSpPr>
        <p:spPr>
          <a:xfrm>
            <a:off x="838200" y="6192520"/>
            <a:ext cx="10515600" cy="0"/>
          </a:xfrm>
          <a:prstGeom prst="line">
            <a:avLst/>
          </a:prstGeom>
          <a:ln w="19050">
            <a:solidFill>
              <a:srgbClr val="003A5D"/>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65ACB22-8E4D-401A-A3BA-16BB52BD29C5}"/>
              </a:ext>
            </a:extLst>
          </p:cNvPr>
          <p:cNvSpPr txBox="1"/>
          <p:nvPr userDrawn="1"/>
        </p:nvSpPr>
        <p:spPr>
          <a:xfrm>
            <a:off x="838200" y="6192520"/>
            <a:ext cx="10515600" cy="338554"/>
          </a:xfrm>
          <a:prstGeom prst="rect">
            <a:avLst/>
          </a:prstGeom>
          <a:noFill/>
        </p:spPr>
        <p:txBody>
          <a:bodyPr wrap="square" rtlCol="0">
            <a:spAutoFit/>
          </a:bodyPr>
          <a:lstStyle/>
          <a:p>
            <a:r>
              <a:rPr lang="es-419" sz="1600" dirty="0">
                <a:latin typeface="Georgia" panose="02040502050405020303" pitchFamily="18" charset="0"/>
              </a:rPr>
              <a:t>Giorgio Cunto Morales</a:t>
            </a:r>
            <a:endParaRPr lang="en-US" sz="1600" dirty="0">
              <a:latin typeface="Georgia" panose="02040502050405020303" pitchFamily="18" charset="0"/>
            </a:endParaRPr>
          </a:p>
        </p:txBody>
      </p:sp>
    </p:spTree>
    <p:extLst>
      <p:ext uri="{BB962C8B-B14F-4D97-AF65-F5344CB8AC3E}">
        <p14:creationId xmlns:p14="http://schemas.microsoft.com/office/powerpoint/2010/main" val="2448213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0.png"/><Relationship Id="rId4" Type="http://schemas.openxmlformats.org/officeDocument/2006/relationships/image" Target="../media/image190.png"/></Relationships>
</file>

<file path=ppt/slides/_rels/slide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hyperlink" Target="https://www.linkedin.com/in/giorgiocmorales/" TargetMode="External"/><Relationship Id="rId2" Type="http://schemas.openxmlformats.org/officeDocument/2006/relationships/hyperlink" Target="mailto:gcuntomo@ucab.edu.v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143B509-C3AB-4D18-8154-6C185FB4DCB6}"/>
              </a:ext>
            </a:extLst>
          </p:cNvPr>
          <p:cNvSpPr>
            <a:spLocks noGrp="1"/>
          </p:cNvSpPr>
          <p:nvPr>
            <p:ph type="subTitle" idx="1"/>
          </p:nvPr>
        </p:nvSpPr>
        <p:spPr/>
        <p:txBody>
          <a:bodyPr>
            <a:normAutofit/>
          </a:bodyPr>
          <a:lstStyle/>
          <a:p>
            <a:r>
              <a:rPr lang="es-419" sz="2800" b="1" dirty="0">
                <a:solidFill>
                  <a:srgbClr val="003A5D"/>
                </a:solidFill>
                <a:latin typeface="Georgia" panose="02040502050405020303" pitchFamily="18" charset="0"/>
              </a:rPr>
              <a:t>ESTADÍSTICA III</a:t>
            </a:r>
          </a:p>
          <a:p>
            <a:r>
              <a:rPr lang="es-419" dirty="0"/>
              <a:t>Estimación por intervalos</a:t>
            </a:r>
            <a:endParaRPr lang="en-US" dirty="0">
              <a:latin typeface="Georgia" panose="02040502050405020303" pitchFamily="18" charset="0"/>
            </a:endParaRPr>
          </a:p>
        </p:txBody>
      </p:sp>
      <p:pic>
        <p:nvPicPr>
          <p:cNvPr id="5" name="Picture 4">
            <a:extLst>
              <a:ext uri="{FF2B5EF4-FFF2-40B4-BE49-F238E27FC236}">
                <a16:creationId xmlns:a16="http://schemas.microsoft.com/office/drawing/2014/main" id="{71C6C2B5-519A-412E-8AF8-57C867BD7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428" y="1908313"/>
            <a:ext cx="8909144" cy="1347649"/>
          </a:xfrm>
          <a:prstGeom prst="rect">
            <a:avLst/>
          </a:prstGeom>
        </p:spPr>
      </p:pic>
    </p:spTree>
    <p:extLst>
      <p:ext uri="{BB962C8B-B14F-4D97-AF65-F5344CB8AC3E}">
        <p14:creationId xmlns:p14="http://schemas.microsoft.com/office/powerpoint/2010/main" val="30353024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4357B-7739-64ED-CF4A-BEB18B31C762}"/>
              </a:ext>
            </a:extLst>
          </p:cNvPr>
          <p:cNvSpPr>
            <a:spLocks noGrp="1"/>
          </p:cNvSpPr>
          <p:nvPr>
            <p:ph type="title"/>
          </p:nvPr>
        </p:nvSpPr>
        <p:spPr/>
        <p:txBody>
          <a:bodyPr/>
          <a:lstStyle/>
          <a:p>
            <a:r>
              <a:rPr lang="es-VE" dirty="0"/>
              <a:t>Mensaje principal</a:t>
            </a:r>
          </a:p>
        </p:txBody>
      </p:sp>
      <p:sp>
        <p:nvSpPr>
          <p:cNvPr id="3" name="Marcador de contenido 2">
            <a:extLst>
              <a:ext uri="{FF2B5EF4-FFF2-40B4-BE49-F238E27FC236}">
                <a16:creationId xmlns:a16="http://schemas.microsoft.com/office/drawing/2014/main" id="{9478D337-D951-332A-AC1D-6135DA1A7AA2}"/>
              </a:ext>
            </a:extLst>
          </p:cNvPr>
          <p:cNvSpPr>
            <a:spLocks noGrp="1"/>
          </p:cNvSpPr>
          <p:nvPr>
            <p:ph idx="1"/>
          </p:nvPr>
        </p:nvSpPr>
        <p:spPr/>
        <p:txBody>
          <a:bodyPr>
            <a:normAutofit/>
          </a:bodyPr>
          <a:lstStyle/>
          <a:p>
            <a:pPr marL="0" indent="0" algn="ctr">
              <a:lnSpc>
                <a:spcPct val="150000"/>
              </a:lnSpc>
              <a:buNone/>
            </a:pPr>
            <a:endParaRPr lang="es-VE" sz="2000" i="1" dirty="0"/>
          </a:p>
          <a:p>
            <a:pPr marL="0" indent="0" algn="ctr">
              <a:lnSpc>
                <a:spcPct val="150000"/>
              </a:lnSpc>
              <a:buNone/>
            </a:pPr>
            <a:r>
              <a:rPr lang="es-VE" sz="2000" i="1" dirty="0"/>
              <a:t>A partir de información muestral, podemos definir rangos de valores para acercarnos a parámetros poblacionales desconocidos.</a:t>
            </a:r>
          </a:p>
          <a:p>
            <a:pPr marL="0" indent="0" algn="ctr">
              <a:lnSpc>
                <a:spcPct val="150000"/>
              </a:lnSpc>
              <a:buNone/>
            </a:pPr>
            <a:r>
              <a:rPr lang="es-VE" sz="2000" i="1" dirty="0"/>
              <a:t>Los extremos de estos intervalos están sujetos a propiedades probabilísticas.</a:t>
            </a:r>
          </a:p>
          <a:p>
            <a:pPr marL="0" indent="0" algn="ctr">
              <a:lnSpc>
                <a:spcPct val="150000"/>
              </a:lnSpc>
              <a:buNone/>
            </a:pPr>
            <a:r>
              <a:rPr lang="es-VE" sz="2000" i="1" dirty="0"/>
              <a:t>La noción de confianza proviene de una lógica asintótica de infinitos intervalos y la proporción de ellos que contiende al parámetro desconocido.</a:t>
            </a:r>
          </a:p>
          <a:p>
            <a:pPr marL="0" indent="0" algn="ctr">
              <a:lnSpc>
                <a:spcPct val="150000"/>
              </a:lnSpc>
              <a:buNone/>
            </a:pPr>
            <a:r>
              <a:rPr lang="es-VE" sz="2000" i="1" dirty="0"/>
              <a:t>Se pueden construir intervalos de confianza a base de estadísticos conocidos y trabajarlos de forma estandarizada.</a:t>
            </a:r>
            <a:endParaRPr lang="es-VE" sz="2400" i="1" dirty="0"/>
          </a:p>
          <a:p>
            <a:pPr marL="0" indent="0" algn="ctr">
              <a:lnSpc>
                <a:spcPct val="150000"/>
              </a:lnSpc>
              <a:buNone/>
            </a:pPr>
            <a:endParaRPr lang="es-VE" i="1" dirty="0"/>
          </a:p>
        </p:txBody>
      </p:sp>
    </p:spTree>
    <p:extLst>
      <p:ext uri="{BB962C8B-B14F-4D97-AF65-F5344CB8AC3E}">
        <p14:creationId xmlns:p14="http://schemas.microsoft.com/office/powerpoint/2010/main" val="2617425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Estimación por Intervalos</a:t>
            </a:r>
            <a:endParaRPr lang="es-419" dirty="0"/>
          </a:p>
        </p:txBody>
      </p:sp>
      <p:sp>
        <p:nvSpPr>
          <p:cNvPr id="2" name="Marcador de texto 1"/>
          <p:cNvSpPr>
            <a:spLocks noGrp="1"/>
          </p:cNvSpPr>
          <p:nvPr>
            <p:ph type="body" idx="1"/>
          </p:nvPr>
        </p:nvSpPr>
        <p:spPr/>
        <p:txBody>
          <a:bodyPr/>
          <a:lstStyle/>
          <a:p>
            <a:r>
              <a:rPr lang="es-VE" dirty="0"/>
              <a:t>Introducción y conceptos básicos</a:t>
            </a:r>
            <a:endParaRPr lang="en-US" dirty="0"/>
          </a:p>
        </p:txBody>
      </p:sp>
    </p:spTree>
    <p:extLst>
      <p:ext uri="{BB962C8B-B14F-4D97-AF65-F5344CB8AC3E}">
        <p14:creationId xmlns:p14="http://schemas.microsoft.com/office/powerpoint/2010/main" val="12356843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¿Qué son los intervalos de confianza?</a:t>
            </a:r>
          </a:p>
          <a:p>
            <a:pPr marL="0" indent="0" algn="ctr">
              <a:buNone/>
            </a:pPr>
            <a:r>
              <a:rPr lang="es-VE" i="1" dirty="0"/>
              <a:t>¿Cómo se expresarían matemáticamente?</a:t>
            </a:r>
          </a:p>
        </p:txBody>
      </p:sp>
    </p:spTree>
    <p:extLst>
      <p:ext uri="{BB962C8B-B14F-4D97-AF65-F5344CB8AC3E}">
        <p14:creationId xmlns:p14="http://schemas.microsoft.com/office/powerpoint/2010/main" val="20220155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Estimación por intervalos</a:t>
            </a:r>
            <a:endParaRPr lang="en-US" dirty="0"/>
          </a:p>
        </p:txBody>
      </p:sp>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20000"/>
          </a:bodyPr>
          <a:lstStyle/>
          <a:p>
            <a:pPr>
              <a:lnSpc>
                <a:spcPct val="150000"/>
              </a:lnSpc>
            </a:pPr>
            <a:r>
              <a:rPr lang="es-419" sz="2400" dirty="0"/>
              <a:t>La estadísticas inferencial es sobre </a:t>
            </a:r>
            <a:r>
              <a:rPr lang="es-419" sz="2400" b="1" dirty="0">
                <a:solidFill>
                  <a:srgbClr val="003A5D"/>
                </a:solidFill>
              </a:rPr>
              <a:t>estimaciones</a:t>
            </a:r>
            <a:r>
              <a:rPr lang="es-419" sz="2400" b="1" i="1" dirty="0">
                <a:solidFill>
                  <a:srgbClr val="003A5D"/>
                </a:solidFill>
              </a:rPr>
              <a:t> </a:t>
            </a:r>
            <a:r>
              <a:rPr lang="es-419" sz="2400" dirty="0"/>
              <a:t>sobre características poblacionales a partir de información muestral.</a:t>
            </a:r>
          </a:p>
          <a:p>
            <a:pPr>
              <a:lnSpc>
                <a:spcPct val="150000"/>
              </a:lnSpc>
            </a:pPr>
            <a:r>
              <a:rPr lang="es-419" sz="2400" dirty="0"/>
              <a:t>La </a:t>
            </a:r>
            <a:r>
              <a:rPr lang="es-419" sz="2400" b="1" dirty="0">
                <a:solidFill>
                  <a:srgbClr val="003A5D"/>
                </a:solidFill>
              </a:rPr>
              <a:t>estimación puntual </a:t>
            </a:r>
            <a:r>
              <a:rPr lang="es-419" sz="2400" dirty="0"/>
              <a:t>puede ser limitada: cada muestra resulta en diferentes valores estimados para un parámetro poblacional desconocido.</a:t>
            </a:r>
          </a:p>
          <a:p>
            <a:pPr>
              <a:lnSpc>
                <a:spcPct val="150000"/>
              </a:lnSpc>
            </a:pPr>
            <a:r>
              <a:rPr lang="es-419" sz="2400" b="1" dirty="0">
                <a:solidFill>
                  <a:srgbClr val="003A5D"/>
                </a:solidFill>
              </a:rPr>
              <a:t>Estimación por intervalos</a:t>
            </a:r>
            <a:r>
              <a:rPr lang="es-419" sz="2400" dirty="0"/>
              <a:t>: Se establece un rango alrededor del </a:t>
            </a:r>
            <a:r>
              <a:rPr lang="es-419" sz="2400" b="1" dirty="0">
                <a:solidFill>
                  <a:srgbClr val="003A5D"/>
                </a:solidFill>
              </a:rPr>
              <a:t>valor estimado </a:t>
            </a:r>
            <a:r>
              <a:rPr lang="es-419" sz="2400" dirty="0"/>
              <a:t>que con cierta </a:t>
            </a:r>
            <a:r>
              <a:rPr lang="es-419" sz="2400" b="1" dirty="0">
                <a:solidFill>
                  <a:srgbClr val="003A5D"/>
                </a:solidFill>
              </a:rPr>
              <a:t>confianza</a:t>
            </a:r>
            <a:r>
              <a:rPr lang="es-419" sz="2400" dirty="0"/>
              <a:t> contenga el valor del parámetro poblacional </a:t>
            </a:r>
            <a:r>
              <a:rPr lang="es-419" sz="2400" b="1" dirty="0">
                <a:solidFill>
                  <a:srgbClr val="003A5D"/>
                </a:solidFill>
              </a:rPr>
              <a:t>normal</a:t>
            </a:r>
            <a:r>
              <a:rPr lang="es-419" sz="2400" dirty="0"/>
              <a:t>.</a:t>
            </a:r>
          </a:p>
          <a:p>
            <a:pPr>
              <a:lnSpc>
                <a:spcPct val="150000"/>
              </a:lnSpc>
            </a:pPr>
            <a:r>
              <a:rPr lang="es-419" sz="2400" dirty="0"/>
              <a:t>En esencia, se construye un intervalo alrededor de un </a:t>
            </a:r>
            <a:r>
              <a:rPr lang="es-419" sz="2400" b="1" dirty="0">
                <a:solidFill>
                  <a:srgbClr val="003A5D"/>
                </a:solidFill>
              </a:rPr>
              <a:t>estimador puntual </a:t>
            </a:r>
            <a:r>
              <a:rPr lang="es-419" sz="2400" dirty="0"/>
              <a:t>cuya distribución se conozca.</a:t>
            </a:r>
          </a:p>
          <a:p>
            <a:pPr>
              <a:lnSpc>
                <a:spcPct val="150000"/>
              </a:lnSpc>
            </a:pPr>
            <a:r>
              <a:rPr lang="es-419" sz="2400" dirty="0"/>
              <a:t>El parámetro poblacional sigue siendo desconocido, por lo que un determinado intervalo podría no contenerlo.</a:t>
            </a:r>
          </a:p>
        </p:txBody>
      </p:sp>
    </p:spTree>
    <p:extLst>
      <p:ext uri="{BB962C8B-B14F-4D97-AF65-F5344CB8AC3E}">
        <p14:creationId xmlns:p14="http://schemas.microsoft.com/office/powerpoint/2010/main" val="252721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Estimación por intervalos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a:lnSpc>
                    <a:spcPct val="150000"/>
                  </a:lnSpc>
                </a:pPr>
                <a:r>
                  <a:rPr lang="es-419" dirty="0"/>
                  <a:t>Podemos plantear un intervalo de confianza de forma tal que:</a:t>
                </a:r>
                <a:endParaRPr lang="es-419" b="1" i="1" dirty="0">
                  <a:solidFill>
                    <a:srgbClr val="003A5D"/>
                  </a:solidFill>
                  <a:latin typeface="Cambria Math" panose="02040503050406030204" pitchFamily="18" charset="0"/>
                </a:endParaRPr>
              </a:p>
              <a:p>
                <a:pPr>
                  <a:lnSpc>
                    <a:spcPct val="150000"/>
                  </a:lnSpc>
                </a:pPr>
                <a14:m>
                  <m:oMath xmlns:m="http://schemas.openxmlformats.org/officeDocument/2006/math">
                    <m:acc>
                      <m:accPr>
                        <m:chr m:val="̂"/>
                        <m:ctrlPr>
                          <a:rPr lang="es-419" b="1" i="1" smtClean="0">
                            <a:solidFill>
                              <a:srgbClr val="003A5D"/>
                            </a:solidFill>
                            <a:latin typeface="Cambria Math" panose="02040503050406030204" pitchFamily="18" charset="0"/>
                          </a:rPr>
                        </m:ctrlPr>
                      </m:accPr>
                      <m:e>
                        <m:r>
                          <a:rPr lang="es-419" b="1" i="1" smtClean="0">
                            <a:solidFill>
                              <a:srgbClr val="003A5D"/>
                            </a:solidFill>
                            <a:latin typeface="Cambria Math" panose="02040503050406030204" pitchFamily="18" charset="0"/>
                            <a:ea typeface="Cambria Math" panose="02040503050406030204" pitchFamily="18" charset="0"/>
                          </a:rPr>
                          <m:t>𝜽</m:t>
                        </m:r>
                      </m:e>
                    </m:acc>
                  </m:oMath>
                </a14:m>
                <a:r>
                  <a:rPr lang="es-419" dirty="0"/>
                  <a:t> estima a </a:t>
                </a:r>
                <a14:m>
                  <m:oMath xmlns:m="http://schemas.openxmlformats.org/officeDocument/2006/math">
                    <m:r>
                      <a:rPr lang="es-419" b="1" i="1" smtClean="0">
                        <a:solidFill>
                          <a:srgbClr val="003A5D"/>
                        </a:solidFill>
                        <a:latin typeface="Cambria Math" panose="02040503050406030204" pitchFamily="18" charset="0"/>
                        <a:ea typeface="Cambria Math" panose="02040503050406030204" pitchFamily="18" charset="0"/>
                      </a:rPr>
                      <m:t>𝜽</m:t>
                    </m:r>
                  </m:oMath>
                </a14:m>
                <a:r>
                  <a:rPr lang="es-419" dirty="0"/>
                  <a:t> con una confianza de </a:t>
                </a:r>
                <a:r>
                  <a:rPr lang="es-419" b="1" dirty="0">
                    <a:solidFill>
                      <a:srgbClr val="003A5D"/>
                    </a:solidFill>
                  </a:rPr>
                  <a:t>100(1-</a:t>
                </a:r>
                <a:r>
                  <a:rPr lang="el-GR" b="1" dirty="0">
                    <a:solidFill>
                      <a:srgbClr val="003A5D"/>
                    </a:solidFill>
                  </a:rPr>
                  <a:t>α</a:t>
                </a:r>
                <a:r>
                  <a:rPr lang="es-419" b="1" dirty="0">
                    <a:solidFill>
                      <a:srgbClr val="003A5D"/>
                    </a:solidFill>
                  </a:rPr>
                  <a:t>)%</a:t>
                </a:r>
                <a:r>
                  <a:rPr lang="es-419" dirty="0"/>
                  <a:t>.</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𝑃</m:t>
                      </m:r>
                      <m:d>
                        <m:dPr>
                          <m:begChr m:val="["/>
                          <m:endChr m:val="]"/>
                          <m:ctrlPr>
                            <a:rPr lang="es-419" b="0" i="1" smtClean="0">
                              <a:latin typeface="Cambria Math" panose="02040503050406030204" pitchFamily="18" charset="0"/>
                            </a:rPr>
                          </m:ctrlPr>
                        </m:dPr>
                        <m:e>
                          <m:acc>
                            <m:accPr>
                              <m:chr m:val="̂"/>
                              <m:ctrlPr>
                                <a:rPr lang="es-419" b="0" i="1" smtClean="0">
                                  <a:latin typeface="Cambria Math" panose="02040503050406030204" pitchFamily="18" charset="0"/>
                                </a:rPr>
                              </m:ctrlPr>
                            </m:accPr>
                            <m:e>
                              <m:r>
                                <a:rPr lang="es-419" b="0" i="1" smtClean="0">
                                  <a:latin typeface="Cambria Math" panose="02040503050406030204" pitchFamily="18" charset="0"/>
                                  <a:ea typeface="Cambria Math" panose="02040503050406030204" pitchFamily="18" charset="0"/>
                                </a:rPr>
                                <m:t>𝜃</m:t>
                              </m:r>
                            </m:e>
                          </m:acc>
                          <m:r>
                            <a:rPr lang="es-419" b="0" i="1" smtClean="0">
                              <a:latin typeface="Cambria Math" panose="02040503050406030204" pitchFamily="18" charset="0"/>
                            </a:rPr>
                            <m:t>−</m:t>
                          </m:r>
                          <m:sSub>
                            <m:sSubPr>
                              <m:ctrlPr>
                                <a:rPr lang="es-419" b="0" i="1" smtClean="0">
                                  <a:latin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𝛿</m:t>
                              </m:r>
                            </m:e>
                            <m:sub>
                              <m:r>
                                <a:rPr lang="es-419" b="0" i="1" smtClean="0">
                                  <a:latin typeface="Cambria Math" panose="02040503050406030204" pitchFamily="18" charset="0"/>
                                </a:rPr>
                                <m:t>1</m:t>
                              </m:r>
                            </m:sub>
                          </m:sSub>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𝜃</m:t>
                          </m:r>
                          <m:r>
                            <a:rPr lang="es-419" b="0" i="1" smtClean="0">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rPr>
                              </m:ctrlPr>
                            </m:accPr>
                            <m:e>
                              <m:r>
                                <a:rPr lang="es-419" i="1">
                                  <a:latin typeface="Cambria Math" panose="02040503050406030204" pitchFamily="18" charset="0"/>
                                  <a:ea typeface="Cambria Math" panose="02040503050406030204" pitchFamily="18" charset="0"/>
                                </a:rPr>
                                <m:t>𝜃</m:t>
                              </m:r>
                            </m:e>
                          </m:acc>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𝛿</m:t>
                              </m:r>
                            </m:e>
                            <m:sub>
                              <m:r>
                                <a:rPr lang="es-419" b="0" i="1" smtClean="0">
                                  <a:latin typeface="Cambria Math" panose="02040503050406030204" pitchFamily="18" charset="0"/>
                                  <a:ea typeface="Cambria Math" panose="02040503050406030204" pitchFamily="18" charset="0"/>
                                </a:rPr>
                                <m:t>2</m:t>
                              </m:r>
                            </m:sub>
                          </m:sSub>
                        </m:e>
                      </m:d>
                      <m:r>
                        <a:rPr lang="es-419" b="0" i="1" smtClean="0">
                          <a:latin typeface="Cambria Math" panose="02040503050406030204" pitchFamily="18" charset="0"/>
                        </a:rPr>
                        <m:t>=1−</m:t>
                      </m:r>
                      <m:r>
                        <a:rPr lang="es-419" b="0" i="1" smtClean="0">
                          <a:latin typeface="Cambria Math" panose="02040503050406030204" pitchFamily="18" charset="0"/>
                          <a:ea typeface="Cambria Math" panose="02040503050406030204" pitchFamily="18" charset="0"/>
                        </a:rPr>
                        <m:t>𝛼</m:t>
                      </m:r>
                    </m:oMath>
                  </m:oMathPara>
                </a14:m>
                <a:endParaRPr lang="en-US" dirty="0"/>
              </a:p>
              <a:p>
                <a:pPr>
                  <a:lnSpc>
                    <a:spcPct val="150000"/>
                  </a:lnSpc>
                </a:pPr>
                <a:r>
                  <a:rPr lang="es-419" dirty="0"/>
                  <a:t>El estimador se convierte en el centro del intervalo.</a:t>
                </a:r>
              </a:p>
              <a:p>
                <a:pPr>
                  <a:lnSpc>
                    <a:spcPct val="150000"/>
                  </a:lnSpc>
                </a:pPr>
                <a:r>
                  <a:rPr lang="es-419" dirty="0"/>
                  <a:t>Donde </a:t>
                </a:r>
                <a14:m>
                  <m:oMath xmlns:m="http://schemas.openxmlformats.org/officeDocument/2006/math">
                    <m:sSub>
                      <m:sSubPr>
                        <m:ctrlPr>
                          <a:rPr lang="es-419" b="1" i="1" smtClean="0">
                            <a:solidFill>
                              <a:srgbClr val="003A5D"/>
                            </a:solidFill>
                            <a:latin typeface="Cambria Math" panose="02040503050406030204" pitchFamily="18" charset="0"/>
                          </a:rPr>
                        </m:ctrlPr>
                      </m:sSubPr>
                      <m:e>
                        <m:r>
                          <a:rPr lang="es-419" b="1" i="1" smtClean="0">
                            <a:solidFill>
                              <a:srgbClr val="003A5D"/>
                            </a:solidFill>
                            <a:latin typeface="Cambria Math" panose="02040503050406030204" pitchFamily="18" charset="0"/>
                            <a:ea typeface="Cambria Math" panose="02040503050406030204" pitchFamily="18" charset="0"/>
                          </a:rPr>
                          <m:t>𝜹</m:t>
                        </m:r>
                      </m:e>
                      <m:sub>
                        <m:r>
                          <a:rPr lang="es-419" b="1" i="1" smtClean="0">
                            <a:solidFill>
                              <a:srgbClr val="003A5D"/>
                            </a:solidFill>
                            <a:latin typeface="Cambria Math" panose="02040503050406030204" pitchFamily="18" charset="0"/>
                          </a:rPr>
                          <m:t>𝟏</m:t>
                        </m:r>
                      </m:sub>
                    </m:sSub>
                  </m:oMath>
                </a14:m>
                <a:r>
                  <a:rPr lang="es-419" b="1" dirty="0">
                    <a:solidFill>
                      <a:srgbClr val="003A5D"/>
                    </a:solidFill>
                  </a:rPr>
                  <a:t> </a:t>
                </a:r>
                <a:r>
                  <a:rPr lang="es-419" dirty="0"/>
                  <a:t>y </a:t>
                </a:r>
                <a14:m>
                  <m:oMath xmlns:m="http://schemas.openxmlformats.org/officeDocument/2006/math">
                    <m:sSub>
                      <m:sSubPr>
                        <m:ctrlPr>
                          <a:rPr lang="es-419" b="1" i="1" smtClean="0">
                            <a:solidFill>
                              <a:srgbClr val="003A5D"/>
                            </a:solidFill>
                            <a:latin typeface="Cambria Math" panose="02040503050406030204" pitchFamily="18" charset="0"/>
                          </a:rPr>
                        </m:ctrlPr>
                      </m:sSubPr>
                      <m:e>
                        <m:r>
                          <a:rPr lang="es-419" b="1" i="1">
                            <a:solidFill>
                              <a:srgbClr val="003A5D"/>
                            </a:solidFill>
                            <a:latin typeface="Cambria Math" panose="02040503050406030204" pitchFamily="18" charset="0"/>
                            <a:ea typeface="Cambria Math" panose="02040503050406030204" pitchFamily="18" charset="0"/>
                          </a:rPr>
                          <m:t>𝜹</m:t>
                        </m:r>
                      </m:e>
                      <m:sub>
                        <m:r>
                          <a:rPr lang="es-419" b="1" i="1">
                            <a:solidFill>
                              <a:srgbClr val="003A5D"/>
                            </a:solidFill>
                            <a:latin typeface="Cambria Math" panose="02040503050406030204" pitchFamily="18" charset="0"/>
                            <a:ea typeface="Cambria Math" panose="02040503050406030204" pitchFamily="18" charset="0"/>
                          </a:rPr>
                          <m:t>𝟐</m:t>
                        </m:r>
                      </m:sub>
                    </m:sSub>
                  </m:oMath>
                </a14:m>
                <a:r>
                  <a:rPr lang="es-419" dirty="0"/>
                  <a:t> son unidades de desviación estándar alrededor del estimador.</a:t>
                </a:r>
              </a:p>
              <a:p>
                <a:pPr>
                  <a:lnSpc>
                    <a:spcPct val="150000"/>
                  </a:lnSpc>
                </a:pPr>
                <a:r>
                  <a:rPr lang="es-419" dirty="0"/>
                  <a:t>La </a:t>
                </a:r>
                <a:r>
                  <a:rPr lang="es-419" b="1" dirty="0">
                    <a:solidFill>
                      <a:srgbClr val="003A5D"/>
                    </a:solidFill>
                  </a:rPr>
                  <a:t>amplitud </a:t>
                </a:r>
                <a:r>
                  <a:rPr lang="es-419" dirty="0"/>
                  <a:t>del intervalo es la diferencia entre el </a:t>
                </a:r>
                <a:r>
                  <a:rPr lang="es-419" i="1" dirty="0">
                    <a:solidFill>
                      <a:srgbClr val="003A5D"/>
                    </a:solidFill>
                  </a:rPr>
                  <a:t>límite superior </a:t>
                </a:r>
                <a:r>
                  <a:rPr lang="es-419" i="1" dirty="0"/>
                  <a:t>e </a:t>
                </a:r>
                <a:r>
                  <a:rPr lang="es-419" i="1" dirty="0">
                    <a:solidFill>
                      <a:srgbClr val="003A5D"/>
                    </a:solidFill>
                  </a:rPr>
                  <a:t>inferior</a:t>
                </a:r>
                <a:r>
                  <a:rPr lang="es-419" i="1" dirty="0"/>
                  <a:t> </a:t>
                </a:r>
                <a:r>
                  <a:rPr lang="es-419" dirty="0"/>
                  <a:t>del intervalo.</a:t>
                </a:r>
              </a:p>
              <a:p>
                <a:pPr>
                  <a:lnSpc>
                    <a:spcPct val="150000"/>
                  </a:lnSpc>
                </a:pPr>
                <a:r>
                  <a:rPr lang="es-419" dirty="0"/>
                  <a:t>La </a:t>
                </a:r>
                <a:r>
                  <a:rPr lang="es-419" b="1" dirty="0">
                    <a:solidFill>
                      <a:srgbClr val="003A5D"/>
                    </a:solidFill>
                  </a:rPr>
                  <a:t>confianza</a:t>
                </a:r>
                <a:r>
                  <a:rPr lang="es-419" dirty="0"/>
                  <a:t> se vuelve una métrica de </a:t>
                </a:r>
                <a:r>
                  <a:rPr lang="es-419" b="1" dirty="0">
                    <a:solidFill>
                      <a:srgbClr val="003A5D"/>
                    </a:solidFill>
                  </a:rPr>
                  <a:t>incertidumbre </a:t>
                </a:r>
                <a:r>
                  <a:rPr lang="es-419" dirty="0"/>
                  <a:t>de que el intervalo contendrá al parámetro poblacional de tomarse muchas muestras.</a:t>
                </a:r>
              </a:p>
              <a:p>
                <a:pPr>
                  <a:lnSpc>
                    <a:spcPct val="150000"/>
                  </a:lnSpc>
                </a:pPr>
                <a:r>
                  <a:rPr lang="es-419" dirty="0"/>
                  <a:t>Preferiblemente, buscamos intervalos de alta confianza y baja amplitud.</a:t>
                </a:r>
              </a:p>
              <a:p>
                <a:pPr>
                  <a:lnSpc>
                    <a:spcPct val="150000"/>
                  </a:lnSpc>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s-VE">
                    <a:noFill/>
                  </a:rPr>
                  <a:t> </a:t>
                </a:r>
              </a:p>
            </p:txBody>
          </p:sp>
        </mc:Fallback>
      </mc:AlternateContent>
    </p:spTree>
    <p:extLst>
      <p:ext uri="{BB962C8B-B14F-4D97-AF65-F5344CB8AC3E}">
        <p14:creationId xmlns:p14="http://schemas.microsoft.com/office/powerpoint/2010/main" val="8319105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Construcción de un intervalo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a:lnSpc>
                    <a:spcPct val="150000"/>
                  </a:lnSpc>
                </a:pPr>
                <a:r>
                  <a:rPr lang="es-419" dirty="0"/>
                  <a:t>Se requiere de una función que dependa del parámetro a estimar, de su estimador puntual, y cuya distribución se conozca.</a:t>
                </a:r>
              </a:p>
              <a:p>
                <a:pPr>
                  <a:lnSpc>
                    <a:spcPct val="150000"/>
                  </a:lnSpc>
                </a:pPr>
                <a:r>
                  <a:rPr lang="es-419" dirty="0"/>
                  <a:t>“Despejamos” de forma tal que el parámetro se encuentre dentro de un rango para un nivel de confianza </a:t>
                </a:r>
                <a:r>
                  <a:rPr lang="es-419" b="1" dirty="0">
                    <a:solidFill>
                      <a:srgbClr val="003A5D"/>
                    </a:solidFill>
                  </a:rPr>
                  <a:t>100(1-</a:t>
                </a:r>
                <a:r>
                  <a:rPr lang="el-GR" b="1" dirty="0">
                    <a:solidFill>
                      <a:srgbClr val="003A5D"/>
                    </a:solidFill>
                  </a:rPr>
                  <a:t>α</a:t>
                </a:r>
                <a:r>
                  <a:rPr lang="es-419" b="1" dirty="0">
                    <a:solidFill>
                      <a:srgbClr val="003A5D"/>
                    </a:solidFill>
                  </a:rPr>
                  <a:t>)%</a:t>
                </a:r>
                <a:r>
                  <a:rPr lang="es-419" dirty="0"/>
                  <a:t>.</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rPr>
                        <m:t>𝑃</m:t>
                      </m:r>
                      <m:d>
                        <m:dPr>
                          <m:begChr m:val="["/>
                          <m:endChr m:val="]"/>
                          <m:ctrlPr>
                            <a:rPr lang="es-419" i="1">
                              <a:latin typeface="Cambria Math" panose="02040503050406030204" pitchFamily="18" charset="0"/>
                            </a:rPr>
                          </m:ctrlPr>
                        </m:dPr>
                        <m:e>
                          <m:acc>
                            <m:accPr>
                              <m:chr m:val="̂"/>
                              <m:ctrlPr>
                                <a:rPr lang="es-419" i="1">
                                  <a:latin typeface="Cambria Math" panose="02040503050406030204" pitchFamily="18" charset="0"/>
                                </a:rPr>
                              </m:ctrlPr>
                            </m:accPr>
                            <m:e>
                              <m:r>
                                <a:rPr lang="es-419" i="1">
                                  <a:latin typeface="Cambria Math" panose="02040503050406030204" pitchFamily="18" charset="0"/>
                                  <a:ea typeface="Cambria Math" panose="02040503050406030204" pitchFamily="18" charset="0"/>
                                </a:rPr>
                                <m:t>𝜃</m:t>
                              </m:r>
                            </m:e>
                          </m:acc>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𝛿</m:t>
                              </m:r>
                            </m:e>
                            <m:sub>
                              <m:r>
                                <a:rPr lang="es-419" i="1">
                                  <a:latin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𝜃</m:t>
                          </m:r>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rPr>
                              </m:ctrlPr>
                            </m:accPr>
                            <m:e>
                              <m:r>
                                <a:rPr lang="es-419" i="1">
                                  <a:latin typeface="Cambria Math" panose="02040503050406030204" pitchFamily="18" charset="0"/>
                                  <a:ea typeface="Cambria Math" panose="02040503050406030204" pitchFamily="18" charset="0"/>
                                </a:rPr>
                                <m:t>𝜃</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𝛿</m:t>
                              </m:r>
                            </m:e>
                            <m:sub>
                              <m:r>
                                <a:rPr lang="es-419" i="1">
                                  <a:latin typeface="Cambria Math" panose="02040503050406030204" pitchFamily="18" charset="0"/>
                                  <a:ea typeface="Cambria Math" panose="02040503050406030204" pitchFamily="18" charset="0"/>
                                </a:rPr>
                                <m:t>2</m:t>
                              </m:r>
                            </m:sub>
                          </m:sSub>
                        </m:e>
                      </m:d>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p>
              <a:p>
                <a:pPr>
                  <a:lnSpc>
                    <a:spcPct val="150000"/>
                  </a:lnSpc>
                </a:pPr>
                <a:r>
                  <a:rPr lang="es-419" dirty="0"/>
                  <a:t>Los extremos del rango son determinados por el estimador puntual,</a:t>
                </a:r>
              </a:p>
              <a:p>
                <a:pPr>
                  <a:lnSpc>
                    <a:spcPct val="150000"/>
                  </a:lnSpc>
                </a:pPr>
                <a:r>
                  <a:rPr lang="es-419" dirty="0"/>
                  <a:t>Que es a su vez ajustado (ya sea por suma/resta, división, etc.) por </a:t>
                </a:r>
                <a:r>
                  <a:rPr lang="es-419" b="1" dirty="0">
                    <a:solidFill>
                      <a:srgbClr val="003A5D"/>
                    </a:solidFill>
                  </a:rPr>
                  <a:t>valores críticos: </a:t>
                </a:r>
                <a:r>
                  <a:rPr lang="es-419" dirty="0"/>
                  <a:t>(cuantiles) que establecen a cuantas desviaciones estándares de la media del estimador se debe ampliar el intervalo para alcanzar el nivel de confianza indicado.</a:t>
                </a:r>
              </a:p>
              <a:p>
                <a:pPr>
                  <a:lnSpc>
                    <a:spcPct val="150000"/>
                  </a:lnSpc>
                </a:pPr>
                <a:r>
                  <a:rPr lang="es-419" dirty="0"/>
                  <a:t>En esencia son números que “dividen” la distribución de probabilidades dos, en que con un área de tamaño </a:t>
                </a:r>
                <a:r>
                  <a:rPr lang="el-GR" b="1" dirty="0">
                    <a:solidFill>
                      <a:srgbClr val="003A5D"/>
                    </a:solidFill>
                  </a:rPr>
                  <a:t>α</a:t>
                </a:r>
                <a:r>
                  <a:rPr lang="es-VE" b="1" dirty="0">
                    <a:solidFill>
                      <a:srgbClr val="003A5D"/>
                    </a:solidFill>
                  </a:rPr>
                  <a:t> </a:t>
                </a:r>
                <a:r>
                  <a:rPr lang="es-VE" dirty="0"/>
                  <a:t>alineada a un sentido determinado, usualmente a la derecha.</a:t>
                </a: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22" r="-406"/>
                </a:stretch>
              </a:blipFill>
            </p:spPr>
            <p:txBody>
              <a:bodyPr/>
              <a:lstStyle/>
              <a:p>
                <a:r>
                  <a:rPr lang="es-VE">
                    <a:noFill/>
                  </a:rPr>
                  <a:t> </a:t>
                </a:r>
              </a:p>
            </p:txBody>
          </p:sp>
        </mc:Fallback>
      </mc:AlternateContent>
    </p:spTree>
    <p:extLst>
      <p:ext uri="{BB962C8B-B14F-4D97-AF65-F5344CB8AC3E}">
        <p14:creationId xmlns:p14="http://schemas.microsoft.com/office/powerpoint/2010/main" val="34752805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Intervalos de confianza para la media de una población</a:t>
            </a:r>
            <a:endParaRPr lang="es-419" dirty="0"/>
          </a:p>
        </p:txBody>
      </p:sp>
      <p:sp>
        <p:nvSpPr>
          <p:cNvPr id="2" name="Marcador de texto 1"/>
          <p:cNvSpPr>
            <a:spLocks noGrp="1"/>
          </p:cNvSpPr>
          <p:nvPr>
            <p:ph type="body" idx="1"/>
          </p:nvPr>
        </p:nvSpPr>
        <p:spPr/>
        <p:txBody>
          <a:bodyPr/>
          <a:lstStyle/>
          <a:p>
            <a:r>
              <a:rPr lang="es-VE" dirty="0"/>
              <a:t>Construcción básica preliminar</a:t>
            </a:r>
            <a:endParaRPr lang="en-US" dirty="0"/>
          </a:p>
        </p:txBody>
      </p:sp>
    </p:spTree>
    <p:extLst>
      <p:ext uri="{BB962C8B-B14F-4D97-AF65-F5344CB8AC3E}">
        <p14:creationId xmlns:p14="http://schemas.microsoft.com/office/powerpoint/2010/main" val="14146090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Construcción del intervalo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55000" lnSpcReduction="20000"/>
              </a:bodyPr>
              <a:lstStyle/>
              <a:p>
                <a:pPr>
                  <a:lnSpc>
                    <a:spcPct val="150000"/>
                  </a:lnSpc>
                </a:pPr>
                <a:r>
                  <a:rPr lang="es-VE" dirty="0"/>
                  <a:t>Empezaremos con un caso genérico</a:t>
                </a:r>
              </a:p>
              <a:p>
                <a:pPr>
                  <a:lnSpc>
                    <a:spcPct val="150000"/>
                  </a:lnSpc>
                </a:pPr>
                <a:r>
                  <a:rPr lang="es-419" dirty="0"/>
                  <a:t>Partimos del conocimiento que tenemos sobre la distribución de la media muestral.</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smtClean="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𝑁</m:t>
                      </m:r>
                      <m:r>
                        <a:rPr lang="es-419" b="0"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𝜇</m:t>
                      </m:r>
                      <m:r>
                        <a:rPr lang="es-419" b="0" i="1" dirty="0" smtClean="0">
                          <a:latin typeface="Cambria Math" panose="02040503050406030204" pitchFamily="18" charset="0"/>
                          <a:ea typeface="Cambria Math" panose="02040503050406030204" pitchFamily="18" charset="0"/>
                        </a:rPr>
                        <m:t>,</m:t>
                      </m:r>
                      <m:f>
                        <m:fPr>
                          <m:ctrlPr>
                            <a:rPr lang="es-419" b="0" i="1" dirty="0" smtClean="0">
                              <a:latin typeface="Cambria Math" panose="02040503050406030204" pitchFamily="18" charset="0"/>
                              <a:ea typeface="Cambria Math" panose="02040503050406030204" pitchFamily="18" charset="0"/>
                            </a:rPr>
                          </m:ctrlPr>
                        </m:fPr>
                        <m:num>
                          <m:sSup>
                            <m:sSupPr>
                              <m:ctrlPr>
                                <a:rPr lang="es-419" b="0" i="1" dirty="0" smtClean="0">
                                  <a:latin typeface="Cambria Math" panose="02040503050406030204" pitchFamily="18" charset="0"/>
                                  <a:ea typeface="Cambria Math" panose="02040503050406030204" pitchFamily="18" charset="0"/>
                                </a:rPr>
                              </m:ctrlPr>
                            </m:sSupPr>
                            <m:e>
                              <m:r>
                                <a:rPr lang="es-419" b="0" i="1" dirty="0" smtClean="0">
                                  <a:latin typeface="Cambria Math" panose="02040503050406030204" pitchFamily="18" charset="0"/>
                                  <a:ea typeface="Cambria Math" panose="02040503050406030204" pitchFamily="18" charset="0"/>
                                </a:rPr>
                                <m:t>𝜎</m:t>
                              </m:r>
                            </m:e>
                            <m:sup>
                              <m:r>
                                <a:rPr lang="es-419" b="0" i="1" dirty="0" smtClean="0">
                                  <a:latin typeface="Cambria Math" panose="02040503050406030204" pitchFamily="18" charset="0"/>
                                  <a:ea typeface="Cambria Math" panose="02040503050406030204" pitchFamily="18" charset="0"/>
                                </a:rPr>
                                <m:t>2</m:t>
                              </m:r>
                            </m:sup>
                          </m:sSup>
                        </m:num>
                        <m:den>
                          <m:r>
                            <a:rPr lang="es-419" b="0" i="1" dirty="0" smtClean="0">
                              <a:latin typeface="Cambria Math" panose="02040503050406030204" pitchFamily="18" charset="0"/>
                              <a:ea typeface="Cambria Math" panose="02040503050406030204" pitchFamily="18" charset="0"/>
                            </a:rPr>
                            <m:t>𝑛</m:t>
                          </m:r>
                        </m:den>
                      </m:f>
                      <m:r>
                        <a:rPr lang="es-419" b="0" i="1" dirty="0" smtClean="0">
                          <a:latin typeface="Cambria Math" panose="02040503050406030204" pitchFamily="18" charset="0"/>
                          <a:ea typeface="Cambria Math" panose="02040503050406030204" pitchFamily="18" charset="0"/>
                        </a:rPr>
                        <m:t>)</m:t>
                      </m:r>
                    </m:oMath>
                  </m:oMathPara>
                </a14:m>
                <a:endParaRPr lang="es-419" i="1" dirty="0">
                  <a:latin typeface="Cambria Math" panose="02040503050406030204" pitchFamily="18" charset="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b="0" i="1" dirty="0" smtClean="0">
                              <a:latin typeface="Cambria Math" panose="02040503050406030204" pitchFamily="18" charset="0"/>
                              <a:ea typeface="Cambria Math" panose="02040503050406030204" pitchFamily="18" charset="0"/>
                            </a:rPr>
                            <m:t>𝑍</m:t>
                          </m:r>
                        </m:e>
                      </m:acc>
                      <m:r>
                        <a:rPr lang="es-419" b="0" i="1" dirty="0" smtClean="0">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i="1" dirty="0">
                              <a:latin typeface="Cambria Math" panose="02040503050406030204" pitchFamily="18" charset="0"/>
                              <a:ea typeface="Cambria Math" panose="02040503050406030204" pitchFamily="18" charset="0"/>
                            </a:rPr>
                            <m:t>𝜎</m:t>
                          </m:r>
                        </m:den>
                      </m:f>
                      <m:r>
                        <a:rPr lang="es-419"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𝑁</m:t>
                      </m:r>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0,1</m:t>
                          </m:r>
                        </m:e>
                      </m:d>
                    </m:oMath>
                  </m:oMathPara>
                </a14:m>
                <a:endParaRPr lang="es-419" dirty="0"/>
              </a:p>
              <a:p>
                <a:pPr>
                  <a:lnSpc>
                    <a:spcPct val="150000"/>
                  </a:lnSpc>
                </a:pPr>
                <a:r>
                  <a:rPr lang="es-419" dirty="0"/>
                  <a:t>Queremos llevarlo a que sea consistente con:</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rPr>
                        <m:t>𝑃</m:t>
                      </m:r>
                      <m:d>
                        <m:dPr>
                          <m:begChr m:val="["/>
                          <m:endChr m:val="]"/>
                          <m:ctrlPr>
                            <a:rPr lang="es-419" i="1">
                              <a:latin typeface="Cambria Math" panose="02040503050406030204" pitchFamily="18" charset="0"/>
                            </a:rPr>
                          </m:ctrlPr>
                        </m:dPr>
                        <m:e>
                          <m:acc>
                            <m:accPr>
                              <m:chr m:val="̂"/>
                              <m:ctrlPr>
                                <a:rPr lang="es-419" i="1">
                                  <a:latin typeface="Cambria Math" panose="02040503050406030204" pitchFamily="18" charset="0"/>
                                </a:rPr>
                              </m:ctrlPr>
                            </m:accPr>
                            <m:e>
                              <m:r>
                                <a:rPr lang="es-419" i="1">
                                  <a:latin typeface="Cambria Math" panose="02040503050406030204" pitchFamily="18" charset="0"/>
                                  <a:ea typeface="Cambria Math" panose="02040503050406030204" pitchFamily="18" charset="0"/>
                                </a:rPr>
                                <m:t>𝜃</m:t>
                              </m:r>
                            </m:e>
                          </m:acc>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𝛿</m:t>
                              </m:r>
                            </m:e>
                            <m:sub>
                              <m:r>
                                <a:rPr lang="es-419" i="1">
                                  <a:latin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𝜃</m:t>
                          </m:r>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rPr>
                              </m:ctrlPr>
                            </m:accPr>
                            <m:e>
                              <m:r>
                                <a:rPr lang="es-419" i="1">
                                  <a:latin typeface="Cambria Math" panose="02040503050406030204" pitchFamily="18" charset="0"/>
                                  <a:ea typeface="Cambria Math" panose="02040503050406030204" pitchFamily="18" charset="0"/>
                                </a:rPr>
                                <m:t>𝜃</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𝛿</m:t>
                              </m:r>
                            </m:e>
                            <m:sub>
                              <m:r>
                                <a:rPr lang="es-419" i="1">
                                  <a:latin typeface="Cambria Math" panose="02040503050406030204" pitchFamily="18" charset="0"/>
                                  <a:ea typeface="Cambria Math" panose="02040503050406030204" pitchFamily="18" charset="0"/>
                                </a:rPr>
                                <m:t>2</m:t>
                              </m:r>
                            </m:sub>
                          </m:sSub>
                        </m:e>
                      </m:d>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b="0" i="1" dirty="0">
                  <a:latin typeface="Cambria Math" panose="02040503050406030204" pitchFamily="18" charset="0"/>
                  <a:ea typeface="Cambria Math" panose="02040503050406030204" pitchFamily="18" charset="0"/>
                </a:endParaRPr>
              </a:p>
              <a:p>
                <a:pPr>
                  <a:lnSpc>
                    <a:spcPct val="150000"/>
                  </a:lnSpc>
                </a:pPr>
                <a:r>
                  <a:rPr lang="es-419" dirty="0"/>
                  <a:t>Planteemos como punto de partida:</a:t>
                </a:r>
              </a:p>
              <a:p>
                <a:pPr marL="0" indent="0">
                  <a:lnSpc>
                    <a:spcPct val="150000"/>
                  </a:lnSpc>
                  <a:buNone/>
                </a:pPr>
                <a14:m>
                  <m:oMathPara xmlns:m="http://schemas.openxmlformats.org/officeDocument/2006/math">
                    <m:oMathParaPr>
                      <m:jc m:val="center"/>
                    </m:oMathParaPr>
                    <m:oMath xmlns:m="http://schemas.openxmlformats.org/officeDocument/2006/math">
                      <m:r>
                        <a:rPr lang="es-419" b="0" i="1" smtClean="0">
                          <a:latin typeface="Cambria Math" panose="02040503050406030204" pitchFamily="18" charset="0"/>
                          <a:ea typeface="Cambria Math" panose="02040503050406030204" pitchFamily="18" charset="0"/>
                        </a:rPr>
                        <m:t>𝑃</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latin typeface="Cambria Math" panose="02040503050406030204" pitchFamily="18" charset="0"/>
                              <a:ea typeface="Cambria Math" panose="02040503050406030204" pitchFamily="18" charset="0"/>
                            </a:rPr>
                            <m:t>≤</m:t>
                          </m:r>
                          <m:acc>
                            <m:accPr>
                              <m:chr m:val="̅"/>
                              <m:ctrlPr>
                                <a:rPr lang="es-419" b="0" i="1" smtClean="0">
                                  <a:latin typeface="Cambria Math" panose="02040503050406030204" pitchFamily="18" charset="0"/>
                                  <a:ea typeface="Cambria Math" panose="02040503050406030204" pitchFamily="18" charset="0"/>
                                </a:rPr>
                              </m:ctrlPr>
                            </m:accPr>
                            <m:e>
                              <m:r>
                                <a:rPr lang="es-VE" b="0" i="1" smtClean="0">
                                  <a:latin typeface="Cambria Math" panose="02040503050406030204" pitchFamily="18" charset="0"/>
                                  <a:ea typeface="Cambria Math" panose="02040503050406030204" pitchFamily="18" charset="0"/>
                                </a:rPr>
                                <m:t>𝑍</m:t>
                              </m:r>
                            </m:e>
                          </m:acc>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Siendo </a:t>
                </a:r>
                <a14:m>
                  <m:oMath xmlns:m="http://schemas.openxmlformats.org/officeDocument/2006/math">
                    <m:sSub>
                      <m:sSubPr>
                        <m:ctrlPr>
                          <a:rPr lang="es-419" b="1" i="1" smtClean="0">
                            <a:solidFill>
                              <a:srgbClr val="003A5D"/>
                            </a:solidFill>
                            <a:latin typeface="Cambria Math" panose="02040503050406030204" pitchFamily="18" charset="0"/>
                            <a:ea typeface="Cambria Math" panose="02040503050406030204" pitchFamily="18" charset="0"/>
                          </a:rPr>
                        </m:ctrlPr>
                      </m:sSubPr>
                      <m:e>
                        <m:r>
                          <a:rPr lang="es-VE" b="1" i="1">
                            <a:solidFill>
                              <a:srgbClr val="003A5D"/>
                            </a:solidFill>
                            <a:latin typeface="Cambria Math" panose="02040503050406030204" pitchFamily="18" charset="0"/>
                            <a:ea typeface="Cambria Math" panose="02040503050406030204" pitchFamily="18" charset="0"/>
                          </a:rPr>
                          <m:t>𝒛</m:t>
                        </m:r>
                      </m:e>
                      <m:sub>
                        <m:f>
                          <m:fPr>
                            <m:type m:val="skw"/>
                            <m:ctrlPr>
                              <a:rPr lang="es-419" b="1" i="1">
                                <a:solidFill>
                                  <a:srgbClr val="003A5D"/>
                                </a:solidFill>
                                <a:latin typeface="Cambria Math" panose="02040503050406030204" pitchFamily="18" charset="0"/>
                                <a:ea typeface="Cambria Math" panose="02040503050406030204" pitchFamily="18" charset="0"/>
                              </a:rPr>
                            </m:ctrlPr>
                          </m:fPr>
                          <m:num>
                            <m:r>
                              <a:rPr lang="es-419" b="1" i="1">
                                <a:solidFill>
                                  <a:srgbClr val="003A5D"/>
                                </a:solidFill>
                                <a:latin typeface="Cambria Math" panose="02040503050406030204" pitchFamily="18" charset="0"/>
                                <a:ea typeface="Cambria Math" panose="02040503050406030204" pitchFamily="18" charset="0"/>
                              </a:rPr>
                              <m:t>𝜶</m:t>
                            </m:r>
                          </m:num>
                          <m:den>
                            <m:r>
                              <a:rPr lang="es-419" b="1" i="1">
                                <a:solidFill>
                                  <a:srgbClr val="003A5D"/>
                                </a:solidFill>
                                <a:latin typeface="Cambria Math" panose="02040503050406030204" pitchFamily="18" charset="0"/>
                                <a:ea typeface="Cambria Math" panose="02040503050406030204" pitchFamily="18" charset="0"/>
                              </a:rPr>
                              <m:t>𝟐</m:t>
                            </m:r>
                          </m:den>
                        </m:f>
                      </m:sub>
                    </m:sSub>
                  </m:oMath>
                </a14:m>
                <a:r>
                  <a:rPr lang="es-419" dirty="0">
                    <a:ea typeface="Cambria Math" panose="02040503050406030204" pitchFamily="18" charset="0"/>
                  </a:rPr>
                  <a:t> cuantiles que tienen acumulados a su derecha un área equivalente a </a:t>
                </a:r>
                <a14:m>
                  <m:oMath xmlns:m="http://schemas.openxmlformats.org/officeDocument/2006/math">
                    <m:f>
                      <m:fPr>
                        <m:type m:val="skw"/>
                        <m:ctrlPr>
                          <a:rPr lang="es-419" b="1" i="1" smtClean="0">
                            <a:solidFill>
                              <a:srgbClr val="003A5D"/>
                            </a:solidFill>
                            <a:latin typeface="Cambria Math" panose="02040503050406030204" pitchFamily="18" charset="0"/>
                            <a:ea typeface="Cambria Math" panose="02040503050406030204" pitchFamily="18" charset="0"/>
                          </a:rPr>
                        </m:ctrlPr>
                      </m:fPr>
                      <m:num>
                        <m:r>
                          <a:rPr lang="es-419" b="1" i="1">
                            <a:solidFill>
                              <a:srgbClr val="003A5D"/>
                            </a:solidFill>
                            <a:latin typeface="Cambria Math" panose="02040503050406030204" pitchFamily="18" charset="0"/>
                            <a:ea typeface="Cambria Math" panose="02040503050406030204" pitchFamily="18" charset="0"/>
                          </a:rPr>
                          <m:t>𝜶</m:t>
                        </m:r>
                      </m:num>
                      <m:den>
                        <m:r>
                          <a:rPr lang="es-419" b="1" i="1">
                            <a:solidFill>
                              <a:srgbClr val="003A5D"/>
                            </a:solidFill>
                            <a:latin typeface="Cambria Math" panose="02040503050406030204" pitchFamily="18" charset="0"/>
                            <a:ea typeface="Cambria Math" panose="02040503050406030204" pitchFamily="18" charset="0"/>
                          </a:rPr>
                          <m:t>𝟐</m:t>
                        </m:r>
                      </m:den>
                    </m:f>
                  </m:oMath>
                </a14:m>
                <a:r>
                  <a:rPr lang="es-419" b="1" dirty="0">
                    <a:ea typeface="Cambria Math" panose="02040503050406030204" pitchFamily="18" charset="0"/>
                  </a:rPr>
                  <a:t> </a:t>
                </a:r>
                <a:r>
                  <a:rPr lang="es-419" dirty="0">
                    <a:ea typeface="Cambria Math" panose="02040503050406030204" pitchFamily="18" charset="0"/>
                  </a:rPr>
                  <a:t>de la distribución de probabilidades de la media muestral normalizada.</a:t>
                </a: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74"/>
                </a:stretch>
              </a:blipFill>
            </p:spPr>
            <p:txBody>
              <a:bodyPr/>
              <a:lstStyle/>
              <a:p>
                <a:r>
                  <a:rPr lang="es-VE">
                    <a:noFill/>
                  </a:rPr>
                  <a:t> </a:t>
                </a:r>
              </a:p>
            </p:txBody>
          </p:sp>
        </mc:Fallback>
      </mc:AlternateContent>
    </p:spTree>
    <p:extLst>
      <p:ext uri="{BB962C8B-B14F-4D97-AF65-F5344CB8AC3E}">
        <p14:creationId xmlns:p14="http://schemas.microsoft.com/office/powerpoint/2010/main" val="29061798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Visualizando</a:t>
            </a:r>
            <a:endParaRPr lang="en-US" dirty="0"/>
          </a:p>
        </p:txBody>
      </p:sp>
      <p:pic>
        <p:nvPicPr>
          <p:cNvPr id="4098" name="Picture 2">
            <a:extLst>
              <a:ext uri="{FF2B5EF4-FFF2-40B4-BE49-F238E27FC236}">
                <a16:creationId xmlns:a16="http://schemas.microsoft.com/office/drawing/2014/main" id="{B3CCB2AD-5814-43A5-A5D8-21F9902F0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483" y="963000"/>
            <a:ext cx="8615034" cy="493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2075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Construcción del intervalo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rPr>
                        <m:t>𝑃</m:t>
                      </m:r>
                      <m:d>
                        <m:dPr>
                          <m:begChr m:val="["/>
                          <m:endChr m:val="]"/>
                          <m:ctrlPr>
                            <a:rPr lang="es-419" i="1">
                              <a:latin typeface="Cambria Math" panose="02040503050406030204" pitchFamily="18" charset="0"/>
                            </a:rPr>
                          </m:ctrlPr>
                        </m:dPr>
                        <m:e>
                          <m:acc>
                            <m:accPr>
                              <m:chr m:val="̂"/>
                              <m:ctrlPr>
                                <a:rPr lang="es-419" i="1">
                                  <a:latin typeface="Cambria Math" panose="02040503050406030204" pitchFamily="18" charset="0"/>
                                </a:rPr>
                              </m:ctrlPr>
                            </m:accPr>
                            <m:e>
                              <m:r>
                                <a:rPr lang="es-419" i="1">
                                  <a:latin typeface="Cambria Math" panose="02040503050406030204" pitchFamily="18" charset="0"/>
                                  <a:ea typeface="Cambria Math" panose="02040503050406030204" pitchFamily="18" charset="0"/>
                                </a:rPr>
                                <m:t>𝜃</m:t>
                              </m:r>
                            </m:e>
                          </m:acc>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𝛿</m:t>
                              </m:r>
                            </m:e>
                            <m:sub>
                              <m:r>
                                <a:rPr lang="es-419" i="1">
                                  <a:latin typeface="Cambria Math" panose="02040503050406030204" pitchFamily="18" charset="0"/>
                                </a:rPr>
                                <m:t>1</m:t>
                              </m:r>
                            </m:sub>
                          </m:sSub>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𝜃</m:t>
                          </m:r>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rPr>
                              </m:ctrlPr>
                            </m:accPr>
                            <m:e>
                              <m:r>
                                <a:rPr lang="es-419" i="1">
                                  <a:latin typeface="Cambria Math" panose="02040503050406030204" pitchFamily="18" charset="0"/>
                                  <a:ea typeface="Cambria Math" panose="02040503050406030204" pitchFamily="18" charset="0"/>
                                </a:rPr>
                                <m:t>𝜃</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𝛿</m:t>
                              </m:r>
                            </m:e>
                            <m:sub>
                              <m:r>
                                <a:rPr lang="es-419" i="1">
                                  <a:latin typeface="Cambria Math" panose="02040503050406030204" pitchFamily="18" charset="0"/>
                                  <a:ea typeface="Cambria Math" panose="02040503050406030204" pitchFamily="18" charset="0"/>
                                </a:rPr>
                                <m:t>2</m:t>
                              </m:r>
                            </m:sub>
                          </m:sSub>
                        </m:e>
                      </m:d>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b="0" i="1" dirty="0">
                  <a:latin typeface="Cambria Math" panose="02040503050406030204" pitchFamily="18" charset="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b="0" i="1" smtClean="0">
                        <a:latin typeface="Cambria Math" panose="02040503050406030204" pitchFamily="18" charset="0"/>
                        <a:ea typeface="Cambria Math" panose="02040503050406030204" pitchFamily="18" charset="0"/>
                      </a:rPr>
                      <m:t>𝑃</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latin typeface="Cambria Math" panose="02040503050406030204" pitchFamily="18" charset="0"/>
                            <a:ea typeface="Cambria Math" panose="02040503050406030204" pitchFamily="18" charset="0"/>
                          </a:rPr>
                          <m:t>≤</m:t>
                        </m:r>
                        <m:acc>
                          <m:accPr>
                            <m:chr m:val="̅"/>
                            <m:ctrlPr>
                              <a:rPr lang="es-419" b="0" i="1" smtClean="0">
                                <a:latin typeface="Cambria Math" panose="02040503050406030204" pitchFamily="18" charset="0"/>
                                <a:ea typeface="Cambria Math" panose="02040503050406030204" pitchFamily="18" charset="0"/>
                              </a:rPr>
                            </m:ctrlPr>
                          </m:accPr>
                          <m:e>
                            <m:r>
                              <a:rPr lang="es-VE" b="0" i="1" smtClean="0">
                                <a:latin typeface="Cambria Math" panose="02040503050406030204" pitchFamily="18" charset="0"/>
                                <a:ea typeface="Cambria Math" panose="02040503050406030204" pitchFamily="18" charset="0"/>
                              </a:rPr>
                              <m:t>𝑍</m:t>
                            </m:r>
                          </m:e>
                        </m:acc>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b="0" i="1" smtClean="0">
                        <a:latin typeface="Cambria Math" panose="02040503050406030204" pitchFamily="18" charset="0"/>
                        <a:ea typeface="Cambria Math" panose="02040503050406030204" pitchFamily="18" charset="0"/>
                      </a:rPr>
                      <m:t>𝑃</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latin typeface="Cambria Math" panose="02040503050406030204" pitchFamily="18" charset="0"/>
                            <a:ea typeface="Cambria Math" panose="02040503050406030204" pitchFamily="18" charset="0"/>
                          </a:rPr>
                          <m:t>≤</m:t>
                        </m:r>
                        <m:f>
                          <m:fPr>
                            <m:ctrlPr>
                              <a:rPr lang="es-419" i="1" dirty="0" smtClean="0">
                                <a:latin typeface="Cambria Math" panose="02040503050406030204" pitchFamily="18" charset="0"/>
                                <a:ea typeface="Cambria Math" panose="02040503050406030204" pitchFamily="18" charset="0"/>
                              </a:rPr>
                            </m:ctrlPr>
                          </m:fPr>
                          <m:num>
                            <m:d>
                              <m:dPr>
                                <m:ctrlPr>
                                  <a:rPr lang="es-419" b="0" i="1" dirty="0" smtClean="0">
                                    <a:latin typeface="Cambria Math" panose="02040503050406030204" pitchFamily="18" charset="0"/>
                                    <a:ea typeface="Cambria Math" panose="02040503050406030204" pitchFamily="18" charset="0"/>
                                  </a:rPr>
                                </m:ctrlPr>
                              </m:dPr>
                              <m:e>
                                <m:acc>
                                  <m:accPr>
                                    <m:chr m:val="̅"/>
                                    <m:ctrlPr>
                                      <a:rPr lang="es-419" b="0" i="1" dirty="0" smtClean="0">
                                        <a:latin typeface="Cambria Math" panose="02040503050406030204" pitchFamily="18" charset="0"/>
                                        <a:ea typeface="Cambria Math" panose="02040503050406030204" pitchFamily="18" charset="0"/>
                                      </a:rPr>
                                    </m:ctrlPr>
                                  </m:accPr>
                                  <m:e>
                                    <m:r>
                                      <a:rPr lang="es-419" b="0" i="1" dirty="0" smtClean="0">
                                        <a:latin typeface="Cambria Math" panose="02040503050406030204" pitchFamily="18" charset="0"/>
                                        <a:ea typeface="Cambria Math" panose="02040503050406030204" pitchFamily="18" charset="0"/>
                                      </a:rPr>
                                      <m:t>𝑋</m:t>
                                    </m:r>
                                  </m:e>
                                </m:acc>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𝜇</m:t>
                                </m:r>
                              </m:e>
                            </m:d>
                            <m:rad>
                              <m:radPr>
                                <m:degHide m:val="on"/>
                                <m:ctrlPr>
                                  <a:rPr lang="es-419" b="0" i="1" dirty="0" smtClean="0">
                                    <a:latin typeface="Cambria Math" panose="02040503050406030204" pitchFamily="18" charset="0"/>
                                    <a:ea typeface="Cambria Math" panose="02040503050406030204" pitchFamily="18" charset="0"/>
                                  </a:rPr>
                                </m:ctrlPr>
                              </m:radPr>
                              <m:deg/>
                              <m:e>
                                <m:r>
                                  <a:rPr lang="es-419" b="0" i="1" dirty="0" smtClean="0">
                                    <a:latin typeface="Cambria Math" panose="02040503050406030204" pitchFamily="18" charset="0"/>
                                    <a:ea typeface="Cambria Math" panose="02040503050406030204" pitchFamily="18" charset="0"/>
                                  </a:rPr>
                                  <m:t>𝑛</m:t>
                                </m:r>
                              </m:e>
                            </m:rad>
                          </m:num>
                          <m:den>
                            <m:r>
                              <a:rPr lang="es-419" i="1" dirty="0" smtClean="0">
                                <a:latin typeface="Cambria Math" panose="02040503050406030204" pitchFamily="18" charset="0"/>
                                <a:ea typeface="Cambria Math" panose="02040503050406030204" pitchFamily="18" charset="0"/>
                              </a:rPr>
                              <m:t>𝜎</m:t>
                            </m:r>
                          </m:den>
                        </m:f>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solidFill>
                              <a:srgbClr val="003A5D"/>
                            </a:solidFill>
                            <a:latin typeface="Cambria Math" panose="02040503050406030204" pitchFamily="18" charset="0"/>
                            <a:ea typeface="Cambria Math" panose="02040503050406030204" pitchFamily="18" charset="0"/>
                          </a:rPr>
                          <m:t>𝜎</m:t>
                        </m:r>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solidFill>
                              <a:srgbClr val="003A5D"/>
                            </a:solidFill>
                            <a:latin typeface="Cambria Math" panose="02040503050406030204" pitchFamily="18" charset="0"/>
                            <a:ea typeface="Cambria Math" panose="02040503050406030204" pitchFamily="18" charset="0"/>
                          </a:rPr>
                          <m:t>𝜎</m:t>
                        </m:r>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f>
                          <m:fPr>
                            <m:ctrlPr>
                              <a:rPr lang="es-419" i="1" smtClean="0">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smtClean="0">
                                    <a:solidFill>
                                      <a:srgbClr val="003A5D"/>
                                    </a:solidFill>
                                    <a:latin typeface="Cambria Math" panose="02040503050406030204" pitchFamily="18" charset="0"/>
                                    <a:ea typeface="Cambria Math" panose="02040503050406030204" pitchFamily="18" charset="0"/>
                                  </a:rPr>
                                </m:ctrlPr>
                              </m:radPr>
                              <m:deg/>
                              <m:e>
                                <m:r>
                                  <a:rPr lang="es-419" i="1" dirty="0">
                                    <a:solidFill>
                                      <a:srgbClr val="003A5D"/>
                                    </a:solidFill>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smtClean="0">
                                    <a:solidFill>
                                      <a:srgbClr val="003A5D"/>
                                    </a:solidFill>
                                    <a:latin typeface="Cambria Math" panose="02040503050406030204" pitchFamily="18" charset="0"/>
                                    <a:ea typeface="Cambria Math" panose="02040503050406030204" pitchFamily="18" charset="0"/>
                                  </a:rPr>
                                </m:ctrlPr>
                              </m:radPr>
                              <m:deg/>
                              <m:e>
                                <m:r>
                                  <a:rPr lang="es-419" i="1" dirty="0">
                                    <a:solidFill>
                                      <a:srgbClr val="003A5D"/>
                                    </a:solidFill>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smtClean="0">
                            <a:latin typeface="Cambria Math" panose="02040503050406030204" pitchFamily="18" charset="0"/>
                            <a:ea typeface="Cambria Math" panose="02040503050406030204" pitchFamily="18" charset="0"/>
                          </a:rPr>
                          <m:t>≥</m:t>
                        </m:r>
                        <m:r>
                          <a:rPr lang="es-419" b="0" i="1" smtClean="0">
                            <a:solidFill>
                              <a:srgbClr val="003A5D"/>
                            </a:solidFill>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dirty="0" smtClean="0">
                            <a:solidFill>
                              <a:srgbClr val="003A5D"/>
                            </a:solidFill>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smtClean="0">
                            <a:latin typeface="Cambria Math" panose="02040503050406030204" pitchFamily="18" charset="0"/>
                            <a:ea typeface="Cambria Math" panose="02040503050406030204" pitchFamily="18" charset="0"/>
                          </a:rPr>
                          <m:t>≥</m:t>
                        </m:r>
                        <m:r>
                          <a:rPr lang="es-419" i="1" smtClean="0">
                            <a:solidFill>
                              <a:srgbClr val="003A5D"/>
                            </a:solidFill>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r>
                      <a:rPr lang="es-419"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dirty="0"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754"/>
                </a:stretch>
              </a:blipFill>
            </p:spPr>
            <p:txBody>
              <a:bodyPr/>
              <a:lstStyle/>
              <a:p>
                <a:r>
                  <a:rPr lang="es-VE">
                    <a:noFill/>
                  </a:rPr>
                  <a:t> </a:t>
                </a:r>
              </a:p>
            </p:txBody>
          </p:sp>
        </mc:Fallback>
      </mc:AlternateContent>
    </p:spTree>
    <p:extLst>
      <p:ext uri="{BB962C8B-B14F-4D97-AF65-F5344CB8AC3E}">
        <p14:creationId xmlns:p14="http://schemas.microsoft.com/office/powerpoint/2010/main" val="9164871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Intervalo de confianza para la media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dirty="0"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VE" i="1" dirty="0">
                  <a:latin typeface="Cambria Math" panose="02040503050406030204" pitchFamily="18" charset="0"/>
                  <a:ea typeface="Cambria Math" panose="02040503050406030204" pitchFamily="18" charset="0"/>
                </a:endParaRPr>
              </a:p>
              <a:p>
                <a:pPr>
                  <a:lnSpc>
                    <a:spcPct val="150000"/>
                  </a:lnSpc>
                </a:pPr>
                <a:r>
                  <a:rPr lang="es-VE" dirty="0">
                    <a:ea typeface="Cambria Math" panose="02040503050406030204" pitchFamily="18" charset="0"/>
                  </a:rPr>
                  <a:t>El intervalo de confianza termina siendo:</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VE" b="0" i="1" dirty="0" smtClean="0">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Simplificado:</a:t>
                </a:r>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m:oMathPara>
                </a14:m>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es-VE">
                    <a:noFill/>
                  </a:rPr>
                  <a:t> </a:t>
                </a:r>
              </a:p>
            </p:txBody>
          </p:sp>
        </mc:Fallback>
      </mc:AlternateContent>
    </p:spTree>
    <p:extLst>
      <p:ext uri="{BB962C8B-B14F-4D97-AF65-F5344CB8AC3E}">
        <p14:creationId xmlns:p14="http://schemas.microsoft.com/office/powerpoint/2010/main" val="36031963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Visualizando para dos muestras</a:t>
            </a:r>
            <a:endParaRPr lang="en-US" dirty="0"/>
          </a:p>
        </p:txBody>
      </p:sp>
      <p:pic>
        <p:nvPicPr>
          <p:cNvPr id="1026" name="Picture 2">
            <a:extLst>
              <a:ext uri="{FF2B5EF4-FFF2-40B4-BE49-F238E27FC236}">
                <a16:creationId xmlns:a16="http://schemas.microsoft.com/office/drawing/2014/main" id="{C26468EF-88F3-453D-9335-F0BFF1184F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8622" y="2259000"/>
            <a:ext cx="8794756" cy="23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0374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Visualizando para varias muestras</a:t>
            </a:r>
            <a:endParaRPr lang="en-US" dirty="0"/>
          </a:p>
        </p:txBody>
      </p:sp>
      <p:pic>
        <p:nvPicPr>
          <p:cNvPr id="2050" name="Picture 2">
            <a:extLst>
              <a:ext uri="{FF2B5EF4-FFF2-40B4-BE49-F238E27FC236}">
                <a16:creationId xmlns:a16="http://schemas.microsoft.com/office/drawing/2014/main" id="{20CADE8F-DF7C-41D6-B9FC-1AD420E98B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5089" y="855000"/>
            <a:ext cx="6961822" cy="51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7691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Un ejemplo con datos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marL="514350" indent="-514350">
                  <a:lnSpc>
                    <a:spcPct val="150000"/>
                  </a:lnSpc>
                  <a:buFont typeface="+mj-lt"/>
                  <a:buAutoNum type="arabicPeriod"/>
                </a:pPr>
                <a14:m>
                  <m:oMath xmlns:m="http://schemas.openxmlformats.org/officeDocument/2006/math">
                    <m:r>
                      <a:rPr lang="es-419" b="0" i="1" smtClean="0">
                        <a:latin typeface="Cambria Math" panose="02040503050406030204" pitchFamily="18" charset="0"/>
                      </a:rPr>
                      <m:t>𝐼𝐶</m:t>
                    </m:r>
                    <m:r>
                      <a:rPr lang="es-419" b="0" i="1" smtClean="0">
                        <a:latin typeface="Cambria Math" panose="02040503050406030204" pitchFamily="18" charset="0"/>
                      </a:rPr>
                      <m:t>=95%</m:t>
                    </m:r>
                    <m:r>
                      <a:rPr lang="es-419" b="0" i="0" smtClean="0">
                        <a:latin typeface="Cambria Math" panose="02040503050406030204" pitchFamily="18" charset="0"/>
                      </a:rPr>
                      <m:t>=100</m:t>
                    </m:r>
                    <m:d>
                      <m:dPr>
                        <m:ctrlPr>
                          <a:rPr lang="es-419" b="0" i="1" smtClean="0">
                            <a:latin typeface="Cambria Math" panose="02040503050406030204" pitchFamily="18" charset="0"/>
                          </a:rPr>
                        </m:ctrlPr>
                      </m:dPr>
                      <m:e>
                        <m:r>
                          <a:rPr lang="es-419" b="0" i="0" smtClean="0">
                            <a:latin typeface="Cambria Math" panose="02040503050406030204" pitchFamily="18" charset="0"/>
                          </a:rPr>
                          <m:t>1−</m:t>
                        </m:r>
                        <m:r>
                          <m:rPr>
                            <m:sty m:val="p"/>
                          </m:rPr>
                          <a:rPr lang="el-GR" b="0" i="1" smtClean="0">
                            <a:latin typeface="Cambria Math" panose="02040503050406030204" pitchFamily="18" charset="0"/>
                            <a:ea typeface="Cambria Math" panose="02040503050406030204" pitchFamily="18" charset="0"/>
                          </a:rPr>
                          <m:t>α</m:t>
                        </m:r>
                      </m:e>
                    </m:d>
                    <m:r>
                      <a:rPr lang="es-419" b="0" i="1" smtClean="0">
                        <a:latin typeface="Cambria Math" panose="02040503050406030204" pitchFamily="18" charset="0"/>
                        <a:ea typeface="Cambria Math" panose="02040503050406030204" pitchFamily="18" charset="0"/>
                      </a:rPr>
                      <m:t>%</m:t>
                    </m:r>
                  </m:oMath>
                </a14:m>
                <a:endParaRPr lang="es-419" b="0" dirty="0"/>
              </a:p>
              <a:p>
                <a:pPr marL="514350" indent="-514350">
                  <a:lnSpc>
                    <a:spcPct val="150000"/>
                  </a:lnSpc>
                  <a:buFont typeface="+mj-lt"/>
                  <a:buAutoNum type="arabicPeriod"/>
                </a:pPr>
                <a14:m>
                  <m:oMath xmlns:m="http://schemas.openxmlformats.org/officeDocument/2006/math">
                    <m:r>
                      <a:rPr lang="es-419" b="0" i="1" smtClean="0">
                        <a:latin typeface="Cambria Math" panose="02040503050406030204" pitchFamily="18" charset="0"/>
                      </a:rPr>
                      <m:t>1−</m:t>
                    </m:r>
                    <m:r>
                      <a:rPr lang="es-419" b="0" i="1" smtClean="0">
                        <a:latin typeface="Cambria Math" panose="02040503050406030204" pitchFamily="18" charset="0"/>
                        <a:ea typeface="Cambria Math" panose="02040503050406030204" pitchFamily="18" charset="0"/>
                      </a:rPr>
                      <m:t>𝛼</m:t>
                    </m:r>
                    <m:r>
                      <a:rPr lang="es-419" b="0" i="1" smtClean="0">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95%</m:t>
                        </m:r>
                      </m:num>
                      <m:den>
                        <m:r>
                          <a:rPr lang="es-419" b="0" i="1" smtClean="0">
                            <a:latin typeface="Cambria Math" panose="02040503050406030204" pitchFamily="18" charset="0"/>
                            <a:ea typeface="Cambria Math" panose="02040503050406030204" pitchFamily="18" charset="0"/>
                          </a:rPr>
                          <m:t>100%</m:t>
                        </m:r>
                      </m:den>
                    </m:f>
                    <m:r>
                      <a:rPr lang="es-419" b="0" i="1" smtClean="0">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0,95</m:t>
                        </m:r>
                      </m:num>
                      <m:den>
                        <m:r>
                          <a:rPr lang="es-419" b="0" i="1" smtClean="0">
                            <a:latin typeface="Cambria Math" panose="02040503050406030204" pitchFamily="18" charset="0"/>
                            <a:ea typeface="Cambria Math" panose="02040503050406030204" pitchFamily="18" charset="0"/>
                          </a:rPr>
                          <m:t>1</m:t>
                        </m:r>
                      </m:den>
                    </m:f>
                  </m:oMath>
                </a14:m>
                <a:endParaRPr lang="es-419" b="0" dirty="0"/>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r>
                      <a:rPr lang="es-419" i="1">
                        <a:latin typeface="Cambria Math" panose="02040503050406030204" pitchFamily="18" charset="0"/>
                        <a:ea typeface="Cambria Math" panose="02040503050406030204" pitchFamily="18" charset="0"/>
                      </a:rPr>
                      <m:t>=0,95</m:t>
                    </m:r>
                  </m:oMath>
                </a14:m>
                <a:endParaRPr lang="es-419" b="0" dirty="0"/>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𝛼</m:t>
                    </m:r>
                    <m:r>
                      <a:rPr lang="es-419" i="1">
                        <a:latin typeface="Cambria Math" panose="02040503050406030204" pitchFamily="18" charset="0"/>
                        <a:ea typeface="Cambria Math" panose="02040503050406030204" pitchFamily="18" charset="0"/>
                      </a:rPr>
                      <m:t>=1−0,95</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𝛼</m:t>
                    </m:r>
                    <m:r>
                      <a:rPr lang="es-419" i="1">
                        <a:latin typeface="Cambria Math" panose="02040503050406030204" pitchFamily="18" charset="0"/>
                        <a:ea typeface="Cambria Math" panose="02040503050406030204" pitchFamily="18" charset="0"/>
                      </a:rPr>
                      <m:t>=0,05</m:t>
                    </m:r>
                  </m:oMath>
                </a14:m>
                <a:endParaRPr lang="es-419" b="0"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f>
                      <m:fPr>
                        <m:ctrlPr>
                          <a:rPr lang="es-419" i="1" smtClean="0">
                            <a:latin typeface="Cambria Math" panose="02040503050406030204" pitchFamily="18" charset="0"/>
                            <a:ea typeface="Cambria Math" panose="02040503050406030204" pitchFamily="18" charset="0"/>
                          </a:rPr>
                        </m:ctrlPr>
                      </m:fPr>
                      <m:num>
                        <m:r>
                          <a:rPr lang="es-419" i="1" smtClean="0">
                            <a:latin typeface="Cambria Math" panose="02040503050406030204" pitchFamily="18" charset="0"/>
                            <a:ea typeface="Cambria Math" panose="02040503050406030204" pitchFamily="18" charset="0"/>
                          </a:rPr>
                          <m:t>𝛼</m:t>
                        </m:r>
                      </m:num>
                      <m:den>
                        <m:r>
                          <a:rPr lang="es-419" b="0" i="1" smtClean="0">
                            <a:latin typeface="Cambria Math" panose="02040503050406030204" pitchFamily="18" charset="0"/>
                            <a:ea typeface="Cambria Math" panose="02040503050406030204" pitchFamily="18" charset="0"/>
                          </a:rPr>
                          <m:t>2</m:t>
                        </m:r>
                      </m:den>
                    </m:f>
                    <m:r>
                      <a:rPr lang="es-419" i="1">
                        <a:latin typeface="Cambria Math" panose="02040503050406030204" pitchFamily="18" charset="0"/>
                        <a:ea typeface="Cambria Math" panose="02040503050406030204" pitchFamily="18" charset="0"/>
                      </a:rPr>
                      <m:t>=0,025</m:t>
                    </m:r>
                    <m:r>
                      <a:rPr lang="es-419" b="0" i="1" smtClean="0">
                        <a:latin typeface="Cambria Math" panose="02040503050406030204" pitchFamily="18" charset="0"/>
                        <a:ea typeface="Cambria Math" panose="02040503050406030204" pitchFamily="18" charset="0"/>
                      </a:rPr>
                      <m:t>→</m:t>
                    </m:r>
                    <m:sSub>
                      <m:sSubPr>
                        <m:ctrlPr>
                          <a:rPr lang="es-419" b="0" i="1" smtClean="0">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b="0" i="1" smtClean="0">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𝛼</m:t>
                            </m:r>
                          </m:num>
                          <m:den>
                            <m:r>
                              <a:rPr lang="es-419" b="0" i="1" smtClean="0">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𝑧</m:t>
                    </m:r>
                    <m:r>
                      <a:rPr lang="es-419" i="1">
                        <a:latin typeface="Cambria Math" panose="02040503050406030204" pitchFamily="18" charset="0"/>
                        <a:ea typeface="Cambria Math" panose="02040503050406030204" pitchFamily="18" charset="0"/>
                      </a:rPr>
                      <m:t>0,025</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𝐹</m:t>
                    </m:r>
                    <m:d>
                      <m:dPr>
                        <m:ctrlPr>
                          <a:rPr lang="es-419" i="1">
                            <a:latin typeface="Cambria Math" panose="02040503050406030204" pitchFamily="18" charset="0"/>
                            <a:ea typeface="Cambria Math" panose="02040503050406030204" pitchFamily="18" charset="0"/>
                          </a:rPr>
                        </m:ctrlPr>
                      </m:dPr>
                      <m:e>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a:latin typeface="Cambria Math" panose="02040503050406030204" pitchFamily="18" charset="0"/>
                        <a:ea typeface="Cambria Math" panose="02040503050406030204" pitchFamily="18" charset="0"/>
                      </a:rPr>
                      <m:t>=0,975</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VE" b="0" i="1" smtClean="0">
                        <a:latin typeface="Cambria Math" panose="02040503050406030204" pitchFamily="18" charset="0"/>
                        <a:ea typeface="Cambria Math" panose="02040503050406030204" pitchFamily="18" charset="0"/>
                      </a:rPr>
                      <m:t>𝑧</m:t>
                    </m:r>
                    <m:r>
                      <a:rPr lang="es-419" i="1">
                        <a:latin typeface="Cambria Math" panose="02040503050406030204" pitchFamily="18" charset="0"/>
                        <a:ea typeface="Cambria Math" panose="02040503050406030204" pitchFamily="18" charset="0"/>
                      </a:rPr>
                      <m:t>=1,96</m:t>
                    </m:r>
                  </m:oMath>
                </a14:m>
                <a:endParaRPr lang="es-419" dirty="0">
                  <a:ea typeface="Cambria Math" panose="02040503050406030204" pitchFamily="18" charset="0"/>
                </a:endParaRPr>
              </a:p>
              <a:p>
                <a:pPr>
                  <a:lnSpc>
                    <a:spcPct val="150000"/>
                  </a:lnSpc>
                </a:pPr>
                <a:r>
                  <a:rPr lang="es-419" dirty="0">
                    <a:ea typeface="Cambria Math" panose="02040503050406030204" pitchFamily="18" charset="0"/>
                  </a:rPr>
                  <a:t>El intervalo para 95% de confianza es entonces es </a:t>
                </a:r>
                <a14:m>
                  <m:oMath xmlns:m="http://schemas.openxmlformats.org/officeDocument/2006/math">
                    <m:acc>
                      <m:accPr>
                        <m:chr m:val="̅"/>
                        <m:ctrlPr>
                          <a:rPr lang="es-419" i="1" dirty="0" smtClean="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1,96</m:t>
                        </m:r>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a14:m>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80"/>
                </a:stretch>
              </a:blipFill>
            </p:spPr>
            <p:txBody>
              <a:bodyPr/>
              <a:lstStyle/>
              <a:p>
                <a:r>
                  <a:rPr lang="es-VE">
                    <a:noFill/>
                  </a:rPr>
                  <a:t> </a:t>
                </a:r>
              </a:p>
            </p:txBody>
          </p:sp>
        </mc:Fallback>
      </mc:AlternateContent>
    </p:spTree>
    <p:extLst>
      <p:ext uri="{BB962C8B-B14F-4D97-AF65-F5344CB8AC3E}">
        <p14:creationId xmlns:p14="http://schemas.microsoft.com/office/powerpoint/2010/main" val="13972246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Un ejemplo con datos</a:t>
            </a:r>
            <a:endParaRPr lang="en-US" dirty="0"/>
          </a:p>
        </p:txBody>
      </p:sp>
      <p:pic>
        <p:nvPicPr>
          <p:cNvPr id="5122" name="Picture 2">
            <a:extLst>
              <a:ext uri="{FF2B5EF4-FFF2-40B4-BE49-F238E27FC236}">
                <a16:creationId xmlns:a16="http://schemas.microsoft.com/office/drawing/2014/main" id="{04C8C98D-82DE-4B13-9DE7-B1092ADE0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6095" y="891000"/>
            <a:ext cx="8599809" cy="507600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13877F4-CBF1-4BF5-B698-689FE751D4AF}"/>
              </a:ext>
            </a:extLst>
          </p:cNvPr>
          <p:cNvSpPr txBox="1"/>
          <p:nvPr/>
        </p:nvSpPr>
        <p:spPr>
          <a:xfrm>
            <a:off x="8181376" y="5561297"/>
            <a:ext cx="1471878" cy="523220"/>
          </a:xfrm>
          <a:prstGeom prst="rect">
            <a:avLst/>
          </a:prstGeom>
          <a:noFill/>
          <a:ln>
            <a:solidFill>
              <a:schemeClr val="tx1"/>
            </a:solidFill>
          </a:ln>
        </p:spPr>
        <p:txBody>
          <a:bodyPr wrap="none" rtlCol="0">
            <a:spAutoFit/>
          </a:bodyPr>
          <a:lstStyle/>
          <a:p>
            <a:r>
              <a:rPr lang="es-419" sz="2800" i="1" dirty="0">
                <a:solidFill>
                  <a:srgbClr val="003A5D"/>
                </a:solidFill>
                <a:latin typeface="Cambria Math" panose="02040503050406030204" pitchFamily="18" charset="0"/>
                <a:ea typeface="Cambria Math" panose="02040503050406030204" pitchFamily="18" charset="0"/>
              </a:rPr>
              <a:t>Z</a:t>
            </a:r>
            <a:r>
              <a:rPr lang="es-419" sz="2800" dirty="0">
                <a:solidFill>
                  <a:srgbClr val="003A5D"/>
                </a:solidFill>
                <a:latin typeface="Cambria Math" panose="02040503050406030204" pitchFamily="18" charset="0"/>
                <a:ea typeface="Cambria Math" panose="02040503050406030204" pitchFamily="18" charset="0"/>
              </a:rPr>
              <a:t> = 1,96</a:t>
            </a:r>
            <a:endParaRPr lang="es-VE" sz="2800" dirty="0">
              <a:solidFill>
                <a:srgbClr val="003A5D"/>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6849672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BDB2-E18E-4378-A323-B877A523DC2E}"/>
              </a:ext>
            </a:extLst>
          </p:cNvPr>
          <p:cNvSpPr>
            <a:spLocks noGrp="1"/>
          </p:cNvSpPr>
          <p:nvPr>
            <p:ph type="title"/>
          </p:nvPr>
        </p:nvSpPr>
        <p:spPr/>
        <p:txBody>
          <a:bodyPr/>
          <a:lstStyle/>
          <a:p>
            <a:r>
              <a:rPr lang="es-419" dirty="0"/>
              <a:t>Ejemplo 9.1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955348-03DD-42CE-B1C6-3C00C43A3150}"/>
                  </a:ext>
                </a:extLst>
              </p:cNvPr>
              <p:cNvSpPr>
                <a:spLocks noGrp="1"/>
              </p:cNvSpPr>
              <p:nvPr>
                <p:ph idx="1"/>
              </p:nvPr>
            </p:nvSpPr>
            <p:spPr/>
            <p:txBody>
              <a:bodyPr>
                <a:normAutofit/>
              </a:bodyPr>
              <a:lstStyle/>
              <a:p>
                <a:pPr marL="0" indent="0">
                  <a:lnSpc>
                    <a:spcPct val="150000"/>
                  </a:lnSpc>
                  <a:buNone/>
                </a:pPr>
                <a:r>
                  <a:rPr lang="es-419" i="1" dirty="0"/>
                  <a:t>Supongamos que la demanda diaria de cierto bien es una variable aleatoria que se puede considerar aproximadamente normal, con media </a:t>
                </a:r>
                <a14:m>
                  <m:oMath xmlns:m="http://schemas.openxmlformats.org/officeDocument/2006/math">
                    <m:r>
                      <a:rPr lang="es-419" i="1" smtClean="0">
                        <a:latin typeface="Cambria Math" panose="02040503050406030204" pitchFamily="18" charset="0"/>
                        <a:ea typeface="Cambria Math" panose="02040503050406030204" pitchFamily="18" charset="0"/>
                      </a:rPr>
                      <m:t>𝜇</m:t>
                    </m:r>
                  </m:oMath>
                </a14:m>
                <a:r>
                  <a:rPr lang="es-VE" i="1" dirty="0"/>
                  <a:t> desconocida y varianza 16. Para estimar la demanda se toma una muestra de 25 días y se quiere obtener intervalos de confianza de 95%. Supongamos que la media muestral dio 25.</a:t>
                </a:r>
              </a:p>
              <a:p>
                <a:pPr marL="0" indent="0">
                  <a:lnSpc>
                    <a:spcPct val="150000"/>
                  </a:lnSpc>
                  <a:buNone/>
                </a:pPr>
                <a:r>
                  <a:rPr lang="es-VE" i="1" dirty="0"/>
                  <a:t>Calcular primero a mano y luego usando R.</a:t>
                </a:r>
              </a:p>
            </p:txBody>
          </p:sp>
        </mc:Choice>
        <mc:Fallback xmlns="">
          <p:sp>
            <p:nvSpPr>
              <p:cNvPr id="3" name="Content Placeholder 2">
                <a:extLst>
                  <a:ext uri="{FF2B5EF4-FFF2-40B4-BE49-F238E27FC236}">
                    <a16:creationId xmlns:a16="http://schemas.microsoft.com/office/drawing/2014/main" id="{24955348-03DD-42CE-B1C6-3C00C43A3150}"/>
                  </a:ext>
                </a:extLst>
              </p:cNvPr>
              <p:cNvSpPr>
                <a:spLocks noGrp="1" noRot="1" noChangeAspect="1" noMove="1" noResize="1" noEditPoints="1" noAdjustHandles="1" noChangeArrowheads="1" noChangeShapeType="1" noTextEdit="1"/>
              </p:cNvSpPr>
              <p:nvPr>
                <p:ph idx="1"/>
              </p:nvPr>
            </p:nvSpPr>
            <p:spPr>
              <a:blipFill>
                <a:blip r:embed="rId2"/>
                <a:stretch>
                  <a:fillRect l="-1217" r="-1333"/>
                </a:stretch>
              </a:blipFill>
            </p:spPr>
            <p:txBody>
              <a:bodyPr/>
              <a:lstStyle/>
              <a:p>
                <a:r>
                  <a:rPr lang="es-419">
                    <a:noFill/>
                  </a:rPr>
                  <a:t> </a:t>
                </a:r>
              </a:p>
            </p:txBody>
          </p:sp>
        </mc:Fallback>
      </mc:AlternateContent>
    </p:spTree>
    <p:extLst>
      <p:ext uri="{BB962C8B-B14F-4D97-AF65-F5344CB8AC3E}">
        <p14:creationId xmlns:p14="http://schemas.microsoft.com/office/powerpoint/2010/main" val="10212159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Ejemplo 9.1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57003"/>
                <a:ext cx="10515600" cy="5419960"/>
              </a:xfrm>
              <a:solidFill>
                <a:srgbClr val="E7E6E6">
                  <a:alpha val="50196"/>
                </a:srgbClr>
              </a:solidFill>
            </p:spPr>
            <p:txBody>
              <a:bodyPr vert="horz" lIns="91440" tIns="45720" rIns="91440" bIns="45720" rtlCol="0">
                <a:normAutofit fontScale="925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𝑃</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latin typeface="Cambria Math" panose="02040503050406030204" pitchFamily="18" charset="0"/>
                              <a:ea typeface="Cambria Math" panose="02040503050406030204" pitchFamily="18" charset="0"/>
                            </a:rPr>
                            <m:t>≤</m:t>
                          </m:r>
                          <m:f>
                            <m:fPr>
                              <m:ctrlPr>
                                <a:rPr lang="es-419" i="1" dirty="0" smtClean="0">
                                  <a:latin typeface="Cambria Math" panose="02040503050406030204" pitchFamily="18" charset="0"/>
                                  <a:ea typeface="Cambria Math" panose="02040503050406030204" pitchFamily="18" charset="0"/>
                                </a:rPr>
                              </m:ctrlPr>
                            </m:fPr>
                            <m:num>
                              <m:d>
                                <m:dPr>
                                  <m:ctrlPr>
                                    <a:rPr lang="es-419" b="0" i="1" dirty="0" smtClean="0">
                                      <a:latin typeface="Cambria Math" panose="02040503050406030204" pitchFamily="18" charset="0"/>
                                      <a:ea typeface="Cambria Math" panose="02040503050406030204" pitchFamily="18" charset="0"/>
                                    </a:rPr>
                                  </m:ctrlPr>
                                </m:dPr>
                                <m:e>
                                  <m:acc>
                                    <m:accPr>
                                      <m:chr m:val="̅"/>
                                      <m:ctrlPr>
                                        <a:rPr lang="es-419" b="0" i="1" dirty="0" smtClean="0">
                                          <a:latin typeface="Cambria Math" panose="02040503050406030204" pitchFamily="18" charset="0"/>
                                          <a:ea typeface="Cambria Math" panose="02040503050406030204" pitchFamily="18" charset="0"/>
                                        </a:rPr>
                                      </m:ctrlPr>
                                    </m:accPr>
                                    <m:e>
                                      <m:r>
                                        <a:rPr lang="es-419" b="0" i="1" dirty="0" smtClean="0">
                                          <a:latin typeface="Cambria Math" panose="02040503050406030204" pitchFamily="18" charset="0"/>
                                          <a:ea typeface="Cambria Math" panose="02040503050406030204" pitchFamily="18" charset="0"/>
                                        </a:rPr>
                                        <m:t>𝑋</m:t>
                                      </m:r>
                                    </m:e>
                                  </m:acc>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𝜇</m:t>
                                  </m:r>
                                </m:e>
                              </m:d>
                              <m:rad>
                                <m:radPr>
                                  <m:degHide m:val="on"/>
                                  <m:ctrlPr>
                                    <a:rPr lang="es-419" b="0" i="1" dirty="0" smtClean="0">
                                      <a:latin typeface="Cambria Math" panose="02040503050406030204" pitchFamily="18" charset="0"/>
                                      <a:ea typeface="Cambria Math" panose="02040503050406030204" pitchFamily="18" charset="0"/>
                                    </a:rPr>
                                  </m:ctrlPr>
                                </m:radPr>
                                <m:deg/>
                                <m:e>
                                  <m:r>
                                    <a:rPr lang="es-419" b="0" i="1" dirty="0" smtClean="0">
                                      <a:latin typeface="Cambria Math" panose="02040503050406030204" pitchFamily="18" charset="0"/>
                                      <a:ea typeface="Cambria Math" panose="02040503050406030204" pitchFamily="18" charset="0"/>
                                    </a:rPr>
                                    <m:t>𝑛</m:t>
                                  </m:r>
                                </m:e>
                              </m:rad>
                            </m:num>
                            <m:den>
                              <m:r>
                                <a:rPr lang="es-419" i="1" dirty="0" smtClean="0">
                                  <a:latin typeface="Cambria Math" panose="02040503050406030204" pitchFamily="18" charset="0"/>
                                  <a:ea typeface="Cambria Math" panose="02040503050406030204" pitchFamily="18" charset="0"/>
                                </a:rPr>
                                <m:t>𝜎</m:t>
                              </m:r>
                            </m:den>
                          </m:f>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𝑃</m:t>
                      </m:r>
                      <m:d>
                        <m:dPr>
                          <m:ctrlPr>
                            <a:rPr lang="es-419" b="0" i="1" smtClean="0">
                              <a:latin typeface="Cambria Math" panose="02040503050406030204" pitchFamily="18" charset="0"/>
                              <a:ea typeface="Cambria Math" panose="02040503050406030204" pitchFamily="18" charset="0"/>
                            </a:rPr>
                          </m:ctrlPr>
                        </m:dPr>
                        <m:e>
                          <m:r>
                            <a:rPr lang="es-419" b="0" i="1" smtClean="0">
                              <a:solidFill>
                                <a:srgbClr val="003A5D"/>
                              </a:solidFill>
                              <a:latin typeface="Cambria Math" panose="02040503050406030204" pitchFamily="18" charset="0"/>
                              <a:ea typeface="Cambria Math" panose="02040503050406030204" pitchFamily="18" charset="0"/>
                            </a:rPr>
                            <m:t>−1,96</m:t>
                          </m:r>
                          <m:r>
                            <a:rPr lang="es-419" i="1" smtClean="0">
                              <a:latin typeface="Cambria Math" panose="02040503050406030204" pitchFamily="18" charset="0"/>
                              <a:ea typeface="Cambria Math" panose="02040503050406030204" pitchFamily="18" charset="0"/>
                            </a:rPr>
                            <m:t>≤</m:t>
                          </m:r>
                          <m:f>
                            <m:fPr>
                              <m:ctrlPr>
                                <a:rPr lang="es-419" i="1" dirty="0" smtClean="0">
                                  <a:latin typeface="Cambria Math" panose="02040503050406030204" pitchFamily="18" charset="0"/>
                                  <a:ea typeface="Cambria Math" panose="02040503050406030204" pitchFamily="18" charset="0"/>
                                </a:rPr>
                              </m:ctrlPr>
                            </m:fPr>
                            <m:num>
                              <m:d>
                                <m:dPr>
                                  <m:ctrlPr>
                                    <a:rPr lang="es-419" b="0" i="1" dirty="0" smtClean="0">
                                      <a:latin typeface="Cambria Math" panose="02040503050406030204" pitchFamily="18" charset="0"/>
                                      <a:ea typeface="Cambria Math" panose="02040503050406030204" pitchFamily="18" charset="0"/>
                                    </a:rPr>
                                  </m:ctrlPr>
                                </m:dPr>
                                <m:e>
                                  <m:acc>
                                    <m:accPr>
                                      <m:chr m:val="̅"/>
                                      <m:ctrlPr>
                                        <a:rPr lang="es-419" b="0" i="1" dirty="0" smtClean="0">
                                          <a:latin typeface="Cambria Math" panose="02040503050406030204" pitchFamily="18" charset="0"/>
                                          <a:ea typeface="Cambria Math" panose="02040503050406030204" pitchFamily="18" charset="0"/>
                                        </a:rPr>
                                      </m:ctrlPr>
                                    </m:accPr>
                                    <m:e>
                                      <m:r>
                                        <a:rPr lang="es-419" b="0" i="1" dirty="0" smtClean="0">
                                          <a:latin typeface="Cambria Math" panose="02040503050406030204" pitchFamily="18" charset="0"/>
                                          <a:ea typeface="Cambria Math" panose="02040503050406030204" pitchFamily="18" charset="0"/>
                                        </a:rPr>
                                        <m:t>𝑋</m:t>
                                      </m:r>
                                    </m:e>
                                  </m:acc>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𝜇</m:t>
                                  </m:r>
                                </m:e>
                              </m:d>
                              <m:r>
                                <a:rPr lang="es-419" b="0" i="1" smtClean="0">
                                  <a:solidFill>
                                    <a:srgbClr val="003A5D"/>
                                  </a:solidFill>
                                  <a:latin typeface="Cambria Math" panose="02040503050406030204" pitchFamily="18" charset="0"/>
                                  <a:ea typeface="Cambria Math" panose="02040503050406030204" pitchFamily="18" charset="0"/>
                                </a:rPr>
                                <m:t>5</m:t>
                              </m:r>
                            </m:num>
                            <m:den>
                              <m:r>
                                <a:rPr lang="es-419" b="0" i="1" dirty="0" smtClean="0">
                                  <a:solidFill>
                                    <a:srgbClr val="003A5D"/>
                                  </a:solidFill>
                                  <a:latin typeface="Cambria Math" panose="02040503050406030204" pitchFamily="18" charset="0"/>
                                  <a:ea typeface="Cambria Math" panose="02040503050406030204" pitchFamily="18" charset="0"/>
                                </a:rPr>
                                <m:t>4</m:t>
                              </m:r>
                            </m:den>
                          </m:f>
                          <m:r>
                            <a:rPr lang="es-419" i="1" smtClean="0">
                              <a:latin typeface="Cambria Math" panose="02040503050406030204" pitchFamily="18" charset="0"/>
                              <a:ea typeface="Cambria Math" panose="02040503050406030204" pitchFamily="18" charset="0"/>
                            </a:rPr>
                            <m:t>≤</m:t>
                          </m:r>
                          <m:r>
                            <a:rPr lang="es-419" b="0" i="1" smtClean="0">
                              <a:solidFill>
                                <a:srgbClr val="003A5D"/>
                              </a:solidFill>
                              <a:latin typeface="Cambria Math" panose="02040503050406030204" pitchFamily="18" charset="0"/>
                              <a:ea typeface="Cambria Math" panose="02040503050406030204" pitchFamily="18" charset="0"/>
                            </a:rPr>
                            <m:t>1,96</m:t>
                          </m:r>
                        </m:e>
                      </m:d>
                      <m:r>
                        <a:rPr lang="es-419" b="0" i="1" smtClean="0">
                          <a:latin typeface="Cambria Math" panose="02040503050406030204" pitchFamily="18" charset="0"/>
                          <a:ea typeface="Cambria Math" panose="02040503050406030204" pitchFamily="18" charset="0"/>
                        </a:rPr>
                        <m:t>=</m:t>
                      </m:r>
                      <m:r>
                        <a:rPr lang="es-419" b="0" i="1" smtClean="0">
                          <a:solidFill>
                            <a:srgbClr val="003A5D"/>
                          </a:solidFill>
                          <a:latin typeface="Cambria Math" panose="02040503050406030204" pitchFamily="18" charset="0"/>
                          <a:ea typeface="Cambria Math" panose="02040503050406030204" pitchFamily="18" charset="0"/>
                        </a:rPr>
                        <m:t>0,95</m:t>
                      </m:r>
                    </m:oMath>
                  </m:oMathPara>
                </a14:m>
                <a:endParaRPr lang="es-419" b="0" dirty="0">
                  <a:solidFill>
                    <a:srgbClr val="003A5D"/>
                  </a:solidFill>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smtClean="0">
                                  <a:solidFill>
                                    <a:schemeClr val="tx1"/>
                                  </a:solidFill>
                                  <a:latin typeface="Cambria Math" panose="02040503050406030204" pitchFamily="18" charset="0"/>
                                  <a:ea typeface="Cambria Math" panose="02040503050406030204" pitchFamily="18" charset="0"/>
                                </a:rPr>
                              </m:ctrlPr>
                            </m:fPr>
                            <m:num>
                              <m:r>
                                <a:rPr lang="es-419" i="1">
                                  <a:solidFill>
                                    <a:schemeClr val="tx1"/>
                                  </a:solidFill>
                                  <a:latin typeface="Cambria Math" panose="02040503050406030204" pitchFamily="18" charset="0"/>
                                  <a:ea typeface="Cambria Math" panose="02040503050406030204" pitchFamily="18" charset="0"/>
                                </a:rPr>
                                <m:t>1,96</m:t>
                              </m:r>
                              <m:r>
                                <a:rPr lang="es-419" b="0" i="1" smtClean="0">
                                  <a:solidFill>
                                    <a:schemeClr val="tx1"/>
                                  </a:solidFill>
                                  <a:latin typeface="Cambria Math" panose="02040503050406030204" pitchFamily="18" charset="0"/>
                                  <a:ea typeface="Cambria Math" panose="02040503050406030204" pitchFamily="18" charset="0"/>
                                </a:rPr>
                                <m:t>∗4</m:t>
                              </m:r>
                            </m:num>
                            <m:den>
                              <m:r>
                                <a:rPr lang="es-419" b="0" i="1" smtClean="0">
                                  <a:solidFill>
                                    <a:schemeClr val="tx1"/>
                                  </a:solidFill>
                                  <a:latin typeface="Cambria Math" panose="02040503050406030204" pitchFamily="18" charset="0"/>
                                  <a:ea typeface="Cambria Math" panose="02040503050406030204" pitchFamily="18" charset="0"/>
                                </a:rPr>
                                <m:t>5</m:t>
                              </m:r>
                            </m:den>
                          </m:f>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dirty="0"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1,96∗4</m:t>
                              </m:r>
                            </m:num>
                            <m:den>
                              <m:r>
                                <a:rPr lang="es-419" i="1">
                                  <a:latin typeface="Cambria Math" panose="02040503050406030204" pitchFamily="18" charset="0"/>
                                  <a:ea typeface="Cambria Math" panose="02040503050406030204" pitchFamily="18" charset="0"/>
                                </a:rPr>
                                <m:t>5</m:t>
                              </m:r>
                            </m:den>
                          </m:f>
                        </m:e>
                      </m:d>
                      <m:r>
                        <a:rPr lang="es-419" b="0" i="1" dirty="0" smtClean="0">
                          <a:latin typeface="Cambria Math" panose="02040503050406030204" pitchFamily="18" charset="0"/>
                          <a:ea typeface="Cambria Math" panose="02040503050406030204" pitchFamily="18" charset="0"/>
                        </a:rPr>
                        <m:t>=0,95</m:t>
                      </m:r>
                    </m:oMath>
                  </m:oMathPara>
                </a14:m>
                <a:endParaRPr lang="es-419" b="0"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25</m:t>
                          </m:r>
                          <m:r>
                            <a:rPr lang="es-419" i="1">
                              <a:latin typeface="Cambria Math" panose="02040503050406030204" pitchFamily="18" charset="0"/>
                              <a:ea typeface="Cambria Math" panose="02040503050406030204" pitchFamily="18" charset="0"/>
                            </a:rPr>
                            <m:t>−1</m:t>
                          </m:r>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56</m:t>
                          </m:r>
                          <m:r>
                            <a:rPr lang="es-419" b="0" i="1" smtClean="0">
                              <a:latin typeface="Cambria Math" panose="02040503050406030204" pitchFamily="18" charset="0"/>
                              <a:ea typeface="Cambria Math" panose="02040503050406030204" pitchFamily="18" charset="0"/>
                            </a:rPr>
                            <m:t>8</m:t>
                          </m:r>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≤25+1,568</m:t>
                          </m:r>
                        </m:e>
                      </m:d>
                      <m:r>
                        <a:rPr lang="es-419" b="0" i="1" dirty="0" smtClean="0">
                          <a:latin typeface="Cambria Math" panose="02040503050406030204" pitchFamily="18" charset="0"/>
                          <a:ea typeface="Cambria Math" panose="02040503050406030204" pitchFamily="18" charset="0"/>
                        </a:rPr>
                        <m:t>=0,95</m:t>
                      </m:r>
                    </m:oMath>
                  </m:oMathPara>
                </a14:m>
                <a:endParaRPr lang="es-419" b="0"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[23,432;26,568]</m:t>
                      </m:r>
                    </m:oMath>
                  </m:oMathPara>
                </a14:m>
                <a:endParaRPr lang="es-419" dirty="0">
                  <a:ea typeface="Cambria Math" panose="02040503050406030204" pitchFamily="18" charset="0"/>
                </a:endParaRPr>
              </a:p>
              <a:p>
                <a:pPr marL="0" indent="0">
                  <a:lnSpc>
                    <a:spcPct val="150000"/>
                  </a:lnSpc>
                  <a:buNone/>
                </a:pPr>
                <a:endParaRPr lang="es-419" dirty="0">
                  <a:ea typeface="Cambria Math" panose="02040503050406030204" pitchFamily="18" charset="0"/>
                </a:endParaRPr>
              </a:p>
              <a:p>
                <a:pPr marL="0" indent="0">
                  <a:lnSpc>
                    <a:spcPct val="150000"/>
                  </a:lnSpc>
                  <a:buNone/>
                </a:pPr>
                <a:endParaRPr lang="es-419" dirty="0">
                  <a:ea typeface="Cambria Math" panose="02040503050406030204" pitchFamily="18" charset="0"/>
                </a:endParaRPr>
              </a:p>
              <a:p>
                <a:pPr marL="0" indent="0">
                  <a:buNone/>
                </a:pPr>
                <a:endParaRPr lang="es-419" dirty="0">
                  <a:ea typeface="Cambria Math" panose="02040503050406030204" pitchFamily="18" charset="0"/>
                </a:endParaRPr>
              </a:p>
              <a:p>
                <a:pPr marL="0" indent="0">
                  <a:buNone/>
                </a:pPr>
                <a:endParaRPr lang="es-ES" dirty="0">
                  <a:latin typeface="Consolas" panose="020B0609020204030204" pitchFamily="49" charset="0"/>
                </a:endParaRPr>
              </a:p>
            </p:txBody>
          </p:sp>
        </mc:Choice>
        <mc:Fallback xmlns="">
          <p:sp>
            <p:nvSpPr>
              <p:cNvPr id="3" name="Content Placeholder 2">
                <a:extLst>
                  <a:ext uri="{FF2B5EF4-FFF2-40B4-BE49-F238E27FC236}">
                    <a16:creationId xmlns:a16="http://schemas.microsoft.com/office/drawing/2014/main" id="{5FF01FCA-855B-4DA4-B864-3D93B9A664A7}"/>
                  </a:ext>
                </a:extLst>
              </p:cNvPr>
              <p:cNvSpPr>
                <a:spLocks noGrp="1" noRot="1" noChangeAspect="1" noMove="1" noResize="1" noEditPoints="1" noAdjustHandles="1" noChangeArrowheads="1" noChangeShapeType="1" noTextEdit="1"/>
              </p:cNvSpPr>
              <p:nvPr>
                <p:ph idx="1"/>
              </p:nvPr>
            </p:nvSpPr>
            <p:spPr>
              <a:xfrm>
                <a:off x="838200" y="757003"/>
                <a:ext cx="10515600" cy="5419960"/>
              </a:xfrm>
              <a:blipFill>
                <a:blip r:embed="rId2"/>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9332414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Ejemplo 9.1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57003"/>
            <a:ext cx="10515600" cy="5419960"/>
          </a:xfrm>
          <a:solidFill>
            <a:srgbClr val="E7E6E6">
              <a:alpha val="50196"/>
            </a:srgbClr>
          </a:solidFill>
        </p:spPr>
        <p:txBody>
          <a:bodyPr vert="horz" lIns="91440" tIns="45720" rIns="91440" bIns="45720" rtlCol="0">
            <a:normAutofit/>
          </a:bodyPr>
          <a:lstStyle/>
          <a:p>
            <a:pPr marL="0" indent="0">
              <a:buNone/>
            </a:pPr>
            <a:r>
              <a:rPr lang="es-ES" sz="2000" dirty="0">
                <a:latin typeface="Consolas" panose="020B0609020204030204" pitchFamily="49" charset="0"/>
              </a:rPr>
              <a:t>&gt; #Reorganizando variables</a:t>
            </a:r>
          </a:p>
          <a:p>
            <a:pPr marL="0" indent="0">
              <a:buNone/>
            </a:pPr>
            <a:r>
              <a:rPr lang="es-ES" sz="2000" dirty="0">
                <a:latin typeface="Consolas" panose="020B0609020204030204" pitchFamily="49" charset="0"/>
              </a:rPr>
              <a:t>&gt; n &lt;- 25</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var_p</a:t>
            </a:r>
            <a:r>
              <a:rPr lang="es-ES" sz="2000" dirty="0">
                <a:latin typeface="Consolas" panose="020B0609020204030204" pitchFamily="49" charset="0"/>
              </a:rPr>
              <a:t> &lt;- 16</a:t>
            </a:r>
          </a:p>
          <a:p>
            <a:pPr marL="0" indent="0">
              <a:buNone/>
            </a:pPr>
            <a:r>
              <a:rPr lang="es-ES" sz="2000" dirty="0">
                <a:latin typeface="Consolas" panose="020B0609020204030204" pitchFamily="49" charset="0"/>
              </a:rPr>
              <a:t>&gt; a &lt;- 1 - 0.95</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x_hat</a:t>
            </a:r>
            <a:r>
              <a:rPr lang="es-ES" sz="2000" dirty="0">
                <a:latin typeface="Consolas" panose="020B0609020204030204" pitchFamily="49" charset="0"/>
              </a:rPr>
              <a:t> &lt;- 25</a:t>
            </a:r>
          </a:p>
          <a:p>
            <a:pPr marL="0" indent="0">
              <a:buNone/>
            </a:pPr>
            <a:r>
              <a:rPr lang="es-ES" sz="2000" dirty="0">
                <a:latin typeface="Consolas" panose="020B0609020204030204" pitchFamily="49" charset="0"/>
              </a:rPr>
              <a:t>    </a:t>
            </a:r>
          </a:p>
          <a:p>
            <a:pPr marL="0" indent="0">
              <a:buNone/>
            </a:pPr>
            <a:r>
              <a:rPr lang="es-ES" sz="2000" dirty="0">
                <a:latin typeface="Consolas" panose="020B0609020204030204" pitchFamily="49" charset="0"/>
              </a:rPr>
              <a:t>&gt; c(inferior = </a:t>
            </a:r>
            <a:r>
              <a:rPr lang="es-ES" sz="2000" dirty="0" err="1">
                <a:latin typeface="Consolas" panose="020B0609020204030204" pitchFamily="49" charset="0"/>
              </a:rPr>
              <a:t>x_hat</a:t>
            </a:r>
            <a:r>
              <a:rPr lang="es-ES" sz="2000" dirty="0">
                <a:latin typeface="Consolas" panose="020B0609020204030204" pitchFamily="49" charset="0"/>
              </a:rPr>
              <a:t> - </a:t>
            </a:r>
            <a:r>
              <a:rPr lang="es-ES" sz="2000" dirty="0" err="1">
                <a:latin typeface="Consolas" panose="020B0609020204030204" pitchFamily="49" charset="0"/>
              </a:rPr>
              <a:t>qnorm</a:t>
            </a:r>
            <a:r>
              <a:rPr lang="es-ES" sz="2000" dirty="0">
                <a:latin typeface="Consolas" panose="020B0609020204030204" pitchFamily="49" charset="0"/>
              </a:rPr>
              <a:t>(a/2, </a:t>
            </a:r>
            <a:r>
              <a:rPr lang="es-ES" sz="2000" dirty="0" err="1">
                <a:latin typeface="Consolas" panose="020B0609020204030204" pitchFamily="49" charset="0"/>
              </a:rPr>
              <a:t>lower.tail</a:t>
            </a:r>
            <a:r>
              <a:rPr lang="es-ES" sz="2000" dirty="0">
                <a:latin typeface="Consolas" panose="020B0609020204030204" pitchFamily="49" charset="0"/>
              </a:rPr>
              <a:t> = FALSE)*</a:t>
            </a:r>
            <a:r>
              <a:rPr lang="es-ES" sz="2000" dirty="0" err="1">
                <a:latin typeface="Consolas" panose="020B0609020204030204" pitchFamily="49" charset="0"/>
              </a:rPr>
              <a:t>sqrt</a:t>
            </a:r>
            <a:r>
              <a:rPr lang="es-ES" sz="2000" dirty="0">
                <a:latin typeface="Consolas" panose="020B0609020204030204" pitchFamily="49" charset="0"/>
              </a:rPr>
              <a:t>(</a:t>
            </a:r>
            <a:r>
              <a:rPr lang="es-ES" sz="2000" dirty="0" err="1">
                <a:latin typeface="Consolas" panose="020B0609020204030204" pitchFamily="49" charset="0"/>
              </a:rPr>
              <a:t>var_p</a:t>
            </a:r>
            <a:r>
              <a:rPr lang="es-ES" sz="2000" dirty="0">
                <a:latin typeface="Consolas" panose="020B0609020204030204" pitchFamily="49" charset="0"/>
              </a:rPr>
              <a:t>/n), </a:t>
            </a:r>
          </a:p>
          <a:p>
            <a:pPr marL="0" indent="0">
              <a:buNone/>
            </a:pPr>
            <a:r>
              <a:rPr lang="es-ES" sz="2000" dirty="0">
                <a:latin typeface="Consolas" panose="020B0609020204030204" pitchFamily="49" charset="0"/>
              </a:rPr>
              <a:t>+ superior = </a:t>
            </a:r>
            <a:r>
              <a:rPr lang="es-ES" sz="2000" dirty="0" err="1">
                <a:latin typeface="Consolas" panose="020B0609020204030204" pitchFamily="49" charset="0"/>
              </a:rPr>
              <a:t>x_hat</a:t>
            </a:r>
            <a:r>
              <a:rPr lang="es-ES" sz="2000" dirty="0">
                <a:latin typeface="Consolas" panose="020B0609020204030204" pitchFamily="49" charset="0"/>
              </a:rPr>
              <a:t> + </a:t>
            </a:r>
            <a:r>
              <a:rPr lang="es-ES" sz="2000" dirty="0" err="1">
                <a:latin typeface="Consolas" panose="020B0609020204030204" pitchFamily="49" charset="0"/>
              </a:rPr>
              <a:t>qnorm</a:t>
            </a:r>
            <a:r>
              <a:rPr lang="es-ES" sz="2000" dirty="0">
                <a:latin typeface="Consolas" panose="020B0609020204030204" pitchFamily="49" charset="0"/>
              </a:rPr>
              <a:t>(a/2, </a:t>
            </a:r>
            <a:r>
              <a:rPr lang="es-ES" sz="2000" dirty="0" err="1">
                <a:latin typeface="Consolas" panose="020B0609020204030204" pitchFamily="49" charset="0"/>
              </a:rPr>
              <a:t>lower.tail</a:t>
            </a:r>
            <a:r>
              <a:rPr lang="es-ES" sz="2000" dirty="0">
                <a:latin typeface="Consolas" panose="020B0609020204030204" pitchFamily="49" charset="0"/>
              </a:rPr>
              <a:t> = FALSE)*</a:t>
            </a:r>
            <a:r>
              <a:rPr lang="es-ES" sz="2000" dirty="0" err="1">
                <a:latin typeface="Consolas" panose="020B0609020204030204" pitchFamily="49" charset="0"/>
              </a:rPr>
              <a:t>sqrt</a:t>
            </a:r>
            <a:r>
              <a:rPr lang="es-ES" sz="2000" dirty="0">
                <a:latin typeface="Consolas" panose="020B0609020204030204" pitchFamily="49" charset="0"/>
              </a:rPr>
              <a:t>(</a:t>
            </a:r>
            <a:r>
              <a:rPr lang="es-ES" sz="2000" dirty="0" err="1">
                <a:latin typeface="Consolas" panose="020B0609020204030204" pitchFamily="49" charset="0"/>
              </a:rPr>
              <a:t>var_p</a:t>
            </a:r>
            <a:r>
              <a:rPr lang="es-ES" sz="2000" dirty="0">
                <a:latin typeface="Consolas" panose="020B0609020204030204" pitchFamily="49" charset="0"/>
              </a:rPr>
              <a:t>/n))</a:t>
            </a:r>
          </a:p>
          <a:p>
            <a:pPr marL="0" indent="0">
              <a:buNone/>
            </a:pPr>
            <a:r>
              <a:rPr lang="es-ES" sz="2000" dirty="0">
                <a:highlight>
                  <a:srgbClr val="FFFF00"/>
                </a:highlight>
                <a:latin typeface="Consolas" panose="020B0609020204030204" pitchFamily="49" charset="0"/>
              </a:rPr>
              <a:t>inferior superior</a:t>
            </a:r>
          </a:p>
          <a:p>
            <a:pPr marL="0" indent="0">
              <a:buNone/>
            </a:pPr>
            <a:r>
              <a:rPr lang="es-ES" sz="2000" dirty="0">
                <a:highlight>
                  <a:srgbClr val="FFFF00"/>
                </a:highlight>
                <a:latin typeface="Consolas" panose="020B0609020204030204" pitchFamily="49" charset="0"/>
              </a:rPr>
              <a:t>23.43203 26.56797 </a:t>
            </a:r>
          </a:p>
        </p:txBody>
      </p:sp>
    </p:spTree>
    <p:extLst>
      <p:ext uri="{BB962C8B-B14F-4D97-AF65-F5344CB8AC3E}">
        <p14:creationId xmlns:p14="http://schemas.microsoft.com/office/powerpoint/2010/main" val="12246636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Ejemplo 9.1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57003"/>
            <a:ext cx="10515600" cy="5419960"/>
          </a:xfrm>
          <a:solidFill>
            <a:srgbClr val="E7E6E6">
              <a:alpha val="50196"/>
            </a:srgbClr>
          </a:solidFill>
        </p:spPr>
        <p:txBody>
          <a:bodyPr vert="horz" lIns="91440" tIns="45720" rIns="91440" bIns="45720" rtlCol="0">
            <a:normAutofit/>
          </a:bodyPr>
          <a:lstStyle/>
          <a:p>
            <a:pPr marL="0" indent="0">
              <a:buNone/>
            </a:pPr>
            <a:r>
              <a:rPr lang="es-ES" sz="2000" dirty="0">
                <a:latin typeface="Consolas" panose="020B0609020204030204" pitchFamily="49" charset="0"/>
              </a:rPr>
              <a:t>&gt; #Alternativamente</a:t>
            </a:r>
          </a:p>
          <a:p>
            <a:pPr marL="0" indent="0">
              <a:buNone/>
            </a:pPr>
            <a:r>
              <a:rPr lang="es-ES" sz="2000" dirty="0">
                <a:latin typeface="Consolas" panose="020B0609020204030204" pitchFamily="49" charset="0"/>
              </a:rPr>
              <a:t>&gt; c(inferior = </a:t>
            </a:r>
            <a:r>
              <a:rPr lang="es-ES" sz="2000" dirty="0" err="1">
                <a:latin typeface="Consolas" panose="020B0609020204030204" pitchFamily="49" charset="0"/>
              </a:rPr>
              <a:t>x_hat</a:t>
            </a:r>
            <a:r>
              <a:rPr lang="es-ES" sz="2000" dirty="0">
                <a:latin typeface="Consolas" panose="020B0609020204030204" pitchFamily="49" charset="0"/>
              </a:rPr>
              <a:t> - </a:t>
            </a:r>
            <a:r>
              <a:rPr lang="es-ES" sz="2000" dirty="0" err="1">
                <a:latin typeface="Consolas" panose="020B0609020204030204" pitchFamily="49" charset="0"/>
              </a:rPr>
              <a:t>qnorm</a:t>
            </a:r>
            <a:r>
              <a:rPr lang="es-ES" sz="2000" dirty="0">
                <a:latin typeface="Consolas" panose="020B0609020204030204" pitchFamily="49" charset="0"/>
              </a:rPr>
              <a:t>(1-a/2)*</a:t>
            </a:r>
            <a:r>
              <a:rPr lang="es-ES" sz="2000" dirty="0" err="1">
                <a:latin typeface="Consolas" panose="020B0609020204030204" pitchFamily="49" charset="0"/>
              </a:rPr>
              <a:t>sqrt</a:t>
            </a:r>
            <a:r>
              <a:rPr lang="es-ES" sz="2000" dirty="0">
                <a:latin typeface="Consolas" panose="020B0609020204030204" pitchFamily="49" charset="0"/>
              </a:rPr>
              <a:t>(</a:t>
            </a:r>
            <a:r>
              <a:rPr lang="es-ES" sz="2000" dirty="0" err="1">
                <a:latin typeface="Consolas" panose="020B0609020204030204" pitchFamily="49" charset="0"/>
              </a:rPr>
              <a:t>var_p</a:t>
            </a:r>
            <a:r>
              <a:rPr lang="es-ES" sz="2000" dirty="0">
                <a:latin typeface="Consolas" panose="020B0609020204030204" pitchFamily="49" charset="0"/>
              </a:rPr>
              <a:t>/n), </a:t>
            </a:r>
          </a:p>
          <a:p>
            <a:pPr marL="0" indent="0">
              <a:buNone/>
            </a:pPr>
            <a:r>
              <a:rPr lang="es-ES" sz="2000" dirty="0">
                <a:latin typeface="Consolas" panose="020B0609020204030204" pitchFamily="49" charset="0"/>
              </a:rPr>
              <a:t>+ superior = </a:t>
            </a:r>
            <a:r>
              <a:rPr lang="es-ES" sz="2000" dirty="0" err="1">
                <a:latin typeface="Consolas" panose="020B0609020204030204" pitchFamily="49" charset="0"/>
              </a:rPr>
              <a:t>x_hat</a:t>
            </a:r>
            <a:r>
              <a:rPr lang="es-ES" sz="2000" dirty="0">
                <a:latin typeface="Consolas" panose="020B0609020204030204" pitchFamily="49" charset="0"/>
              </a:rPr>
              <a:t> + </a:t>
            </a:r>
            <a:r>
              <a:rPr lang="es-ES" sz="2000" dirty="0" err="1">
                <a:latin typeface="Consolas" panose="020B0609020204030204" pitchFamily="49" charset="0"/>
              </a:rPr>
              <a:t>qnorm</a:t>
            </a:r>
            <a:r>
              <a:rPr lang="es-ES" sz="2000" dirty="0">
                <a:latin typeface="Consolas" panose="020B0609020204030204" pitchFamily="49" charset="0"/>
              </a:rPr>
              <a:t>(1-a/2)*</a:t>
            </a:r>
            <a:r>
              <a:rPr lang="es-ES" sz="2000" dirty="0" err="1">
                <a:latin typeface="Consolas" panose="020B0609020204030204" pitchFamily="49" charset="0"/>
              </a:rPr>
              <a:t>sqrt</a:t>
            </a:r>
            <a:r>
              <a:rPr lang="es-ES" sz="2000" dirty="0">
                <a:latin typeface="Consolas" panose="020B0609020204030204" pitchFamily="49" charset="0"/>
              </a:rPr>
              <a:t>(</a:t>
            </a:r>
            <a:r>
              <a:rPr lang="es-ES" sz="2000" dirty="0" err="1">
                <a:latin typeface="Consolas" panose="020B0609020204030204" pitchFamily="49" charset="0"/>
              </a:rPr>
              <a:t>var_p</a:t>
            </a:r>
            <a:r>
              <a:rPr lang="es-ES" sz="2000" dirty="0">
                <a:latin typeface="Consolas" panose="020B0609020204030204" pitchFamily="49" charset="0"/>
              </a:rPr>
              <a:t>/n))</a:t>
            </a:r>
            <a:endParaRPr lang="es-ES" sz="2000" dirty="0">
              <a:highlight>
                <a:srgbClr val="FFFF00"/>
              </a:highlight>
              <a:latin typeface="Consolas" panose="020B0609020204030204" pitchFamily="49" charset="0"/>
            </a:endParaRPr>
          </a:p>
          <a:p>
            <a:pPr marL="0" indent="0">
              <a:buNone/>
            </a:pPr>
            <a:r>
              <a:rPr lang="es-ES" sz="2000" dirty="0">
                <a:highlight>
                  <a:srgbClr val="FFFF00"/>
                </a:highlight>
                <a:latin typeface="Consolas" panose="020B0609020204030204" pitchFamily="49" charset="0"/>
              </a:rPr>
              <a:t>inferior superior </a:t>
            </a:r>
          </a:p>
          <a:p>
            <a:pPr marL="0" indent="0">
              <a:buNone/>
            </a:pPr>
            <a:r>
              <a:rPr lang="es-ES" sz="2000" dirty="0">
                <a:highlight>
                  <a:srgbClr val="FFFF00"/>
                </a:highlight>
                <a:latin typeface="Consolas" panose="020B0609020204030204" pitchFamily="49" charset="0"/>
              </a:rPr>
              <a:t>23.43203 26.56797</a:t>
            </a:r>
          </a:p>
          <a:p>
            <a:pPr marL="0" indent="0">
              <a:buNone/>
            </a:pPr>
            <a:r>
              <a:rPr lang="es-ES" sz="2000" dirty="0">
                <a:latin typeface="Consolas" panose="020B0609020204030204" pitchFamily="49" charset="0"/>
              </a:rPr>
              <a:t>    </a:t>
            </a:r>
          </a:p>
          <a:p>
            <a:pPr marL="0" indent="0">
              <a:buNone/>
            </a:pPr>
            <a:r>
              <a:rPr lang="es-ES" sz="2000" dirty="0">
                <a:latin typeface="Consolas" panose="020B0609020204030204" pitchFamily="49" charset="0"/>
              </a:rPr>
              <a:t>&gt; #Comprobar que estamos hablando de 95%</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pnorm</a:t>
            </a:r>
            <a:r>
              <a:rPr lang="es-ES" sz="2000" dirty="0">
                <a:latin typeface="Consolas" panose="020B0609020204030204" pitchFamily="49" charset="0"/>
              </a:rPr>
              <a:t>(1.959964) - </a:t>
            </a:r>
            <a:r>
              <a:rPr lang="es-ES" sz="2000" dirty="0" err="1">
                <a:latin typeface="Consolas" panose="020B0609020204030204" pitchFamily="49" charset="0"/>
              </a:rPr>
              <a:t>pnorm</a:t>
            </a:r>
            <a:r>
              <a:rPr lang="es-ES" sz="2000" dirty="0">
                <a:latin typeface="Consolas" panose="020B0609020204030204" pitchFamily="49" charset="0"/>
              </a:rPr>
              <a:t>(-1.959964)</a:t>
            </a:r>
          </a:p>
          <a:p>
            <a:pPr marL="0" indent="0">
              <a:buNone/>
            </a:pPr>
            <a:r>
              <a:rPr lang="es-ES" sz="2000" dirty="0">
                <a:highlight>
                  <a:srgbClr val="FFFF00"/>
                </a:highlight>
                <a:latin typeface="Consolas" panose="020B0609020204030204" pitchFamily="49" charset="0"/>
              </a:rPr>
              <a:t>[1] 0.95</a:t>
            </a:r>
          </a:p>
          <a:p>
            <a:pPr marL="0" indent="0">
              <a:buNone/>
            </a:pPr>
            <a:r>
              <a:rPr lang="es-ES" sz="2000" dirty="0">
                <a:latin typeface="Consolas" panose="020B0609020204030204" pitchFamily="49" charset="0"/>
              </a:rPr>
              <a:t>&gt; </a:t>
            </a:r>
            <a:r>
              <a:rPr lang="es-ES" sz="2000" dirty="0" err="1">
                <a:latin typeface="Consolas" panose="020B0609020204030204" pitchFamily="49" charset="0"/>
              </a:rPr>
              <a:t>pnorm</a:t>
            </a:r>
            <a:r>
              <a:rPr lang="es-ES" sz="2000" dirty="0">
                <a:latin typeface="Consolas" panose="020B0609020204030204" pitchFamily="49" charset="0"/>
              </a:rPr>
              <a:t>(1.959964) - </a:t>
            </a:r>
            <a:r>
              <a:rPr lang="es-ES" sz="2000" dirty="0" err="1">
                <a:latin typeface="Consolas" panose="020B0609020204030204" pitchFamily="49" charset="0"/>
              </a:rPr>
              <a:t>pnorm</a:t>
            </a:r>
            <a:r>
              <a:rPr lang="es-ES" sz="2000" dirty="0">
                <a:latin typeface="Consolas" panose="020B0609020204030204" pitchFamily="49" charset="0"/>
              </a:rPr>
              <a:t>(1.959964, </a:t>
            </a:r>
            <a:r>
              <a:rPr lang="es-ES" sz="2000" dirty="0" err="1">
                <a:latin typeface="Consolas" panose="020B0609020204030204" pitchFamily="49" charset="0"/>
              </a:rPr>
              <a:t>lower.tail</a:t>
            </a:r>
            <a:r>
              <a:rPr lang="es-ES" sz="2000" dirty="0">
                <a:latin typeface="Consolas" panose="020B0609020204030204" pitchFamily="49" charset="0"/>
              </a:rPr>
              <a:t> = FALSE)</a:t>
            </a:r>
          </a:p>
          <a:p>
            <a:pPr marL="0" indent="0">
              <a:buNone/>
            </a:pPr>
            <a:r>
              <a:rPr lang="es-ES" sz="2000" dirty="0">
                <a:highlight>
                  <a:srgbClr val="FFFF00"/>
                </a:highlight>
                <a:latin typeface="Consolas" panose="020B0609020204030204" pitchFamily="49" charset="0"/>
              </a:rPr>
              <a:t>[1] 0.95</a:t>
            </a:r>
            <a:endParaRPr lang="es-419" sz="20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11683461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Notas sobre amplitud</a:t>
            </a:r>
            <a:endParaRPr lang="es-419" dirty="0"/>
          </a:p>
        </p:txBody>
      </p:sp>
      <p:sp>
        <p:nvSpPr>
          <p:cNvPr id="2" name="Marcador de texto 1"/>
          <p:cNvSpPr>
            <a:spLocks noGrp="1"/>
          </p:cNvSpPr>
          <p:nvPr>
            <p:ph type="body" idx="1"/>
          </p:nvPr>
        </p:nvSpPr>
        <p:spPr/>
        <p:txBody>
          <a:bodyPr/>
          <a:lstStyle/>
          <a:p>
            <a:r>
              <a:rPr lang="es-VE" dirty="0"/>
              <a:t>La relación entre tamaño de muestra, variabilidad, precisión y confianza.</a:t>
            </a:r>
            <a:endParaRPr lang="en-US" dirty="0"/>
          </a:p>
        </p:txBody>
      </p:sp>
    </p:spTree>
    <p:extLst>
      <p:ext uri="{BB962C8B-B14F-4D97-AF65-F5344CB8AC3E}">
        <p14:creationId xmlns:p14="http://schemas.microsoft.com/office/powerpoint/2010/main" val="6818891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¿Qué pasa con la amplitud del intervalo si aumentamos el nivel de confianza?</a:t>
            </a:r>
          </a:p>
        </p:txBody>
      </p:sp>
    </p:spTree>
    <p:extLst>
      <p:ext uri="{BB962C8B-B14F-4D97-AF65-F5344CB8AC3E}">
        <p14:creationId xmlns:p14="http://schemas.microsoft.com/office/powerpoint/2010/main" val="5955438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Amplitud del intervalo</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a:lnSpc>
                    <a:spcPct val="150000"/>
                  </a:lnSpc>
                </a:pPr>
                <a14:m>
                  <m:oMath xmlns:m="http://schemas.openxmlformats.org/officeDocument/2006/math">
                    <m:r>
                      <a:rPr lang="es-419" b="0" i="1" smtClean="0">
                        <a:latin typeface="Cambria Math" panose="02040503050406030204" pitchFamily="18" charset="0"/>
                        <a:ea typeface="Cambria Math" panose="02040503050406030204" pitchFamily="18" charset="0"/>
                      </a:rPr>
                      <m:t>h</m:t>
                    </m:r>
                    <m:r>
                      <a:rPr lang="es-419" b="0" i="1" smtClean="0">
                        <a:latin typeface="Cambria Math" panose="02040503050406030204" pitchFamily="18" charset="0"/>
                        <a:ea typeface="Cambria Math" panose="02040503050406030204" pitchFamily="18" charset="0"/>
                      </a:rPr>
                      <m:t>= </m:t>
                    </m:r>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𝐿</m:t>
                        </m:r>
                      </m:e>
                      <m:sub>
                        <m:r>
                          <a:rPr lang="es-419" b="0" i="1" smtClean="0">
                            <a:latin typeface="Cambria Math" panose="02040503050406030204" pitchFamily="18" charset="0"/>
                            <a:ea typeface="Cambria Math" panose="02040503050406030204" pitchFamily="18" charset="0"/>
                          </a:rPr>
                          <m:t>𝑠</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𝐿</m:t>
                        </m:r>
                      </m:e>
                      <m:sub>
                        <m:r>
                          <a:rPr lang="es-419" b="0" i="1" smtClean="0">
                            <a:latin typeface="Cambria Math" panose="02040503050406030204" pitchFamily="18" charset="0"/>
                            <a:ea typeface="Cambria Math" panose="02040503050406030204" pitchFamily="18" charset="0"/>
                          </a:rPr>
                          <m:t>𝑖</m:t>
                        </m:r>
                      </m:sub>
                    </m:sSub>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𝐿𝑖𝑚𝑖𝑡𝑒</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𝑠𝑢𝑝𝑒𝑟𝑖𝑜𝑟</m:t>
                    </m:r>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𝐿𝑖𝑚𝑖𝑡𝑒</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𝑖𝑛𝑓𝑒𝑟𝑖𝑜𝑟</m:t>
                    </m:r>
                    <m:r>
                      <a:rPr lang="es-419" b="0" i="1" smtClean="0">
                        <a:latin typeface="Cambria Math" panose="02040503050406030204" pitchFamily="18" charset="0"/>
                        <a:ea typeface="Cambria Math" panose="02040503050406030204" pitchFamily="18" charset="0"/>
                      </a:rPr>
                      <m:t>)</m:t>
                    </m:r>
                  </m:oMath>
                </a14:m>
                <a:r>
                  <a:rPr lang="es-419" dirty="0">
                    <a:ea typeface="Cambria Math" panose="02040503050406030204" pitchFamily="18" charset="0"/>
                  </a:rPr>
                  <a:t> </a:t>
                </a:r>
                <a:endParaRPr lang="es-419" i="1" dirty="0">
                  <a:latin typeface="Cambria Math" panose="02040503050406030204" pitchFamily="18" charset="0"/>
                  <a:ea typeface="Cambria Math" panose="02040503050406030204" pitchFamily="18" charset="0"/>
                </a:endParaRPr>
              </a:p>
              <a:p>
                <a:pPr marL="0" indent="0" algn="ctr">
                  <a:lnSpc>
                    <a:spcPct val="150000"/>
                  </a:lnSpc>
                  <a:buNone/>
                </a:pPr>
                <a14:m>
                  <m:oMath xmlns:m="http://schemas.openxmlformats.org/officeDocument/2006/math">
                    <m:r>
                      <a:rPr lang="es-419" i="1">
                        <a:latin typeface="Cambria Math" panose="02040503050406030204" pitchFamily="18" charset="0"/>
                        <a:ea typeface="Cambria Math" panose="02040503050406030204" pitchFamily="18" charset="0"/>
                      </a:rPr>
                      <m:t>h</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b="0" i="1" dirty="0" smtClean="0">
                        <a:latin typeface="Cambria Math" panose="02040503050406030204" pitchFamily="18" charset="0"/>
                        <a:ea typeface="Cambria Math" panose="02040503050406030204" pitchFamily="18" charset="0"/>
                      </a:rPr>
                      <m:t>−</m:t>
                    </m:r>
                    <m:d>
                      <m:dPr>
                        <m:ctrlPr>
                          <a:rPr lang="es-419" b="0" i="1" dirty="0" smtClean="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b="0" i="1" dirty="0" smtClean="0">
                        <a:latin typeface="Cambria Math" panose="02040503050406030204" pitchFamily="18" charset="0"/>
                        <a:ea typeface="Cambria Math" panose="02040503050406030204" pitchFamily="18" charset="0"/>
                      </a:rPr>
                      <m:t>=</m:t>
                    </m:r>
                  </m:oMath>
                </a14:m>
                <a:r>
                  <a:rPr lang="es-419" dirty="0">
                    <a:ea typeface="Cambria Math" panose="02040503050406030204" pitchFamily="18" charset="0"/>
                  </a:rPr>
                  <a:t> </a:t>
                </a:r>
                <a14:m>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dirty="0">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a14:m>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h</m:t>
                      </m:r>
                      <m:r>
                        <a:rPr lang="es-419" i="1">
                          <a:latin typeface="Cambria Math" panose="02040503050406030204" pitchFamily="18" charset="0"/>
                          <a:ea typeface="Cambria Math" panose="02040503050406030204" pitchFamily="18" charset="0"/>
                        </a:rPr>
                        <m:t>=2</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Existe un “</a:t>
                </a:r>
                <a:r>
                  <a:rPr lang="es-419" dirty="0" err="1">
                    <a:ea typeface="Cambria Math" panose="02040503050406030204" pitchFamily="18" charset="0"/>
                  </a:rPr>
                  <a:t>trade</a:t>
                </a:r>
                <a:r>
                  <a:rPr lang="es-419" dirty="0">
                    <a:ea typeface="Cambria Math" panose="02040503050406030204" pitchFamily="18" charset="0"/>
                  </a:rPr>
                  <a:t>-off” entre confianza y </a:t>
                </a:r>
                <a:r>
                  <a:rPr lang="es-419" dirty="0" smtClean="0">
                    <a:ea typeface="Cambria Math" panose="02040503050406030204" pitchFamily="18" charset="0"/>
                  </a:rPr>
                  <a:t>“precisión”. </a:t>
                </a:r>
                <a:r>
                  <a:rPr lang="es-419" dirty="0">
                    <a:ea typeface="Cambria Math" panose="02040503050406030204" pitchFamily="18" charset="0"/>
                  </a:rPr>
                  <a:t>Mayor nivel de confianza se traduce en menores valores de </a:t>
                </a:r>
                <a14:m>
                  <m:oMath xmlns:m="http://schemas.openxmlformats.org/officeDocument/2006/math">
                    <m:r>
                      <a:rPr lang="es-419" b="1" i="1" smtClean="0">
                        <a:solidFill>
                          <a:srgbClr val="003A5D"/>
                        </a:solidFill>
                        <a:latin typeface="Cambria Math" panose="02040503050406030204" pitchFamily="18" charset="0"/>
                        <a:ea typeface="Cambria Math" panose="02040503050406030204" pitchFamily="18" charset="0"/>
                      </a:rPr>
                      <m:t>𝜶</m:t>
                    </m:r>
                  </m:oMath>
                </a14:m>
                <a:r>
                  <a:rPr lang="es-419" dirty="0">
                    <a:ea typeface="Cambria Math" panose="02040503050406030204" pitchFamily="18" charset="0"/>
                  </a:rPr>
                  <a:t>, y por ende mayores valores de </a:t>
                </a:r>
                <a14:m>
                  <m:oMath xmlns:m="http://schemas.openxmlformats.org/officeDocument/2006/math">
                    <m:sSub>
                      <m:sSubPr>
                        <m:ctrlPr>
                          <a:rPr lang="es-419" b="1" i="1" smtClean="0">
                            <a:solidFill>
                              <a:srgbClr val="003A5D"/>
                            </a:solidFill>
                            <a:latin typeface="Cambria Math" panose="02040503050406030204" pitchFamily="18" charset="0"/>
                            <a:ea typeface="Cambria Math" panose="02040503050406030204" pitchFamily="18" charset="0"/>
                          </a:rPr>
                        </m:ctrlPr>
                      </m:sSubPr>
                      <m:e>
                        <m:r>
                          <a:rPr lang="es-VE" b="1" i="1">
                            <a:solidFill>
                              <a:srgbClr val="003A5D"/>
                            </a:solidFill>
                            <a:latin typeface="Cambria Math" panose="02040503050406030204" pitchFamily="18" charset="0"/>
                            <a:ea typeface="Cambria Math" panose="02040503050406030204" pitchFamily="18" charset="0"/>
                          </a:rPr>
                          <m:t>𝒛</m:t>
                        </m:r>
                      </m:e>
                      <m:sub>
                        <m:f>
                          <m:fPr>
                            <m:type m:val="skw"/>
                            <m:ctrlPr>
                              <a:rPr lang="es-419" b="1" i="1">
                                <a:solidFill>
                                  <a:srgbClr val="003A5D"/>
                                </a:solidFill>
                                <a:latin typeface="Cambria Math" panose="02040503050406030204" pitchFamily="18" charset="0"/>
                                <a:ea typeface="Cambria Math" panose="02040503050406030204" pitchFamily="18" charset="0"/>
                              </a:rPr>
                            </m:ctrlPr>
                          </m:fPr>
                          <m:num>
                            <m:r>
                              <a:rPr lang="es-419" b="1" i="1">
                                <a:solidFill>
                                  <a:srgbClr val="003A5D"/>
                                </a:solidFill>
                                <a:latin typeface="Cambria Math" panose="02040503050406030204" pitchFamily="18" charset="0"/>
                                <a:ea typeface="Cambria Math" panose="02040503050406030204" pitchFamily="18" charset="0"/>
                              </a:rPr>
                              <m:t>𝜶</m:t>
                            </m:r>
                          </m:num>
                          <m:den>
                            <m:r>
                              <a:rPr lang="es-419" b="1" i="1">
                                <a:solidFill>
                                  <a:srgbClr val="003A5D"/>
                                </a:solidFill>
                                <a:latin typeface="Cambria Math" panose="02040503050406030204" pitchFamily="18" charset="0"/>
                                <a:ea typeface="Cambria Math" panose="02040503050406030204" pitchFamily="18" charset="0"/>
                              </a:rPr>
                              <m:t>𝟐</m:t>
                            </m:r>
                          </m:den>
                        </m:f>
                      </m:sub>
                    </m:sSub>
                  </m:oMath>
                </a14:m>
                <a:r>
                  <a:rPr lang="es-419" b="1" dirty="0">
                    <a:ea typeface="Cambria Math" panose="02040503050406030204" pitchFamily="18" charset="0"/>
                  </a:rPr>
                  <a:t>, </a:t>
                </a:r>
                <a:r>
                  <a:rPr lang="es-419" dirty="0">
                    <a:ea typeface="Cambria Math" panose="02040503050406030204" pitchFamily="18" charset="0"/>
                  </a:rPr>
                  <a:t>por lo que la amplitud del intervalo crece.</a:t>
                </a:r>
              </a:p>
              <a:p>
                <a:pPr>
                  <a:lnSpc>
                    <a:spcPct val="150000"/>
                  </a:lnSpc>
                </a:pPr>
                <a14:m>
                  <m:oMath xmlns:m="http://schemas.openxmlformats.org/officeDocument/2006/math">
                    <m:r>
                      <a:rPr lang="es-419"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𝐼𝐶</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𝑎𝑚𝑝𝑙𝑖𝑡𝑢𝑑</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𝑝𝑟𝑒𝑠𝑖𝑐𝑖</m:t>
                    </m:r>
                    <m:r>
                      <a:rPr lang="es-419" b="0" i="1" smtClean="0">
                        <a:latin typeface="Cambria Math" panose="02040503050406030204" pitchFamily="18" charset="0"/>
                        <a:ea typeface="Cambria Math" panose="02040503050406030204" pitchFamily="18" charset="0"/>
                      </a:rPr>
                      <m:t>ó</m:t>
                    </m:r>
                    <m:r>
                      <a:rPr lang="es-419" b="0" i="1" smtClean="0">
                        <a:latin typeface="Cambria Math" panose="02040503050406030204" pitchFamily="18" charset="0"/>
                        <a:ea typeface="Cambria Math" panose="02040503050406030204" pitchFamily="18" charset="0"/>
                      </a:rPr>
                      <m:t>𝑛</m:t>
                    </m:r>
                  </m:oMath>
                </a14:m>
                <a:endParaRPr lang="es-419" dirty="0">
                  <a:ea typeface="Cambria Math" panose="02040503050406030204" pitchFamily="18" charset="0"/>
                </a:endParaRPr>
              </a:p>
              <a:p>
                <a:pPr>
                  <a:lnSpc>
                    <a:spcPct val="150000"/>
                  </a:lnSpc>
                </a:pPr>
                <a14:m>
                  <m:oMath xmlns:m="http://schemas.openxmlformats.org/officeDocument/2006/math">
                    <m:r>
                      <a:rPr lang="es-419"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𝐼𝐶</m:t>
                    </m:r>
                    <m:r>
                      <a:rPr lang="es-419" i="1">
                        <a:latin typeface="Cambria Math" panose="02040503050406030204" pitchFamily="18" charset="0"/>
                        <a:ea typeface="Cambria Math" panose="02040503050406030204" pitchFamily="18" charset="0"/>
                      </a:rPr>
                      <m:t>→ ↓</m:t>
                    </m:r>
                    <m:r>
                      <a:rPr lang="es-419" i="1">
                        <a:latin typeface="Cambria Math" panose="02040503050406030204" pitchFamily="18" charset="0"/>
                        <a:ea typeface="Cambria Math" panose="02040503050406030204" pitchFamily="18" charset="0"/>
                      </a:rPr>
                      <m:t>𝑎𝑚𝑝𝑙𝑖𝑡𝑢𝑑</m:t>
                    </m:r>
                    <m:r>
                      <a:rPr lang="es-419" i="1">
                        <a:latin typeface="Cambria Math" panose="02040503050406030204" pitchFamily="18" charset="0"/>
                        <a:ea typeface="Cambria Math" panose="02040503050406030204" pitchFamily="18" charset="0"/>
                      </a:rPr>
                      <m:t>→ ↑</m:t>
                    </m:r>
                    <m:r>
                      <a:rPr lang="es-419" i="1">
                        <a:latin typeface="Cambria Math" panose="02040503050406030204" pitchFamily="18" charset="0"/>
                        <a:ea typeface="Cambria Math" panose="02040503050406030204" pitchFamily="18" charset="0"/>
                      </a:rPr>
                      <m:t>𝑝𝑟𝑒𝑠𝑖𝑐𝑖</m:t>
                    </m:r>
                    <m:r>
                      <a:rPr lang="es-419" b="0" i="1" smtClean="0">
                        <a:latin typeface="Cambria Math" panose="02040503050406030204" pitchFamily="18" charset="0"/>
                        <a:ea typeface="Cambria Math" panose="02040503050406030204" pitchFamily="18" charset="0"/>
                      </a:rPr>
                      <m:t>ó</m:t>
                    </m:r>
                    <m:r>
                      <a:rPr lang="es-419" i="1">
                        <a:latin typeface="Cambria Math" panose="02040503050406030204" pitchFamily="18" charset="0"/>
                        <a:ea typeface="Cambria Math" panose="02040503050406030204" pitchFamily="18" charset="0"/>
                      </a:rPr>
                      <m:t>𝑛</m:t>
                    </m:r>
                  </m:oMath>
                </a14:m>
                <a:endParaRPr lang="es-419" dirty="0">
                  <a:ea typeface="Cambria Math" panose="02040503050406030204" pitchFamily="18" charset="0"/>
                </a:endParaRPr>
              </a:p>
              <a:p>
                <a:pPr>
                  <a:lnSpc>
                    <a:spcPct val="150000"/>
                  </a:lnSpc>
                </a:pPr>
                <a14:m>
                  <m:oMath xmlns:m="http://schemas.openxmlformats.org/officeDocument/2006/math">
                    <m:r>
                      <a:rPr lang="es-419" i="1" smtClean="0">
                        <a:latin typeface="Cambria Math" panose="02040503050406030204" pitchFamily="18" charset="0"/>
                        <a:ea typeface="Cambria Math" panose="02040503050406030204" pitchFamily="18" charset="0"/>
                      </a:rPr>
                      <m:t>↓</m:t>
                    </m:r>
                    <m:r>
                      <a:rPr lang="es-419" i="1" smtClean="0">
                        <a:latin typeface="Cambria Math" panose="02040503050406030204" pitchFamily="18" charset="0"/>
                        <a:ea typeface="Cambria Math" panose="02040503050406030204" pitchFamily="18" charset="0"/>
                      </a:rPr>
                      <m:t>𝐼𝐶</m:t>
                    </m:r>
                    <m:r>
                      <a:rPr lang="es-419" i="1" smtClean="0">
                        <a:latin typeface="Cambria Math" panose="02040503050406030204" pitchFamily="18" charset="0"/>
                        <a:ea typeface="Cambria Math" panose="02040503050406030204" pitchFamily="18" charset="0"/>
                      </a:rPr>
                      <m:t>→↑</m:t>
                    </m:r>
                    <m:r>
                      <a:rPr lang="es-419" i="1" smtClean="0">
                        <a:latin typeface="Cambria Math" panose="02040503050406030204" pitchFamily="18" charset="0"/>
                        <a:ea typeface="Cambria Math" panose="02040503050406030204" pitchFamily="18" charset="0"/>
                      </a:rPr>
                      <m:t>𝛼</m:t>
                    </m:r>
                    <m:r>
                      <a:rPr lang="es-419" b="0" i="1" smtClean="0">
                        <a:latin typeface="Cambria Math" panose="02040503050406030204" pitchFamily="18" charset="0"/>
                        <a:ea typeface="Cambria Math" panose="02040503050406030204" pitchFamily="18" charset="0"/>
                      </a:rPr>
                      <m:t>→</m:t>
                    </m:r>
                    <m:r>
                      <a:rPr lang="es-419"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𝑘</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r>
                      <a:rPr lang="es-419"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h</m:t>
                    </m:r>
                  </m:oMath>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22" r="-928" b="-7333"/>
                </a:stretch>
              </a:blipFill>
            </p:spPr>
            <p:txBody>
              <a:bodyPr/>
              <a:lstStyle/>
              <a:p>
                <a:r>
                  <a:rPr lang="en-US">
                    <a:noFill/>
                  </a:rPr>
                  <a:t> </a:t>
                </a:r>
              </a:p>
            </p:txBody>
          </p:sp>
        </mc:Fallback>
      </mc:AlternateContent>
    </p:spTree>
    <p:extLst>
      <p:ext uri="{BB962C8B-B14F-4D97-AF65-F5344CB8AC3E}">
        <p14:creationId xmlns:p14="http://schemas.microsoft.com/office/powerpoint/2010/main" val="18829244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Amplitud del intervalo</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h</m:t>
                      </m:r>
                      <m:r>
                        <a:rPr lang="es-419" i="1">
                          <a:latin typeface="Cambria Math" panose="02040503050406030204" pitchFamily="18" charset="0"/>
                          <a:ea typeface="Cambria Math" panose="02040503050406030204" pitchFamily="18" charset="0"/>
                        </a:rPr>
                        <m:t>=2</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Para un </a:t>
                </a:r>
                <a14:m>
                  <m:oMath xmlns:m="http://schemas.openxmlformats.org/officeDocument/2006/math">
                    <m:sSub>
                      <m:sSubPr>
                        <m:ctrlPr>
                          <a:rPr lang="es-419" b="1" i="1" smtClean="0">
                            <a:solidFill>
                              <a:srgbClr val="003A5D"/>
                            </a:solidFill>
                            <a:latin typeface="Cambria Math" panose="02040503050406030204" pitchFamily="18" charset="0"/>
                            <a:ea typeface="Cambria Math" panose="02040503050406030204" pitchFamily="18" charset="0"/>
                          </a:rPr>
                        </m:ctrlPr>
                      </m:sSubPr>
                      <m:e>
                        <m:r>
                          <a:rPr lang="es-VE" b="1" i="1">
                            <a:solidFill>
                              <a:srgbClr val="003A5D"/>
                            </a:solidFill>
                            <a:latin typeface="Cambria Math" panose="02040503050406030204" pitchFamily="18" charset="0"/>
                            <a:ea typeface="Cambria Math" panose="02040503050406030204" pitchFamily="18" charset="0"/>
                          </a:rPr>
                          <m:t>𝒛</m:t>
                        </m:r>
                      </m:e>
                      <m:sub>
                        <m:f>
                          <m:fPr>
                            <m:type m:val="skw"/>
                            <m:ctrlPr>
                              <a:rPr lang="es-419" b="1" i="1">
                                <a:solidFill>
                                  <a:srgbClr val="003A5D"/>
                                </a:solidFill>
                                <a:latin typeface="Cambria Math" panose="02040503050406030204" pitchFamily="18" charset="0"/>
                                <a:ea typeface="Cambria Math" panose="02040503050406030204" pitchFamily="18" charset="0"/>
                              </a:rPr>
                            </m:ctrlPr>
                          </m:fPr>
                          <m:num>
                            <m:r>
                              <a:rPr lang="es-419" b="1" i="1">
                                <a:solidFill>
                                  <a:srgbClr val="003A5D"/>
                                </a:solidFill>
                                <a:latin typeface="Cambria Math" panose="02040503050406030204" pitchFamily="18" charset="0"/>
                                <a:ea typeface="Cambria Math" panose="02040503050406030204" pitchFamily="18" charset="0"/>
                              </a:rPr>
                              <m:t>𝜶</m:t>
                            </m:r>
                          </m:num>
                          <m:den>
                            <m:r>
                              <a:rPr lang="es-419" b="1" i="1">
                                <a:solidFill>
                                  <a:srgbClr val="003A5D"/>
                                </a:solidFill>
                                <a:latin typeface="Cambria Math" panose="02040503050406030204" pitchFamily="18" charset="0"/>
                                <a:ea typeface="Cambria Math" panose="02040503050406030204" pitchFamily="18" charset="0"/>
                              </a:rPr>
                              <m:t>𝟐</m:t>
                            </m:r>
                          </m:den>
                        </m:f>
                      </m:sub>
                    </m:sSub>
                    <m:r>
                      <a:rPr lang="es-419" i="1">
                        <a:latin typeface="Cambria Math" panose="02040503050406030204" pitchFamily="18" charset="0"/>
                        <a:ea typeface="Cambria Math" panose="02040503050406030204" pitchFamily="18" charset="0"/>
                      </a:rPr>
                      <m:t> </m:t>
                    </m:r>
                  </m:oMath>
                </a14:m>
                <a:r>
                  <a:rPr lang="es-419" dirty="0">
                    <a:ea typeface="Cambria Math" panose="02040503050406030204" pitchFamily="18" charset="0"/>
                  </a:rPr>
                  <a:t>definido, el intervalo se ve afectado por el tamaño de la muestra y la desviación estándar.</a:t>
                </a:r>
              </a:p>
              <a:p>
                <a:pPr>
                  <a:lnSpc>
                    <a:spcPct val="150000"/>
                  </a:lnSpc>
                </a:pPr>
                <a14:m>
                  <m:oMath xmlns:m="http://schemas.openxmlformats.org/officeDocument/2006/math">
                    <m:r>
                      <a:rPr lang="es-419"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𝑛</m:t>
                    </m:r>
                    <m:r>
                      <a:rPr lang="es-419" b="0" i="1" smtClean="0">
                        <a:latin typeface="Cambria Math" panose="02040503050406030204" pitchFamily="18" charset="0"/>
                        <a:ea typeface="Cambria Math" panose="02040503050406030204" pitchFamily="18" charset="0"/>
                      </a:rPr>
                      <m:t>→</m:t>
                    </m:r>
                    <m:r>
                      <a:rPr lang="es-419" b="0" i="0" smtClean="0">
                        <a:latin typeface="Cambria Math" panose="02040503050406030204" pitchFamily="18" charset="0"/>
                        <a:ea typeface="Cambria Math" panose="02040503050406030204" pitchFamily="18" charset="0"/>
                      </a:rPr>
                      <m:t> </m:t>
                    </m:r>
                    <m:r>
                      <a:rPr lang="es-419" dirty="0">
                        <a:latin typeface="Cambria Math" panose="02040503050406030204" pitchFamily="18" charset="0"/>
                        <a:ea typeface="Cambria Math" panose="02040503050406030204" pitchFamily="18" charset="0"/>
                      </a:rPr>
                      <m:t>↓</m:t>
                    </m:r>
                    <m:acc>
                      <m:accPr>
                        <m:chr m:val="̅"/>
                        <m:ctrlPr>
                          <a:rPr lang="es-419" i="1" dirty="0" smtClean="0">
                            <a:latin typeface="Cambria Math" panose="02040503050406030204" pitchFamily="18" charset="0"/>
                            <a:ea typeface="Cambria Math" panose="02040503050406030204" pitchFamily="18" charset="0"/>
                          </a:rPr>
                        </m:ctrlPr>
                      </m:accPr>
                      <m:e>
                        <m:r>
                          <a:rPr lang="es-419" b="0" i="1" dirty="0" smtClean="0">
                            <a:latin typeface="Cambria Math" panose="02040503050406030204" pitchFamily="18" charset="0"/>
                            <a:ea typeface="Cambria Math" panose="02040503050406030204" pitchFamily="18" charset="0"/>
                          </a:rPr>
                          <m:t>h</m:t>
                        </m:r>
                      </m:e>
                    </m:acc>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𝐼𝑛𝑡𝑒𝑟𝑣𝑎𝑙𝑜</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𝑑𝑒</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𝑐𝑜𝑛𝑓𝑖𝑎𝑛𝑧𝑎</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𝑑𝑒𝑓𝑖𝑛𝑖𝑑𝑜</m:t>
                        </m:r>
                      </m:e>
                    </m:d>
                  </m:oMath>
                </a14:m>
                <a:endParaRPr lang="es-419" b="0" dirty="0">
                  <a:ea typeface="Cambria Math" panose="02040503050406030204" pitchFamily="18" charset="0"/>
                </a:endParaRPr>
              </a:p>
              <a:p>
                <a:pPr lvl="1">
                  <a:lnSpc>
                    <a:spcPct val="150000"/>
                  </a:lnSpc>
                </a:pPr>
                <a:r>
                  <a:rPr lang="es-419" dirty="0">
                    <a:ea typeface="Cambria Math" panose="02040503050406030204" pitchFamily="18" charset="0"/>
                  </a:rPr>
                  <a:t>Mayor tamaño de muestra, reduce la amplitud del intervalo.</a:t>
                </a:r>
              </a:p>
              <a:p>
                <a:pPr>
                  <a:lnSpc>
                    <a:spcPct val="150000"/>
                  </a:lnSpc>
                </a:pPr>
                <a14:m>
                  <m:oMath xmlns:m="http://schemas.openxmlformats.org/officeDocument/2006/math">
                    <m:r>
                      <a:rPr lang="es-419"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𝜎</m:t>
                    </m:r>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𝑆</m:t>
                    </m:r>
                    <m:r>
                      <a:rPr lang="es-419" b="0" i="1" smtClean="0">
                        <a:latin typeface="Cambria Math" panose="02040503050406030204" pitchFamily="18" charset="0"/>
                        <a:ea typeface="Cambria Math" panose="02040503050406030204" pitchFamily="18" charset="0"/>
                      </a:rPr>
                      <m:t>→↑</m:t>
                    </m:r>
                    <m:acc>
                      <m:accPr>
                        <m:chr m:val="̅"/>
                        <m:ctrlPr>
                          <a:rPr lang="es-419" i="1" dirty="0" smtClean="0">
                            <a:latin typeface="Cambria Math" panose="02040503050406030204" pitchFamily="18" charset="0"/>
                            <a:ea typeface="Cambria Math" panose="02040503050406030204" pitchFamily="18" charset="0"/>
                          </a:rPr>
                        </m:ctrlPr>
                      </m:accPr>
                      <m:e>
                        <m:r>
                          <a:rPr lang="es-419" b="0" i="1" dirty="0" smtClean="0">
                            <a:latin typeface="Cambria Math" panose="02040503050406030204" pitchFamily="18" charset="0"/>
                            <a:ea typeface="Cambria Math" panose="02040503050406030204" pitchFamily="18" charset="0"/>
                          </a:rPr>
                          <m:t>h</m:t>
                        </m:r>
                      </m:e>
                    </m:acc>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𝐼𝑛𝑡𝑒𝑟𝑣𝑎𝑙𝑜</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𝑑𝑒</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𝑐𝑜𝑛𝑓𝑖𝑎𝑛𝑧𝑎</m:t>
                    </m:r>
                    <m:r>
                      <a:rPr lang="es-419" b="0" i="1" smtClean="0">
                        <a:latin typeface="Cambria Math" panose="02040503050406030204" pitchFamily="18" charset="0"/>
                        <a:ea typeface="Cambria Math" panose="02040503050406030204" pitchFamily="18" charset="0"/>
                      </a:rPr>
                      <m:t> </m:t>
                    </m:r>
                    <m:r>
                      <a:rPr lang="es-419" b="0" i="1" smtClean="0">
                        <a:latin typeface="Cambria Math" panose="02040503050406030204" pitchFamily="18" charset="0"/>
                        <a:ea typeface="Cambria Math" panose="02040503050406030204" pitchFamily="18" charset="0"/>
                      </a:rPr>
                      <m:t>𝑑𝑒𝑓𝑖𝑛𝑖𝑑𝑜</m:t>
                    </m:r>
                    <m:r>
                      <a:rPr lang="es-419" b="0" i="1" smtClean="0">
                        <a:latin typeface="Cambria Math" panose="02040503050406030204" pitchFamily="18" charset="0"/>
                        <a:ea typeface="Cambria Math" panose="02040503050406030204" pitchFamily="18" charset="0"/>
                      </a:rPr>
                      <m:t>)</m:t>
                    </m:r>
                  </m:oMath>
                </a14:m>
                <a:endParaRPr lang="es-419" dirty="0">
                  <a:ea typeface="Cambria Math" panose="02040503050406030204" pitchFamily="18" charset="0"/>
                </a:endParaRPr>
              </a:p>
              <a:p>
                <a:pPr lvl="1">
                  <a:lnSpc>
                    <a:spcPct val="150000"/>
                  </a:lnSpc>
                </a:pPr>
                <a:r>
                  <a:rPr lang="es-419" dirty="0">
                    <a:ea typeface="Cambria Math" panose="02040503050406030204" pitchFamily="18" charset="0"/>
                  </a:rPr>
                  <a:t>Mayor dispersión de valores, aumenta la amplitud del intervalo al intervalo.</a:t>
                </a:r>
              </a:p>
              <a:p>
                <a:pPr>
                  <a:lnSpc>
                    <a:spcPct val="150000"/>
                  </a:lnSpc>
                </a:pPr>
                <a:r>
                  <a:rPr lang="es-419" dirty="0">
                    <a:ea typeface="Cambria Math" panose="02040503050406030204" pitchFamily="18" charset="0"/>
                  </a:rPr>
                  <a:t>Con muestras más grandes se puede aumentar la precisión del intervalo sin perder confianza.</a:t>
                </a: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s-VE">
                    <a:noFill/>
                  </a:rPr>
                  <a:t> </a:t>
                </a:r>
              </a:p>
            </p:txBody>
          </p:sp>
        </mc:Fallback>
      </mc:AlternateContent>
    </p:spTree>
    <p:extLst>
      <p:ext uri="{BB962C8B-B14F-4D97-AF65-F5344CB8AC3E}">
        <p14:creationId xmlns:p14="http://schemas.microsoft.com/office/powerpoint/2010/main" val="21163810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Confianza vs probabilidad</a:t>
            </a:r>
            <a:endParaRPr lang="es-419" dirty="0"/>
          </a:p>
        </p:txBody>
      </p:sp>
      <p:sp>
        <p:nvSpPr>
          <p:cNvPr id="2" name="Marcador de texto 1"/>
          <p:cNvSpPr>
            <a:spLocks noGrp="1"/>
          </p:cNvSpPr>
          <p:nvPr>
            <p:ph type="body" idx="1"/>
          </p:nvPr>
        </p:nvSpPr>
        <p:spPr/>
        <p:txBody>
          <a:bodyPr/>
          <a:lstStyle/>
          <a:p>
            <a:r>
              <a:rPr lang="es-VE" dirty="0"/>
              <a:t>Una distinción importante</a:t>
            </a:r>
            <a:endParaRPr lang="en-US" dirty="0"/>
          </a:p>
        </p:txBody>
      </p:sp>
    </p:spTree>
    <p:extLst>
      <p:ext uri="{BB962C8B-B14F-4D97-AF65-F5344CB8AC3E}">
        <p14:creationId xmlns:p14="http://schemas.microsoft.com/office/powerpoint/2010/main" val="19987137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¿Por qué lo llamamos </a:t>
            </a:r>
            <a:r>
              <a:rPr lang="es-VE" b="1" i="1" dirty="0">
                <a:solidFill>
                  <a:srgbClr val="003A5D"/>
                </a:solidFill>
              </a:rPr>
              <a:t>confianza</a:t>
            </a:r>
            <a:r>
              <a:rPr lang="es-VE" i="1" dirty="0"/>
              <a:t> y no </a:t>
            </a:r>
            <a:r>
              <a:rPr lang="es-VE" b="1" i="1" dirty="0">
                <a:solidFill>
                  <a:srgbClr val="003A5D"/>
                </a:solidFill>
              </a:rPr>
              <a:t>probabilidad</a:t>
            </a:r>
            <a:r>
              <a:rPr lang="es-VE" i="1" dirty="0"/>
              <a:t>?</a:t>
            </a:r>
          </a:p>
        </p:txBody>
      </p:sp>
    </p:spTree>
    <p:extLst>
      <p:ext uri="{BB962C8B-B14F-4D97-AF65-F5344CB8AC3E}">
        <p14:creationId xmlns:p14="http://schemas.microsoft.com/office/powerpoint/2010/main" val="15884006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Algunas mis concepciones</a:t>
            </a:r>
            <a:endParaRPr lang="en-US" dirty="0"/>
          </a:p>
        </p:txBody>
      </p:sp>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r>
              <a:rPr lang="es-419" dirty="0"/>
              <a:t>Para un intervalo de confianza de 95%:</a:t>
            </a:r>
          </a:p>
          <a:p>
            <a:pPr>
              <a:lnSpc>
                <a:spcPct val="150000"/>
              </a:lnSpc>
            </a:pPr>
            <a:r>
              <a:rPr lang="es-419" b="1" dirty="0">
                <a:solidFill>
                  <a:srgbClr val="003A5D"/>
                </a:solidFill>
              </a:rPr>
              <a:t>NO</a:t>
            </a:r>
            <a:r>
              <a:rPr lang="es-419" dirty="0"/>
              <a:t> quiere decir que 95% de los datos muestrales están entre los límites del intervalo.</a:t>
            </a:r>
          </a:p>
          <a:p>
            <a:pPr>
              <a:lnSpc>
                <a:spcPct val="150000"/>
              </a:lnSpc>
            </a:pPr>
            <a:r>
              <a:rPr lang="es-419" b="1" dirty="0">
                <a:solidFill>
                  <a:srgbClr val="003A5D"/>
                </a:solidFill>
              </a:rPr>
              <a:t>NO</a:t>
            </a:r>
            <a:r>
              <a:rPr lang="es-419" dirty="0"/>
              <a:t> da un rango definitivo de los posibles valores del parámetro.</a:t>
            </a:r>
          </a:p>
          <a:p>
            <a:pPr>
              <a:lnSpc>
                <a:spcPct val="150000"/>
              </a:lnSpc>
            </a:pPr>
            <a:r>
              <a:rPr lang="es-419" b="1" dirty="0">
                <a:solidFill>
                  <a:srgbClr val="003A5D"/>
                </a:solidFill>
              </a:rPr>
              <a:t>NO</a:t>
            </a:r>
            <a:r>
              <a:rPr lang="es-419" dirty="0"/>
              <a:t> quiere decir que hay un 95% de probabilidades de que el parámetro se encuentre dentro de ese intervalo particular.</a:t>
            </a:r>
          </a:p>
        </p:txBody>
      </p:sp>
    </p:spTree>
    <p:extLst>
      <p:ext uri="{BB962C8B-B14F-4D97-AF65-F5344CB8AC3E}">
        <p14:creationId xmlns:p14="http://schemas.microsoft.com/office/powerpoint/2010/main" val="38096027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Confianza </a:t>
            </a:r>
            <a:r>
              <a:rPr lang="es-419" i="1" dirty="0"/>
              <a:t>vs</a:t>
            </a:r>
            <a:r>
              <a:rPr lang="es-419" dirty="0"/>
              <a:t> probabilidad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85000" lnSpcReduction="20000"/>
              </a:bodyPr>
              <a:lstStyle/>
              <a:p>
                <a:pPr>
                  <a:lnSpc>
                    <a:spcPct val="150000"/>
                  </a:lnSpc>
                </a:pPr>
                <a:r>
                  <a:rPr lang="es-419" dirty="0"/>
                  <a:t>Una vez tomado la muestra y calculado los límites del intervalo, el parámetro estará o no estará dentro del intervalo (probabilidad </a:t>
                </a:r>
                <a:r>
                  <a:rPr lang="es-419" dirty="0">
                    <a:solidFill>
                      <a:srgbClr val="003A5D"/>
                    </a:solidFill>
                  </a:rPr>
                  <a:t>0</a:t>
                </a:r>
                <a:r>
                  <a:rPr lang="es-419" dirty="0"/>
                  <a:t> o </a:t>
                </a:r>
                <a:r>
                  <a:rPr lang="es-419" dirty="0">
                    <a:solidFill>
                      <a:srgbClr val="003A5D"/>
                    </a:solidFill>
                  </a:rPr>
                  <a:t>1</a:t>
                </a:r>
                <a:r>
                  <a:rPr lang="es-419" dirty="0"/>
                  <a:t>).</a:t>
                </a:r>
              </a:p>
              <a:p>
                <a:pPr>
                  <a:lnSpc>
                    <a:spcPct val="150000"/>
                  </a:lnSpc>
                </a:pPr>
                <a:r>
                  <a:rPr lang="es-419" dirty="0">
                    <a:ea typeface="Cambria Math" panose="02040503050406030204" pitchFamily="18" charset="0"/>
                  </a:rPr>
                  <a:t>El parámetro </a:t>
                </a:r>
                <a14:m>
                  <m:oMath xmlns:m="http://schemas.openxmlformats.org/officeDocument/2006/math">
                    <m:r>
                      <a:rPr lang="es-419" b="1" i="1" smtClean="0">
                        <a:solidFill>
                          <a:srgbClr val="003A5D"/>
                        </a:solidFill>
                        <a:latin typeface="Cambria Math" panose="02040503050406030204" pitchFamily="18" charset="0"/>
                        <a:ea typeface="Cambria Math" panose="02040503050406030204" pitchFamily="18" charset="0"/>
                      </a:rPr>
                      <m:t>𝝁</m:t>
                    </m:r>
                  </m:oMath>
                </a14:m>
                <a:r>
                  <a:rPr lang="es-419" dirty="0"/>
                  <a:t> no es una variable aleatoria, no varía.</a:t>
                </a:r>
              </a:p>
              <a:p>
                <a:pPr>
                  <a:lnSpc>
                    <a:spcPct val="150000"/>
                  </a:lnSpc>
                </a:pPr>
                <a:r>
                  <a:rPr lang="es-419" dirty="0"/>
                  <a:t>No sabemos si efectivamente un intervalo particular contiene al parámetro.</a:t>
                </a:r>
              </a:p>
              <a:p>
                <a:pPr>
                  <a:lnSpc>
                    <a:spcPct val="150000"/>
                  </a:lnSpc>
                </a:pPr>
                <a:r>
                  <a:rPr lang="es-419" b="1" dirty="0">
                    <a:solidFill>
                      <a:srgbClr val="003A5D"/>
                    </a:solidFill>
                  </a:rPr>
                  <a:t>“Antes” </a:t>
                </a:r>
                <a:r>
                  <a:rPr lang="es-419" dirty="0"/>
                  <a:t>de tomar la muestra, los límites del intervalo son </a:t>
                </a:r>
                <a:r>
                  <a:rPr lang="es-419" b="1" dirty="0" err="1">
                    <a:solidFill>
                      <a:srgbClr val="003A5D"/>
                    </a:solidFill>
                  </a:rPr>
                  <a:t>v.a.s</a:t>
                </a:r>
                <a:r>
                  <a:rPr lang="es-419" b="1" dirty="0">
                    <a:solidFill>
                      <a:srgbClr val="003A5D"/>
                    </a:solidFill>
                  </a:rPr>
                  <a:t> </a:t>
                </a:r>
                <a:r>
                  <a:rPr lang="es-419" dirty="0"/>
                  <a:t>y han sido establecidas de tal forma que la probabilidad de que alguno intervalo estimado de este proceso </a:t>
                </a:r>
                <a:r>
                  <a:rPr lang="es-419" i="1" dirty="0"/>
                  <a:t>contenga </a:t>
                </a:r>
                <a:r>
                  <a:rPr lang="es-419" dirty="0"/>
                  <a:t>al parámetro es de 0,95.</a:t>
                </a:r>
              </a:p>
              <a:p>
                <a:pPr>
                  <a:lnSpc>
                    <a:spcPct val="150000"/>
                  </a:lnSpc>
                </a:pPr>
                <a:r>
                  <a:rPr lang="es-419" b="1" dirty="0">
                    <a:solidFill>
                      <a:srgbClr val="003A5D"/>
                    </a:solidFill>
                  </a:rPr>
                  <a:t>“Después” </a:t>
                </a:r>
                <a:r>
                  <a:rPr lang="es-419" dirty="0"/>
                  <a:t>de tomada la muestra y calculado el estimador con los límites del intervalo, hablamos de </a:t>
                </a:r>
                <a:r>
                  <a:rPr lang="es-419" i="1" dirty="0"/>
                  <a:t>confianza </a:t>
                </a:r>
                <a:r>
                  <a:rPr lang="es-419" dirty="0"/>
                  <a:t>de ese intervalo particular contenga al parámetro.</a:t>
                </a: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r="-1217"/>
                </a:stretch>
              </a:blipFill>
            </p:spPr>
            <p:txBody>
              <a:bodyPr/>
              <a:lstStyle/>
              <a:p>
                <a:r>
                  <a:rPr lang="es-419">
                    <a:noFill/>
                  </a:rPr>
                  <a:t> </a:t>
                </a:r>
              </a:p>
            </p:txBody>
          </p:sp>
        </mc:Fallback>
      </mc:AlternateContent>
    </p:spTree>
    <p:extLst>
      <p:ext uri="{BB962C8B-B14F-4D97-AF65-F5344CB8AC3E}">
        <p14:creationId xmlns:p14="http://schemas.microsoft.com/office/powerpoint/2010/main" val="19605015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B4716-EBB6-44E3-9604-E5CA20BFB913}"/>
              </a:ext>
            </a:extLst>
          </p:cNvPr>
          <p:cNvSpPr>
            <a:spLocks noGrp="1"/>
          </p:cNvSpPr>
          <p:nvPr>
            <p:ph type="title"/>
          </p:nvPr>
        </p:nvSpPr>
        <p:spPr/>
        <p:txBody>
          <a:bodyPr/>
          <a:lstStyle/>
          <a:p>
            <a:r>
              <a:rPr lang="es-419" dirty="0"/>
              <a:t>Confianza </a:t>
            </a:r>
            <a:r>
              <a:rPr lang="es-419" i="1" dirty="0"/>
              <a:t>vs</a:t>
            </a:r>
            <a:r>
              <a:rPr lang="es-419" dirty="0"/>
              <a:t> probabilidad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0E5EFB-93A1-415A-96E8-DE32FAF89FE0}"/>
                  </a:ext>
                </a:extLst>
              </p:cNvPr>
              <p:cNvSpPr>
                <a:spLocks noGrp="1"/>
              </p:cNvSpPr>
              <p:nvPr>
                <p:ph idx="1"/>
              </p:nvPr>
            </p:nvSpPr>
            <p:spPr/>
            <p:txBody>
              <a:bodyPr>
                <a:normAutofit fontScale="70000" lnSpcReduction="20000"/>
              </a:bodyPr>
              <a:lstStyle/>
              <a:p>
                <a:pPr>
                  <a:lnSpc>
                    <a:spcPct val="150000"/>
                  </a:lnSpc>
                </a:pPr>
                <a:r>
                  <a:rPr lang="es-419" dirty="0"/>
                  <a:t>La confianza puede interpretarse desde la perspectiva del proceso asintótico:</a:t>
                </a:r>
              </a:p>
              <a:p>
                <a:pPr>
                  <a:lnSpc>
                    <a:spcPct val="150000"/>
                  </a:lnSpc>
                </a:pPr>
                <a:r>
                  <a:rPr lang="es-419" dirty="0"/>
                  <a:t>De tomarse repetidamente muestras de tamaño </a:t>
                </a:r>
                <a:r>
                  <a:rPr lang="es-419" b="1" dirty="0">
                    <a:solidFill>
                      <a:srgbClr val="003A5D"/>
                    </a:solidFill>
                  </a:rPr>
                  <a:t>n</a:t>
                </a:r>
                <a:r>
                  <a:rPr lang="es-419" dirty="0"/>
                  <a:t> y se calculan los intervalos de para cada muestra.</a:t>
                </a:r>
              </a:p>
              <a:p>
                <a:pPr>
                  <a:lnSpc>
                    <a:spcPct val="150000"/>
                  </a:lnSpc>
                </a:pPr>
                <a:r>
                  <a:rPr lang="es-419" dirty="0"/>
                  <a:t>En promedio, </a:t>
                </a:r>
                <a14:m>
                  <m:oMath xmlns:m="http://schemas.openxmlformats.org/officeDocument/2006/math">
                    <m:r>
                      <a:rPr lang="es-419" b="1" i="0" smtClean="0">
                        <a:solidFill>
                          <a:srgbClr val="003A5D"/>
                        </a:solidFill>
                        <a:latin typeface="Cambria Math" panose="02040503050406030204" pitchFamily="18" charset="0"/>
                      </a:rPr>
                      <m:t>𝟏𝟎𝟎</m:t>
                    </m:r>
                    <m:r>
                      <a:rPr lang="es-419" b="1" i="1" smtClean="0">
                        <a:solidFill>
                          <a:srgbClr val="003A5D"/>
                        </a:solidFill>
                        <a:latin typeface="Cambria Math" panose="02040503050406030204" pitchFamily="18" charset="0"/>
                      </a:rPr>
                      <m:t>(</m:t>
                    </m:r>
                    <m:r>
                      <a:rPr lang="es-419" b="1" i="1" smtClean="0">
                        <a:solidFill>
                          <a:srgbClr val="003A5D"/>
                        </a:solidFill>
                        <a:latin typeface="Cambria Math" panose="02040503050406030204" pitchFamily="18" charset="0"/>
                      </a:rPr>
                      <m:t>𝟏</m:t>
                    </m:r>
                    <m:r>
                      <a:rPr lang="es-419" b="1" i="1" smtClean="0">
                        <a:solidFill>
                          <a:srgbClr val="003A5D"/>
                        </a:solidFill>
                        <a:latin typeface="Cambria Math" panose="02040503050406030204" pitchFamily="18" charset="0"/>
                      </a:rPr>
                      <m:t>−</m:t>
                    </m:r>
                    <m:r>
                      <a:rPr lang="es-419" b="1" i="1" smtClean="0">
                        <a:solidFill>
                          <a:srgbClr val="003A5D"/>
                        </a:solidFill>
                        <a:latin typeface="Cambria Math" panose="02040503050406030204" pitchFamily="18" charset="0"/>
                        <a:ea typeface="Cambria Math" panose="02040503050406030204" pitchFamily="18" charset="0"/>
                      </a:rPr>
                      <m:t>𝜶</m:t>
                    </m:r>
                    <m:r>
                      <a:rPr lang="es-419" b="1" i="0" smtClean="0">
                        <a:solidFill>
                          <a:srgbClr val="003A5D"/>
                        </a:solidFill>
                        <a:latin typeface="Cambria Math" panose="02040503050406030204" pitchFamily="18" charset="0"/>
                        <a:ea typeface="Cambria Math" panose="02040503050406030204" pitchFamily="18" charset="0"/>
                      </a:rPr>
                      <m:t>)</m:t>
                    </m:r>
                  </m:oMath>
                </a14:m>
                <a:r>
                  <a:rPr lang="es-419" b="1" dirty="0">
                    <a:solidFill>
                      <a:srgbClr val="003A5D"/>
                    </a:solidFill>
                  </a:rPr>
                  <a:t>% </a:t>
                </a:r>
                <a:r>
                  <a:rPr lang="es-419" dirty="0"/>
                  <a:t>de los intervalos calculados contendría el parámetro.</a:t>
                </a:r>
              </a:p>
              <a:p>
                <a:pPr>
                  <a:lnSpc>
                    <a:spcPct val="150000"/>
                  </a:lnSpc>
                </a:pPr>
                <a:r>
                  <a:rPr lang="es-419" dirty="0"/>
                  <a:t>En la práctica, usualmente solo tendremos una muestra y por tanto un solo intervalo.</a:t>
                </a:r>
              </a:p>
              <a:p>
                <a:pPr>
                  <a:lnSpc>
                    <a:spcPct val="150000"/>
                  </a:lnSpc>
                </a:pPr>
                <a:r>
                  <a:rPr lang="es-419" b="1" dirty="0">
                    <a:solidFill>
                      <a:srgbClr val="003A5D"/>
                    </a:solidFill>
                  </a:rPr>
                  <a:t>“Antes” </a:t>
                </a:r>
                <a:r>
                  <a:rPr lang="es-419" dirty="0"/>
                  <a:t>de estimar: La probabilidad de que un parámetro poblacional esté en el intervalo es de 0,95. Es decir, 95% de los intervalos construidos contendrían </a:t>
                </a:r>
                <a14:m>
                  <m:oMath xmlns:m="http://schemas.openxmlformats.org/officeDocument/2006/math">
                    <m:r>
                      <a:rPr lang="es-419" b="1" i="1">
                        <a:solidFill>
                          <a:srgbClr val="003A5D"/>
                        </a:solidFill>
                        <a:latin typeface="Cambria Math" panose="02040503050406030204" pitchFamily="18" charset="0"/>
                        <a:ea typeface="Cambria Math" panose="02040503050406030204" pitchFamily="18" charset="0"/>
                      </a:rPr>
                      <m:t>𝝁</m:t>
                    </m:r>
                  </m:oMath>
                </a14:m>
                <a:r>
                  <a:rPr lang="es-419" dirty="0"/>
                  <a:t>, y el 5% restante no.</a:t>
                </a:r>
              </a:p>
              <a:p>
                <a:pPr>
                  <a:lnSpc>
                    <a:spcPct val="150000"/>
                  </a:lnSpc>
                </a:pPr>
                <a:r>
                  <a:rPr lang="es-419" b="1" dirty="0">
                    <a:solidFill>
                      <a:srgbClr val="003A5D"/>
                    </a:solidFill>
                  </a:rPr>
                  <a:t>“Después” </a:t>
                </a:r>
                <a:r>
                  <a:rPr lang="es-419" dirty="0"/>
                  <a:t>de estimar: Concluimos que con 95% de confianza que </a:t>
                </a:r>
                <a14:m>
                  <m:oMath xmlns:m="http://schemas.openxmlformats.org/officeDocument/2006/math">
                    <m:r>
                      <a:rPr lang="es-419" b="1" i="1" smtClean="0">
                        <a:solidFill>
                          <a:srgbClr val="003A5D"/>
                        </a:solidFill>
                        <a:latin typeface="Cambria Math" panose="02040503050406030204" pitchFamily="18" charset="0"/>
                        <a:ea typeface="Cambria Math" panose="02040503050406030204" pitchFamily="18" charset="0"/>
                      </a:rPr>
                      <m:t>𝝁</m:t>
                    </m:r>
                  </m:oMath>
                </a14:m>
                <a:r>
                  <a:rPr lang="es-419" dirty="0"/>
                  <a:t> se encuentra en ese intervalo particular.</a:t>
                </a:r>
              </a:p>
              <a:p>
                <a:pPr>
                  <a:lnSpc>
                    <a:spcPct val="150000"/>
                  </a:lnSpc>
                </a:pPr>
                <a14:m>
                  <m:oMath xmlns:m="http://schemas.openxmlformats.org/officeDocument/2006/math">
                    <m:r>
                      <a:rPr lang="es-419" b="1" i="1" smtClean="0">
                        <a:solidFill>
                          <a:srgbClr val="003A5D"/>
                        </a:solidFill>
                        <a:latin typeface="Cambria Math" panose="02040503050406030204" pitchFamily="18" charset="0"/>
                        <a:ea typeface="Cambria Math" panose="02040503050406030204" pitchFamily="18" charset="0"/>
                      </a:rPr>
                      <m:t>𝝁</m:t>
                    </m:r>
                  </m:oMath>
                </a14:m>
                <a:r>
                  <a:rPr lang="es-419" dirty="0"/>
                  <a:t> podría no estar dentro de ese intervalo, y allí radica la incertidumbre.</a:t>
                </a:r>
              </a:p>
              <a:p>
                <a:pPr>
                  <a:lnSpc>
                    <a:spcPct val="150000"/>
                  </a:lnSpc>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650E5EFB-93A1-415A-96E8-DE32FAF89FE0}"/>
                  </a:ext>
                </a:extLst>
              </p:cNvPr>
              <p:cNvSpPr>
                <a:spLocks noGrp="1" noRot="1" noChangeAspect="1" noMove="1" noResize="1" noEditPoints="1" noAdjustHandles="1" noChangeArrowheads="1" noChangeShapeType="1" noTextEdit="1"/>
              </p:cNvSpPr>
              <p:nvPr>
                <p:ph idx="1"/>
              </p:nvPr>
            </p:nvSpPr>
            <p:spPr>
              <a:blipFill>
                <a:blip r:embed="rId2"/>
                <a:stretch>
                  <a:fillRect l="-522" r="-928"/>
                </a:stretch>
              </a:blipFill>
            </p:spPr>
            <p:txBody>
              <a:bodyPr/>
              <a:lstStyle/>
              <a:p>
                <a:r>
                  <a:rPr lang="es-419">
                    <a:noFill/>
                  </a:rPr>
                  <a:t> </a:t>
                </a:r>
              </a:p>
            </p:txBody>
          </p:sp>
        </mc:Fallback>
      </mc:AlternateContent>
    </p:spTree>
    <p:extLst>
      <p:ext uri="{BB962C8B-B14F-4D97-AF65-F5344CB8AC3E}">
        <p14:creationId xmlns:p14="http://schemas.microsoft.com/office/powerpoint/2010/main" val="37926321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Confianza: proporción de intervalos que contienen a </a:t>
                </a:r>
                <a14:m>
                  <m:oMath xmlns:m="http://schemas.openxmlformats.org/officeDocument/2006/math">
                    <m:r>
                      <a:rPr lang="es-419" b="1" i="1" smtClean="0">
                        <a:solidFill>
                          <a:srgbClr val="003A5D"/>
                        </a:solidFill>
                        <a:latin typeface="Cambria Math" panose="02040503050406030204" pitchFamily="18" charset="0"/>
                        <a:ea typeface="Cambria Math" panose="02040503050406030204" pitchFamily="18" charset="0"/>
                      </a:rPr>
                      <m:t>𝝁</m:t>
                    </m:r>
                  </m:oMath>
                </a14:m>
                <a:r>
                  <a:rPr lang="es-419" dirty="0"/>
                  <a:t> </a:t>
                </a:r>
                <a:endParaRPr lang="en-US" dirty="0"/>
              </a:p>
            </p:txBody>
          </p:sp>
        </mc:Choice>
        <mc:Fallback xmlns="">
          <p:sp>
            <p:nvSpPr>
              <p:cNvPr id="2" name="Title 1">
                <a:extLst>
                  <a:ext uri="{FF2B5EF4-FFF2-40B4-BE49-F238E27FC236}">
                    <a16:creationId xmlns:a16="http://schemas.microsoft.com/office/drawing/2014/main" id="{44C5C2F5-AB6D-4DC9-89B1-BA648969079A}"/>
                  </a:ext>
                </a:extLst>
              </p:cNvPr>
              <p:cNvSpPr>
                <a:spLocks noGrp="1" noRot="1" noChangeAspect="1" noMove="1" noResize="1" noEditPoints="1" noAdjustHandles="1" noChangeArrowheads="1" noChangeShapeType="1" noTextEdit="1"/>
              </p:cNvSpPr>
              <p:nvPr>
                <p:ph type="title"/>
              </p:nvPr>
            </p:nvSpPr>
            <p:spPr>
              <a:blipFill>
                <a:blip r:embed="rId2"/>
                <a:stretch>
                  <a:fillRect l="-1507" t="-8257" b="-21101"/>
                </a:stretch>
              </a:blipFill>
            </p:spPr>
            <p:txBody>
              <a:bodyPr/>
              <a:lstStyle/>
              <a:p>
                <a:r>
                  <a:rPr lang="es-419">
                    <a:noFill/>
                  </a:rPr>
                  <a:t> </a:t>
                </a:r>
              </a:p>
            </p:txBody>
          </p:sp>
        </mc:Fallback>
      </mc:AlternateContent>
      <p:pic>
        <p:nvPicPr>
          <p:cNvPr id="2050" name="Picture 2">
            <a:extLst>
              <a:ext uri="{FF2B5EF4-FFF2-40B4-BE49-F238E27FC236}">
                <a16:creationId xmlns:a16="http://schemas.microsoft.com/office/drawing/2014/main" id="{20CADE8F-DF7C-41D6-B9FC-1AD420E98BF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15089" y="855000"/>
            <a:ext cx="6961822" cy="51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61001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Interpretación correcta</a:t>
            </a:r>
            <a:endParaRPr lang="en-US" dirty="0"/>
          </a:p>
        </p:txBody>
      </p:sp>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r>
              <a:rPr lang="es-419" dirty="0"/>
              <a:t>Para un intervalo de confianza de 95%:</a:t>
            </a:r>
          </a:p>
          <a:p>
            <a:pPr marL="0" indent="0" algn="just">
              <a:lnSpc>
                <a:spcPct val="150000"/>
              </a:lnSpc>
              <a:buNone/>
            </a:pPr>
            <a:r>
              <a:rPr lang="es-419" i="1" dirty="0"/>
              <a:t>“Si este proceso muestral se repitiera numerosos veces, la proporción de intervalos de confianza que capturarían el valor del parámetro poblacional tendería a 95</a:t>
            </a:r>
            <a:r>
              <a:rPr lang="es-419" i="1" dirty="0" smtClean="0"/>
              <a:t>%”.</a:t>
            </a:r>
          </a:p>
          <a:p>
            <a:pPr algn="just">
              <a:lnSpc>
                <a:spcPct val="150000"/>
              </a:lnSpc>
            </a:pPr>
            <a:r>
              <a:rPr lang="es-419" dirty="0" smtClean="0"/>
              <a:t>Es una afirmación de la confianza sobre el algoritmo del cual salen los intervalos, no sobre un intervalo específico.</a:t>
            </a:r>
            <a:endParaRPr lang="es-419" dirty="0"/>
          </a:p>
        </p:txBody>
      </p:sp>
    </p:spTree>
    <p:extLst>
      <p:ext uri="{BB962C8B-B14F-4D97-AF65-F5344CB8AC3E}">
        <p14:creationId xmlns:p14="http://schemas.microsoft.com/office/powerpoint/2010/main" val="23649944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smtClean="0"/>
              <a:t>Certeza vs “precisión”</a:t>
            </a:r>
            <a:endParaRPr lang="en-US" dirty="0"/>
          </a:p>
        </p:txBody>
      </p:sp>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r>
              <a:rPr lang="es-419" dirty="0" smtClean="0"/>
              <a:t>Aunque intuitivamente un intervalo más pequeño aparentemente sea más “preciso” hay que recordar:</a:t>
            </a:r>
          </a:p>
          <a:p>
            <a:pPr lvl="1">
              <a:lnSpc>
                <a:spcPct val="150000"/>
              </a:lnSpc>
            </a:pPr>
            <a:r>
              <a:rPr lang="es-419" dirty="0" smtClean="0"/>
              <a:t>No hay necesariamente relación entre la varianza de una muestra y su media.</a:t>
            </a:r>
          </a:p>
          <a:p>
            <a:pPr lvl="1">
              <a:lnSpc>
                <a:spcPct val="150000"/>
              </a:lnSpc>
            </a:pPr>
            <a:r>
              <a:rPr lang="es-419" dirty="0" smtClean="0"/>
              <a:t>Un intervalo pequeño puede igualmente estar lejos de la media del parámetro.</a:t>
            </a:r>
          </a:p>
          <a:p>
            <a:pPr lvl="1">
              <a:lnSpc>
                <a:spcPct val="150000"/>
              </a:lnSpc>
            </a:pPr>
            <a:r>
              <a:rPr lang="es-419" dirty="0" smtClean="0"/>
              <a:t>Lo que importa es la cobertura a largo plazo de los intervalos sobre el parámetro.</a:t>
            </a:r>
            <a:endParaRPr lang="es-419" dirty="0" smtClean="0"/>
          </a:p>
          <a:p>
            <a:pPr lvl="1">
              <a:lnSpc>
                <a:spcPct val="150000"/>
              </a:lnSpc>
            </a:pPr>
            <a:endParaRPr lang="es-419" dirty="0" smtClean="0"/>
          </a:p>
          <a:p>
            <a:pPr>
              <a:lnSpc>
                <a:spcPct val="150000"/>
              </a:lnSpc>
            </a:pPr>
            <a:endParaRPr lang="es-419" dirty="0"/>
          </a:p>
        </p:txBody>
      </p:sp>
    </p:spTree>
    <p:extLst>
      <p:ext uri="{BB962C8B-B14F-4D97-AF65-F5344CB8AC3E}">
        <p14:creationId xmlns:p14="http://schemas.microsoft.com/office/powerpoint/2010/main" val="4915139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Intervalos de confianza para la media de una población</a:t>
            </a:r>
            <a:endParaRPr lang="es-419" dirty="0"/>
          </a:p>
        </p:txBody>
      </p:sp>
      <p:sp>
        <p:nvSpPr>
          <p:cNvPr id="2" name="Marcador de texto 1"/>
          <p:cNvSpPr>
            <a:spLocks noGrp="1"/>
          </p:cNvSpPr>
          <p:nvPr>
            <p:ph type="body" idx="1"/>
          </p:nvPr>
        </p:nvSpPr>
        <p:spPr/>
        <p:txBody>
          <a:bodyPr/>
          <a:lstStyle/>
          <a:p>
            <a:r>
              <a:rPr lang="es-VE" dirty="0"/>
              <a:t>Definición y tipos</a:t>
            </a:r>
            <a:endParaRPr lang="en-US" dirty="0"/>
          </a:p>
        </p:txBody>
      </p:sp>
    </p:spTree>
    <p:extLst>
      <p:ext uri="{BB962C8B-B14F-4D97-AF65-F5344CB8AC3E}">
        <p14:creationId xmlns:p14="http://schemas.microsoft.com/office/powerpoint/2010/main" val="16571322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Intervalos de confianza para la media de una población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marL="514350" indent="-514350">
                  <a:lnSpc>
                    <a:spcPct val="150000"/>
                  </a:lnSpc>
                  <a:buFont typeface="+mj-lt"/>
                  <a:buAutoNum type="alphaLcPeriod"/>
                </a:pPr>
                <a:r>
                  <a:rPr lang="es-419" dirty="0"/>
                  <a:t>Cuando la varianza poblacional </a:t>
                </a:r>
                <a14:m>
                  <m:oMath xmlns:m="http://schemas.openxmlformats.org/officeDocument/2006/math">
                    <m:sSup>
                      <m:sSupPr>
                        <m:ctrlPr>
                          <a:rPr lang="es-419" b="0" i="1" dirty="0" smtClean="0">
                            <a:latin typeface="Cambria Math" panose="02040503050406030204" pitchFamily="18" charset="0"/>
                            <a:ea typeface="Cambria Math" panose="02040503050406030204" pitchFamily="18" charset="0"/>
                          </a:rPr>
                        </m:ctrlPr>
                      </m:sSupPr>
                      <m:e>
                        <m:r>
                          <a:rPr lang="es-419" b="0" i="1" dirty="0" smtClean="0">
                            <a:latin typeface="Cambria Math" panose="02040503050406030204" pitchFamily="18" charset="0"/>
                            <a:ea typeface="Cambria Math" panose="02040503050406030204" pitchFamily="18" charset="0"/>
                          </a:rPr>
                          <m:t>𝜎</m:t>
                        </m:r>
                      </m:e>
                      <m:sup>
                        <m:r>
                          <a:rPr lang="es-419" b="0" i="1" dirty="0" smtClean="0">
                            <a:latin typeface="Cambria Math" panose="02040503050406030204" pitchFamily="18" charset="0"/>
                            <a:ea typeface="Cambria Math" panose="02040503050406030204" pitchFamily="18" charset="0"/>
                          </a:rPr>
                          <m:t>2</m:t>
                        </m:r>
                      </m:sup>
                    </m:sSup>
                    <m:r>
                      <a:rPr lang="es-419" b="0" i="1" dirty="0" smtClean="0">
                        <a:latin typeface="Cambria Math" panose="02040503050406030204" pitchFamily="18" charset="0"/>
                        <a:ea typeface="Cambria Math" panose="02040503050406030204" pitchFamily="18" charset="0"/>
                      </a:rPr>
                      <m:t> </m:t>
                    </m:r>
                  </m:oMath>
                </a14:m>
                <a:r>
                  <a:rPr lang="es-419" dirty="0"/>
                  <a:t> es </a:t>
                </a:r>
                <a:r>
                  <a:rPr lang="es-419" b="1" dirty="0">
                    <a:solidFill>
                      <a:srgbClr val="003A5D"/>
                    </a:solidFill>
                  </a:rPr>
                  <a:t>conocida</a:t>
                </a:r>
                <a:r>
                  <a:rPr lang="es-419" dirty="0"/>
                  <a:t>:</a:t>
                </a:r>
              </a:p>
              <a:p>
                <a:pPr>
                  <a:lnSpc>
                    <a:spcPct val="150000"/>
                  </a:lnSpc>
                </a:pPr>
                <a:r>
                  <a:rPr lang="es-419" dirty="0"/>
                  <a:t>Ya vimos la construcción a partir de la distribución del estadístico.</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𝑁</m:t>
                      </m:r>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𝜇</m:t>
                          </m:r>
                          <m:r>
                            <a:rPr lang="es-419" b="0" i="1" dirty="0" smtClean="0">
                              <a:latin typeface="Cambria Math" panose="02040503050406030204" pitchFamily="18" charset="0"/>
                              <a:ea typeface="Cambria Math" panose="02040503050406030204" pitchFamily="18" charset="0"/>
                            </a:rPr>
                            <m:t>,</m:t>
                          </m:r>
                          <m:f>
                            <m:fPr>
                              <m:ctrlPr>
                                <a:rPr lang="es-419" b="0" i="1" dirty="0" smtClean="0">
                                  <a:latin typeface="Cambria Math" panose="02040503050406030204" pitchFamily="18" charset="0"/>
                                  <a:ea typeface="Cambria Math" panose="02040503050406030204" pitchFamily="18" charset="0"/>
                                </a:rPr>
                              </m:ctrlPr>
                            </m:fPr>
                            <m:num>
                              <m:sSup>
                                <m:sSupPr>
                                  <m:ctrlPr>
                                    <a:rPr lang="es-419" b="0" i="1" dirty="0" smtClean="0">
                                      <a:latin typeface="Cambria Math" panose="02040503050406030204" pitchFamily="18" charset="0"/>
                                      <a:ea typeface="Cambria Math" panose="02040503050406030204" pitchFamily="18" charset="0"/>
                                    </a:rPr>
                                  </m:ctrlPr>
                                </m:sSupPr>
                                <m:e>
                                  <m:r>
                                    <a:rPr lang="es-419" b="0" i="1" dirty="0" smtClean="0">
                                      <a:latin typeface="Cambria Math" panose="02040503050406030204" pitchFamily="18" charset="0"/>
                                      <a:ea typeface="Cambria Math" panose="02040503050406030204" pitchFamily="18" charset="0"/>
                                    </a:rPr>
                                    <m:t>𝜎</m:t>
                                  </m:r>
                                </m:e>
                                <m:sup>
                                  <m:r>
                                    <a:rPr lang="es-419" b="0" i="1" dirty="0" smtClean="0">
                                      <a:latin typeface="Cambria Math" panose="02040503050406030204" pitchFamily="18" charset="0"/>
                                      <a:ea typeface="Cambria Math" panose="02040503050406030204" pitchFamily="18" charset="0"/>
                                    </a:rPr>
                                    <m:t>2</m:t>
                                  </m:r>
                                </m:sup>
                              </m:sSup>
                            </m:num>
                            <m:den>
                              <m:r>
                                <a:rPr lang="es-419" b="0" i="1" dirty="0" smtClean="0">
                                  <a:latin typeface="Cambria Math" panose="02040503050406030204" pitchFamily="18" charset="0"/>
                                  <a:ea typeface="Cambria Math" panose="02040503050406030204" pitchFamily="18" charset="0"/>
                                </a:rPr>
                                <m:t>𝑛</m:t>
                              </m:r>
                            </m:den>
                          </m:f>
                        </m:e>
                      </m:d>
                      <m:r>
                        <a:rPr lang="es-VE" b="0" i="1" dirty="0" smtClean="0">
                          <a:latin typeface="Cambria Math" panose="02040503050406030204" pitchFamily="18" charset="0"/>
                          <a:ea typeface="Cambria Math" panose="02040503050406030204" pitchFamily="18" charset="0"/>
                        </a:rPr>
                        <m:t>;</m:t>
                      </m:r>
                      <m:acc>
                        <m:accPr>
                          <m:chr m:val="̅"/>
                          <m:ctrlPr>
                            <a:rPr lang="es-419" i="1" dirty="0" smtClean="0">
                              <a:latin typeface="Cambria Math" panose="02040503050406030204" pitchFamily="18" charset="0"/>
                              <a:ea typeface="Cambria Math" panose="02040503050406030204" pitchFamily="18" charset="0"/>
                            </a:rPr>
                          </m:ctrlPr>
                        </m:accPr>
                        <m:e>
                          <m:r>
                            <a:rPr lang="es-419" b="0" i="1" dirty="0" smtClean="0">
                              <a:latin typeface="Cambria Math" panose="02040503050406030204" pitchFamily="18" charset="0"/>
                              <a:ea typeface="Cambria Math" panose="02040503050406030204" pitchFamily="18" charset="0"/>
                            </a:rPr>
                            <m:t>𝑍</m:t>
                          </m:r>
                        </m:e>
                      </m:acc>
                      <m:r>
                        <a:rPr lang="es-419" b="0" i="1" dirty="0" smtClean="0">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i="1" dirty="0">
                              <a:latin typeface="Cambria Math" panose="02040503050406030204" pitchFamily="18" charset="0"/>
                              <a:ea typeface="Cambria Math" panose="02040503050406030204" pitchFamily="18" charset="0"/>
                            </a:rPr>
                            <m:t>𝜎</m:t>
                          </m:r>
                        </m:den>
                      </m:f>
                      <m:r>
                        <a:rPr lang="es-419"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𝑁</m:t>
                      </m:r>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0,1</m:t>
                          </m:r>
                        </m:e>
                      </m:d>
                    </m:oMath>
                  </m:oMathPara>
                </a14:m>
                <a:endParaRPr lang="es-419" b="0"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El intervalo de confianza termina siendo:</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VE" i="1" dirty="0">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VE" i="1">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Simplificado:</a:t>
                </a:r>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m:oMathPara>
                </a14:m>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s-VE">
                    <a:noFill/>
                  </a:rPr>
                  <a:t> </a:t>
                </a:r>
              </a:p>
            </p:txBody>
          </p:sp>
        </mc:Fallback>
      </mc:AlternateContent>
    </p:spTree>
    <p:extLst>
      <p:ext uri="{BB962C8B-B14F-4D97-AF65-F5344CB8AC3E}">
        <p14:creationId xmlns:p14="http://schemas.microsoft.com/office/powerpoint/2010/main" val="25416289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BDB2-E18E-4378-A323-B877A523DC2E}"/>
              </a:ext>
            </a:extLst>
          </p:cNvPr>
          <p:cNvSpPr>
            <a:spLocks noGrp="1"/>
          </p:cNvSpPr>
          <p:nvPr>
            <p:ph type="title"/>
          </p:nvPr>
        </p:nvSpPr>
        <p:spPr/>
        <p:txBody>
          <a:bodyPr/>
          <a:lstStyle/>
          <a:p>
            <a:r>
              <a:rPr lang="es-419" dirty="0"/>
              <a:t>Resuelto 9.1</a:t>
            </a:r>
          </a:p>
        </p:txBody>
      </p:sp>
      <p:sp>
        <p:nvSpPr>
          <p:cNvPr id="3" name="Content Placeholder 2">
            <a:extLst>
              <a:ext uri="{FF2B5EF4-FFF2-40B4-BE49-F238E27FC236}">
                <a16:creationId xmlns:a16="http://schemas.microsoft.com/office/drawing/2014/main" id="{24955348-03DD-42CE-B1C6-3C00C43A3150}"/>
              </a:ext>
            </a:extLst>
          </p:cNvPr>
          <p:cNvSpPr>
            <a:spLocks noGrp="1"/>
          </p:cNvSpPr>
          <p:nvPr>
            <p:ph idx="1"/>
          </p:nvPr>
        </p:nvSpPr>
        <p:spPr/>
        <p:txBody>
          <a:bodyPr/>
          <a:lstStyle/>
          <a:p>
            <a:pPr marL="0" indent="0">
              <a:lnSpc>
                <a:spcPct val="150000"/>
              </a:lnSpc>
              <a:buNone/>
            </a:pPr>
            <a:r>
              <a:rPr lang="es-419" i="1" dirty="0"/>
              <a:t>Encuentre un intervalo de confianza del 90% para la media de una población</a:t>
            </a:r>
            <a:r>
              <a:rPr lang="es-VE" i="1" dirty="0"/>
              <a:t> normal con  </a:t>
            </a:r>
            <a:r>
              <a:rPr lang="el-GR" dirty="0"/>
              <a:t>σ</a:t>
            </a:r>
            <a:r>
              <a:rPr lang="es-VE" dirty="0"/>
              <a:t> </a:t>
            </a:r>
            <a:r>
              <a:rPr lang="es-VE" i="1" dirty="0"/>
              <a:t>= 3, si una muestra de 4 elementos dio los siguientes resultados:</a:t>
            </a:r>
          </a:p>
          <a:p>
            <a:pPr marL="0" indent="0" algn="ctr">
              <a:lnSpc>
                <a:spcPct val="150000"/>
              </a:lnSpc>
              <a:buNone/>
            </a:pPr>
            <a:r>
              <a:rPr lang="es-VE" i="1" dirty="0"/>
              <a:t>x</a:t>
            </a:r>
            <a:r>
              <a:rPr lang="es-VE" i="1" baseline="-25000" dirty="0"/>
              <a:t>1</a:t>
            </a:r>
            <a:r>
              <a:rPr lang="es-VE" i="1" dirty="0"/>
              <a:t> = 2,4; x</a:t>
            </a:r>
            <a:r>
              <a:rPr lang="es-VE" i="1" baseline="-25000" dirty="0"/>
              <a:t>2</a:t>
            </a:r>
            <a:r>
              <a:rPr lang="es-VE" i="1" dirty="0"/>
              <a:t> = 3,1; x</a:t>
            </a:r>
            <a:r>
              <a:rPr lang="es-VE" i="1" baseline="-25000" dirty="0"/>
              <a:t>3</a:t>
            </a:r>
            <a:r>
              <a:rPr lang="es-VE" i="1" dirty="0"/>
              <a:t> = -0,7; x</a:t>
            </a:r>
            <a:r>
              <a:rPr lang="es-VE" i="1" baseline="-25000" dirty="0"/>
              <a:t>4</a:t>
            </a:r>
            <a:r>
              <a:rPr lang="es-VE" i="1" dirty="0"/>
              <a:t> = -0,6</a:t>
            </a:r>
          </a:p>
          <a:p>
            <a:pPr marL="0" indent="0">
              <a:buNone/>
            </a:pPr>
            <a:endParaRPr lang="es-419" i="1" dirty="0"/>
          </a:p>
        </p:txBody>
      </p:sp>
    </p:spTree>
    <p:extLst>
      <p:ext uri="{BB962C8B-B14F-4D97-AF65-F5344CB8AC3E}">
        <p14:creationId xmlns:p14="http://schemas.microsoft.com/office/powerpoint/2010/main" val="12356607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57003"/>
            <a:ext cx="10515600" cy="5419960"/>
          </a:xfrm>
          <a:solidFill>
            <a:srgbClr val="E7E6E6">
              <a:alpha val="50196"/>
            </a:srgbClr>
          </a:solidFill>
        </p:spPr>
        <p:txBody>
          <a:bodyPr vert="horz" lIns="91440" tIns="45720" rIns="91440" bIns="45720" rtlCol="0">
            <a:normAutofit fontScale="77500" lnSpcReduction="20000"/>
          </a:bodyPr>
          <a:lstStyle/>
          <a:p>
            <a:pPr marL="0" indent="0">
              <a:buNone/>
            </a:pPr>
            <a:r>
              <a:rPr lang="es-ES" dirty="0">
                <a:latin typeface="Consolas" panose="020B0609020204030204" pitchFamily="49" charset="0"/>
              </a:rPr>
              <a:t>&gt; </a:t>
            </a:r>
            <a:r>
              <a:rPr lang="es-ES" dirty="0" err="1">
                <a:latin typeface="Consolas" panose="020B0609020204030204" pitchFamily="49" charset="0"/>
              </a:rPr>
              <a:t>ic</a:t>
            </a:r>
            <a:r>
              <a:rPr lang="es-ES" dirty="0">
                <a:latin typeface="Consolas" panose="020B0609020204030204" pitchFamily="49" charset="0"/>
              </a:rPr>
              <a:t> &lt;- 0.90</a:t>
            </a:r>
          </a:p>
          <a:p>
            <a:pPr marL="0" indent="0">
              <a:buNone/>
            </a:pPr>
            <a:r>
              <a:rPr lang="es-ES" dirty="0">
                <a:latin typeface="Consolas" panose="020B0609020204030204" pitchFamily="49" charset="0"/>
              </a:rPr>
              <a:t>&gt; a &lt;- 1 - </a:t>
            </a:r>
            <a:r>
              <a:rPr lang="es-ES" dirty="0" err="1">
                <a:latin typeface="Consolas" panose="020B0609020204030204" pitchFamily="49" charset="0"/>
              </a:rPr>
              <a:t>ic</a:t>
            </a: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sd_p</a:t>
            </a:r>
            <a:r>
              <a:rPr lang="es-ES" dirty="0">
                <a:latin typeface="Consolas" panose="020B0609020204030204" pitchFamily="49" charset="0"/>
              </a:rPr>
              <a:t> &lt;- 3</a:t>
            </a:r>
          </a:p>
          <a:p>
            <a:pPr marL="0" indent="0">
              <a:buNone/>
            </a:pPr>
            <a:r>
              <a:rPr lang="es-ES" dirty="0">
                <a:latin typeface="Consolas" panose="020B0609020204030204" pitchFamily="49" charset="0"/>
              </a:rPr>
              <a:t>&gt; muestra &lt;- c(2.4, 3.1, -0.7, -0.6)</a:t>
            </a:r>
          </a:p>
          <a:p>
            <a:pPr marL="0" indent="0">
              <a:buNone/>
            </a:pPr>
            <a:r>
              <a:rPr lang="es-ES" dirty="0">
                <a:latin typeface="Consolas" panose="020B0609020204030204" pitchFamily="49" charset="0"/>
              </a:rPr>
              <a:t>&gt; n &lt;- </a:t>
            </a:r>
            <a:r>
              <a:rPr lang="es-ES" dirty="0" err="1">
                <a:latin typeface="Consolas" panose="020B0609020204030204" pitchFamily="49" charset="0"/>
              </a:rPr>
              <a:t>length</a:t>
            </a:r>
            <a:r>
              <a:rPr lang="es-ES" dirty="0">
                <a:latin typeface="Consolas" panose="020B0609020204030204" pitchFamily="49" charset="0"/>
              </a:rPr>
              <a:t>(muestra)</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a:t>
            </a:r>
            <a:r>
              <a:rPr lang="es-ES" dirty="0" err="1">
                <a:latin typeface="Consolas" panose="020B0609020204030204" pitchFamily="49" charset="0"/>
              </a:rPr>
              <a:t>x_hat</a:t>
            </a:r>
            <a:r>
              <a:rPr lang="es-ES" dirty="0">
                <a:latin typeface="Consolas" panose="020B0609020204030204" pitchFamily="49" charset="0"/>
              </a:rPr>
              <a:t> &lt;- mean(muestra)</a:t>
            </a:r>
          </a:p>
          <a:p>
            <a:pPr marL="0" indent="0">
              <a:buNone/>
            </a:pPr>
            <a:r>
              <a:rPr lang="es-ES" dirty="0">
                <a:latin typeface="Consolas" panose="020B0609020204030204" pitchFamily="49" charset="0"/>
              </a:rPr>
              <a:t>&gt; </a:t>
            </a:r>
            <a:r>
              <a:rPr lang="es-ES" dirty="0" err="1">
                <a:latin typeface="Consolas" panose="020B0609020204030204" pitchFamily="49" charset="0"/>
              </a:rPr>
              <a:t>x_hat</a:t>
            </a:r>
            <a:endParaRPr lang="es-ES" dirty="0">
              <a:latin typeface="Consolas" panose="020B0609020204030204" pitchFamily="49" charset="0"/>
            </a:endParaRPr>
          </a:p>
          <a:p>
            <a:pPr marL="0" indent="0">
              <a:buNone/>
            </a:pPr>
            <a:r>
              <a:rPr lang="es-ES" dirty="0">
                <a:latin typeface="Consolas" panose="020B0609020204030204" pitchFamily="49" charset="0"/>
              </a:rPr>
              <a:t>[1] 1.05</a:t>
            </a: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c(inferior =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qnorm</a:t>
            </a:r>
            <a:r>
              <a:rPr lang="es-ES" dirty="0">
                <a:latin typeface="Consolas" panose="020B0609020204030204" pitchFamily="49" charset="0"/>
              </a:rPr>
              <a:t>(a/2, </a:t>
            </a:r>
            <a:r>
              <a:rPr lang="es-ES" dirty="0" err="1">
                <a:latin typeface="Consolas" panose="020B0609020204030204" pitchFamily="49" charset="0"/>
              </a:rPr>
              <a:t>lower.tail</a:t>
            </a:r>
            <a:r>
              <a:rPr lang="es-ES" dirty="0">
                <a:latin typeface="Consolas" panose="020B0609020204030204" pitchFamily="49" charset="0"/>
              </a:rPr>
              <a:t> = FALSE)*</a:t>
            </a:r>
            <a:r>
              <a:rPr lang="es-ES" dirty="0" err="1">
                <a:latin typeface="Consolas" panose="020B0609020204030204" pitchFamily="49" charset="0"/>
              </a:rPr>
              <a:t>sd_p</a:t>
            </a:r>
            <a:r>
              <a:rPr lang="es-ES" dirty="0">
                <a:latin typeface="Consolas" panose="020B0609020204030204" pitchFamily="49" charset="0"/>
              </a:rPr>
              <a:t>/</a:t>
            </a:r>
            <a:r>
              <a:rPr lang="es-ES" dirty="0" err="1">
                <a:latin typeface="Consolas" panose="020B0609020204030204" pitchFamily="49" charset="0"/>
              </a:rPr>
              <a:t>sqrt</a:t>
            </a:r>
            <a:r>
              <a:rPr lang="es-ES" dirty="0">
                <a:latin typeface="Consolas" panose="020B0609020204030204" pitchFamily="49" charset="0"/>
              </a:rPr>
              <a:t>(n), </a:t>
            </a:r>
          </a:p>
          <a:p>
            <a:pPr marL="0" indent="0">
              <a:buNone/>
            </a:pPr>
            <a:r>
              <a:rPr lang="es-ES" dirty="0">
                <a:latin typeface="Consolas" panose="020B0609020204030204" pitchFamily="49" charset="0"/>
              </a:rPr>
              <a:t>+   superior =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qnorm</a:t>
            </a:r>
            <a:r>
              <a:rPr lang="es-ES" dirty="0">
                <a:latin typeface="Consolas" panose="020B0609020204030204" pitchFamily="49" charset="0"/>
              </a:rPr>
              <a:t>(a/2, </a:t>
            </a:r>
            <a:r>
              <a:rPr lang="es-ES" dirty="0" err="1">
                <a:latin typeface="Consolas" panose="020B0609020204030204" pitchFamily="49" charset="0"/>
              </a:rPr>
              <a:t>lower.tail</a:t>
            </a:r>
            <a:r>
              <a:rPr lang="es-ES" dirty="0">
                <a:latin typeface="Consolas" panose="020B0609020204030204" pitchFamily="49" charset="0"/>
              </a:rPr>
              <a:t> = FALSE)*</a:t>
            </a:r>
            <a:r>
              <a:rPr lang="es-ES" dirty="0" err="1">
                <a:latin typeface="Consolas" panose="020B0609020204030204" pitchFamily="49" charset="0"/>
              </a:rPr>
              <a:t>sd_p</a:t>
            </a:r>
            <a:r>
              <a:rPr lang="es-ES" dirty="0">
                <a:latin typeface="Consolas" panose="020B0609020204030204" pitchFamily="49" charset="0"/>
              </a:rPr>
              <a:t>/</a:t>
            </a:r>
            <a:r>
              <a:rPr lang="es-ES" dirty="0" err="1">
                <a:latin typeface="Consolas" panose="020B0609020204030204" pitchFamily="49" charset="0"/>
              </a:rPr>
              <a:t>sqrt</a:t>
            </a:r>
            <a:r>
              <a:rPr lang="es-ES" dirty="0">
                <a:latin typeface="Consolas" panose="020B0609020204030204" pitchFamily="49" charset="0"/>
              </a:rPr>
              <a:t>(n))</a:t>
            </a:r>
          </a:p>
          <a:p>
            <a:pPr marL="0" indent="0">
              <a:buNone/>
            </a:pPr>
            <a:r>
              <a:rPr lang="es-ES" dirty="0">
                <a:highlight>
                  <a:srgbClr val="FFFF00"/>
                </a:highlight>
                <a:latin typeface="Consolas" panose="020B0609020204030204" pitchFamily="49" charset="0"/>
              </a:rPr>
              <a:t>inferior superior </a:t>
            </a:r>
          </a:p>
          <a:p>
            <a:pPr marL="0" indent="0">
              <a:buNone/>
            </a:pPr>
            <a:r>
              <a:rPr lang="es-ES" dirty="0">
                <a:highlight>
                  <a:srgbClr val="FFFF00"/>
                </a:highlight>
                <a:latin typeface="Consolas" panose="020B0609020204030204" pitchFamily="49" charset="0"/>
              </a:rPr>
              <a:t>-1.41728  3.51728</a:t>
            </a:r>
          </a:p>
        </p:txBody>
      </p:sp>
    </p:spTree>
    <p:extLst>
      <p:ext uri="{BB962C8B-B14F-4D97-AF65-F5344CB8AC3E}">
        <p14:creationId xmlns:p14="http://schemas.microsoft.com/office/powerpoint/2010/main" val="25276004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Intervalos de confianza para la media de una población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marL="514350" indent="-514350">
                  <a:lnSpc>
                    <a:spcPct val="150000"/>
                  </a:lnSpc>
                  <a:buFont typeface="+mj-lt"/>
                  <a:buAutoNum type="alphaLcPeriod" startAt="2"/>
                </a:pPr>
                <a:r>
                  <a:rPr lang="es-419" dirty="0"/>
                  <a:t>Con varianza poblacional </a:t>
                </a:r>
                <a:r>
                  <a:rPr lang="es-419" b="1" dirty="0">
                    <a:solidFill>
                      <a:srgbClr val="003A5D"/>
                    </a:solidFill>
                  </a:rPr>
                  <a:t>desconocida</a:t>
                </a:r>
                <a:r>
                  <a:rPr lang="es-419" dirty="0"/>
                  <a:t> (empleando varianza muestral insesgada):</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dirty="0" smtClean="0">
                          <a:latin typeface="Cambria Math" panose="02040503050406030204" pitchFamily="18" charset="0"/>
                          <a:ea typeface="Cambria Math" panose="02040503050406030204" pitchFamily="18" charset="0"/>
                        </a:rPr>
                        <m:t>𝑡</m:t>
                      </m:r>
                      <m:r>
                        <a:rPr lang="es-419" b="0" i="1" dirty="0" smtClean="0">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b="0" i="1" dirty="0" smtClean="0">
                              <a:latin typeface="Cambria Math" panose="02040503050406030204" pitchFamily="18" charset="0"/>
                              <a:ea typeface="Cambria Math" panose="02040503050406030204" pitchFamily="18" charset="0"/>
                            </a:rPr>
                            <m:t>𝑆</m:t>
                          </m:r>
                        </m:den>
                      </m:f>
                      <m:r>
                        <a:rPr lang="es-419"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𝑇</m:t>
                      </m:r>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−1</m:t>
                          </m:r>
                        </m:e>
                      </m:d>
                    </m:oMath>
                  </m:oMathPara>
                </a14:m>
                <a:endParaRPr lang="es-419" b="0"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num>
                            <m:den>
                              <m:r>
                                <a:rPr lang="es-419" b="0" i="1" dirty="0" smtClean="0">
                                  <a:latin typeface="Cambria Math" panose="02040503050406030204" pitchFamily="18" charset="0"/>
                                  <a:ea typeface="Cambria Math" panose="02040503050406030204" pitchFamily="18" charset="0"/>
                                </a:rPr>
                                <m:t>𝑆</m:t>
                              </m:r>
                            </m:den>
                          </m:f>
                          <m:r>
                            <a:rPr lang="es-419" i="1" dirty="0"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b="0" i="1" smtClean="0">
                            <a:solidFill>
                              <a:srgbClr val="003A5D"/>
                            </a:solidFill>
                            <a:latin typeface="Cambria Math" panose="02040503050406030204" pitchFamily="18" charset="0"/>
                            <a:ea typeface="Cambria Math" panose="02040503050406030204" pitchFamily="18" charset="0"/>
                          </a:rPr>
                          <m:t>𝑆</m:t>
                        </m:r>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b="0" i="1" smtClean="0">
                            <a:solidFill>
                              <a:srgbClr val="003A5D"/>
                            </a:solidFill>
                            <a:latin typeface="Cambria Math" panose="02040503050406030204" pitchFamily="18" charset="0"/>
                            <a:ea typeface="Cambria Math" panose="02040503050406030204" pitchFamily="18" charset="0"/>
                          </a:rPr>
                          <m:t>𝑆</m:t>
                        </m:r>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dirty="0">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r>
                          <a:rPr lang="es-419" i="1">
                            <a:solidFill>
                              <a:srgbClr val="003A5D"/>
                            </a:solidFill>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solidFill>
                              <a:srgbClr val="003A5D"/>
                            </a:solidFill>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dirty="0">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r>
                      <a:rPr lang="es-419"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b="0" i="1" smtClean="0">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b="0" i="1" smtClean="0">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startAt="3"/>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b="0" i="1" smtClean="0">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b="0" i="1" smtClean="0">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80"/>
                </a:stretch>
              </a:blipFill>
            </p:spPr>
            <p:txBody>
              <a:bodyPr/>
              <a:lstStyle/>
              <a:p>
                <a:r>
                  <a:rPr lang="es-VE">
                    <a:noFill/>
                  </a:rPr>
                  <a:t> </a:t>
                </a:r>
              </a:p>
            </p:txBody>
          </p:sp>
        </mc:Fallback>
      </mc:AlternateContent>
    </p:spTree>
    <p:extLst>
      <p:ext uri="{BB962C8B-B14F-4D97-AF65-F5344CB8AC3E}">
        <p14:creationId xmlns:p14="http://schemas.microsoft.com/office/powerpoint/2010/main" val="13010173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Intervalos de confianza para la media de una población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1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El intervalo de confianza termina siendo:</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VE" b="0" i="1" dirty="0" smtClean="0">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Simplificado:</a:t>
                </a:r>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m:oMathPara>
                </a14:m>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es-VE">
                    <a:noFill/>
                  </a:rPr>
                  <a:t> </a:t>
                </a:r>
              </a:p>
            </p:txBody>
          </p:sp>
        </mc:Fallback>
      </mc:AlternateContent>
    </p:spTree>
    <p:extLst>
      <p:ext uri="{BB962C8B-B14F-4D97-AF65-F5344CB8AC3E}">
        <p14:creationId xmlns:p14="http://schemas.microsoft.com/office/powerpoint/2010/main" val="61358419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¿Qué pasaría si usáramos la varianza muestral sesgada?</a:t>
            </a:r>
          </a:p>
        </p:txBody>
      </p:sp>
    </p:spTree>
    <p:extLst>
      <p:ext uri="{BB962C8B-B14F-4D97-AF65-F5344CB8AC3E}">
        <p14:creationId xmlns:p14="http://schemas.microsoft.com/office/powerpoint/2010/main" val="277448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Intervalos de confianza para la media de una población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a:lnSpc>
                    <a:spcPct val="150000"/>
                  </a:lnSpc>
                </a:pPr>
                <a:r>
                  <a:rPr lang="es-419" dirty="0"/>
                  <a:t>Empleando varianzas muestrales sesgadas:</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dirty="0" smtClean="0">
                          <a:latin typeface="Cambria Math" panose="02040503050406030204" pitchFamily="18" charset="0"/>
                          <a:ea typeface="Cambria Math" panose="02040503050406030204" pitchFamily="18" charset="0"/>
                        </a:rPr>
                        <m:t>𝑡</m:t>
                      </m:r>
                      <m:r>
                        <a:rPr lang="es-419" b="0" i="1" dirty="0" smtClean="0">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−1</m:t>
                              </m:r>
                            </m:e>
                          </m:rad>
                        </m:num>
                        <m:den>
                          <m:r>
                            <a:rPr lang="es-419" b="0" i="1" dirty="0" smtClean="0">
                              <a:latin typeface="Cambria Math" panose="02040503050406030204" pitchFamily="18" charset="0"/>
                              <a:ea typeface="Cambria Math" panose="02040503050406030204" pitchFamily="18" charset="0"/>
                            </a:rPr>
                            <m:t>𝑆</m:t>
                          </m:r>
                          <m:r>
                            <a:rPr lang="es-419" b="0" i="1" dirty="0" smtClean="0">
                              <a:latin typeface="Cambria Math" panose="02040503050406030204" pitchFamily="18" charset="0"/>
                              <a:ea typeface="Cambria Math" panose="02040503050406030204" pitchFamily="18" charset="0"/>
                            </a:rPr>
                            <m:t>′</m:t>
                          </m:r>
                        </m:den>
                      </m:f>
                      <m:r>
                        <a:rPr lang="es-419"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𝑇</m:t>
                      </m:r>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−1</m:t>
                          </m:r>
                        </m:e>
                      </m:d>
                    </m:oMath>
                  </m:oMathPara>
                </a14:m>
                <a:endParaRPr lang="es-419" b="0"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−1</m:t>
                                  </m:r>
                                </m:e>
                              </m:rad>
                            </m:num>
                            <m:den>
                              <m:r>
                                <a:rPr lang="es-419" i="1" dirty="0">
                                  <a:latin typeface="Cambria Math" panose="02040503050406030204" pitchFamily="18" charset="0"/>
                                  <a:ea typeface="Cambria Math" panose="02040503050406030204" pitchFamily="18" charset="0"/>
                                </a:rPr>
                                <m:t>𝑆</m:t>
                              </m:r>
                              <m:r>
                                <a:rPr lang="es-419" b="0" i="1" dirty="0" smtClean="0">
                                  <a:latin typeface="Cambria Math" panose="02040503050406030204" pitchFamily="18" charset="0"/>
                                  <a:ea typeface="Cambria Math" panose="02040503050406030204" pitchFamily="18" charset="0"/>
                                </a:rPr>
                                <m:t>′</m:t>
                              </m:r>
                            </m:den>
                          </m:f>
                          <m:r>
                            <a:rPr lang="es-419" i="1" dirty="0"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marL="0" indent="0" algn="ctr">
                  <a:lnSpc>
                    <a:spcPct val="150000"/>
                  </a:lnSpc>
                  <a:buNone/>
                </a:pPr>
                <a14:m>
                  <m:oMath xmlns:m="http://schemas.openxmlformats.org/officeDocument/2006/math">
                    <m:acc>
                      <m:accPr>
                        <m:chr m:val="̅"/>
                        <m:ctrlPr>
                          <a:rPr lang="es-419" sz="2800" i="1" dirty="0" smtClean="0">
                            <a:latin typeface="Cambria Math" panose="02040503050406030204" pitchFamily="18" charset="0"/>
                            <a:ea typeface="Cambria Math" panose="02040503050406030204" pitchFamily="18" charset="0"/>
                          </a:rPr>
                        </m:ctrlPr>
                      </m:accPr>
                      <m:e>
                        <m:r>
                          <a:rPr lang="es-419" sz="2800" i="1" dirty="0">
                            <a:latin typeface="Cambria Math" panose="02040503050406030204" pitchFamily="18" charset="0"/>
                            <a:ea typeface="Cambria Math" panose="02040503050406030204" pitchFamily="18" charset="0"/>
                          </a:rPr>
                          <m:t>𝑋</m:t>
                        </m:r>
                      </m:e>
                    </m:acc>
                    <m:r>
                      <a:rPr lang="es-419" sz="2800" i="1" dirty="0">
                        <a:latin typeface="Cambria Math" panose="02040503050406030204" pitchFamily="18" charset="0"/>
                        <a:ea typeface="Cambria Math" panose="02040503050406030204" pitchFamily="18" charset="0"/>
                      </a:rPr>
                      <m:t>∓</m:t>
                    </m:r>
                    <m:f>
                      <m:fPr>
                        <m:ctrlPr>
                          <a:rPr lang="es-419" sz="2800" i="1">
                            <a:latin typeface="Cambria Math" panose="02040503050406030204" pitchFamily="18" charset="0"/>
                            <a:ea typeface="Cambria Math" panose="02040503050406030204" pitchFamily="18" charset="0"/>
                          </a:rPr>
                        </m:ctrlPr>
                      </m:fPr>
                      <m:num>
                        <m:sSub>
                          <m:sSubPr>
                            <m:ctrlPr>
                              <a:rPr lang="es-419" sz="2800" i="1">
                                <a:latin typeface="Cambria Math" panose="02040503050406030204" pitchFamily="18" charset="0"/>
                                <a:ea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𝑡</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r>
                          <a:rPr lang="es-419" sz="2800" i="1">
                            <a:latin typeface="Cambria Math" panose="02040503050406030204" pitchFamily="18" charset="0"/>
                            <a:ea typeface="Cambria Math" panose="02040503050406030204" pitchFamily="18" charset="0"/>
                          </a:rPr>
                          <m:t>𝑆</m:t>
                        </m:r>
                        <m:r>
                          <a:rPr lang="es-419" sz="2800" b="0" i="1" smtClean="0">
                            <a:latin typeface="Cambria Math" panose="02040503050406030204" pitchFamily="18" charset="0"/>
                            <a:ea typeface="Cambria Math" panose="02040503050406030204" pitchFamily="18" charset="0"/>
                          </a:rPr>
                          <m:t>′</m:t>
                        </m:r>
                      </m:num>
                      <m:den>
                        <m:rad>
                          <m:radPr>
                            <m:degHide m:val="on"/>
                            <m:ctrlPr>
                              <a:rPr lang="es-419" sz="2800" i="1" dirty="0">
                                <a:latin typeface="Cambria Math" panose="02040503050406030204" pitchFamily="18" charset="0"/>
                                <a:ea typeface="Cambria Math" panose="02040503050406030204" pitchFamily="18" charset="0"/>
                              </a:rPr>
                            </m:ctrlPr>
                          </m:radPr>
                          <m:deg/>
                          <m:e>
                            <m:r>
                              <a:rPr lang="es-419" sz="2800" i="1" dirty="0">
                                <a:latin typeface="Cambria Math" panose="02040503050406030204" pitchFamily="18" charset="0"/>
                                <a:ea typeface="Cambria Math" panose="02040503050406030204" pitchFamily="18" charset="0"/>
                              </a:rPr>
                              <m:t>𝑛</m:t>
                            </m:r>
                            <m:r>
                              <a:rPr lang="es-419" sz="2800" i="1" dirty="0">
                                <a:latin typeface="Cambria Math" panose="02040503050406030204" pitchFamily="18" charset="0"/>
                                <a:ea typeface="Cambria Math" panose="02040503050406030204" pitchFamily="18" charset="0"/>
                              </a:rPr>
                              <m:t>−1</m:t>
                            </m:r>
                          </m:e>
                        </m:rad>
                      </m:den>
                    </m:f>
                    <m:r>
                      <a:rPr lang="es-419" sz="2800" b="0" i="1" dirty="0" smtClean="0">
                        <a:latin typeface="Cambria Math" panose="02040503050406030204" pitchFamily="18" charset="0"/>
                        <a:ea typeface="Cambria Math" panose="02040503050406030204" pitchFamily="18" charset="0"/>
                      </a:rPr>
                      <m:t>;</m:t>
                    </m:r>
                  </m:oMath>
                </a14:m>
                <a:r>
                  <a:rPr lang="es-419" sz="2800" dirty="0">
                    <a:ea typeface="Cambria Math" panose="02040503050406030204" pitchFamily="18" charset="0"/>
                  </a:rPr>
                  <a:t> </a:t>
                </a:r>
                <a14:m>
                  <m:oMath xmlns:m="http://schemas.openxmlformats.org/officeDocument/2006/math">
                    <m:sSub>
                      <m:sSubPr>
                        <m:ctrlPr>
                          <a:rPr lang="es-419" sz="2800" i="1">
                            <a:latin typeface="Cambria Math" panose="02040503050406030204" pitchFamily="18" charset="0"/>
                            <a:ea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𝑡</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r>
                      <a:rPr lang="es-419" sz="2800" i="1" smtClean="0">
                        <a:latin typeface="Cambria Math" panose="02040503050406030204" pitchFamily="18" charset="0"/>
                        <a:ea typeface="Cambria Math" panose="02040503050406030204" pitchFamily="18" charset="0"/>
                      </a:rPr>
                      <m:t>→</m:t>
                    </m:r>
                  </m:oMath>
                </a14:m>
                <a:r>
                  <a:rPr lang="es-419" sz="2800" dirty="0">
                    <a:ea typeface="Cambria Math" panose="02040503050406030204" pitchFamily="18" charset="0"/>
                  </a:rPr>
                  <a:t> </a:t>
                </a:r>
                <a14:m>
                  <m:oMath xmlns:m="http://schemas.openxmlformats.org/officeDocument/2006/math">
                    <m:sSub>
                      <m:sSubPr>
                        <m:ctrlPr>
                          <a:rPr lang="es-419" sz="2800" i="1">
                            <a:latin typeface="Cambria Math" panose="02040503050406030204" pitchFamily="18" charset="0"/>
                            <a:ea typeface="Cambria Math" panose="02040503050406030204" pitchFamily="18" charset="0"/>
                          </a:rPr>
                        </m:ctrlPr>
                      </m:sSubPr>
                      <m:e>
                        <m:r>
                          <a:rPr lang="es-419" sz="2800" b="0" i="1" smtClean="0">
                            <a:latin typeface="Cambria Math" panose="02040503050406030204" pitchFamily="18" charset="0"/>
                            <a:ea typeface="Cambria Math" panose="02040503050406030204" pitchFamily="18" charset="0"/>
                          </a:rPr>
                          <m:t>𝑧</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r>
                      <a:rPr lang="es-419" sz="2800" b="0" i="1" smtClean="0">
                        <a:latin typeface="Cambria Math" panose="02040503050406030204" pitchFamily="18" charset="0"/>
                        <a:ea typeface="Cambria Math" panose="02040503050406030204" pitchFamily="18" charset="0"/>
                      </a:rPr>
                      <m:t>𝑐𝑢𝑎𝑛𝑑𝑜</m:t>
                    </m:r>
                    <m:r>
                      <a:rPr lang="es-419" sz="2800" b="0" i="1" smtClean="0">
                        <a:latin typeface="Cambria Math" panose="02040503050406030204" pitchFamily="18" charset="0"/>
                        <a:ea typeface="Cambria Math" panose="02040503050406030204" pitchFamily="18" charset="0"/>
                      </a:rPr>
                      <m:t> </m:t>
                    </m:r>
                    <m:r>
                      <a:rPr lang="es-419" sz="2800" b="0" i="1" smtClean="0">
                        <a:latin typeface="Cambria Math" panose="02040503050406030204" pitchFamily="18" charset="0"/>
                        <a:ea typeface="Cambria Math" panose="02040503050406030204" pitchFamily="18" charset="0"/>
                      </a:rPr>
                      <m:t>𝑛</m:t>
                    </m:r>
                    <m:r>
                      <a:rPr lang="es-419" sz="2800" b="0" i="1" smtClean="0">
                        <a:latin typeface="Cambria Math" panose="02040503050406030204" pitchFamily="18" charset="0"/>
                        <a:ea typeface="Cambria Math" panose="02040503050406030204" pitchFamily="18" charset="0"/>
                      </a:rPr>
                      <m:t> ≥30</m:t>
                    </m:r>
                  </m:oMath>
                </a14:m>
                <a:endParaRPr lang="es-419" dirty="0"/>
              </a:p>
              <a:p>
                <a:pPr>
                  <a:lnSpc>
                    <a:spcPct val="150000"/>
                  </a:lnSpc>
                </a:pPr>
                <a:r>
                  <a:rPr lang="es-419" dirty="0"/>
                  <a:t>Para efectos de este curso nos concentraremos en usar varianzas muestrales insesgadas.</a:t>
                </a:r>
              </a:p>
              <a:p>
                <a:pPr>
                  <a:lnSpc>
                    <a:spcPct val="150000"/>
                  </a:lnSpc>
                </a:pPr>
                <a:r>
                  <a:rPr lang="es-419" dirty="0"/>
                  <a:t>Nota: en casos en los que se pasa de una varianza muestral sesgada a una insesgada y viceversa </a:t>
                </a:r>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s-VE">
                    <a:noFill/>
                  </a:rPr>
                  <a:t> </a:t>
                </a:r>
              </a:p>
            </p:txBody>
          </p:sp>
        </mc:Fallback>
      </mc:AlternateContent>
    </p:spTree>
    <p:extLst>
      <p:ext uri="{BB962C8B-B14F-4D97-AF65-F5344CB8AC3E}">
        <p14:creationId xmlns:p14="http://schemas.microsoft.com/office/powerpoint/2010/main" val="28584678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Resuelto 9.3</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lstStyle/>
          <a:p>
            <a:pPr marL="0" indent="0">
              <a:lnSpc>
                <a:spcPct val="150000"/>
              </a:lnSpc>
              <a:buNone/>
            </a:pPr>
            <a:r>
              <a:rPr lang="es-419" i="1" dirty="0"/>
              <a:t>Para estimar el precio medio de venta de un cierto bien, se tomaron al azar 101 automercados en el territorio de la República. El precio medio obtenido en la muestra fue de Bs. 20, con una desviación típica de Bs. 2. Calcular un intervalo de confianza del 95%.</a:t>
            </a:r>
          </a:p>
          <a:p>
            <a:pPr marL="0" indent="0">
              <a:lnSpc>
                <a:spcPct val="150000"/>
              </a:lnSpc>
              <a:buNone/>
            </a:pPr>
            <a:r>
              <a:rPr lang="es-419" i="1" dirty="0"/>
              <a:t>Asuma que la varianza muestral es sesgada, transfórmelas para ver resultado. Pruebe con versiones tanto sesgadas como insesgadas.</a:t>
            </a:r>
          </a:p>
        </p:txBody>
      </p:sp>
    </p:spTree>
    <p:extLst>
      <p:ext uri="{BB962C8B-B14F-4D97-AF65-F5344CB8AC3E}">
        <p14:creationId xmlns:p14="http://schemas.microsoft.com/office/powerpoint/2010/main" val="12973087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9.3</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57003"/>
            <a:ext cx="10515600" cy="5419960"/>
          </a:xfrm>
          <a:solidFill>
            <a:srgbClr val="E7E6E6">
              <a:alpha val="50196"/>
            </a:srgbClr>
          </a:solidFill>
        </p:spPr>
        <p:txBody>
          <a:bodyPr vert="horz" lIns="91440" tIns="45720" rIns="91440" bIns="45720" rtlCol="0">
            <a:normAutofit fontScale="40000" lnSpcReduction="20000"/>
          </a:bodyPr>
          <a:lstStyle/>
          <a:p>
            <a:pPr marL="0" indent="0">
              <a:lnSpc>
                <a:spcPct val="100000"/>
              </a:lnSpc>
              <a:buNone/>
            </a:pPr>
            <a:r>
              <a:rPr lang="es-ES" sz="3000" dirty="0">
                <a:latin typeface="Consolas" panose="020B0609020204030204" pitchFamily="49" charset="0"/>
              </a:rPr>
              <a:t>&gt; n &lt;- 101</a:t>
            </a:r>
          </a:p>
          <a:p>
            <a:pPr marL="0" indent="0">
              <a:lnSpc>
                <a:spcPct val="100000"/>
              </a:lnSpc>
              <a:buNone/>
            </a:pPr>
            <a:r>
              <a:rPr lang="es-ES" sz="3000" dirty="0">
                <a:latin typeface="Consolas" panose="020B0609020204030204" pitchFamily="49" charset="0"/>
              </a:rPr>
              <a:t>&gt; s &lt;- 2</a:t>
            </a:r>
          </a:p>
          <a:p>
            <a:pPr marL="0" indent="0">
              <a:lnSpc>
                <a:spcPct val="100000"/>
              </a:lnSpc>
              <a:buNone/>
            </a:pPr>
            <a:r>
              <a:rPr lang="es-ES" sz="3000" dirty="0">
                <a:latin typeface="Consolas" panose="020B0609020204030204" pitchFamily="49" charset="0"/>
              </a:rPr>
              <a:t>&gt; a &lt;- 1 - 0.95</a:t>
            </a:r>
          </a:p>
          <a:p>
            <a:pPr marL="0" indent="0">
              <a:lnSpc>
                <a:spcPct val="100000"/>
              </a:lnSpc>
              <a:buNone/>
            </a:pPr>
            <a:r>
              <a:rPr lang="es-ES" sz="3000" dirty="0">
                <a:latin typeface="Consolas" panose="020B0609020204030204" pitchFamily="49" charset="0"/>
              </a:rPr>
              <a:t>&gt; </a:t>
            </a:r>
            <a:r>
              <a:rPr lang="es-ES" sz="3000" dirty="0" err="1">
                <a:latin typeface="Consolas" panose="020B0609020204030204" pitchFamily="49" charset="0"/>
              </a:rPr>
              <a:t>x_hat</a:t>
            </a:r>
            <a:r>
              <a:rPr lang="es-ES" sz="3000" dirty="0">
                <a:latin typeface="Consolas" panose="020B0609020204030204" pitchFamily="49" charset="0"/>
              </a:rPr>
              <a:t> &lt;- 20</a:t>
            </a:r>
          </a:p>
          <a:p>
            <a:pPr marL="0" indent="0">
              <a:lnSpc>
                <a:spcPct val="100000"/>
              </a:lnSpc>
              <a:buNone/>
            </a:pPr>
            <a:r>
              <a:rPr lang="es-ES" sz="3000" dirty="0">
                <a:latin typeface="Consolas" panose="020B0609020204030204" pitchFamily="49" charset="0"/>
              </a:rPr>
              <a:t>&gt; #Insesgada</a:t>
            </a:r>
          </a:p>
          <a:p>
            <a:pPr marL="0" indent="0">
              <a:lnSpc>
                <a:spcPct val="100000"/>
              </a:lnSpc>
              <a:buNone/>
            </a:pPr>
            <a:r>
              <a:rPr lang="es-ES" sz="3000" dirty="0">
                <a:latin typeface="Consolas" panose="020B0609020204030204" pitchFamily="49" charset="0"/>
              </a:rPr>
              <a:t>&gt; s_2i &lt;- (s^2)*n/(n-1)</a:t>
            </a:r>
          </a:p>
          <a:p>
            <a:pPr marL="0" indent="0">
              <a:lnSpc>
                <a:spcPct val="100000"/>
              </a:lnSpc>
              <a:buNone/>
            </a:pPr>
            <a:r>
              <a:rPr lang="es-ES" sz="3000" dirty="0">
                <a:latin typeface="Consolas" panose="020B0609020204030204" pitchFamily="49" charset="0"/>
              </a:rPr>
              <a:t>&gt; </a:t>
            </a:r>
            <a:r>
              <a:rPr lang="es-ES" sz="3000" dirty="0" err="1">
                <a:latin typeface="Consolas" panose="020B0609020204030204" pitchFamily="49" charset="0"/>
              </a:rPr>
              <a:t>s_i</a:t>
            </a:r>
            <a:r>
              <a:rPr lang="es-ES" sz="3000" dirty="0">
                <a:latin typeface="Consolas" panose="020B0609020204030204" pitchFamily="49" charset="0"/>
              </a:rPr>
              <a:t> &lt;- </a:t>
            </a:r>
            <a:r>
              <a:rPr lang="es-ES" sz="3000" dirty="0" err="1">
                <a:latin typeface="Consolas" panose="020B0609020204030204" pitchFamily="49" charset="0"/>
              </a:rPr>
              <a:t>sqrt</a:t>
            </a:r>
            <a:r>
              <a:rPr lang="es-ES" sz="3000" dirty="0">
                <a:latin typeface="Consolas" panose="020B0609020204030204" pitchFamily="49" charset="0"/>
              </a:rPr>
              <a:t>(s_2i)</a:t>
            </a:r>
          </a:p>
          <a:p>
            <a:pPr marL="0" indent="0">
              <a:lnSpc>
                <a:spcPct val="100000"/>
              </a:lnSpc>
              <a:buNone/>
            </a:pPr>
            <a:endParaRPr lang="es-ES" sz="3000" dirty="0">
              <a:latin typeface="Consolas" panose="020B0609020204030204" pitchFamily="49" charset="0"/>
            </a:endParaRPr>
          </a:p>
          <a:p>
            <a:pPr marL="0" indent="0">
              <a:lnSpc>
                <a:spcPct val="100000"/>
              </a:lnSpc>
              <a:buNone/>
            </a:pPr>
            <a:r>
              <a:rPr lang="es-ES" sz="3000" dirty="0">
                <a:latin typeface="Consolas" panose="020B0609020204030204" pitchFamily="49" charset="0"/>
              </a:rPr>
              <a:t>&gt; #T-Student </a:t>
            </a:r>
          </a:p>
          <a:p>
            <a:pPr marL="0" indent="0">
              <a:lnSpc>
                <a:spcPct val="100000"/>
              </a:lnSpc>
              <a:buNone/>
            </a:pPr>
            <a:r>
              <a:rPr lang="es-ES" sz="3000" dirty="0">
                <a:latin typeface="Consolas" panose="020B0609020204030204" pitchFamily="49" charset="0"/>
              </a:rPr>
              <a:t>&gt; c(inferior = </a:t>
            </a:r>
            <a:r>
              <a:rPr lang="es-ES" sz="3000" dirty="0" err="1">
                <a:latin typeface="Consolas" panose="020B0609020204030204" pitchFamily="49" charset="0"/>
              </a:rPr>
              <a:t>x_hat</a:t>
            </a:r>
            <a:r>
              <a:rPr lang="es-ES" sz="3000" dirty="0">
                <a:latin typeface="Consolas" panose="020B0609020204030204" pitchFamily="49" charset="0"/>
              </a:rPr>
              <a:t> - </a:t>
            </a:r>
            <a:r>
              <a:rPr lang="es-ES" sz="3000" dirty="0" err="1">
                <a:latin typeface="Consolas" panose="020B0609020204030204" pitchFamily="49" charset="0"/>
              </a:rPr>
              <a:t>qt</a:t>
            </a:r>
            <a:r>
              <a:rPr lang="es-ES" sz="3000" dirty="0">
                <a:latin typeface="Consolas" panose="020B0609020204030204" pitchFamily="49" charset="0"/>
              </a:rPr>
              <a:t>(a/2, </a:t>
            </a:r>
            <a:r>
              <a:rPr lang="es-ES" sz="3000" dirty="0" err="1">
                <a:latin typeface="Consolas" panose="020B0609020204030204" pitchFamily="49" charset="0"/>
              </a:rPr>
              <a:t>df</a:t>
            </a:r>
            <a:r>
              <a:rPr lang="es-ES" sz="3000" dirty="0">
                <a:latin typeface="Consolas" panose="020B0609020204030204" pitchFamily="49" charset="0"/>
              </a:rPr>
              <a:t> = n - 1, </a:t>
            </a:r>
            <a:r>
              <a:rPr lang="es-ES" sz="3000" dirty="0" err="1">
                <a:latin typeface="Consolas" panose="020B0609020204030204" pitchFamily="49" charset="0"/>
              </a:rPr>
              <a:t>lower.tail</a:t>
            </a:r>
            <a:r>
              <a:rPr lang="es-ES" sz="3000" dirty="0">
                <a:latin typeface="Consolas" panose="020B0609020204030204" pitchFamily="49" charset="0"/>
              </a:rPr>
              <a:t> = FALSE)*</a:t>
            </a:r>
            <a:r>
              <a:rPr lang="es-ES" sz="3000" dirty="0" err="1">
                <a:latin typeface="Consolas" panose="020B0609020204030204" pitchFamily="49" charset="0"/>
              </a:rPr>
              <a:t>s_i</a:t>
            </a:r>
            <a:r>
              <a:rPr lang="es-ES" sz="3000" dirty="0">
                <a:latin typeface="Consolas" panose="020B0609020204030204" pitchFamily="49" charset="0"/>
              </a:rPr>
              <a:t>/</a:t>
            </a:r>
            <a:r>
              <a:rPr lang="es-ES" sz="3000" dirty="0" err="1">
                <a:latin typeface="Consolas" panose="020B0609020204030204" pitchFamily="49" charset="0"/>
              </a:rPr>
              <a:t>sqrt</a:t>
            </a:r>
            <a:r>
              <a:rPr lang="es-ES" sz="3000" dirty="0">
                <a:latin typeface="Consolas" panose="020B0609020204030204" pitchFamily="49" charset="0"/>
              </a:rPr>
              <a:t>(n), </a:t>
            </a:r>
          </a:p>
          <a:p>
            <a:pPr marL="0" indent="0">
              <a:lnSpc>
                <a:spcPct val="100000"/>
              </a:lnSpc>
              <a:buNone/>
            </a:pPr>
            <a:r>
              <a:rPr lang="es-ES" sz="3000" dirty="0">
                <a:latin typeface="Consolas" panose="020B0609020204030204" pitchFamily="49" charset="0"/>
              </a:rPr>
              <a:t>+   superior = </a:t>
            </a:r>
            <a:r>
              <a:rPr lang="es-ES" sz="3000" dirty="0" err="1">
                <a:latin typeface="Consolas" panose="020B0609020204030204" pitchFamily="49" charset="0"/>
              </a:rPr>
              <a:t>x_hat</a:t>
            </a:r>
            <a:r>
              <a:rPr lang="es-ES" sz="3000" dirty="0">
                <a:latin typeface="Consolas" panose="020B0609020204030204" pitchFamily="49" charset="0"/>
              </a:rPr>
              <a:t> + </a:t>
            </a:r>
            <a:r>
              <a:rPr lang="es-ES" sz="3000" dirty="0" err="1">
                <a:latin typeface="Consolas" panose="020B0609020204030204" pitchFamily="49" charset="0"/>
              </a:rPr>
              <a:t>qt</a:t>
            </a:r>
            <a:r>
              <a:rPr lang="es-ES" sz="3000" dirty="0">
                <a:latin typeface="Consolas" panose="020B0609020204030204" pitchFamily="49" charset="0"/>
              </a:rPr>
              <a:t>(a/2, </a:t>
            </a:r>
            <a:r>
              <a:rPr lang="es-ES" sz="3000" dirty="0" err="1">
                <a:latin typeface="Consolas" panose="020B0609020204030204" pitchFamily="49" charset="0"/>
              </a:rPr>
              <a:t>df</a:t>
            </a:r>
            <a:r>
              <a:rPr lang="es-ES" sz="3000" dirty="0">
                <a:latin typeface="Consolas" panose="020B0609020204030204" pitchFamily="49" charset="0"/>
              </a:rPr>
              <a:t> = n - 1, </a:t>
            </a:r>
            <a:r>
              <a:rPr lang="es-ES" sz="3000" dirty="0" err="1">
                <a:latin typeface="Consolas" panose="020B0609020204030204" pitchFamily="49" charset="0"/>
              </a:rPr>
              <a:t>lower.tail</a:t>
            </a:r>
            <a:r>
              <a:rPr lang="es-ES" sz="3000" dirty="0">
                <a:latin typeface="Consolas" panose="020B0609020204030204" pitchFamily="49" charset="0"/>
              </a:rPr>
              <a:t> = FALSE)*</a:t>
            </a:r>
            <a:r>
              <a:rPr lang="es-ES" sz="3000" dirty="0" err="1">
                <a:latin typeface="Consolas" panose="020B0609020204030204" pitchFamily="49" charset="0"/>
              </a:rPr>
              <a:t>s_i</a:t>
            </a:r>
            <a:r>
              <a:rPr lang="es-ES" sz="3000" dirty="0">
                <a:latin typeface="Consolas" panose="020B0609020204030204" pitchFamily="49" charset="0"/>
              </a:rPr>
              <a:t>/</a:t>
            </a:r>
            <a:r>
              <a:rPr lang="es-ES" sz="3000" dirty="0" err="1">
                <a:latin typeface="Consolas" panose="020B0609020204030204" pitchFamily="49" charset="0"/>
              </a:rPr>
              <a:t>sqrt</a:t>
            </a:r>
            <a:r>
              <a:rPr lang="es-ES" sz="3000" dirty="0">
                <a:latin typeface="Consolas" panose="020B0609020204030204" pitchFamily="49" charset="0"/>
              </a:rPr>
              <a:t>(n))</a:t>
            </a:r>
          </a:p>
          <a:p>
            <a:pPr marL="0" indent="0">
              <a:lnSpc>
                <a:spcPct val="100000"/>
              </a:lnSpc>
              <a:buNone/>
            </a:pPr>
            <a:r>
              <a:rPr lang="es-ES" sz="3000" dirty="0">
                <a:highlight>
                  <a:srgbClr val="FFFF00"/>
                </a:highlight>
                <a:latin typeface="Consolas" panose="020B0609020204030204" pitchFamily="49" charset="0"/>
              </a:rPr>
              <a:t>inferior superior </a:t>
            </a:r>
          </a:p>
          <a:p>
            <a:pPr marL="0" indent="0">
              <a:lnSpc>
                <a:spcPct val="100000"/>
              </a:lnSpc>
              <a:buNone/>
            </a:pPr>
            <a:r>
              <a:rPr lang="es-ES" sz="3000" dirty="0">
                <a:highlight>
                  <a:srgbClr val="FFFF00"/>
                </a:highlight>
                <a:latin typeface="Consolas" panose="020B0609020204030204" pitchFamily="49" charset="0"/>
              </a:rPr>
              <a:t>19.60321 20.39679 </a:t>
            </a:r>
          </a:p>
          <a:p>
            <a:pPr marL="0" indent="0">
              <a:lnSpc>
                <a:spcPct val="100000"/>
              </a:lnSpc>
              <a:buNone/>
            </a:pPr>
            <a:endParaRPr lang="es-ES" sz="3000" dirty="0">
              <a:latin typeface="Consolas" panose="020B0609020204030204" pitchFamily="49" charset="0"/>
            </a:endParaRPr>
          </a:p>
          <a:p>
            <a:pPr marL="0" indent="0">
              <a:lnSpc>
                <a:spcPct val="100000"/>
              </a:lnSpc>
              <a:buNone/>
            </a:pPr>
            <a:r>
              <a:rPr lang="es-ES" sz="3000" dirty="0">
                <a:latin typeface="Consolas" panose="020B0609020204030204" pitchFamily="49" charset="0"/>
              </a:rPr>
              <a:t>&gt; #Con varianza muestral sesgada</a:t>
            </a:r>
          </a:p>
          <a:p>
            <a:pPr marL="0" indent="0">
              <a:lnSpc>
                <a:spcPct val="100000"/>
              </a:lnSpc>
              <a:buNone/>
            </a:pPr>
            <a:r>
              <a:rPr lang="es-ES" sz="3000" dirty="0">
                <a:latin typeface="Consolas" panose="020B0609020204030204" pitchFamily="49" charset="0"/>
              </a:rPr>
              <a:t>&gt; c(inferior = </a:t>
            </a:r>
            <a:r>
              <a:rPr lang="es-ES" sz="3000" dirty="0" err="1">
                <a:latin typeface="Consolas" panose="020B0609020204030204" pitchFamily="49" charset="0"/>
              </a:rPr>
              <a:t>x_hat</a:t>
            </a:r>
            <a:r>
              <a:rPr lang="es-ES" sz="3000" dirty="0">
                <a:latin typeface="Consolas" panose="020B0609020204030204" pitchFamily="49" charset="0"/>
              </a:rPr>
              <a:t> - </a:t>
            </a:r>
            <a:r>
              <a:rPr lang="es-ES" sz="3000" dirty="0" err="1">
                <a:latin typeface="Consolas" panose="020B0609020204030204" pitchFamily="49" charset="0"/>
              </a:rPr>
              <a:t>qt</a:t>
            </a:r>
            <a:r>
              <a:rPr lang="es-ES" sz="3000" dirty="0">
                <a:latin typeface="Consolas" panose="020B0609020204030204" pitchFamily="49" charset="0"/>
              </a:rPr>
              <a:t>(a/2, </a:t>
            </a:r>
            <a:r>
              <a:rPr lang="es-ES" sz="3000" dirty="0" err="1">
                <a:latin typeface="Consolas" panose="020B0609020204030204" pitchFamily="49" charset="0"/>
              </a:rPr>
              <a:t>df</a:t>
            </a:r>
            <a:r>
              <a:rPr lang="es-ES" sz="3000" dirty="0">
                <a:latin typeface="Consolas" panose="020B0609020204030204" pitchFamily="49" charset="0"/>
              </a:rPr>
              <a:t> = n - 1, </a:t>
            </a:r>
            <a:r>
              <a:rPr lang="es-ES" sz="3000" dirty="0" err="1">
                <a:latin typeface="Consolas" panose="020B0609020204030204" pitchFamily="49" charset="0"/>
              </a:rPr>
              <a:t>lower.tail</a:t>
            </a:r>
            <a:r>
              <a:rPr lang="es-ES" sz="3000" dirty="0">
                <a:latin typeface="Consolas" panose="020B0609020204030204" pitchFamily="49" charset="0"/>
              </a:rPr>
              <a:t> = FALSE)*s/</a:t>
            </a:r>
            <a:r>
              <a:rPr lang="es-ES" sz="3000" dirty="0" err="1">
                <a:latin typeface="Consolas" panose="020B0609020204030204" pitchFamily="49" charset="0"/>
              </a:rPr>
              <a:t>sqrt</a:t>
            </a:r>
            <a:r>
              <a:rPr lang="es-ES" sz="3000" dirty="0">
                <a:latin typeface="Consolas" panose="020B0609020204030204" pitchFamily="49" charset="0"/>
              </a:rPr>
              <a:t>(n-1), </a:t>
            </a:r>
          </a:p>
          <a:p>
            <a:pPr marL="0" indent="0">
              <a:lnSpc>
                <a:spcPct val="100000"/>
              </a:lnSpc>
              <a:buNone/>
            </a:pPr>
            <a:r>
              <a:rPr lang="es-ES" sz="3000" dirty="0">
                <a:latin typeface="Consolas" panose="020B0609020204030204" pitchFamily="49" charset="0"/>
              </a:rPr>
              <a:t>+   superior = </a:t>
            </a:r>
            <a:r>
              <a:rPr lang="es-ES" sz="3000" dirty="0" err="1">
                <a:latin typeface="Consolas" panose="020B0609020204030204" pitchFamily="49" charset="0"/>
              </a:rPr>
              <a:t>x_hat</a:t>
            </a:r>
            <a:r>
              <a:rPr lang="es-ES" sz="3000" dirty="0">
                <a:latin typeface="Consolas" panose="020B0609020204030204" pitchFamily="49" charset="0"/>
              </a:rPr>
              <a:t> + </a:t>
            </a:r>
            <a:r>
              <a:rPr lang="es-ES" sz="3000" dirty="0" err="1">
                <a:latin typeface="Consolas" panose="020B0609020204030204" pitchFamily="49" charset="0"/>
              </a:rPr>
              <a:t>qt</a:t>
            </a:r>
            <a:r>
              <a:rPr lang="es-ES" sz="3000" dirty="0">
                <a:latin typeface="Consolas" panose="020B0609020204030204" pitchFamily="49" charset="0"/>
              </a:rPr>
              <a:t>(a/2, </a:t>
            </a:r>
            <a:r>
              <a:rPr lang="es-ES" sz="3000" dirty="0" err="1">
                <a:latin typeface="Consolas" panose="020B0609020204030204" pitchFamily="49" charset="0"/>
              </a:rPr>
              <a:t>df</a:t>
            </a:r>
            <a:r>
              <a:rPr lang="es-ES" sz="3000" dirty="0">
                <a:latin typeface="Consolas" panose="020B0609020204030204" pitchFamily="49" charset="0"/>
              </a:rPr>
              <a:t> = n - 1, </a:t>
            </a:r>
            <a:r>
              <a:rPr lang="es-ES" sz="3000" dirty="0" err="1">
                <a:latin typeface="Consolas" panose="020B0609020204030204" pitchFamily="49" charset="0"/>
              </a:rPr>
              <a:t>lower.tail</a:t>
            </a:r>
            <a:r>
              <a:rPr lang="es-ES" sz="3000" dirty="0">
                <a:latin typeface="Consolas" panose="020B0609020204030204" pitchFamily="49" charset="0"/>
              </a:rPr>
              <a:t> = FALSE)*s/</a:t>
            </a:r>
            <a:r>
              <a:rPr lang="es-ES" sz="3000" dirty="0" err="1">
                <a:latin typeface="Consolas" panose="020B0609020204030204" pitchFamily="49" charset="0"/>
              </a:rPr>
              <a:t>sqrt</a:t>
            </a:r>
            <a:r>
              <a:rPr lang="es-ES" sz="3000" dirty="0">
                <a:latin typeface="Consolas" panose="020B0609020204030204" pitchFamily="49" charset="0"/>
              </a:rPr>
              <a:t>(n-1))</a:t>
            </a:r>
          </a:p>
          <a:p>
            <a:pPr marL="0" indent="0">
              <a:lnSpc>
                <a:spcPct val="100000"/>
              </a:lnSpc>
              <a:buNone/>
            </a:pPr>
            <a:r>
              <a:rPr lang="es-ES" sz="3000" dirty="0">
                <a:highlight>
                  <a:srgbClr val="FFFF00"/>
                </a:highlight>
                <a:latin typeface="Consolas" panose="020B0609020204030204" pitchFamily="49" charset="0"/>
              </a:rPr>
              <a:t>inferior superior </a:t>
            </a:r>
          </a:p>
          <a:p>
            <a:pPr marL="0" indent="0">
              <a:lnSpc>
                <a:spcPct val="100000"/>
              </a:lnSpc>
              <a:buNone/>
            </a:pPr>
            <a:r>
              <a:rPr lang="es-ES" sz="3000" dirty="0">
                <a:highlight>
                  <a:srgbClr val="FFFF00"/>
                </a:highlight>
                <a:latin typeface="Consolas" panose="020B0609020204030204" pitchFamily="49" charset="0"/>
              </a:rPr>
              <a:t>19.60321 20.39679 </a:t>
            </a:r>
            <a:endParaRPr lang="es-ES" sz="20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853071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9.3</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57003"/>
            <a:ext cx="10515600" cy="5419960"/>
          </a:xfrm>
          <a:solidFill>
            <a:srgbClr val="E7E6E6">
              <a:alpha val="50196"/>
            </a:srgbClr>
          </a:solidFill>
        </p:spPr>
        <p:txBody>
          <a:bodyPr vert="horz" lIns="91440" tIns="45720" rIns="91440" bIns="45720" rtlCol="0">
            <a:normAutofit fontScale="85000" lnSpcReduction="20000"/>
          </a:bodyPr>
          <a:lstStyle/>
          <a:p>
            <a:pPr marL="0" indent="0">
              <a:buNone/>
            </a:pPr>
            <a:r>
              <a:rPr lang="en-US" sz="2000" dirty="0">
                <a:latin typeface="Consolas" panose="020B0609020204030204" pitchFamily="49" charset="0"/>
              </a:rPr>
              <a:t>&gt; #Aproximacion Normal</a:t>
            </a:r>
          </a:p>
          <a:p>
            <a:pPr marL="0" indent="0">
              <a:buNone/>
            </a:pPr>
            <a:r>
              <a:rPr lang="en-US" sz="2000" dirty="0">
                <a:latin typeface="Consolas" panose="020B0609020204030204" pitchFamily="49" charset="0"/>
              </a:rPr>
              <a:t>&gt; c(inferior = </a:t>
            </a:r>
            <a:r>
              <a:rPr lang="en-US" sz="2000" dirty="0" err="1">
                <a:latin typeface="Consolas" panose="020B0609020204030204" pitchFamily="49" charset="0"/>
              </a:rPr>
              <a:t>x_hat</a:t>
            </a:r>
            <a:r>
              <a:rPr lang="en-US" sz="2000" dirty="0">
                <a:latin typeface="Consolas" panose="020B0609020204030204" pitchFamily="49" charset="0"/>
              </a:rPr>
              <a:t> - </a:t>
            </a:r>
            <a:r>
              <a:rPr lang="en-US" sz="2000" dirty="0" err="1">
                <a:latin typeface="Consolas" panose="020B0609020204030204" pitchFamily="49" charset="0"/>
              </a:rPr>
              <a:t>qnorm</a:t>
            </a:r>
            <a:r>
              <a:rPr lang="en-US" sz="2000" dirty="0">
                <a:latin typeface="Consolas" panose="020B0609020204030204" pitchFamily="49" charset="0"/>
              </a:rPr>
              <a:t>(a/2, </a:t>
            </a:r>
            <a:r>
              <a:rPr lang="en-US" sz="2000" dirty="0" err="1">
                <a:latin typeface="Consolas" panose="020B0609020204030204" pitchFamily="49" charset="0"/>
              </a:rPr>
              <a:t>lower.tail</a:t>
            </a:r>
            <a:r>
              <a:rPr lang="en-US" sz="2000" dirty="0">
                <a:latin typeface="Consolas" panose="020B0609020204030204" pitchFamily="49" charset="0"/>
              </a:rPr>
              <a:t> = FALSE)*</a:t>
            </a:r>
            <a:r>
              <a:rPr lang="en-US" sz="2000" dirty="0" err="1">
                <a:latin typeface="Consolas" panose="020B0609020204030204" pitchFamily="49" charset="0"/>
              </a:rPr>
              <a:t>s_i</a:t>
            </a:r>
            <a:r>
              <a:rPr lang="en-US" sz="2000" dirty="0">
                <a:latin typeface="Consolas" panose="020B0609020204030204" pitchFamily="49" charset="0"/>
              </a:rPr>
              <a:t>/sqrt(n), </a:t>
            </a:r>
          </a:p>
          <a:p>
            <a:pPr marL="0" indent="0">
              <a:buNone/>
            </a:pPr>
            <a:r>
              <a:rPr lang="en-US" sz="2000" dirty="0">
                <a:latin typeface="Consolas" panose="020B0609020204030204" pitchFamily="49" charset="0"/>
              </a:rPr>
              <a:t>+   superior = </a:t>
            </a:r>
            <a:r>
              <a:rPr lang="en-US" sz="2000" dirty="0" err="1">
                <a:latin typeface="Consolas" panose="020B0609020204030204" pitchFamily="49" charset="0"/>
              </a:rPr>
              <a:t>x_hat</a:t>
            </a:r>
            <a:r>
              <a:rPr lang="en-US" sz="2000" dirty="0">
                <a:latin typeface="Consolas" panose="020B0609020204030204" pitchFamily="49" charset="0"/>
              </a:rPr>
              <a:t> + </a:t>
            </a:r>
            <a:r>
              <a:rPr lang="en-US" sz="2000" dirty="0" err="1">
                <a:latin typeface="Consolas" panose="020B0609020204030204" pitchFamily="49" charset="0"/>
              </a:rPr>
              <a:t>qnorm</a:t>
            </a:r>
            <a:r>
              <a:rPr lang="en-US" sz="2000" dirty="0">
                <a:latin typeface="Consolas" panose="020B0609020204030204" pitchFamily="49" charset="0"/>
              </a:rPr>
              <a:t>(a/2, </a:t>
            </a:r>
            <a:r>
              <a:rPr lang="en-US" sz="2000" dirty="0" err="1">
                <a:latin typeface="Consolas" panose="020B0609020204030204" pitchFamily="49" charset="0"/>
              </a:rPr>
              <a:t>lower.tail</a:t>
            </a:r>
            <a:r>
              <a:rPr lang="en-US" sz="2000" dirty="0">
                <a:latin typeface="Consolas" panose="020B0609020204030204" pitchFamily="49" charset="0"/>
              </a:rPr>
              <a:t> = FALSE)*</a:t>
            </a:r>
            <a:r>
              <a:rPr lang="en-US" sz="2000" dirty="0" err="1">
                <a:latin typeface="Consolas" panose="020B0609020204030204" pitchFamily="49" charset="0"/>
              </a:rPr>
              <a:t>s_i</a:t>
            </a:r>
            <a:r>
              <a:rPr lang="en-US" sz="2000" dirty="0">
                <a:latin typeface="Consolas" panose="020B0609020204030204" pitchFamily="49" charset="0"/>
              </a:rPr>
              <a:t>/sqrt(n))</a:t>
            </a:r>
          </a:p>
          <a:p>
            <a:pPr marL="0" indent="0">
              <a:buNone/>
            </a:pPr>
            <a:r>
              <a:rPr lang="en-US" sz="2000" dirty="0">
                <a:highlight>
                  <a:srgbClr val="FFFF00"/>
                </a:highlight>
                <a:latin typeface="Consolas" panose="020B0609020204030204" pitchFamily="49" charset="0"/>
              </a:rPr>
              <a:t>inferior superior </a:t>
            </a:r>
          </a:p>
          <a:p>
            <a:pPr marL="0" indent="0">
              <a:buNone/>
            </a:pPr>
            <a:r>
              <a:rPr lang="en-US" sz="2000" dirty="0">
                <a:highlight>
                  <a:srgbClr val="FFFF00"/>
                </a:highlight>
                <a:latin typeface="Consolas" panose="020B0609020204030204" pitchFamily="49" charset="0"/>
              </a:rPr>
              <a:t>19.60801 20.39199 </a:t>
            </a:r>
          </a:p>
          <a:p>
            <a:pPr marL="0" indent="0">
              <a:buNone/>
            </a:pPr>
            <a:endParaRPr lang="en-US" sz="2000" dirty="0">
              <a:latin typeface="Consolas" panose="020B0609020204030204" pitchFamily="49" charset="0"/>
            </a:endParaRPr>
          </a:p>
          <a:p>
            <a:pPr marL="0" indent="0">
              <a:buNone/>
            </a:pPr>
            <a:r>
              <a:rPr lang="en-US" sz="2000" dirty="0">
                <a:latin typeface="Consolas" panose="020B0609020204030204" pitchFamily="49" charset="0"/>
              </a:rPr>
              <a:t>&gt; #Alternativamente</a:t>
            </a:r>
          </a:p>
          <a:p>
            <a:pPr marL="0" indent="0">
              <a:buNone/>
            </a:pPr>
            <a:r>
              <a:rPr lang="en-US" sz="2000" dirty="0">
                <a:latin typeface="Consolas" panose="020B0609020204030204" pitchFamily="49" charset="0"/>
              </a:rPr>
              <a:t>&gt; c(inferior = </a:t>
            </a:r>
            <a:r>
              <a:rPr lang="en-US" sz="2000" dirty="0" err="1">
                <a:latin typeface="Consolas" panose="020B0609020204030204" pitchFamily="49" charset="0"/>
              </a:rPr>
              <a:t>x_hat</a:t>
            </a:r>
            <a:r>
              <a:rPr lang="en-US" sz="2000" dirty="0">
                <a:latin typeface="Consolas" panose="020B0609020204030204" pitchFamily="49" charset="0"/>
              </a:rPr>
              <a:t> - </a:t>
            </a:r>
            <a:r>
              <a:rPr lang="en-US" sz="2000" dirty="0" err="1">
                <a:latin typeface="Consolas" panose="020B0609020204030204" pitchFamily="49" charset="0"/>
              </a:rPr>
              <a:t>qnorm</a:t>
            </a:r>
            <a:r>
              <a:rPr lang="en-US" sz="2000" dirty="0">
                <a:latin typeface="Consolas" panose="020B0609020204030204" pitchFamily="49" charset="0"/>
              </a:rPr>
              <a:t>(1-a/2)*</a:t>
            </a:r>
            <a:r>
              <a:rPr lang="en-US" sz="2000" dirty="0" err="1">
                <a:latin typeface="Consolas" panose="020B0609020204030204" pitchFamily="49" charset="0"/>
              </a:rPr>
              <a:t>s_i</a:t>
            </a:r>
            <a:r>
              <a:rPr lang="en-US" sz="2000" dirty="0">
                <a:latin typeface="Consolas" panose="020B0609020204030204" pitchFamily="49" charset="0"/>
              </a:rPr>
              <a:t>/sqrt(n), </a:t>
            </a:r>
          </a:p>
          <a:p>
            <a:pPr marL="0" indent="0">
              <a:buNone/>
            </a:pPr>
            <a:r>
              <a:rPr lang="en-US" sz="2000" dirty="0">
                <a:latin typeface="Consolas" panose="020B0609020204030204" pitchFamily="49" charset="0"/>
              </a:rPr>
              <a:t>+   superior = </a:t>
            </a:r>
            <a:r>
              <a:rPr lang="en-US" sz="2000" dirty="0" err="1">
                <a:latin typeface="Consolas" panose="020B0609020204030204" pitchFamily="49" charset="0"/>
              </a:rPr>
              <a:t>x_hat</a:t>
            </a:r>
            <a:r>
              <a:rPr lang="en-US" sz="2000" dirty="0">
                <a:latin typeface="Consolas" panose="020B0609020204030204" pitchFamily="49" charset="0"/>
              </a:rPr>
              <a:t> + </a:t>
            </a:r>
            <a:r>
              <a:rPr lang="en-US" sz="2000" dirty="0" err="1">
                <a:latin typeface="Consolas" panose="020B0609020204030204" pitchFamily="49" charset="0"/>
              </a:rPr>
              <a:t>qnorm</a:t>
            </a:r>
            <a:r>
              <a:rPr lang="en-US" sz="2000" dirty="0">
                <a:latin typeface="Consolas" panose="020B0609020204030204" pitchFamily="49" charset="0"/>
              </a:rPr>
              <a:t>(1-a/2)*</a:t>
            </a:r>
            <a:r>
              <a:rPr lang="en-US" sz="2000" dirty="0" err="1">
                <a:latin typeface="Consolas" panose="020B0609020204030204" pitchFamily="49" charset="0"/>
              </a:rPr>
              <a:t>s_i</a:t>
            </a:r>
            <a:r>
              <a:rPr lang="en-US" sz="2000" dirty="0">
                <a:latin typeface="Consolas" panose="020B0609020204030204" pitchFamily="49" charset="0"/>
              </a:rPr>
              <a:t>/sqrt(n))</a:t>
            </a:r>
          </a:p>
          <a:p>
            <a:pPr marL="0" indent="0">
              <a:buNone/>
            </a:pPr>
            <a:r>
              <a:rPr lang="en-US" sz="2000" dirty="0">
                <a:highlight>
                  <a:srgbClr val="FFFF00"/>
                </a:highlight>
                <a:latin typeface="Consolas" panose="020B0609020204030204" pitchFamily="49" charset="0"/>
              </a:rPr>
              <a:t>inferior superior </a:t>
            </a:r>
          </a:p>
          <a:p>
            <a:pPr marL="0" indent="0">
              <a:buNone/>
            </a:pPr>
            <a:r>
              <a:rPr lang="en-US" sz="2000" dirty="0">
                <a:highlight>
                  <a:srgbClr val="FFFF00"/>
                </a:highlight>
                <a:latin typeface="Consolas" panose="020B0609020204030204" pitchFamily="49" charset="0"/>
              </a:rPr>
              <a:t>19.60801 20.39199 </a:t>
            </a:r>
          </a:p>
          <a:p>
            <a:pPr marL="0" indent="0">
              <a:buNone/>
            </a:pPr>
            <a:endParaRPr lang="en-US" sz="2000" dirty="0">
              <a:latin typeface="Consolas" panose="020B0609020204030204" pitchFamily="49" charset="0"/>
            </a:endParaRPr>
          </a:p>
          <a:p>
            <a:pPr marL="0" indent="0">
              <a:buNone/>
            </a:pPr>
            <a:r>
              <a:rPr lang="en-US" sz="2000" dirty="0">
                <a:latin typeface="Consolas" panose="020B0609020204030204" pitchFamily="49" charset="0"/>
              </a:rPr>
              <a:t>&gt; #Utilizando </a:t>
            </a:r>
            <a:r>
              <a:rPr lang="en-US" sz="2000" dirty="0" err="1">
                <a:latin typeface="Consolas" panose="020B0609020204030204" pitchFamily="49" charset="0"/>
              </a:rPr>
              <a:t>varianza</a:t>
            </a:r>
            <a:r>
              <a:rPr lang="en-US" sz="2000" dirty="0">
                <a:latin typeface="Consolas" panose="020B0609020204030204" pitchFamily="49" charset="0"/>
              </a:rPr>
              <a:t> </a:t>
            </a:r>
            <a:r>
              <a:rPr lang="en-US" sz="2000" dirty="0" err="1">
                <a:latin typeface="Consolas" panose="020B0609020204030204" pitchFamily="49" charset="0"/>
              </a:rPr>
              <a:t>muestral</a:t>
            </a:r>
            <a:r>
              <a:rPr lang="en-US" sz="2000" dirty="0">
                <a:latin typeface="Consolas" panose="020B0609020204030204" pitchFamily="49" charset="0"/>
              </a:rPr>
              <a:t> </a:t>
            </a:r>
            <a:r>
              <a:rPr lang="en-US" sz="2000" dirty="0" err="1">
                <a:latin typeface="Consolas" panose="020B0609020204030204" pitchFamily="49" charset="0"/>
              </a:rPr>
              <a:t>sesgada</a:t>
            </a:r>
            <a:endParaRPr lang="en-US" sz="2000" dirty="0">
              <a:latin typeface="Consolas" panose="020B0609020204030204" pitchFamily="49" charset="0"/>
            </a:endParaRPr>
          </a:p>
          <a:p>
            <a:pPr marL="0" indent="0">
              <a:buNone/>
            </a:pPr>
            <a:r>
              <a:rPr lang="en-US" sz="2000" dirty="0">
                <a:latin typeface="Consolas" panose="020B0609020204030204" pitchFamily="49" charset="0"/>
              </a:rPr>
              <a:t>&gt; c(inferior = </a:t>
            </a:r>
            <a:r>
              <a:rPr lang="en-US" sz="2000" dirty="0" err="1">
                <a:latin typeface="Consolas" panose="020B0609020204030204" pitchFamily="49" charset="0"/>
              </a:rPr>
              <a:t>x_hat</a:t>
            </a:r>
            <a:r>
              <a:rPr lang="en-US" sz="2000" dirty="0">
                <a:latin typeface="Consolas" panose="020B0609020204030204" pitchFamily="49" charset="0"/>
              </a:rPr>
              <a:t> - </a:t>
            </a:r>
            <a:r>
              <a:rPr lang="en-US" sz="2000" dirty="0" err="1">
                <a:latin typeface="Consolas" panose="020B0609020204030204" pitchFamily="49" charset="0"/>
              </a:rPr>
              <a:t>qnorm</a:t>
            </a:r>
            <a:r>
              <a:rPr lang="en-US" sz="2000" dirty="0">
                <a:latin typeface="Consolas" panose="020B0609020204030204" pitchFamily="49" charset="0"/>
              </a:rPr>
              <a:t>(a/2, </a:t>
            </a:r>
            <a:r>
              <a:rPr lang="en-US" sz="2000" dirty="0" err="1">
                <a:latin typeface="Consolas" panose="020B0609020204030204" pitchFamily="49" charset="0"/>
              </a:rPr>
              <a:t>lower.tail</a:t>
            </a:r>
            <a:r>
              <a:rPr lang="en-US" sz="2000" dirty="0">
                <a:latin typeface="Consolas" panose="020B0609020204030204" pitchFamily="49" charset="0"/>
              </a:rPr>
              <a:t> = FALSE)*s/sqrt(n-1), </a:t>
            </a:r>
          </a:p>
          <a:p>
            <a:pPr marL="0" indent="0">
              <a:buNone/>
            </a:pPr>
            <a:r>
              <a:rPr lang="en-US" sz="2000" dirty="0">
                <a:latin typeface="Consolas" panose="020B0609020204030204" pitchFamily="49" charset="0"/>
              </a:rPr>
              <a:t>+   superior = </a:t>
            </a:r>
            <a:r>
              <a:rPr lang="en-US" sz="2000" dirty="0" err="1">
                <a:latin typeface="Consolas" panose="020B0609020204030204" pitchFamily="49" charset="0"/>
              </a:rPr>
              <a:t>x_hat</a:t>
            </a:r>
            <a:r>
              <a:rPr lang="en-US" sz="2000" dirty="0">
                <a:latin typeface="Consolas" panose="020B0609020204030204" pitchFamily="49" charset="0"/>
              </a:rPr>
              <a:t> + </a:t>
            </a:r>
            <a:r>
              <a:rPr lang="en-US" sz="2000" dirty="0" err="1">
                <a:latin typeface="Consolas" panose="020B0609020204030204" pitchFamily="49" charset="0"/>
              </a:rPr>
              <a:t>qnorm</a:t>
            </a:r>
            <a:r>
              <a:rPr lang="en-US" sz="2000" dirty="0">
                <a:latin typeface="Consolas" panose="020B0609020204030204" pitchFamily="49" charset="0"/>
              </a:rPr>
              <a:t>(a/2, </a:t>
            </a:r>
            <a:r>
              <a:rPr lang="en-US" sz="2000" dirty="0" err="1">
                <a:latin typeface="Consolas" panose="020B0609020204030204" pitchFamily="49" charset="0"/>
              </a:rPr>
              <a:t>lower.tail</a:t>
            </a:r>
            <a:r>
              <a:rPr lang="en-US" sz="2000" dirty="0">
                <a:latin typeface="Consolas" panose="020B0609020204030204" pitchFamily="49" charset="0"/>
              </a:rPr>
              <a:t> = FALSE)*s/sqrt(n-1))</a:t>
            </a:r>
          </a:p>
          <a:p>
            <a:pPr marL="0" indent="0">
              <a:buNone/>
            </a:pPr>
            <a:r>
              <a:rPr lang="en-US" sz="2000" dirty="0">
                <a:highlight>
                  <a:srgbClr val="FFFF00"/>
                </a:highlight>
                <a:latin typeface="Consolas" panose="020B0609020204030204" pitchFamily="49" charset="0"/>
              </a:rPr>
              <a:t>inferior superior </a:t>
            </a:r>
          </a:p>
          <a:p>
            <a:pPr marL="0" indent="0">
              <a:buNone/>
            </a:pPr>
            <a:r>
              <a:rPr lang="en-US" sz="2000" dirty="0">
                <a:highlight>
                  <a:srgbClr val="FFFF00"/>
                </a:highlight>
                <a:latin typeface="Consolas" panose="020B0609020204030204" pitchFamily="49" charset="0"/>
              </a:rPr>
              <a:t>19.60801 20.39199 </a:t>
            </a:r>
            <a:endParaRPr lang="es-ES" sz="20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10301654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9.16</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fontScale="85000" lnSpcReduction="20000"/>
          </a:bodyPr>
          <a:lstStyle/>
          <a:p>
            <a:pPr marL="0" indent="0">
              <a:lnSpc>
                <a:spcPct val="150000"/>
              </a:lnSpc>
              <a:buNone/>
            </a:pPr>
            <a:r>
              <a:rPr lang="es-419" i="1" dirty="0"/>
              <a:t>Para estimar el alquiler miedo pagado por viviendas de dos habitaciones en una </a:t>
            </a:r>
            <a:r>
              <a:rPr lang="es-VE" i="1" dirty="0"/>
              <a:t>urbanización de Caracas, se tomó una muestra aleatoria 226 viviendas. La media muestral fue Bs. 300, y la desviación típica muestral de Bs. 64. Calcular un intervalo de confianza para el alquiler medio del:</a:t>
            </a:r>
          </a:p>
          <a:p>
            <a:pPr marL="571500" indent="-571500">
              <a:lnSpc>
                <a:spcPct val="150000"/>
              </a:lnSpc>
              <a:buAutoNum type="romanLcParenR"/>
            </a:pPr>
            <a:r>
              <a:rPr lang="es-VE" i="1" dirty="0"/>
              <a:t>90%</a:t>
            </a:r>
          </a:p>
          <a:p>
            <a:pPr marL="571500" indent="-571500">
              <a:lnSpc>
                <a:spcPct val="150000"/>
              </a:lnSpc>
              <a:buAutoNum type="romanLcParenR"/>
            </a:pPr>
            <a:r>
              <a:rPr lang="es-VE" i="1" dirty="0"/>
              <a:t>95%</a:t>
            </a:r>
          </a:p>
          <a:p>
            <a:pPr marL="571500" indent="-571500">
              <a:lnSpc>
                <a:spcPct val="150000"/>
              </a:lnSpc>
              <a:buAutoNum type="romanLcParenR"/>
            </a:pPr>
            <a:r>
              <a:rPr lang="es-VE" i="1" dirty="0"/>
              <a:t>98%</a:t>
            </a:r>
          </a:p>
          <a:p>
            <a:pPr marL="0" indent="0">
              <a:lnSpc>
                <a:spcPct val="150000"/>
              </a:lnSpc>
              <a:buNone/>
            </a:pPr>
            <a:r>
              <a:rPr lang="es-VE" i="1" dirty="0"/>
              <a:t>Interpretar los resultados</a:t>
            </a:r>
          </a:p>
          <a:p>
            <a:pPr marL="0" indent="0">
              <a:lnSpc>
                <a:spcPct val="150000"/>
              </a:lnSpc>
              <a:buNone/>
            </a:pPr>
            <a:r>
              <a:rPr lang="es-419" i="1" dirty="0"/>
              <a:t>Asuma de antemano que las desviación típica muestral es insesgada. No realice la aproximación normal</a:t>
            </a:r>
          </a:p>
        </p:txBody>
      </p:sp>
    </p:spTree>
    <p:extLst>
      <p:ext uri="{BB962C8B-B14F-4D97-AF65-F5344CB8AC3E}">
        <p14:creationId xmlns:p14="http://schemas.microsoft.com/office/powerpoint/2010/main" val="12588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9.16</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pt-BR" sz="2000" dirty="0">
                <a:latin typeface="Consolas" panose="020B0609020204030204" pitchFamily="49" charset="0"/>
              </a:rPr>
              <a:t>&gt; n &lt;- 226 </a:t>
            </a:r>
          </a:p>
          <a:p>
            <a:pPr marL="0" indent="0">
              <a:buNone/>
            </a:pPr>
            <a:r>
              <a:rPr lang="pt-BR" sz="2000" dirty="0">
                <a:latin typeface="Consolas" panose="020B0609020204030204" pitchFamily="49" charset="0"/>
              </a:rPr>
              <a:t>&gt; </a:t>
            </a:r>
            <a:r>
              <a:rPr lang="pt-BR" sz="2000" dirty="0" err="1">
                <a:latin typeface="Consolas" panose="020B0609020204030204" pitchFamily="49" charset="0"/>
              </a:rPr>
              <a:t>x_hat</a:t>
            </a:r>
            <a:r>
              <a:rPr lang="pt-BR" sz="2000" dirty="0">
                <a:latin typeface="Consolas" panose="020B0609020204030204" pitchFamily="49" charset="0"/>
              </a:rPr>
              <a:t> &lt;- 300 </a:t>
            </a:r>
          </a:p>
          <a:p>
            <a:pPr marL="0" indent="0">
              <a:buNone/>
            </a:pPr>
            <a:r>
              <a:rPr lang="pt-BR" sz="2000" dirty="0">
                <a:latin typeface="Consolas" panose="020B0609020204030204" pitchFamily="49" charset="0"/>
              </a:rPr>
              <a:t>&gt; s &lt;- 64 </a:t>
            </a:r>
          </a:p>
          <a:p>
            <a:pPr marL="0" indent="0">
              <a:buNone/>
            </a:pPr>
            <a:endParaRPr lang="pt-BR" sz="2000" dirty="0">
              <a:latin typeface="Consolas" panose="020B0609020204030204" pitchFamily="49" charset="0"/>
            </a:endParaRPr>
          </a:p>
          <a:p>
            <a:pPr marL="0" indent="0">
              <a:buNone/>
            </a:pPr>
            <a:r>
              <a:rPr lang="pt-BR" sz="2000" dirty="0">
                <a:latin typeface="Consolas" panose="020B0609020204030204" pitchFamily="49" charset="0"/>
              </a:rPr>
              <a:t>&gt; #i) IC 90%</a:t>
            </a:r>
          </a:p>
          <a:p>
            <a:pPr marL="0" indent="0">
              <a:buNone/>
            </a:pPr>
            <a:r>
              <a:rPr lang="pt-BR" sz="2000" dirty="0">
                <a:latin typeface="Consolas" panose="020B0609020204030204" pitchFamily="49" charset="0"/>
              </a:rPr>
              <a:t>&gt; </a:t>
            </a:r>
            <a:r>
              <a:rPr lang="pt-BR" sz="2000" dirty="0" err="1">
                <a:latin typeface="Consolas" panose="020B0609020204030204" pitchFamily="49" charset="0"/>
              </a:rPr>
              <a:t>ic</a:t>
            </a:r>
            <a:r>
              <a:rPr lang="pt-BR" sz="2000" dirty="0">
                <a:latin typeface="Consolas" panose="020B0609020204030204" pitchFamily="49" charset="0"/>
              </a:rPr>
              <a:t> &lt;- 0.90</a:t>
            </a:r>
          </a:p>
          <a:p>
            <a:pPr marL="0" indent="0">
              <a:buNone/>
            </a:pPr>
            <a:r>
              <a:rPr lang="pt-BR" sz="2000" dirty="0">
                <a:latin typeface="Consolas" panose="020B0609020204030204" pitchFamily="49" charset="0"/>
              </a:rPr>
              <a:t>&gt; a &lt;- 1 - </a:t>
            </a:r>
            <a:r>
              <a:rPr lang="pt-BR" sz="2000" dirty="0" err="1">
                <a:latin typeface="Consolas" panose="020B0609020204030204" pitchFamily="49" charset="0"/>
              </a:rPr>
              <a:t>ic</a:t>
            </a:r>
            <a:endParaRPr lang="pt-BR" sz="2000" dirty="0">
              <a:latin typeface="Consolas" panose="020B0609020204030204" pitchFamily="49" charset="0"/>
            </a:endParaRPr>
          </a:p>
          <a:p>
            <a:pPr marL="0" indent="0">
              <a:buNone/>
            </a:pPr>
            <a:r>
              <a:rPr lang="pt-BR" sz="2000" dirty="0">
                <a:latin typeface="Consolas" panose="020B0609020204030204" pitchFamily="49" charset="0"/>
              </a:rPr>
              <a:t>&gt; c(inferior = </a:t>
            </a:r>
            <a:r>
              <a:rPr lang="pt-BR" sz="2000" dirty="0" err="1">
                <a:latin typeface="Consolas" panose="020B0609020204030204" pitchFamily="49" charset="0"/>
              </a:rPr>
              <a:t>x_hat</a:t>
            </a:r>
            <a:r>
              <a:rPr lang="pt-BR" sz="2000" dirty="0">
                <a:latin typeface="Consolas" panose="020B0609020204030204" pitchFamily="49" charset="0"/>
              </a:rPr>
              <a:t> - </a:t>
            </a:r>
            <a:r>
              <a:rPr lang="pt-BR" sz="2000" dirty="0" err="1">
                <a:latin typeface="Consolas" panose="020B0609020204030204" pitchFamily="49" charset="0"/>
              </a:rPr>
              <a:t>qt</a:t>
            </a:r>
            <a:r>
              <a:rPr lang="pt-BR" sz="2000" dirty="0">
                <a:latin typeface="Consolas" panose="020B0609020204030204" pitchFamily="49" charset="0"/>
              </a:rPr>
              <a:t>(a/2, </a:t>
            </a:r>
            <a:r>
              <a:rPr lang="pt-BR" sz="2000" dirty="0" err="1">
                <a:latin typeface="Consolas" panose="020B0609020204030204" pitchFamily="49" charset="0"/>
              </a:rPr>
              <a:t>df</a:t>
            </a:r>
            <a:r>
              <a:rPr lang="pt-BR" sz="2000" dirty="0">
                <a:latin typeface="Consolas" panose="020B0609020204030204" pitchFamily="49" charset="0"/>
              </a:rPr>
              <a:t> = n - 1, </a:t>
            </a:r>
            <a:r>
              <a:rPr lang="pt-BR" sz="2000" dirty="0" err="1">
                <a:latin typeface="Consolas" panose="020B0609020204030204" pitchFamily="49" charset="0"/>
              </a:rPr>
              <a:t>lower.tail</a:t>
            </a:r>
            <a:r>
              <a:rPr lang="pt-BR" sz="2000" dirty="0">
                <a:latin typeface="Consolas" panose="020B0609020204030204" pitchFamily="49" charset="0"/>
              </a:rPr>
              <a:t> = FALSE)*s/</a:t>
            </a:r>
            <a:r>
              <a:rPr lang="pt-BR" sz="2000" dirty="0" err="1">
                <a:latin typeface="Consolas" panose="020B0609020204030204" pitchFamily="49" charset="0"/>
              </a:rPr>
              <a:t>sqrt</a:t>
            </a:r>
            <a:r>
              <a:rPr lang="pt-BR" sz="2000" dirty="0">
                <a:latin typeface="Consolas" panose="020B0609020204030204" pitchFamily="49" charset="0"/>
              </a:rPr>
              <a:t>(n), </a:t>
            </a:r>
          </a:p>
          <a:p>
            <a:pPr marL="0" indent="0">
              <a:buNone/>
            </a:pPr>
            <a:r>
              <a:rPr lang="pt-BR" sz="2000" dirty="0">
                <a:latin typeface="Consolas" panose="020B0609020204030204" pitchFamily="49" charset="0"/>
              </a:rPr>
              <a:t>+   superior = </a:t>
            </a:r>
            <a:r>
              <a:rPr lang="pt-BR" sz="2000" dirty="0" err="1">
                <a:latin typeface="Consolas" panose="020B0609020204030204" pitchFamily="49" charset="0"/>
              </a:rPr>
              <a:t>x_hat</a:t>
            </a:r>
            <a:r>
              <a:rPr lang="pt-BR" sz="2000" dirty="0">
                <a:latin typeface="Consolas" panose="020B0609020204030204" pitchFamily="49" charset="0"/>
              </a:rPr>
              <a:t> + </a:t>
            </a:r>
            <a:r>
              <a:rPr lang="pt-BR" sz="2000" dirty="0" err="1">
                <a:latin typeface="Consolas" panose="020B0609020204030204" pitchFamily="49" charset="0"/>
              </a:rPr>
              <a:t>qt</a:t>
            </a:r>
            <a:r>
              <a:rPr lang="pt-BR" sz="2000" dirty="0">
                <a:latin typeface="Consolas" panose="020B0609020204030204" pitchFamily="49" charset="0"/>
              </a:rPr>
              <a:t>(a/2, </a:t>
            </a:r>
            <a:r>
              <a:rPr lang="pt-BR" sz="2000" dirty="0" err="1">
                <a:latin typeface="Consolas" panose="020B0609020204030204" pitchFamily="49" charset="0"/>
              </a:rPr>
              <a:t>df</a:t>
            </a:r>
            <a:r>
              <a:rPr lang="pt-BR" sz="2000" dirty="0">
                <a:latin typeface="Consolas" panose="020B0609020204030204" pitchFamily="49" charset="0"/>
              </a:rPr>
              <a:t> = n - 1, </a:t>
            </a:r>
            <a:r>
              <a:rPr lang="pt-BR" sz="2000" dirty="0" err="1">
                <a:latin typeface="Consolas" panose="020B0609020204030204" pitchFamily="49" charset="0"/>
              </a:rPr>
              <a:t>lower.tail</a:t>
            </a:r>
            <a:r>
              <a:rPr lang="pt-BR" sz="2000" dirty="0">
                <a:latin typeface="Consolas" panose="020B0609020204030204" pitchFamily="49" charset="0"/>
              </a:rPr>
              <a:t> = FALSE)*s/</a:t>
            </a:r>
            <a:r>
              <a:rPr lang="pt-BR" sz="2000" dirty="0" err="1">
                <a:latin typeface="Consolas" panose="020B0609020204030204" pitchFamily="49" charset="0"/>
              </a:rPr>
              <a:t>sqrt</a:t>
            </a:r>
            <a:r>
              <a:rPr lang="pt-BR" sz="2000" dirty="0">
                <a:latin typeface="Consolas" panose="020B0609020204030204" pitchFamily="49" charset="0"/>
              </a:rPr>
              <a:t>(n))</a:t>
            </a:r>
          </a:p>
          <a:p>
            <a:pPr marL="0" indent="0">
              <a:buNone/>
            </a:pPr>
            <a:r>
              <a:rPr lang="pt-BR" sz="2000" dirty="0">
                <a:highlight>
                  <a:srgbClr val="FFFF00"/>
                </a:highlight>
                <a:latin typeface="Consolas" panose="020B0609020204030204" pitchFamily="49" charset="0"/>
              </a:rPr>
              <a:t>inferior superior </a:t>
            </a:r>
          </a:p>
          <a:p>
            <a:pPr marL="0" indent="0">
              <a:buNone/>
            </a:pPr>
            <a:r>
              <a:rPr lang="pt-BR" sz="2000" dirty="0">
                <a:highlight>
                  <a:srgbClr val="FFFF00"/>
                </a:highlight>
                <a:latin typeface="Consolas" panose="020B0609020204030204" pitchFamily="49" charset="0"/>
              </a:rPr>
              <a:t>292.9686 307.0314 </a:t>
            </a:r>
          </a:p>
        </p:txBody>
      </p:sp>
    </p:spTree>
    <p:extLst>
      <p:ext uri="{BB962C8B-B14F-4D97-AF65-F5344CB8AC3E}">
        <p14:creationId xmlns:p14="http://schemas.microsoft.com/office/powerpoint/2010/main" val="30988202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9.16</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92500" lnSpcReduction="10000"/>
          </a:bodyPr>
          <a:lstStyle/>
          <a:p>
            <a:pPr marL="0" indent="0">
              <a:buNone/>
            </a:pPr>
            <a:r>
              <a:rPr lang="pt-BR" sz="2000" dirty="0">
                <a:latin typeface="Consolas" panose="020B0609020204030204" pitchFamily="49" charset="0"/>
              </a:rPr>
              <a:t>&gt; #ii) IC 95%</a:t>
            </a:r>
          </a:p>
          <a:p>
            <a:pPr marL="0" indent="0">
              <a:buNone/>
            </a:pPr>
            <a:r>
              <a:rPr lang="pt-BR" sz="2000" dirty="0">
                <a:latin typeface="Consolas" panose="020B0609020204030204" pitchFamily="49" charset="0"/>
              </a:rPr>
              <a:t>&gt; </a:t>
            </a:r>
            <a:r>
              <a:rPr lang="pt-BR" sz="2000" dirty="0" err="1">
                <a:latin typeface="Consolas" panose="020B0609020204030204" pitchFamily="49" charset="0"/>
              </a:rPr>
              <a:t>ic</a:t>
            </a:r>
            <a:r>
              <a:rPr lang="pt-BR" sz="2000" dirty="0">
                <a:latin typeface="Consolas" panose="020B0609020204030204" pitchFamily="49" charset="0"/>
              </a:rPr>
              <a:t> &lt;- 0.95</a:t>
            </a:r>
          </a:p>
          <a:p>
            <a:pPr marL="0" indent="0">
              <a:buNone/>
            </a:pPr>
            <a:r>
              <a:rPr lang="pt-BR" sz="2000" dirty="0">
                <a:latin typeface="Consolas" panose="020B0609020204030204" pitchFamily="49" charset="0"/>
              </a:rPr>
              <a:t>&gt; a &lt;- 1 - </a:t>
            </a:r>
            <a:r>
              <a:rPr lang="pt-BR" sz="2000" dirty="0" err="1">
                <a:latin typeface="Consolas" panose="020B0609020204030204" pitchFamily="49" charset="0"/>
              </a:rPr>
              <a:t>ic</a:t>
            </a:r>
            <a:endParaRPr lang="pt-BR" sz="2000" dirty="0">
              <a:latin typeface="Consolas" panose="020B0609020204030204" pitchFamily="49" charset="0"/>
            </a:endParaRPr>
          </a:p>
          <a:p>
            <a:pPr marL="0" indent="0">
              <a:buNone/>
            </a:pPr>
            <a:r>
              <a:rPr lang="pt-BR" sz="2000" dirty="0">
                <a:latin typeface="Consolas" panose="020B0609020204030204" pitchFamily="49" charset="0"/>
              </a:rPr>
              <a:t>&gt; c(inferior = </a:t>
            </a:r>
            <a:r>
              <a:rPr lang="pt-BR" sz="2000" dirty="0" err="1">
                <a:latin typeface="Consolas" panose="020B0609020204030204" pitchFamily="49" charset="0"/>
              </a:rPr>
              <a:t>x_hat</a:t>
            </a:r>
            <a:r>
              <a:rPr lang="pt-BR" sz="2000" dirty="0">
                <a:latin typeface="Consolas" panose="020B0609020204030204" pitchFamily="49" charset="0"/>
              </a:rPr>
              <a:t> - </a:t>
            </a:r>
            <a:r>
              <a:rPr lang="pt-BR" sz="2000" dirty="0" err="1">
                <a:latin typeface="Consolas" panose="020B0609020204030204" pitchFamily="49" charset="0"/>
              </a:rPr>
              <a:t>qt</a:t>
            </a:r>
            <a:r>
              <a:rPr lang="pt-BR" sz="2000" dirty="0">
                <a:latin typeface="Consolas" panose="020B0609020204030204" pitchFamily="49" charset="0"/>
              </a:rPr>
              <a:t>(a/2, </a:t>
            </a:r>
            <a:r>
              <a:rPr lang="pt-BR" sz="2000" dirty="0" err="1">
                <a:latin typeface="Consolas" panose="020B0609020204030204" pitchFamily="49" charset="0"/>
              </a:rPr>
              <a:t>df</a:t>
            </a:r>
            <a:r>
              <a:rPr lang="pt-BR" sz="2000" dirty="0">
                <a:latin typeface="Consolas" panose="020B0609020204030204" pitchFamily="49" charset="0"/>
              </a:rPr>
              <a:t> = n - 1, </a:t>
            </a:r>
            <a:r>
              <a:rPr lang="pt-BR" sz="2000" dirty="0" err="1">
                <a:latin typeface="Consolas" panose="020B0609020204030204" pitchFamily="49" charset="0"/>
              </a:rPr>
              <a:t>lower.tail</a:t>
            </a:r>
            <a:r>
              <a:rPr lang="pt-BR" sz="2000" dirty="0">
                <a:latin typeface="Consolas" panose="020B0609020204030204" pitchFamily="49" charset="0"/>
              </a:rPr>
              <a:t> = FALSE)*s/</a:t>
            </a:r>
            <a:r>
              <a:rPr lang="pt-BR" sz="2000" dirty="0" err="1">
                <a:latin typeface="Consolas" panose="020B0609020204030204" pitchFamily="49" charset="0"/>
              </a:rPr>
              <a:t>sqrt</a:t>
            </a:r>
            <a:r>
              <a:rPr lang="pt-BR" sz="2000" dirty="0">
                <a:latin typeface="Consolas" panose="020B0609020204030204" pitchFamily="49" charset="0"/>
              </a:rPr>
              <a:t>(n), </a:t>
            </a:r>
          </a:p>
          <a:p>
            <a:pPr marL="0" indent="0">
              <a:buNone/>
            </a:pPr>
            <a:r>
              <a:rPr lang="pt-BR" sz="2000" dirty="0">
                <a:latin typeface="Consolas" panose="020B0609020204030204" pitchFamily="49" charset="0"/>
              </a:rPr>
              <a:t>+   superior = </a:t>
            </a:r>
            <a:r>
              <a:rPr lang="pt-BR" sz="2000" dirty="0" err="1">
                <a:latin typeface="Consolas" panose="020B0609020204030204" pitchFamily="49" charset="0"/>
              </a:rPr>
              <a:t>x_hat</a:t>
            </a:r>
            <a:r>
              <a:rPr lang="pt-BR" sz="2000" dirty="0">
                <a:latin typeface="Consolas" panose="020B0609020204030204" pitchFamily="49" charset="0"/>
              </a:rPr>
              <a:t> + </a:t>
            </a:r>
            <a:r>
              <a:rPr lang="pt-BR" sz="2000" dirty="0" err="1">
                <a:latin typeface="Consolas" panose="020B0609020204030204" pitchFamily="49" charset="0"/>
              </a:rPr>
              <a:t>qt</a:t>
            </a:r>
            <a:r>
              <a:rPr lang="pt-BR" sz="2000" dirty="0">
                <a:latin typeface="Consolas" panose="020B0609020204030204" pitchFamily="49" charset="0"/>
              </a:rPr>
              <a:t>(a/2, </a:t>
            </a:r>
            <a:r>
              <a:rPr lang="pt-BR" sz="2000" dirty="0" err="1">
                <a:latin typeface="Consolas" panose="020B0609020204030204" pitchFamily="49" charset="0"/>
              </a:rPr>
              <a:t>df</a:t>
            </a:r>
            <a:r>
              <a:rPr lang="pt-BR" sz="2000" dirty="0">
                <a:latin typeface="Consolas" panose="020B0609020204030204" pitchFamily="49" charset="0"/>
              </a:rPr>
              <a:t> = n - 1, </a:t>
            </a:r>
            <a:r>
              <a:rPr lang="pt-BR" sz="2000" dirty="0" err="1">
                <a:latin typeface="Consolas" panose="020B0609020204030204" pitchFamily="49" charset="0"/>
              </a:rPr>
              <a:t>lower.tail</a:t>
            </a:r>
            <a:r>
              <a:rPr lang="pt-BR" sz="2000" dirty="0">
                <a:latin typeface="Consolas" panose="020B0609020204030204" pitchFamily="49" charset="0"/>
              </a:rPr>
              <a:t> = FALSE)*s/</a:t>
            </a:r>
            <a:r>
              <a:rPr lang="pt-BR" sz="2000" dirty="0" err="1">
                <a:latin typeface="Consolas" panose="020B0609020204030204" pitchFamily="49" charset="0"/>
              </a:rPr>
              <a:t>sqrt</a:t>
            </a:r>
            <a:r>
              <a:rPr lang="pt-BR" sz="2000" dirty="0">
                <a:latin typeface="Consolas" panose="020B0609020204030204" pitchFamily="49" charset="0"/>
              </a:rPr>
              <a:t>(n))</a:t>
            </a:r>
          </a:p>
          <a:p>
            <a:pPr marL="0" indent="0">
              <a:buNone/>
            </a:pPr>
            <a:r>
              <a:rPr lang="pt-BR" sz="2000" dirty="0">
                <a:highlight>
                  <a:srgbClr val="FFFF00"/>
                </a:highlight>
                <a:latin typeface="Consolas" panose="020B0609020204030204" pitchFamily="49" charset="0"/>
              </a:rPr>
              <a:t>inferior superior </a:t>
            </a:r>
          </a:p>
          <a:p>
            <a:pPr marL="0" indent="0">
              <a:buNone/>
            </a:pPr>
            <a:r>
              <a:rPr lang="pt-BR" sz="2000" dirty="0">
                <a:highlight>
                  <a:srgbClr val="FFFF00"/>
                </a:highlight>
                <a:latin typeface="Consolas" panose="020B0609020204030204" pitchFamily="49" charset="0"/>
              </a:rPr>
              <a:t>291.6109 308.3891 </a:t>
            </a:r>
          </a:p>
          <a:p>
            <a:pPr marL="0" indent="0">
              <a:buNone/>
            </a:pPr>
            <a:endParaRPr lang="pt-BR" sz="2000" dirty="0">
              <a:latin typeface="Consolas" panose="020B0609020204030204" pitchFamily="49" charset="0"/>
            </a:endParaRPr>
          </a:p>
          <a:p>
            <a:pPr marL="0" indent="0">
              <a:buNone/>
            </a:pPr>
            <a:r>
              <a:rPr lang="pt-BR" sz="2000" dirty="0">
                <a:latin typeface="Consolas" panose="020B0609020204030204" pitchFamily="49" charset="0"/>
              </a:rPr>
              <a:t>&gt; #iii) IC 98%</a:t>
            </a:r>
          </a:p>
          <a:p>
            <a:pPr marL="0" indent="0">
              <a:buNone/>
            </a:pPr>
            <a:r>
              <a:rPr lang="pt-BR" sz="2000" dirty="0">
                <a:latin typeface="Consolas" panose="020B0609020204030204" pitchFamily="49" charset="0"/>
              </a:rPr>
              <a:t>&gt; </a:t>
            </a:r>
            <a:r>
              <a:rPr lang="pt-BR" sz="2000" dirty="0" err="1">
                <a:latin typeface="Consolas" panose="020B0609020204030204" pitchFamily="49" charset="0"/>
              </a:rPr>
              <a:t>ic</a:t>
            </a:r>
            <a:r>
              <a:rPr lang="pt-BR" sz="2000" dirty="0">
                <a:latin typeface="Consolas" panose="020B0609020204030204" pitchFamily="49" charset="0"/>
              </a:rPr>
              <a:t> &lt;- 0.98</a:t>
            </a:r>
          </a:p>
          <a:p>
            <a:pPr marL="0" indent="0">
              <a:buNone/>
            </a:pPr>
            <a:r>
              <a:rPr lang="pt-BR" sz="2000" dirty="0">
                <a:latin typeface="Consolas" panose="020B0609020204030204" pitchFamily="49" charset="0"/>
              </a:rPr>
              <a:t>&gt; a &lt;- 1 - </a:t>
            </a:r>
            <a:r>
              <a:rPr lang="pt-BR" sz="2000" dirty="0" err="1">
                <a:latin typeface="Consolas" panose="020B0609020204030204" pitchFamily="49" charset="0"/>
              </a:rPr>
              <a:t>ic</a:t>
            </a:r>
            <a:endParaRPr lang="pt-BR" sz="2000" dirty="0">
              <a:latin typeface="Consolas" panose="020B0609020204030204" pitchFamily="49" charset="0"/>
            </a:endParaRPr>
          </a:p>
          <a:p>
            <a:pPr marL="0" indent="0">
              <a:buNone/>
            </a:pPr>
            <a:r>
              <a:rPr lang="pt-BR" sz="2000" dirty="0">
                <a:latin typeface="Consolas" panose="020B0609020204030204" pitchFamily="49" charset="0"/>
              </a:rPr>
              <a:t>&gt; c(inferior = </a:t>
            </a:r>
            <a:r>
              <a:rPr lang="pt-BR" sz="2000" dirty="0" err="1">
                <a:latin typeface="Consolas" panose="020B0609020204030204" pitchFamily="49" charset="0"/>
              </a:rPr>
              <a:t>x_hat</a:t>
            </a:r>
            <a:r>
              <a:rPr lang="pt-BR" sz="2000" dirty="0">
                <a:latin typeface="Consolas" panose="020B0609020204030204" pitchFamily="49" charset="0"/>
              </a:rPr>
              <a:t> - </a:t>
            </a:r>
            <a:r>
              <a:rPr lang="pt-BR" sz="2000" dirty="0" err="1">
                <a:latin typeface="Consolas" panose="020B0609020204030204" pitchFamily="49" charset="0"/>
              </a:rPr>
              <a:t>qt</a:t>
            </a:r>
            <a:r>
              <a:rPr lang="pt-BR" sz="2000" dirty="0">
                <a:latin typeface="Consolas" panose="020B0609020204030204" pitchFamily="49" charset="0"/>
              </a:rPr>
              <a:t>(a/2, </a:t>
            </a:r>
            <a:r>
              <a:rPr lang="pt-BR" sz="2000" dirty="0" err="1">
                <a:latin typeface="Consolas" panose="020B0609020204030204" pitchFamily="49" charset="0"/>
              </a:rPr>
              <a:t>df</a:t>
            </a:r>
            <a:r>
              <a:rPr lang="pt-BR" sz="2000" dirty="0">
                <a:latin typeface="Consolas" panose="020B0609020204030204" pitchFamily="49" charset="0"/>
              </a:rPr>
              <a:t> = n - 1, </a:t>
            </a:r>
            <a:r>
              <a:rPr lang="pt-BR" sz="2000" dirty="0" err="1">
                <a:latin typeface="Consolas" panose="020B0609020204030204" pitchFamily="49" charset="0"/>
              </a:rPr>
              <a:t>lower.tail</a:t>
            </a:r>
            <a:r>
              <a:rPr lang="pt-BR" sz="2000" dirty="0">
                <a:latin typeface="Consolas" panose="020B0609020204030204" pitchFamily="49" charset="0"/>
              </a:rPr>
              <a:t> = FALSE)*s/</a:t>
            </a:r>
            <a:r>
              <a:rPr lang="pt-BR" sz="2000" dirty="0" err="1">
                <a:latin typeface="Consolas" panose="020B0609020204030204" pitchFamily="49" charset="0"/>
              </a:rPr>
              <a:t>sqrt</a:t>
            </a:r>
            <a:r>
              <a:rPr lang="pt-BR" sz="2000" dirty="0">
                <a:latin typeface="Consolas" panose="020B0609020204030204" pitchFamily="49" charset="0"/>
              </a:rPr>
              <a:t>(n), </a:t>
            </a:r>
          </a:p>
          <a:p>
            <a:pPr marL="0" indent="0">
              <a:buNone/>
            </a:pPr>
            <a:r>
              <a:rPr lang="pt-BR" sz="2000" dirty="0">
                <a:latin typeface="Consolas" panose="020B0609020204030204" pitchFamily="49" charset="0"/>
              </a:rPr>
              <a:t>+   superior = </a:t>
            </a:r>
            <a:r>
              <a:rPr lang="pt-BR" sz="2000" dirty="0" err="1">
                <a:latin typeface="Consolas" panose="020B0609020204030204" pitchFamily="49" charset="0"/>
              </a:rPr>
              <a:t>x_hat</a:t>
            </a:r>
            <a:r>
              <a:rPr lang="pt-BR" sz="2000" dirty="0">
                <a:latin typeface="Consolas" panose="020B0609020204030204" pitchFamily="49" charset="0"/>
              </a:rPr>
              <a:t> + </a:t>
            </a:r>
            <a:r>
              <a:rPr lang="pt-BR" sz="2000" dirty="0" err="1">
                <a:latin typeface="Consolas" panose="020B0609020204030204" pitchFamily="49" charset="0"/>
              </a:rPr>
              <a:t>qt</a:t>
            </a:r>
            <a:r>
              <a:rPr lang="pt-BR" sz="2000" dirty="0">
                <a:latin typeface="Consolas" panose="020B0609020204030204" pitchFamily="49" charset="0"/>
              </a:rPr>
              <a:t>(a/2, </a:t>
            </a:r>
            <a:r>
              <a:rPr lang="pt-BR" sz="2000" dirty="0" err="1">
                <a:latin typeface="Consolas" panose="020B0609020204030204" pitchFamily="49" charset="0"/>
              </a:rPr>
              <a:t>df</a:t>
            </a:r>
            <a:r>
              <a:rPr lang="pt-BR" sz="2000" dirty="0">
                <a:latin typeface="Consolas" panose="020B0609020204030204" pitchFamily="49" charset="0"/>
              </a:rPr>
              <a:t> = n - 1, </a:t>
            </a:r>
            <a:r>
              <a:rPr lang="pt-BR" sz="2000" dirty="0" err="1">
                <a:latin typeface="Consolas" panose="020B0609020204030204" pitchFamily="49" charset="0"/>
              </a:rPr>
              <a:t>lower.tail</a:t>
            </a:r>
            <a:r>
              <a:rPr lang="pt-BR" sz="2000" dirty="0">
                <a:latin typeface="Consolas" panose="020B0609020204030204" pitchFamily="49" charset="0"/>
              </a:rPr>
              <a:t> = FALSE)*s/</a:t>
            </a:r>
            <a:r>
              <a:rPr lang="pt-BR" sz="2000" dirty="0" err="1">
                <a:latin typeface="Consolas" panose="020B0609020204030204" pitchFamily="49" charset="0"/>
              </a:rPr>
              <a:t>sqrt</a:t>
            </a:r>
            <a:r>
              <a:rPr lang="pt-BR" sz="2000" dirty="0">
                <a:latin typeface="Consolas" panose="020B0609020204030204" pitchFamily="49" charset="0"/>
              </a:rPr>
              <a:t>(n))</a:t>
            </a:r>
          </a:p>
          <a:p>
            <a:pPr marL="0" indent="0">
              <a:buNone/>
            </a:pPr>
            <a:r>
              <a:rPr lang="pt-BR" sz="2000" dirty="0">
                <a:highlight>
                  <a:srgbClr val="FFFF00"/>
                </a:highlight>
                <a:latin typeface="Consolas" panose="020B0609020204030204" pitchFamily="49" charset="0"/>
              </a:rPr>
              <a:t>inferior superior </a:t>
            </a:r>
          </a:p>
          <a:p>
            <a:pPr marL="0" indent="0">
              <a:buNone/>
            </a:pPr>
            <a:r>
              <a:rPr lang="pt-BR" sz="2000" dirty="0">
                <a:highlight>
                  <a:srgbClr val="FFFF00"/>
                </a:highlight>
                <a:latin typeface="Consolas" panose="020B0609020204030204" pitchFamily="49" charset="0"/>
              </a:rPr>
              <a:t>290.0252 309.9748 </a:t>
            </a:r>
            <a:endParaRPr lang="es-ES" sz="2000"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381419117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9.32</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a:bodyPr>
          <a:lstStyle/>
          <a:p>
            <a:pPr marL="0" indent="0">
              <a:lnSpc>
                <a:spcPct val="150000"/>
              </a:lnSpc>
              <a:buNone/>
            </a:pPr>
            <a:r>
              <a:rPr lang="es-VE" i="1" dirty="0"/>
              <a:t>Un productor de marcadores pretende estimar el costo variable de producción por unidad de un cierto tipo de marcadores para decidir si los producirá o no. En una muestra de 150 unidades el costo variable medio fue de Bs. 3,71 siendo s</a:t>
            </a:r>
            <a:r>
              <a:rPr lang="es-VE" i="1" baseline="30000" dirty="0"/>
              <a:t>2</a:t>
            </a:r>
            <a:r>
              <a:rPr lang="es-VE" i="1" dirty="0"/>
              <a:t> = 0,263. Estimar el costo variable medio con una confianza del 95%. Interpretar los resultados.</a:t>
            </a:r>
          </a:p>
          <a:p>
            <a:pPr marL="0" indent="0">
              <a:lnSpc>
                <a:spcPct val="150000"/>
              </a:lnSpc>
              <a:buNone/>
            </a:pPr>
            <a:r>
              <a:rPr lang="es-419" i="1" dirty="0"/>
              <a:t>Realice el ejercicio primero sin la aproximación, y luego con ella. Asuma que la desviación típica muestral es insesgada.</a:t>
            </a:r>
            <a:endParaRPr lang="es-VE" i="1" dirty="0"/>
          </a:p>
        </p:txBody>
      </p:sp>
    </p:spTree>
    <p:extLst>
      <p:ext uri="{BB962C8B-B14F-4D97-AF65-F5344CB8AC3E}">
        <p14:creationId xmlns:p14="http://schemas.microsoft.com/office/powerpoint/2010/main" val="364633999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9.32</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62500" lnSpcReduction="20000"/>
          </a:bodyPr>
          <a:lstStyle/>
          <a:p>
            <a:pPr marL="0" indent="0">
              <a:buNone/>
            </a:pPr>
            <a:r>
              <a:rPr lang="pt-BR" dirty="0">
                <a:latin typeface="Consolas" panose="020B0609020204030204" pitchFamily="49" charset="0"/>
              </a:rPr>
              <a:t>&gt; n &lt;- 150</a:t>
            </a:r>
          </a:p>
          <a:p>
            <a:pPr marL="0" indent="0">
              <a:buNone/>
            </a:pPr>
            <a:r>
              <a:rPr lang="pt-BR" dirty="0">
                <a:latin typeface="Consolas" panose="020B0609020204030204" pitchFamily="49" charset="0"/>
              </a:rPr>
              <a:t>&gt; </a:t>
            </a:r>
            <a:r>
              <a:rPr lang="pt-BR" dirty="0" err="1">
                <a:latin typeface="Consolas" panose="020B0609020204030204" pitchFamily="49" charset="0"/>
              </a:rPr>
              <a:t>x_hat</a:t>
            </a:r>
            <a:r>
              <a:rPr lang="pt-BR" dirty="0">
                <a:latin typeface="Consolas" panose="020B0609020204030204" pitchFamily="49" charset="0"/>
              </a:rPr>
              <a:t> &lt;- 3.71</a:t>
            </a:r>
          </a:p>
          <a:p>
            <a:pPr marL="0" indent="0">
              <a:buNone/>
            </a:pPr>
            <a:r>
              <a:rPr lang="pt-BR" dirty="0">
                <a:latin typeface="Consolas" panose="020B0609020204030204" pitchFamily="49" charset="0"/>
              </a:rPr>
              <a:t>&gt; s2 &lt;- 0.263</a:t>
            </a:r>
          </a:p>
          <a:p>
            <a:pPr marL="0" indent="0">
              <a:buNone/>
            </a:pPr>
            <a:r>
              <a:rPr lang="pt-BR" dirty="0">
                <a:latin typeface="Consolas" panose="020B0609020204030204" pitchFamily="49" charset="0"/>
              </a:rPr>
              <a:t>&gt; </a:t>
            </a:r>
            <a:r>
              <a:rPr lang="pt-BR" dirty="0" err="1">
                <a:latin typeface="Consolas" panose="020B0609020204030204" pitchFamily="49" charset="0"/>
              </a:rPr>
              <a:t>ic</a:t>
            </a:r>
            <a:r>
              <a:rPr lang="pt-BR" dirty="0">
                <a:latin typeface="Consolas" panose="020B0609020204030204" pitchFamily="49" charset="0"/>
              </a:rPr>
              <a:t> &lt;- 0.95</a:t>
            </a:r>
          </a:p>
          <a:p>
            <a:pPr marL="0" indent="0">
              <a:buNone/>
            </a:pPr>
            <a:r>
              <a:rPr lang="pt-BR" dirty="0">
                <a:latin typeface="Consolas" panose="020B0609020204030204" pitchFamily="49" charset="0"/>
              </a:rPr>
              <a:t>&gt; a &lt;- 1 - </a:t>
            </a:r>
            <a:r>
              <a:rPr lang="pt-BR" dirty="0" err="1">
                <a:latin typeface="Consolas" panose="020B0609020204030204" pitchFamily="49" charset="0"/>
              </a:rPr>
              <a:t>ic</a:t>
            </a:r>
            <a:endParaRPr lang="pt-BR" dirty="0">
              <a:latin typeface="Consolas" panose="020B0609020204030204" pitchFamily="49" charset="0"/>
            </a:endParaRP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#Usando T-</a:t>
            </a:r>
            <a:r>
              <a:rPr lang="pt-BR" dirty="0" err="1">
                <a:latin typeface="Consolas" panose="020B0609020204030204" pitchFamily="49" charset="0"/>
              </a:rPr>
              <a:t>Student</a:t>
            </a:r>
            <a:endParaRPr lang="pt-BR" dirty="0">
              <a:latin typeface="Consolas" panose="020B0609020204030204" pitchFamily="49" charset="0"/>
            </a:endParaRPr>
          </a:p>
          <a:p>
            <a:pPr marL="0" indent="0">
              <a:buNone/>
            </a:pPr>
            <a:r>
              <a:rPr lang="pt-BR" dirty="0">
                <a:latin typeface="Consolas" panose="020B0609020204030204" pitchFamily="49" charset="0"/>
              </a:rPr>
              <a:t>&gt; c(inferior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qt</a:t>
            </a:r>
            <a:r>
              <a:rPr lang="pt-BR" dirty="0">
                <a:latin typeface="Consolas" panose="020B0609020204030204" pitchFamily="49" charset="0"/>
              </a:rPr>
              <a:t>(a/2, </a:t>
            </a:r>
            <a:r>
              <a:rPr lang="pt-BR" dirty="0" err="1">
                <a:latin typeface="Consolas" panose="020B0609020204030204" pitchFamily="49" charset="0"/>
              </a:rPr>
              <a:t>df</a:t>
            </a:r>
            <a:r>
              <a:rPr lang="pt-BR" dirty="0">
                <a:latin typeface="Consolas" panose="020B0609020204030204" pitchFamily="49" charset="0"/>
              </a:rPr>
              <a:t> = n - 1, </a:t>
            </a:r>
            <a:r>
              <a:rPr lang="pt-BR" dirty="0" err="1">
                <a:latin typeface="Consolas" panose="020B0609020204030204" pitchFamily="49" charset="0"/>
              </a:rPr>
              <a:t>lower.tail</a:t>
            </a:r>
            <a:r>
              <a:rPr lang="pt-BR" dirty="0">
                <a:latin typeface="Consolas" panose="020B0609020204030204" pitchFamily="49" charset="0"/>
              </a:rPr>
              <a:t> = FALSE)*</a:t>
            </a:r>
            <a:r>
              <a:rPr lang="pt-BR" dirty="0" err="1">
                <a:latin typeface="Consolas" panose="020B0609020204030204" pitchFamily="49" charset="0"/>
              </a:rPr>
              <a:t>sqrt</a:t>
            </a:r>
            <a:r>
              <a:rPr lang="pt-BR" dirty="0">
                <a:latin typeface="Consolas" panose="020B0609020204030204" pitchFamily="49" charset="0"/>
              </a:rPr>
              <a:t>(s2/n), </a:t>
            </a:r>
          </a:p>
          <a:p>
            <a:pPr marL="0" indent="0">
              <a:buNone/>
            </a:pPr>
            <a:r>
              <a:rPr lang="pt-BR" dirty="0">
                <a:latin typeface="Consolas" panose="020B0609020204030204" pitchFamily="49" charset="0"/>
              </a:rPr>
              <a:t>+   superior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qt</a:t>
            </a:r>
            <a:r>
              <a:rPr lang="pt-BR" dirty="0">
                <a:latin typeface="Consolas" panose="020B0609020204030204" pitchFamily="49" charset="0"/>
              </a:rPr>
              <a:t>(a/2, </a:t>
            </a:r>
            <a:r>
              <a:rPr lang="pt-BR" dirty="0" err="1">
                <a:latin typeface="Consolas" panose="020B0609020204030204" pitchFamily="49" charset="0"/>
              </a:rPr>
              <a:t>df</a:t>
            </a:r>
            <a:r>
              <a:rPr lang="pt-BR" dirty="0">
                <a:latin typeface="Consolas" panose="020B0609020204030204" pitchFamily="49" charset="0"/>
              </a:rPr>
              <a:t> = n - 1, </a:t>
            </a:r>
            <a:r>
              <a:rPr lang="pt-BR" dirty="0" err="1">
                <a:latin typeface="Consolas" panose="020B0609020204030204" pitchFamily="49" charset="0"/>
              </a:rPr>
              <a:t>lower.tail</a:t>
            </a:r>
            <a:r>
              <a:rPr lang="pt-BR" dirty="0">
                <a:latin typeface="Consolas" panose="020B0609020204030204" pitchFamily="49" charset="0"/>
              </a:rPr>
              <a:t> = FALSE)*</a:t>
            </a:r>
            <a:r>
              <a:rPr lang="pt-BR" dirty="0" err="1">
                <a:latin typeface="Consolas" panose="020B0609020204030204" pitchFamily="49" charset="0"/>
              </a:rPr>
              <a:t>sqrt</a:t>
            </a:r>
            <a:r>
              <a:rPr lang="pt-BR" dirty="0">
                <a:latin typeface="Consolas" panose="020B0609020204030204" pitchFamily="49" charset="0"/>
              </a:rPr>
              <a:t>(s2/n))</a:t>
            </a:r>
          </a:p>
          <a:p>
            <a:pPr marL="0" indent="0">
              <a:buNone/>
            </a:pPr>
            <a:r>
              <a:rPr lang="pt-BR" dirty="0">
                <a:highlight>
                  <a:srgbClr val="FFFF00"/>
                </a:highlight>
                <a:latin typeface="Consolas" panose="020B0609020204030204" pitchFamily="49" charset="0"/>
              </a:rPr>
              <a:t>inferior superior </a:t>
            </a:r>
          </a:p>
          <a:p>
            <a:pPr marL="0" indent="0">
              <a:buNone/>
            </a:pPr>
            <a:r>
              <a:rPr lang="pt-BR" dirty="0">
                <a:highlight>
                  <a:srgbClr val="FFFF00"/>
                </a:highlight>
                <a:latin typeface="Consolas" panose="020B0609020204030204" pitchFamily="49" charset="0"/>
              </a:rPr>
              <a:t>3.627259 3.792741 </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#Aproximacion normal</a:t>
            </a:r>
          </a:p>
          <a:p>
            <a:pPr marL="0" indent="0">
              <a:buNone/>
            </a:pPr>
            <a:r>
              <a:rPr lang="pt-BR" dirty="0">
                <a:latin typeface="Consolas" panose="020B0609020204030204" pitchFamily="49" charset="0"/>
              </a:rPr>
              <a:t>&gt; c(inferior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qnorm</a:t>
            </a:r>
            <a:r>
              <a:rPr lang="pt-BR" dirty="0">
                <a:latin typeface="Consolas" panose="020B0609020204030204" pitchFamily="49" charset="0"/>
              </a:rPr>
              <a:t>(1-a/2)*</a:t>
            </a:r>
            <a:r>
              <a:rPr lang="pt-BR" dirty="0" err="1">
                <a:latin typeface="Consolas" panose="020B0609020204030204" pitchFamily="49" charset="0"/>
              </a:rPr>
              <a:t>sqrt</a:t>
            </a:r>
            <a:r>
              <a:rPr lang="pt-BR" dirty="0">
                <a:latin typeface="Consolas" panose="020B0609020204030204" pitchFamily="49" charset="0"/>
              </a:rPr>
              <a:t>(s2/(n)), </a:t>
            </a:r>
          </a:p>
          <a:p>
            <a:pPr marL="0" indent="0">
              <a:buNone/>
            </a:pPr>
            <a:r>
              <a:rPr lang="pt-BR" dirty="0">
                <a:latin typeface="Consolas" panose="020B0609020204030204" pitchFamily="49" charset="0"/>
              </a:rPr>
              <a:t>+   superior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qnorm</a:t>
            </a:r>
            <a:r>
              <a:rPr lang="pt-BR" dirty="0">
                <a:latin typeface="Consolas" panose="020B0609020204030204" pitchFamily="49" charset="0"/>
              </a:rPr>
              <a:t>(1-a/2)*</a:t>
            </a:r>
            <a:r>
              <a:rPr lang="pt-BR" dirty="0" err="1">
                <a:latin typeface="Consolas" panose="020B0609020204030204" pitchFamily="49" charset="0"/>
              </a:rPr>
              <a:t>sqrt</a:t>
            </a:r>
            <a:r>
              <a:rPr lang="pt-BR" dirty="0">
                <a:latin typeface="Consolas" panose="020B0609020204030204" pitchFamily="49" charset="0"/>
              </a:rPr>
              <a:t>(s2/(n)))</a:t>
            </a:r>
          </a:p>
          <a:p>
            <a:pPr marL="0" indent="0">
              <a:buNone/>
            </a:pPr>
            <a:r>
              <a:rPr lang="pt-BR" dirty="0">
                <a:highlight>
                  <a:srgbClr val="FFFF00"/>
                </a:highlight>
                <a:latin typeface="Consolas" panose="020B0609020204030204" pitchFamily="49" charset="0"/>
              </a:rPr>
              <a:t>inferior superior </a:t>
            </a:r>
          </a:p>
          <a:p>
            <a:pPr marL="0" indent="0">
              <a:buNone/>
            </a:pPr>
            <a:r>
              <a:rPr lang="pt-BR" dirty="0">
                <a:highlight>
                  <a:srgbClr val="FFFF00"/>
                </a:highlight>
                <a:latin typeface="Consolas" panose="020B0609020204030204" pitchFamily="49" charset="0"/>
              </a:rPr>
              <a:t>3.627931 3.792069</a:t>
            </a:r>
          </a:p>
        </p:txBody>
      </p:sp>
    </p:spTree>
    <p:extLst>
      <p:ext uri="{BB962C8B-B14F-4D97-AF65-F5344CB8AC3E}">
        <p14:creationId xmlns:p14="http://schemas.microsoft.com/office/powerpoint/2010/main" val="207032031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¿Qué ocurre cuando los muestreos son sin reemplazamiento y las poblaciones son finitas?</a:t>
            </a:r>
          </a:p>
        </p:txBody>
      </p:sp>
    </p:spTree>
    <p:extLst>
      <p:ext uri="{BB962C8B-B14F-4D97-AF65-F5344CB8AC3E}">
        <p14:creationId xmlns:p14="http://schemas.microsoft.com/office/powerpoint/2010/main" val="162222384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10000"/>
              </a:bodyPr>
              <a:lstStyle/>
              <a:p>
                <a:pPr>
                  <a:lnSpc>
                    <a:spcPct val="150000"/>
                  </a:lnSpc>
                </a:pPr>
                <a:r>
                  <a:rPr lang="es-419" dirty="0">
                    <a:ea typeface="Cambria Math" panose="02040503050406030204" pitchFamily="18" charset="0"/>
                  </a:rPr>
                  <a:t>En términos prácticos, un muestreo aleatorio simple requiere que, en el caso de poblaciones finitas, el muestreo sea sin reemplazamiento.</a:t>
                </a:r>
              </a:p>
              <a:p>
                <a:pPr>
                  <a:lnSpc>
                    <a:spcPct val="150000"/>
                  </a:lnSpc>
                </a:pPr>
                <a:r>
                  <a:rPr lang="es-419" dirty="0">
                    <a:ea typeface="Cambria Math" panose="02040503050406030204" pitchFamily="18" charset="0"/>
                  </a:rPr>
                  <a:t>Las variables de la muestra dejan de ser independientes, y no puede emplearse el </a:t>
                </a:r>
                <a:r>
                  <a:rPr lang="es-419" b="1" dirty="0">
                    <a:solidFill>
                      <a:srgbClr val="003A5D"/>
                    </a:solidFill>
                    <a:ea typeface="Cambria Math" panose="02040503050406030204" pitchFamily="18" charset="0"/>
                  </a:rPr>
                  <a:t>TLC</a:t>
                </a:r>
                <a:r>
                  <a:rPr lang="es-419" dirty="0">
                    <a:ea typeface="Cambria Math" panose="02040503050406030204" pitchFamily="18" charset="0"/>
                  </a:rPr>
                  <a:t>.</a:t>
                </a:r>
              </a:p>
              <a:p>
                <a:pPr>
                  <a:lnSpc>
                    <a:spcPct val="150000"/>
                  </a:lnSpc>
                </a:pPr>
                <a:r>
                  <a:rPr lang="es-419" dirty="0">
                    <a:ea typeface="Cambria Math" panose="02040503050406030204" pitchFamily="18" charset="0"/>
                  </a:rPr>
                  <a:t>Se obtiene un menor número de muestras.</a:t>
                </a:r>
              </a:p>
              <a:p>
                <a:pPr lvl="1">
                  <a:lnSpc>
                    <a:spcPct val="150000"/>
                  </a:lnSpc>
                </a:pPr>
                <a:r>
                  <a:rPr lang="es-419" dirty="0">
                    <a:ea typeface="Cambria Math" panose="02040503050406030204" pitchFamily="18" charset="0"/>
                  </a:rPr>
                  <a:t>Posibles muestras con reemplazamiento:</a:t>
                </a:r>
                <a14:m>
                  <m:oMath xmlns:m="http://schemas.openxmlformats.org/officeDocument/2006/math">
                    <m:sSub>
                      <m:sSubPr>
                        <m:ctrlPr>
                          <a:rPr lang="es-419"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𝑉</m:t>
                        </m:r>
                      </m:e>
                      <m:sub>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𝑛</m:t>
                        </m:r>
                      </m:sub>
                    </m:sSub>
                    <m:r>
                      <a:rPr lang="es-419" b="0" i="1" smtClean="0">
                        <a:latin typeface="Cambria Math" panose="02040503050406030204" pitchFamily="18" charset="0"/>
                        <a:ea typeface="Cambria Math" panose="02040503050406030204" pitchFamily="18" charset="0"/>
                      </a:rPr>
                      <m:t>=</m:t>
                    </m:r>
                    <m:sSup>
                      <m:sSupPr>
                        <m:ctrlPr>
                          <a:rPr lang="es-419" b="0" i="1" smtClean="0">
                            <a:latin typeface="Cambria Math" panose="02040503050406030204" pitchFamily="18" charset="0"/>
                            <a:ea typeface="Cambria Math" panose="02040503050406030204" pitchFamily="18" charset="0"/>
                          </a:rPr>
                        </m:ctrlPr>
                      </m:sSupPr>
                      <m:e>
                        <m:r>
                          <a:rPr lang="es-419" b="0" i="1" smtClean="0">
                            <a:latin typeface="Cambria Math" panose="02040503050406030204" pitchFamily="18" charset="0"/>
                            <a:ea typeface="Cambria Math" panose="02040503050406030204" pitchFamily="18" charset="0"/>
                          </a:rPr>
                          <m:t>𝑁</m:t>
                        </m:r>
                      </m:e>
                      <m:sup>
                        <m:r>
                          <a:rPr lang="es-419" b="0" i="1" smtClean="0">
                            <a:latin typeface="Cambria Math" panose="02040503050406030204" pitchFamily="18" charset="0"/>
                            <a:ea typeface="Cambria Math" panose="02040503050406030204" pitchFamily="18" charset="0"/>
                          </a:rPr>
                          <m:t>𝑛</m:t>
                        </m:r>
                      </m:sup>
                    </m:sSup>
                  </m:oMath>
                </a14:m>
                <a:endParaRPr lang="es-419" dirty="0">
                  <a:ea typeface="Cambria Math" panose="02040503050406030204" pitchFamily="18" charset="0"/>
                </a:endParaRPr>
              </a:p>
              <a:p>
                <a:pPr lvl="1">
                  <a:lnSpc>
                    <a:spcPct val="150000"/>
                  </a:lnSpc>
                </a:pPr>
                <a:r>
                  <a:rPr lang="es-419" dirty="0">
                    <a:ea typeface="Cambria Math" panose="02040503050406030204" pitchFamily="18" charset="0"/>
                  </a:rPr>
                  <a:t>Posibles muestras sin reemplazamiento: </a:t>
                </a:r>
                <a14:m>
                  <m:oMath xmlns:m="http://schemas.openxmlformats.org/officeDocument/2006/math">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𝑉</m:t>
                        </m:r>
                      </m:e>
                      <m:sub>
                        <m:r>
                          <a:rPr lang="es-419" i="1">
                            <a:latin typeface="Cambria Math" panose="02040503050406030204" pitchFamily="18" charset="0"/>
                            <a:ea typeface="Cambria Math" panose="02040503050406030204" pitchFamily="18" charset="0"/>
                          </a:rPr>
                          <m:t>𝑁</m:t>
                        </m:r>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𝑛</m:t>
                        </m:r>
                      </m:sub>
                    </m:sSub>
                    <m:r>
                      <a:rPr lang="es-419" i="1">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−1</m:t>
                        </m:r>
                      </m:e>
                    </m:d>
                    <m:r>
                      <a:rPr lang="es-419" b="0" i="1" smtClean="0">
                        <a:latin typeface="Cambria Math" panose="02040503050406030204" pitchFamily="18" charset="0"/>
                        <a:ea typeface="Cambria Math" panose="02040503050406030204" pitchFamily="18" charset="0"/>
                      </a:rPr>
                      <m:t>…</m:t>
                    </m:r>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𝑛</m:t>
                        </m:r>
                        <m:r>
                          <a:rPr lang="es-419" b="0" i="1" smtClean="0">
                            <a:latin typeface="Cambria Math" panose="02040503050406030204" pitchFamily="18" charset="0"/>
                            <a:ea typeface="Cambria Math" panose="02040503050406030204" pitchFamily="18" charset="0"/>
                          </a:rPr>
                          <m:t>+1</m:t>
                        </m:r>
                      </m:e>
                    </m:d>
                  </m:oMath>
                </a14:m>
                <a:endParaRPr lang="es-419" dirty="0">
                  <a:ea typeface="Cambria Math" panose="02040503050406030204" pitchFamily="18" charset="0"/>
                </a:endParaRPr>
              </a:p>
              <a:p>
                <a:pPr>
                  <a:lnSpc>
                    <a:spcPct val="150000"/>
                  </a:lnSpc>
                </a:pPr>
                <a:r>
                  <a:rPr lang="es-419" b="1" i="1" dirty="0">
                    <a:solidFill>
                      <a:srgbClr val="003A5D"/>
                    </a:solidFill>
                    <a:ea typeface="Cambria Math" panose="02040503050406030204" pitchFamily="18" charset="0"/>
                  </a:rPr>
                  <a:t>N </a:t>
                </a:r>
                <a:r>
                  <a:rPr lang="es-419" dirty="0">
                    <a:ea typeface="Cambria Math" panose="02040503050406030204" pitchFamily="18" charset="0"/>
                  </a:rPr>
                  <a:t>siendo el número de elementos de la población y </a:t>
                </a:r>
                <a:r>
                  <a:rPr lang="es-419" b="1" i="1" dirty="0">
                    <a:solidFill>
                      <a:srgbClr val="003A5D"/>
                    </a:solidFill>
                    <a:ea typeface="Cambria Math" panose="02040503050406030204" pitchFamily="18" charset="0"/>
                  </a:rPr>
                  <a:t>n</a:t>
                </a:r>
                <a:r>
                  <a:rPr lang="es-419" dirty="0">
                    <a:ea typeface="Cambria Math" panose="02040503050406030204" pitchFamily="18" charset="0"/>
                  </a:rPr>
                  <a:t> el tamaño de la muestra.</a:t>
                </a:r>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928" r="-1449" b="-1222"/>
                </a:stretch>
              </a:blipFill>
            </p:spPr>
            <p:txBody>
              <a:bodyPr/>
              <a:lstStyle/>
              <a:p>
                <a:r>
                  <a:rPr lang="es-VE">
                    <a:noFill/>
                  </a:rPr>
                  <a:t> </a:t>
                </a:r>
              </a:p>
            </p:txBody>
          </p:sp>
        </mc:Fallback>
      </mc:AlternateContent>
    </p:spTree>
    <p:extLst>
      <p:ext uri="{BB962C8B-B14F-4D97-AF65-F5344CB8AC3E}">
        <p14:creationId xmlns:p14="http://schemas.microsoft.com/office/powerpoint/2010/main" val="308394946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r>
                  <a:rPr lang="es-419" dirty="0"/>
                  <a:t>La varianza de la media muestral se modifica en</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rPr>
                        <m:t>𝑉𝑎𝑟</m:t>
                      </m:r>
                      <m:d>
                        <m:dPr>
                          <m:ctrlPr>
                            <a:rPr lang="es-419" b="0" i="1" smtClean="0">
                              <a:latin typeface="Cambria Math" panose="02040503050406030204" pitchFamily="18" charset="0"/>
                            </a:rPr>
                          </m:ctrlPr>
                        </m:dPr>
                        <m:e>
                          <m:acc>
                            <m:accPr>
                              <m:chr m:val="̅"/>
                              <m:ctrlPr>
                                <a:rPr lang="es-419" b="0" i="1" smtClean="0">
                                  <a:latin typeface="Cambria Math" panose="02040503050406030204" pitchFamily="18" charset="0"/>
                                </a:rPr>
                              </m:ctrlPr>
                            </m:accPr>
                            <m:e>
                              <m:r>
                                <a:rPr lang="es-419" b="0" i="1" smtClean="0">
                                  <a:latin typeface="Cambria Math" panose="02040503050406030204" pitchFamily="18" charset="0"/>
                                </a:rPr>
                                <m:t>𝑋</m:t>
                              </m:r>
                            </m:e>
                          </m:acc>
                        </m:e>
                      </m:d>
                      <m:r>
                        <a:rPr lang="es-419" b="0" i="1" smtClean="0">
                          <a:latin typeface="Cambria Math" panose="02040503050406030204" pitchFamily="18" charset="0"/>
                        </a:rPr>
                        <m:t>=</m:t>
                      </m:r>
                      <m:f>
                        <m:fPr>
                          <m:ctrlPr>
                            <a:rPr lang="es-419" b="0" i="1" smtClean="0">
                              <a:latin typeface="Cambria Math" panose="02040503050406030204" pitchFamily="18" charset="0"/>
                            </a:rPr>
                          </m:ctrlPr>
                        </m:fPr>
                        <m:num>
                          <m:sSup>
                            <m:sSupPr>
                              <m:ctrlPr>
                                <a:rPr lang="es-419" b="0" i="1" smtClean="0">
                                  <a:latin typeface="Cambria Math" panose="02040503050406030204" pitchFamily="18" charset="0"/>
                                </a:rPr>
                              </m:ctrlPr>
                            </m:sSupPr>
                            <m:e>
                              <m:r>
                                <a:rPr lang="es-419" b="0" i="1" smtClean="0">
                                  <a:latin typeface="Cambria Math" panose="02040503050406030204" pitchFamily="18" charset="0"/>
                                  <a:ea typeface="Cambria Math" panose="02040503050406030204" pitchFamily="18" charset="0"/>
                                </a:rPr>
                                <m:t>𝜎</m:t>
                              </m:r>
                            </m:e>
                            <m:sup>
                              <m:r>
                                <a:rPr lang="es-419" b="0" i="1" smtClean="0">
                                  <a:latin typeface="Cambria Math" panose="02040503050406030204" pitchFamily="18" charset="0"/>
                                </a:rPr>
                                <m:t>2</m:t>
                              </m:r>
                            </m:sup>
                          </m:sSup>
                        </m:num>
                        <m:den>
                          <m:r>
                            <a:rPr lang="es-419" b="0" i="1" smtClean="0">
                              <a:latin typeface="Cambria Math" panose="02040503050406030204" pitchFamily="18" charset="0"/>
                            </a:rPr>
                            <m:t>𝑛</m:t>
                          </m:r>
                        </m:den>
                      </m:f>
                      <m:f>
                        <m:fPr>
                          <m:ctrlPr>
                            <a:rPr lang="es-419" b="0" i="1" smtClean="0">
                              <a:latin typeface="Cambria Math" panose="02040503050406030204" pitchFamily="18" charset="0"/>
                            </a:rPr>
                          </m:ctrlPr>
                        </m:fPr>
                        <m:num>
                          <m:r>
                            <a:rPr lang="es-419" b="0" i="1" smtClean="0">
                              <a:latin typeface="Cambria Math" panose="02040503050406030204" pitchFamily="18" charset="0"/>
                            </a:rPr>
                            <m:t>𝑁</m:t>
                          </m:r>
                          <m:r>
                            <a:rPr lang="es-419" b="0" i="1" smtClean="0">
                              <a:latin typeface="Cambria Math" panose="02040503050406030204" pitchFamily="18" charset="0"/>
                            </a:rPr>
                            <m:t>−</m:t>
                          </m:r>
                          <m:r>
                            <a:rPr lang="es-419" b="0" i="1" smtClean="0">
                              <a:latin typeface="Cambria Math" panose="02040503050406030204" pitchFamily="18" charset="0"/>
                            </a:rPr>
                            <m:t>𝑛</m:t>
                          </m:r>
                        </m:num>
                        <m:den>
                          <m:r>
                            <a:rPr lang="es-419" b="0" i="1" smtClean="0">
                              <a:latin typeface="Cambria Math" panose="02040503050406030204" pitchFamily="18" charset="0"/>
                            </a:rPr>
                            <m:t>𝑁</m:t>
                          </m:r>
                          <m:r>
                            <a:rPr lang="es-419" b="0" i="1" smtClean="0">
                              <a:latin typeface="Cambria Math" panose="02040503050406030204" pitchFamily="18" charset="0"/>
                            </a:rPr>
                            <m:t>−1</m:t>
                          </m:r>
                        </m:den>
                      </m:f>
                    </m:oMath>
                  </m:oMathPara>
                </a14:m>
                <a:endParaRPr lang="es-419" dirty="0"/>
              </a:p>
              <a:p>
                <a:pPr>
                  <a:lnSpc>
                    <a:spcPct val="150000"/>
                  </a:lnSpc>
                </a:pPr>
                <a:r>
                  <a:rPr lang="es-419" dirty="0"/>
                  <a:t>La varianza de la media muestral termina siendo menor debido a que (</a:t>
                </a:r>
                <a14:m>
                  <m:oMath xmlns:m="http://schemas.openxmlformats.org/officeDocument/2006/math">
                    <m:r>
                      <a:rPr lang="es-419" i="1">
                        <a:latin typeface="Cambria Math" panose="02040503050406030204" pitchFamily="18" charset="0"/>
                      </a:rPr>
                      <m:t>𝑁</m:t>
                    </m:r>
                    <m:r>
                      <a:rPr lang="es-419" i="1">
                        <a:latin typeface="Cambria Math" panose="02040503050406030204" pitchFamily="18" charset="0"/>
                      </a:rPr>
                      <m:t>−</m:t>
                    </m:r>
                    <m:r>
                      <a:rPr lang="es-419" i="1">
                        <a:latin typeface="Cambria Math" panose="02040503050406030204" pitchFamily="18" charset="0"/>
                      </a:rPr>
                      <m:t>𝑛</m:t>
                    </m:r>
                    <m:r>
                      <a:rPr lang="es-419" b="0" i="1" smtClean="0">
                        <a:latin typeface="Cambria Math" panose="02040503050406030204" pitchFamily="18" charset="0"/>
                      </a:rPr>
                      <m:t>)</m:t>
                    </m:r>
                  </m:oMath>
                </a14:m>
                <a:r>
                  <a:rPr lang="es-419" dirty="0"/>
                  <a:t> &lt; </a:t>
                </a:r>
                <a14:m>
                  <m:oMath xmlns:m="http://schemas.openxmlformats.org/officeDocument/2006/math">
                    <m:d>
                      <m:dPr>
                        <m:ctrlPr>
                          <a:rPr lang="es-419" b="0" i="1" smtClean="0">
                            <a:latin typeface="Cambria Math" panose="02040503050406030204" pitchFamily="18" charset="0"/>
                          </a:rPr>
                        </m:ctrlPr>
                      </m:dPr>
                      <m:e>
                        <m:r>
                          <a:rPr lang="es-419" i="1">
                            <a:latin typeface="Cambria Math" panose="02040503050406030204" pitchFamily="18" charset="0"/>
                          </a:rPr>
                          <m:t>𝑁</m:t>
                        </m:r>
                        <m:r>
                          <a:rPr lang="es-419" i="1">
                            <a:latin typeface="Cambria Math" panose="02040503050406030204" pitchFamily="18" charset="0"/>
                          </a:rPr>
                          <m:t>−1</m:t>
                        </m:r>
                      </m:e>
                    </m:d>
                    <m:r>
                      <a:rPr lang="es-419" b="0" i="1" smtClean="0">
                        <a:latin typeface="Cambria Math" panose="02040503050406030204" pitchFamily="18" charset="0"/>
                      </a:rPr>
                      <m:t>.</m:t>
                    </m:r>
                  </m:oMath>
                </a14:m>
                <a:endParaRPr lang="es-419" b="0" dirty="0"/>
              </a:p>
              <a:p>
                <a:pPr>
                  <a:lnSpc>
                    <a:spcPct val="150000"/>
                  </a:lnSpc>
                </a:pPr>
                <a:r>
                  <a:rPr lang="es-419" dirty="0"/>
                  <a:t> Factor de corrección para poblaciones finitas:</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s-419" i="1">
                              <a:latin typeface="Cambria Math" panose="02040503050406030204" pitchFamily="18" charset="0"/>
                            </a:rPr>
                          </m:ctrlPr>
                        </m:fPr>
                        <m:num>
                          <m:r>
                            <a:rPr lang="es-419" i="1">
                              <a:latin typeface="Cambria Math" panose="02040503050406030204" pitchFamily="18" charset="0"/>
                            </a:rPr>
                            <m:t>𝑁</m:t>
                          </m:r>
                          <m:r>
                            <a:rPr lang="es-419" i="1">
                              <a:latin typeface="Cambria Math" panose="02040503050406030204" pitchFamily="18" charset="0"/>
                            </a:rPr>
                            <m:t>−</m:t>
                          </m:r>
                          <m:r>
                            <a:rPr lang="es-419" i="1">
                              <a:latin typeface="Cambria Math" panose="02040503050406030204" pitchFamily="18" charset="0"/>
                            </a:rPr>
                            <m:t>𝑛</m:t>
                          </m:r>
                        </m:num>
                        <m:den>
                          <m:r>
                            <a:rPr lang="es-419" i="1">
                              <a:latin typeface="Cambria Math" panose="02040503050406030204" pitchFamily="18" charset="0"/>
                            </a:rPr>
                            <m:t>𝑁</m:t>
                          </m:r>
                          <m:r>
                            <a:rPr lang="es-419" i="1">
                              <a:latin typeface="Cambria Math" panose="02040503050406030204" pitchFamily="18" charset="0"/>
                            </a:rPr>
                            <m:t>−1</m:t>
                          </m:r>
                        </m:den>
                      </m:f>
                    </m:oMath>
                  </m:oMathPara>
                </a14:m>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043" r="-174"/>
                </a:stretch>
              </a:blipFill>
            </p:spPr>
            <p:txBody>
              <a:bodyPr/>
              <a:lstStyle/>
              <a:p>
                <a:r>
                  <a:rPr lang="en-US">
                    <a:noFill/>
                  </a:rPr>
                  <a:t> </a:t>
                </a:r>
              </a:p>
            </p:txBody>
          </p:sp>
        </mc:Fallback>
      </mc:AlternateContent>
    </p:spTree>
    <p:extLst>
      <p:ext uri="{BB962C8B-B14F-4D97-AF65-F5344CB8AC3E}">
        <p14:creationId xmlns:p14="http://schemas.microsoft.com/office/powerpoint/2010/main" val="299775268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10000"/>
              </a:bodyPr>
              <a:lstStyle/>
              <a:p>
                <a:pPr>
                  <a:lnSpc>
                    <a:spcPct val="150000"/>
                  </a:lnSpc>
                </a:pPr>
                <a:r>
                  <a:rPr lang="es-419" dirty="0"/>
                  <a:t>¿Cómo queda la distribución?</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𝜇</m:t>
                      </m:r>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rPr>
                          </m:ctrlPr>
                        </m:fPr>
                        <m:num>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s-419" i="1">
                                  <a:latin typeface="Cambria Math" panose="02040503050406030204" pitchFamily="18" charset="0"/>
                                </a:rPr>
                                <m:t>2</m:t>
                              </m:r>
                            </m:sup>
                          </m:sSup>
                        </m:num>
                        <m:den>
                          <m:r>
                            <a:rPr lang="es-419" i="1">
                              <a:latin typeface="Cambria Math" panose="02040503050406030204" pitchFamily="18" charset="0"/>
                            </a:rPr>
                            <m:t>𝑛</m:t>
                          </m:r>
                        </m:den>
                      </m:f>
                      <m:f>
                        <m:fPr>
                          <m:ctrlPr>
                            <a:rPr lang="es-419" i="1">
                              <a:latin typeface="Cambria Math" panose="02040503050406030204" pitchFamily="18" charset="0"/>
                            </a:rPr>
                          </m:ctrlPr>
                        </m:fPr>
                        <m:num>
                          <m:r>
                            <a:rPr lang="es-419" i="1">
                              <a:latin typeface="Cambria Math" panose="02040503050406030204" pitchFamily="18" charset="0"/>
                            </a:rPr>
                            <m:t>𝑁</m:t>
                          </m:r>
                          <m:r>
                            <a:rPr lang="es-419" i="1">
                              <a:latin typeface="Cambria Math" panose="02040503050406030204" pitchFamily="18" charset="0"/>
                            </a:rPr>
                            <m:t>−</m:t>
                          </m:r>
                          <m:r>
                            <a:rPr lang="es-419" i="1">
                              <a:latin typeface="Cambria Math" panose="02040503050406030204" pitchFamily="18" charset="0"/>
                            </a:rPr>
                            <m:t>𝑛</m:t>
                          </m:r>
                        </m:num>
                        <m:den>
                          <m:r>
                            <a:rPr lang="es-419" i="1">
                              <a:latin typeface="Cambria Math" panose="02040503050406030204" pitchFamily="18" charset="0"/>
                            </a:rPr>
                            <m:t>𝑁</m:t>
                          </m:r>
                          <m:r>
                            <a:rPr lang="es-419" i="1">
                              <a:latin typeface="Cambria Math" panose="02040503050406030204" pitchFamily="18" charset="0"/>
                            </a:rPr>
                            <m:t>−1</m:t>
                          </m:r>
                        </m:den>
                      </m:f>
                      <m:r>
                        <a:rPr lang="es-419" i="1" dirty="0">
                          <a:latin typeface="Cambria Math" panose="02040503050406030204" pitchFamily="18" charset="0"/>
                          <a:ea typeface="Cambria Math" panose="02040503050406030204" pitchFamily="18" charset="0"/>
                        </a:rPr>
                        <m:t>)</m:t>
                      </m:r>
                    </m:oMath>
                  </m:oMathPara>
                </a14:m>
                <a:endParaRPr lang="es-419" i="1" dirty="0">
                  <a:latin typeface="Cambria Math" panose="02040503050406030204" pitchFamily="18" charset="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func>
                        <m:funcPr>
                          <m:ctrlPr>
                            <a:rPr lang="es-419" i="1" smtClean="0">
                              <a:latin typeface="Cambria Math" panose="02040503050406030204" pitchFamily="18" charset="0"/>
                              <a:ea typeface="Cambria Math" panose="02040503050406030204" pitchFamily="18" charset="0"/>
                            </a:rPr>
                          </m:ctrlPr>
                        </m:funcPr>
                        <m:fName>
                          <m:limLow>
                            <m:limLowPr>
                              <m:ctrlPr>
                                <a:rPr lang="es-419" i="1" smtClean="0">
                                  <a:latin typeface="Cambria Math" panose="02040503050406030204" pitchFamily="18" charset="0"/>
                                  <a:ea typeface="Cambria Math" panose="02040503050406030204" pitchFamily="18" charset="0"/>
                                </a:rPr>
                              </m:ctrlPr>
                            </m:limLowPr>
                            <m:e>
                              <m:r>
                                <m:rPr>
                                  <m:sty m:val="p"/>
                                </m:rPr>
                                <a:rPr lang="es-419" i="0" smtClean="0">
                                  <a:latin typeface="Cambria Math" panose="02040503050406030204" pitchFamily="18" charset="0"/>
                                  <a:ea typeface="Cambria Math" panose="02040503050406030204" pitchFamily="18" charset="0"/>
                                </a:rPr>
                                <m:t>lim</m:t>
                              </m:r>
                            </m:e>
                            <m:lim>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m:t>
                              </m:r>
                            </m:lim>
                          </m:limLow>
                        </m:fName>
                        <m:e>
                          <m:f>
                            <m:fPr>
                              <m:ctrlPr>
                                <a:rPr lang="es-419" i="1">
                                  <a:latin typeface="Cambria Math" panose="02040503050406030204" pitchFamily="18" charset="0"/>
                                </a:rPr>
                              </m:ctrlPr>
                            </m:fPr>
                            <m:num>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s-419" i="1">
                                      <a:latin typeface="Cambria Math" panose="02040503050406030204" pitchFamily="18" charset="0"/>
                                    </a:rPr>
                                    <m:t>2</m:t>
                                  </m:r>
                                </m:sup>
                              </m:sSup>
                            </m:num>
                            <m:den>
                              <m:r>
                                <a:rPr lang="es-419" i="1">
                                  <a:latin typeface="Cambria Math" panose="02040503050406030204" pitchFamily="18" charset="0"/>
                                </a:rPr>
                                <m:t>𝑛</m:t>
                              </m:r>
                            </m:den>
                          </m:f>
                          <m:f>
                            <m:fPr>
                              <m:ctrlPr>
                                <a:rPr lang="es-419" i="1">
                                  <a:latin typeface="Cambria Math" panose="02040503050406030204" pitchFamily="18" charset="0"/>
                                </a:rPr>
                              </m:ctrlPr>
                            </m:fPr>
                            <m:num>
                              <m:r>
                                <a:rPr lang="es-419" i="1">
                                  <a:latin typeface="Cambria Math" panose="02040503050406030204" pitchFamily="18" charset="0"/>
                                </a:rPr>
                                <m:t>𝑁</m:t>
                              </m:r>
                              <m:r>
                                <a:rPr lang="es-419" i="1">
                                  <a:latin typeface="Cambria Math" panose="02040503050406030204" pitchFamily="18" charset="0"/>
                                </a:rPr>
                                <m:t>−</m:t>
                              </m:r>
                              <m:r>
                                <a:rPr lang="es-419" i="1">
                                  <a:latin typeface="Cambria Math" panose="02040503050406030204" pitchFamily="18" charset="0"/>
                                </a:rPr>
                                <m:t>𝑛</m:t>
                              </m:r>
                            </m:num>
                            <m:den>
                              <m:r>
                                <a:rPr lang="es-419" i="1">
                                  <a:latin typeface="Cambria Math" panose="02040503050406030204" pitchFamily="18" charset="0"/>
                                </a:rPr>
                                <m:t>𝑁</m:t>
                              </m:r>
                              <m:r>
                                <a:rPr lang="es-419" i="1">
                                  <a:latin typeface="Cambria Math" panose="02040503050406030204" pitchFamily="18" charset="0"/>
                                </a:rPr>
                                <m:t>−1</m:t>
                              </m:r>
                            </m:den>
                          </m:f>
                        </m:e>
                      </m:func>
                    </m:oMath>
                  </m:oMathPara>
                </a14:m>
                <a:endParaRPr lang="es-419" i="1" dirty="0">
                  <a:latin typeface="Cambria Math" panose="02040503050406030204" pitchFamily="18" charset="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func>
                        <m:funcPr>
                          <m:ctrlPr>
                            <a:rPr lang="es-419" i="1" smtClean="0">
                              <a:latin typeface="Cambria Math" panose="02040503050406030204" pitchFamily="18" charset="0"/>
                              <a:ea typeface="Cambria Math" panose="02040503050406030204" pitchFamily="18" charset="0"/>
                            </a:rPr>
                          </m:ctrlPr>
                        </m:funcPr>
                        <m:fName>
                          <m:f>
                            <m:fPr>
                              <m:ctrlPr>
                                <a:rPr lang="es-419" i="1">
                                  <a:latin typeface="Cambria Math" panose="02040503050406030204" pitchFamily="18" charset="0"/>
                                </a:rPr>
                              </m:ctrlPr>
                            </m:fPr>
                            <m:num>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s-419" i="1">
                                      <a:latin typeface="Cambria Math" panose="02040503050406030204" pitchFamily="18" charset="0"/>
                                    </a:rPr>
                                    <m:t>2</m:t>
                                  </m:r>
                                </m:sup>
                              </m:sSup>
                            </m:num>
                            <m:den>
                              <m:r>
                                <a:rPr lang="es-419" i="1">
                                  <a:latin typeface="Cambria Math" panose="02040503050406030204" pitchFamily="18" charset="0"/>
                                </a:rPr>
                                <m:t>𝑛</m:t>
                              </m:r>
                            </m:den>
                          </m:f>
                          <m:limLow>
                            <m:limLowPr>
                              <m:ctrlPr>
                                <a:rPr lang="es-419" i="1">
                                  <a:latin typeface="Cambria Math" panose="02040503050406030204" pitchFamily="18" charset="0"/>
                                  <a:ea typeface="Cambria Math" panose="02040503050406030204" pitchFamily="18" charset="0"/>
                                </a:rPr>
                              </m:ctrlPr>
                            </m:limLowPr>
                            <m:e>
                              <m:r>
                                <m:rPr>
                                  <m:sty m:val="p"/>
                                </m:rPr>
                                <a:rPr lang="es-419">
                                  <a:latin typeface="Cambria Math" panose="02040503050406030204" pitchFamily="18" charset="0"/>
                                  <a:ea typeface="Cambria Math" panose="02040503050406030204" pitchFamily="18" charset="0"/>
                                </a:rPr>
                                <m:t>lim</m:t>
                              </m:r>
                            </m:e>
                            <m:lim>
                              <m:r>
                                <a:rPr lang="es-419" i="1">
                                  <a:latin typeface="Cambria Math" panose="02040503050406030204" pitchFamily="18" charset="0"/>
                                  <a:ea typeface="Cambria Math" panose="02040503050406030204" pitchFamily="18" charset="0"/>
                                </a:rPr>
                                <m:t>𝑁</m:t>
                              </m:r>
                              <m:r>
                                <a:rPr lang="es-419" i="1">
                                  <a:latin typeface="Cambria Math" panose="02040503050406030204" pitchFamily="18" charset="0"/>
                                  <a:ea typeface="Cambria Math" panose="02040503050406030204" pitchFamily="18" charset="0"/>
                                </a:rPr>
                                <m:t>→∞</m:t>
                              </m:r>
                            </m:lim>
                          </m:limLow>
                        </m:fName>
                        <m:e>
                          <m:f>
                            <m:fPr>
                              <m:ctrlPr>
                                <a:rPr lang="es-419" i="1">
                                  <a:latin typeface="Cambria Math" panose="02040503050406030204" pitchFamily="18" charset="0"/>
                                </a:rPr>
                              </m:ctrlPr>
                            </m:fPr>
                            <m:num>
                              <m:r>
                                <a:rPr lang="es-419" i="1">
                                  <a:latin typeface="Cambria Math" panose="02040503050406030204" pitchFamily="18" charset="0"/>
                                </a:rPr>
                                <m:t>𝑁</m:t>
                              </m:r>
                              <m:r>
                                <a:rPr lang="es-419" i="1">
                                  <a:latin typeface="Cambria Math" panose="02040503050406030204" pitchFamily="18" charset="0"/>
                                </a:rPr>
                                <m:t>−</m:t>
                              </m:r>
                              <m:r>
                                <a:rPr lang="es-419" i="1">
                                  <a:latin typeface="Cambria Math" panose="02040503050406030204" pitchFamily="18" charset="0"/>
                                </a:rPr>
                                <m:t>𝑛</m:t>
                              </m:r>
                            </m:num>
                            <m:den>
                              <m:r>
                                <a:rPr lang="es-419" i="1">
                                  <a:latin typeface="Cambria Math" panose="02040503050406030204" pitchFamily="18" charset="0"/>
                                </a:rPr>
                                <m:t>𝑁</m:t>
                              </m:r>
                              <m:r>
                                <a:rPr lang="es-419" i="1">
                                  <a:latin typeface="Cambria Math" panose="02040503050406030204" pitchFamily="18" charset="0"/>
                                </a:rPr>
                                <m:t>−1</m:t>
                              </m:r>
                            </m:den>
                          </m:f>
                        </m:e>
                      </m:func>
                      <m:r>
                        <a:rPr lang="es-419" b="0" i="1" smtClean="0">
                          <a:latin typeface="Cambria Math" panose="02040503050406030204" pitchFamily="18" charset="0"/>
                        </a:rPr>
                        <m:t>=</m:t>
                      </m:r>
                      <m:f>
                        <m:fPr>
                          <m:ctrlPr>
                            <a:rPr lang="es-419" i="1">
                              <a:latin typeface="Cambria Math" panose="02040503050406030204" pitchFamily="18" charset="0"/>
                            </a:rPr>
                          </m:ctrlPr>
                        </m:fPr>
                        <m:num>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s-419" i="1">
                                  <a:latin typeface="Cambria Math" panose="02040503050406030204" pitchFamily="18" charset="0"/>
                                </a:rPr>
                                <m:t>2</m:t>
                              </m:r>
                            </m:sup>
                          </m:sSup>
                        </m:num>
                        <m:den>
                          <m:r>
                            <a:rPr lang="es-419" i="1">
                              <a:latin typeface="Cambria Math" panose="02040503050406030204" pitchFamily="18" charset="0"/>
                            </a:rPr>
                            <m:t>𝑛</m:t>
                          </m:r>
                        </m:den>
                      </m:f>
                    </m:oMath>
                  </m:oMathPara>
                </a14:m>
                <a:endParaRPr lang="es-419" i="1" dirty="0">
                  <a:latin typeface="Cambria Math" panose="02040503050406030204" pitchFamily="18" charset="0"/>
                </a:endParaRPr>
              </a:p>
              <a:p>
                <a:pPr>
                  <a:lnSpc>
                    <a:spcPct val="150000"/>
                  </a:lnSpc>
                </a:pPr>
                <a:r>
                  <a:rPr lang="es-419" dirty="0"/>
                  <a:t>Menor varianza, aunque la diferencia disminuye en la medida que el tamaño de la población crezca.</a:t>
                </a:r>
              </a:p>
              <a:p>
                <a:pPr>
                  <a:lnSpc>
                    <a:spcPct val="150000"/>
                  </a:lnSpc>
                </a:pPr>
                <a:endParaRPr lang="es-419" i="1" dirty="0">
                  <a:latin typeface="Cambria Math" panose="02040503050406030204" pitchFamily="18" charset="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928" r="-58" b="-1222"/>
                </a:stretch>
              </a:blipFill>
            </p:spPr>
            <p:txBody>
              <a:bodyPr/>
              <a:lstStyle/>
              <a:p>
                <a:r>
                  <a:rPr lang="es-VE">
                    <a:noFill/>
                  </a:rPr>
                  <a:t> </a:t>
                </a:r>
              </a:p>
            </p:txBody>
          </p:sp>
        </mc:Fallback>
      </mc:AlternateContent>
    </p:spTree>
    <p:extLst>
      <p:ext uri="{BB962C8B-B14F-4D97-AF65-F5344CB8AC3E}">
        <p14:creationId xmlns:p14="http://schemas.microsoft.com/office/powerpoint/2010/main" val="2262623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85000" lnSpcReduction="20000"/>
              </a:bodyPr>
              <a:lstStyle/>
              <a:p>
                <a:pPr marL="514350" indent="-514350">
                  <a:lnSpc>
                    <a:spcPct val="150000"/>
                  </a:lnSpc>
                  <a:buFont typeface="+mj-lt"/>
                  <a:buAutoNum type="alphaLcPeriod"/>
                </a:pPr>
                <a:r>
                  <a:rPr lang="es-419" dirty="0"/>
                  <a:t>Con varianza poblacional </a:t>
                </a:r>
                <a:r>
                  <a:rPr lang="es-419" b="1" dirty="0">
                    <a:solidFill>
                      <a:srgbClr val="003A5D"/>
                    </a:solidFill>
                  </a:rPr>
                  <a:t>conocida</a:t>
                </a:r>
                <a:r>
                  <a:rPr lang="es-419" dirty="0"/>
                  <a:t>:</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𝜇</m:t>
                      </m:r>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rPr>
                          </m:ctrlPr>
                        </m:fPr>
                        <m:num>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s-419" i="1">
                                  <a:latin typeface="Cambria Math" panose="02040503050406030204" pitchFamily="18" charset="0"/>
                                </a:rPr>
                                <m:t>2</m:t>
                              </m:r>
                            </m:sup>
                          </m:sSup>
                        </m:num>
                        <m:den>
                          <m:r>
                            <a:rPr lang="es-419" i="1">
                              <a:latin typeface="Cambria Math" panose="02040503050406030204" pitchFamily="18" charset="0"/>
                            </a:rPr>
                            <m:t>𝑛</m:t>
                          </m:r>
                        </m:den>
                      </m:f>
                      <m:f>
                        <m:fPr>
                          <m:ctrlPr>
                            <a:rPr lang="es-419" i="1">
                              <a:latin typeface="Cambria Math" panose="02040503050406030204" pitchFamily="18" charset="0"/>
                            </a:rPr>
                          </m:ctrlPr>
                        </m:fPr>
                        <m:num>
                          <m:r>
                            <a:rPr lang="es-419" i="1">
                              <a:latin typeface="Cambria Math" panose="02040503050406030204" pitchFamily="18" charset="0"/>
                            </a:rPr>
                            <m:t>𝑁</m:t>
                          </m:r>
                          <m:r>
                            <a:rPr lang="es-419" i="1">
                              <a:latin typeface="Cambria Math" panose="02040503050406030204" pitchFamily="18" charset="0"/>
                            </a:rPr>
                            <m:t>−</m:t>
                          </m:r>
                          <m:r>
                            <a:rPr lang="es-419" i="1">
                              <a:latin typeface="Cambria Math" panose="02040503050406030204" pitchFamily="18" charset="0"/>
                            </a:rPr>
                            <m:t>𝑛</m:t>
                          </m:r>
                        </m:num>
                        <m:den>
                          <m:r>
                            <a:rPr lang="es-419" i="1">
                              <a:latin typeface="Cambria Math" panose="02040503050406030204" pitchFamily="18" charset="0"/>
                            </a:rPr>
                            <m:t>𝑁</m:t>
                          </m:r>
                          <m:r>
                            <a:rPr lang="es-419" i="1">
                              <a:latin typeface="Cambria Math" panose="02040503050406030204" pitchFamily="18" charset="0"/>
                            </a:rPr>
                            <m:t>−1</m:t>
                          </m:r>
                        </m:den>
                      </m:f>
                      <m:r>
                        <a:rPr lang="es-419" i="1" dirty="0">
                          <a:latin typeface="Cambria Math" panose="02040503050406030204" pitchFamily="18" charset="0"/>
                          <a:ea typeface="Cambria Math" panose="02040503050406030204" pitchFamily="18" charset="0"/>
                        </a:rPr>
                        <m:t>)</m:t>
                      </m:r>
                    </m:oMath>
                  </m:oMathPara>
                </a14:m>
                <a:endParaRPr lang="es-419" dirty="0"/>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num>
                          <m:den>
                            <m:rad>
                              <m:radPr>
                                <m:degHide m:val="on"/>
                                <m:ctrlPr>
                                  <a:rPr lang="es-419" i="1" dirty="0" smtClean="0">
                                    <a:latin typeface="Cambria Math" panose="02040503050406030204" pitchFamily="18" charset="0"/>
                                    <a:ea typeface="Cambria Math" panose="02040503050406030204" pitchFamily="18" charset="0"/>
                                  </a:rPr>
                                </m:ctrlPr>
                              </m:radPr>
                              <m:deg/>
                              <m:e>
                                <m:f>
                                  <m:fPr>
                                    <m:ctrlPr>
                                      <a:rPr lang="es-419" i="1" dirty="0" smtClean="0">
                                        <a:latin typeface="Cambria Math" panose="02040503050406030204" pitchFamily="18" charset="0"/>
                                        <a:ea typeface="Cambria Math" panose="02040503050406030204" pitchFamily="18" charset="0"/>
                                      </a:rPr>
                                    </m:ctrlPr>
                                  </m:fPr>
                                  <m:num>
                                    <m:sSup>
                                      <m:sSupPr>
                                        <m:ctrlPr>
                                          <a:rPr lang="es-419" i="1" dirty="0" smtClean="0">
                                            <a:latin typeface="Cambria Math" panose="02040503050406030204" pitchFamily="18" charset="0"/>
                                            <a:ea typeface="Cambria Math" panose="02040503050406030204" pitchFamily="18" charset="0"/>
                                          </a:rPr>
                                        </m:ctrlPr>
                                      </m:sSupPr>
                                      <m:e>
                                        <m:r>
                                          <a:rPr lang="es-419" i="1" dirty="0" smtClean="0">
                                            <a:latin typeface="Cambria Math" panose="02040503050406030204" pitchFamily="18" charset="0"/>
                                            <a:ea typeface="Cambria Math" panose="02040503050406030204" pitchFamily="18" charset="0"/>
                                          </a:rPr>
                                          <m:t>𝜎</m:t>
                                        </m:r>
                                      </m:e>
                                      <m:sup>
                                        <m:r>
                                          <a:rPr lang="es-419" b="0" i="1" dirty="0" smtClean="0">
                                            <a:latin typeface="Cambria Math" panose="02040503050406030204" pitchFamily="18" charset="0"/>
                                            <a:ea typeface="Cambria Math" panose="02040503050406030204" pitchFamily="18" charset="0"/>
                                          </a:rPr>
                                          <m:t>2</m:t>
                                        </m:r>
                                      </m:sup>
                                    </m:sSup>
                                  </m:num>
                                  <m:den>
                                    <m:r>
                                      <a:rPr lang="es-419" b="0" i="1" dirty="0" smtClean="0">
                                        <a:latin typeface="Cambria Math" panose="02040503050406030204" pitchFamily="18" charset="0"/>
                                        <a:ea typeface="Cambria Math" panose="02040503050406030204" pitchFamily="18" charset="0"/>
                                      </a:rPr>
                                      <m:t>𝑛</m:t>
                                    </m:r>
                                  </m:den>
                                </m:f>
                                <m:f>
                                  <m:fPr>
                                    <m:ctrlPr>
                                      <a:rPr lang="es-419" i="1" dirty="0" smtClean="0">
                                        <a:latin typeface="Cambria Math" panose="02040503050406030204" pitchFamily="18" charset="0"/>
                                        <a:ea typeface="Cambria Math" panose="02040503050406030204" pitchFamily="18" charset="0"/>
                                      </a:rPr>
                                    </m:ctrlPr>
                                  </m:fPr>
                                  <m:num>
                                    <m:r>
                                      <a:rPr lang="es-419" b="0"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𝑁</m:t>
                                    </m:r>
                                    <m:r>
                                      <a:rPr lang="es-419" b="0"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m:t>
                                    </m:r>
                                  </m:num>
                                  <m:den>
                                    <m:r>
                                      <a:rPr lang="es-419" b="0"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𝑁</m:t>
                                    </m:r>
                                    <m:r>
                                      <a:rPr lang="es-419" b="0" i="1" dirty="0" smtClean="0">
                                        <a:latin typeface="Cambria Math" panose="02040503050406030204" pitchFamily="18" charset="0"/>
                                        <a:ea typeface="Cambria Math" panose="02040503050406030204" pitchFamily="18" charset="0"/>
                                      </a:rPr>
                                      <m:t>−1)</m:t>
                                    </m:r>
                                  </m:den>
                                </m:f>
                              </m:e>
                            </m:rad>
                          </m:den>
                        </m:f>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num>
                          <m:den>
                            <m:f>
                              <m:fPr>
                                <m:ctrlPr>
                                  <a:rPr lang="es-419" i="1" dirty="0">
                                    <a:latin typeface="Cambria Math" panose="02040503050406030204" pitchFamily="18" charset="0"/>
                                    <a:ea typeface="Cambria Math" panose="02040503050406030204" pitchFamily="18" charset="0"/>
                                  </a:rPr>
                                </m:ctrlPr>
                              </m:fPr>
                              <m:num>
                                <m:r>
                                  <a:rPr lang="es-419" i="1" dirty="0" smtClean="0">
                                    <a:latin typeface="Cambria Math" panose="02040503050406030204" pitchFamily="18" charset="0"/>
                                    <a:ea typeface="Cambria Math" panose="02040503050406030204" pitchFamily="18" charset="0"/>
                                  </a:rPr>
                                  <m:t>𝜎</m:t>
                                </m:r>
                              </m:num>
                              <m:den>
                                <m:rad>
                                  <m:radPr>
                                    <m:degHide m:val="on"/>
                                    <m:ctrlPr>
                                      <a:rPr lang="es-419" i="1" dirty="0" smtClean="0">
                                        <a:latin typeface="Cambria Math" panose="02040503050406030204" pitchFamily="18" charset="0"/>
                                        <a:ea typeface="Cambria Math" panose="02040503050406030204" pitchFamily="18" charset="0"/>
                                      </a:rPr>
                                    </m:ctrlPr>
                                  </m:radPr>
                                  <m:deg/>
                                  <m:e>
                                    <m:r>
                                      <a:rPr lang="es-419" b="0" i="1" dirty="0" smtClean="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den>
                        </m:f>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0" indent="0">
                  <a:lnSpc>
                    <a:spcPct val="150000"/>
                  </a:lnSpc>
                  <a:buNone/>
                </a:pPr>
                <a:endParaRPr lang="es-419" i="1" dirty="0">
                  <a:latin typeface="Cambria Math" panose="02040503050406030204" pitchFamily="18" charset="0"/>
                </a:endParaRPr>
              </a:p>
              <a:p>
                <a:pPr>
                  <a:lnSpc>
                    <a:spcPct val="150000"/>
                  </a:lnSpc>
                </a:pPr>
                <a:endParaRPr lang="es-419" i="1" dirty="0">
                  <a:latin typeface="Cambria Math" panose="02040503050406030204" pitchFamily="18" charset="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s-VE">
                    <a:noFill/>
                  </a:rPr>
                  <a:t> </a:t>
                </a:r>
              </a:p>
            </p:txBody>
          </p:sp>
        </mc:Fallback>
      </mc:AlternateContent>
    </p:spTree>
    <p:extLst>
      <p:ext uri="{BB962C8B-B14F-4D97-AF65-F5344CB8AC3E}">
        <p14:creationId xmlns:p14="http://schemas.microsoft.com/office/powerpoint/2010/main" val="325197313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10000"/>
              </a:bodyPr>
              <a:lstStyle/>
              <a:p>
                <a:pPr marL="514350" indent="-514350">
                  <a:lnSpc>
                    <a:spcPct val="150000"/>
                  </a:lnSpc>
                  <a:buFont typeface="+mj-lt"/>
                  <a:buAutoNum type="arabicPeriod" startAt="3"/>
                </a:pPr>
                <a14:m>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startAt="3"/>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r>
                          <a:rPr lang="es-419" i="1">
                            <a:solidFill>
                              <a:srgbClr val="003A5D"/>
                            </a:solidFill>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solidFill>
                              <a:srgbClr val="003A5D"/>
                            </a:solidFill>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i="1" dirty="0">
                  <a:latin typeface="Cambria Math" panose="02040503050406030204" pitchFamily="18" charset="0"/>
                  <a:ea typeface="Cambria Math" panose="02040503050406030204" pitchFamily="18" charset="0"/>
                </a:endParaRPr>
              </a:p>
              <a:p>
                <a:pPr marL="514350" indent="-514350">
                  <a:lnSpc>
                    <a:spcPct val="150000"/>
                  </a:lnSpc>
                  <a:buFont typeface="+mj-lt"/>
                  <a:buAutoNum type="arabicPeriod" startAt="3"/>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startAt="3"/>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a:lnSpc>
                    <a:spcPct val="150000"/>
                  </a:lnSpc>
                </a:pPr>
                <a:endParaRPr lang="es-419" i="1" dirty="0">
                  <a:latin typeface="Cambria Math" panose="02040503050406030204" pitchFamily="18" charset="0"/>
                </a:endParaRPr>
              </a:p>
              <a:p>
                <a:pPr>
                  <a:lnSpc>
                    <a:spcPct val="150000"/>
                  </a:lnSpc>
                </a:pPr>
                <a:endParaRPr lang="es-419" i="1" dirty="0">
                  <a:latin typeface="Cambria Math" panose="02040503050406030204" pitchFamily="18" charset="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s-VE">
                    <a:noFill/>
                  </a:rPr>
                  <a:t> </a:t>
                </a:r>
              </a:p>
            </p:txBody>
          </p:sp>
        </mc:Fallback>
      </mc:AlternateContent>
    </p:spTree>
    <p:extLst>
      <p:ext uri="{BB962C8B-B14F-4D97-AF65-F5344CB8AC3E}">
        <p14:creationId xmlns:p14="http://schemas.microsoft.com/office/powerpoint/2010/main" val="37717563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marL="0" indent="0">
                  <a:lnSpc>
                    <a:spcPct val="150000"/>
                  </a:lnSpc>
                  <a:buNone/>
                </a:pPr>
                <a14:m>
                  <m:oMathPara xmlns:m="http://schemas.openxmlformats.org/officeDocument/2006/math">
                    <m:oMathParaPr>
                      <m:jc m:val="center"/>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El intervalo de confianza termina siendo:</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VE" b="0" i="1" dirty="0" smtClean="0">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Simplificado:</a:t>
                </a:r>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oMath>
                  </m:oMathPara>
                </a14:m>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s-VE">
                    <a:noFill/>
                  </a:rPr>
                  <a:t> </a:t>
                </a:r>
              </a:p>
            </p:txBody>
          </p:sp>
        </mc:Fallback>
      </mc:AlternateContent>
    </p:spTree>
    <p:extLst>
      <p:ext uri="{BB962C8B-B14F-4D97-AF65-F5344CB8AC3E}">
        <p14:creationId xmlns:p14="http://schemas.microsoft.com/office/powerpoint/2010/main" val="405596178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marL="514350" indent="-514350">
                  <a:lnSpc>
                    <a:spcPct val="150000"/>
                  </a:lnSpc>
                  <a:buFont typeface="+mj-lt"/>
                  <a:buAutoNum type="alphaLcPeriod" startAt="2"/>
                </a:pPr>
                <a:r>
                  <a:rPr lang="es-419" dirty="0"/>
                  <a:t>Con varianza poblacional </a:t>
                </a:r>
                <a:r>
                  <a:rPr lang="es-419" b="1" dirty="0">
                    <a:solidFill>
                      <a:srgbClr val="003A5D"/>
                    </a:solidFill>
                  </a:rPr>
                  <a:t>desconocida</a:t>
                </a:r>
                <a:r>
                  <a:rPr lang="es-419" dirty="0"/>
                  <a:t> (empleando varianza muestral insesgada):</a:t>
                </a:r>
              </a:p>
              <a:p>
                <a:pPr marL="0" indent="0">
                  <a:lnSpc>
                    <a:spcPct val="120000"/>
                  </a:lnSpc>
                  <a:buNone/>
                </a:pPr>
                <a14:m>
                  <m:oMathPara xmlns:m="http://schemas.openxmlformats.org/officeDocument/2006/math">
                    <m:oMathParaPr>
                      <m:jc m:val="centerGroup"/>
                    </m:oMathParaPr>
                    <m:oMath xmlns:m="http://schemas.openxmlformats.org/officeDocument/2006/math">
                      <m:r>
                        <a:rPr lang="es-419" i="1" dirty="0">
                          <a:latin typeface="Cambria Math" panose="02040503050406030204" pitchFamily="18" charset="0"/>
                          <a:ea typeface="Cambria Math" panose="02040503050406030204" pitchFamily="18" charset="0"/>
                        </a:rPr>
                        <m:t>𝑡</m:t>
                      </m:r>
                      <m:r>
                        <a:rPr lang="es-419" i="1" dirty="0">
                          <a:latin typeface="Cambria Math" panose="02040503050406030204" pitchFamily="18" charset="0"/>
                          <a:ea typeface="Cambria Math" panose="02040503050406030204" pitchFamily="18" charset="0"/>
                        </a:rPr>
                        <m:t>=</m:t>
                      </m:r>
                      <m:f>
                        <m:fPr>
                          <m:ctrlPr>
                            <a:rPr lang="es-419" i="1" dirty="0" smtClean="0">
                              <a:latin typeface="Cambria Math" panose="02040503050406030204" pitchFamily="18" charset="0"/>
                              <a:ea typeface="Cambria Math" panose="02040503050406030204" pitchFamily="18" charset="0"/>
                            </a:rPr>
                          </m:ctrlPr>
                        </m:fPr>
                        <m:num>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e>
                              </m:d>
                            </m:num>
                            <m:den>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num>
                                    <m:den>
                                      <m:r>
                                        <a:rPr lang="es-419" i="1" dirty="0">
                                          <a:latin typeface="Cambria Math" panose="02040503050406030204" pitchFamily="18" charset="0"/>
                                          <a:ea typeface="Cambria Math" panose="02040503050406030204" pitchFamily="18" charset="0"/>
                                        </a:rPr>
                                        <m:t>𝑛</m:t>
                                      </m:r>
                                    </m:den>
                                  </m:f>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den>
                          </m:f>
                        </m:num>
                        <m:den>
                          <m:rad>
                            <m:radPr>
                              <m:degHide m:val="on"/>
                              <m:ctrlPr>
                                <a:rPr lang="es-419" i="1" dirty="0" smtClean="0">
                                  <a:latin typeface="Cambria Math" panose="02040503050406030204" pitchFamily="18" charset="0"/>
                                  <a:ea typeface="Cambria Math" panose="02040503050406030204" pitchFamily="18" charset="0"/>
                                </a:rPr>
                              </m:ctrlPr>
                            </m:radPr>
                            <m:deg/>
                            <m:e>
                              <m:f>
                                <m:fPr>
                                  <m:ctrlPr>
                                    <a:rPr lang="es-419" i="1" dirty="0" smtClean="0">
                                      <a:latin typeface="Cambria Math" panose="02040503050406030204" pitchFamily="18" charset="0"/>
                                      <a:ea typeface="Cambria Math" panose="02040503050406030204" pitchFamily="18" charset="0"/>
                                    </a:rPr>
                                  </m:ctrlPr>
                                </m:fPr>
                                <m:num>
                                  <m:r>
                                    <a:rPr lang="es-419" b="0" i="1"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−1)</m:t>
                                  </m:r>
                                  <m:sSup>
                                    <m:sSupPr>
                                      <m:ctrlPr>
                                        <a:rPr lang="es-419" b="0" i="1" dirty="0" smtClean="0">
                                          <a:latin typeface="Cambria Math" panose="02040503050406030204" pitchFamily="18" charset="0"/>
                                          <a:ea typeface="Cambria Math" panose="02040503050406030204" pitchFamily="18" charset="0"/>
                                        </a:rPr>
                                      </m:ctrlPr>
                                    </m:sSupPr>
                                    <m:e>
                                      <m:r>
                                        <a:rPr lang="es-VE" b="0" i="1" dirty="0" smtClean="0">
                                          <a:latin typeface="Cambria Math" panose="02040503050406030204" pitchFamily="18" charset="0"/>
                                          <a:ea typeface="Cambria Math" panose="02040503050406030204" pitchFamily="18" charset="0"/>
                                        </a:rPr>
                                        <m:t>𝑆</m:t>
                                      </m:r>
                                    </m:e>
                                    <m:sup>
                                      <m:r>
                                        <a:rPr lang="es-VE" b="0" i="1" dirty="0" smtClean="0">
                                          <a:latin typeface="Cambria Math" panose="02040503050406030204" pitchFamily="18" charset="0"/>
                                          <a:ea typeface="Cambria Math" panose="02040503050406030204" pitchFamily="18" charset="0"/>
                                        </a:rPr>
                                        <m:t>2</m:t>
                                      </m:r>
                                    </m:sup>
                                  </m:sSup>
                                  <m:r>
                                    <a:rPr lang="es-419" b="0" i="1" dirty="0" smtClean="0">
                                      <a:latin typeface="Cambria Math" panose="02040503050406030204" pitchFamily="18" charset="0"/>
                                      <a:ea typeface="Cambria Math" panose="02040503050406030204" pitchFamily="18" charset="0"/>
                                    </a:rPr>
                                    <m:t> </m:t>
                                  </m:r>
                                </m:num>
                                <m:den>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den>
                              </m:f>
                            </m:e>
                          </m:rad>
                        </m:den>
                      </m:f>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𝑇</m:t>
                      </m:r>
                      <m:d>
                        <m:dPr>
                          <m:ctrlPr>
                            <a:rPr lang="es-419" i="1" dirty="0">
                              <a:latin typeface="Cambria Math" panose="02040503050406030204" pitchFamily="18" charset="0"/>
                              <a:ea typeface="Cambria Math" panose="02040503050406030204" pitchFamily="18" charset="0"/>
                            </a:rPr>
                          </m:ctrlPr>
                        </m:dPr>
                        <m:e>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−1</m:t>
                          </m:r>
                        </m:e>
                      </m:d>
                    </m:oMath>
                  </m:oMathPara>
                </a14:m>
                <a:endParaRPr lang="es-419" dirty="0">
                  <a:ea typeface="Cambria Math" panose="02040503050406030204" pitchFamily="18" charset="0"/>
                </a:endParaRPr>
              </a:p>
              <a:p>
                <a:pPr>
                  <a:lnSpc>
                    <a:spcPct val="120000"/>
                  </a:lnSpc>
                </a:pPr>
                <a:r>
                  <a:rPr lang="es-419" dirty="0">
                    <a:ea typeface="Cambria Math" panose="02040503050406030204" pitchFamily="18" charset="0"/>
                  </a:rPr>
                  <a:t>Se replantea:</a:t>
                </a:r>
              </a:p>
              <a:p>
                <a:pPr marL="0" indent="0">
                  <a:lnSpc>
                    <a:spcPct val="12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419" i="1" dirty="0">
                                      <a:latin typeface="Cambria Math" panose="02040503050406030204" pitchFamily="18" charset="0"/>
                                      <a:ea typeface="Cambria Math" panose="02040503050406030204" pitchFamily="18" charset="0"/>
                                    </a:rPr>
                                    <m:t>)</m:t>
                                  </m:r>
                                </m:num>
                                <m:den>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s-VE">
                    <a:noFill/>
                  </a:rPr>
                  <a:t> </a:t>
                </a:r>
              </a:p>
            </p:txBody>
          </p:sp>
        </mc:Fallback>
      </mc:AlternateContent>
    </p:spTree>
    <p:extLst>
      <p:ext uri="{BB962C8B-B14F-4D97-AF65-F5344CB8AC3E}">
        <p14:creationId xmlns:p14="http://schemas.microsoft.com/office/powerpoint/2010/main" val="33538185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fontScale="90000"/>
          </a:bodyPr>
          <a:lstStyle/>
          <a:p>
            <a:r>
              <a:rPr lang="es-419" dirty="0"/>
              <a:t>Intervalos de confianza para la media de una población finita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47500" lnSpcReduction="20000"/>
              </a:bodyPr>
              <a:lstStyle/>
              <a:p>
                <a:pPr marL="0" indent="0">
                  <a:lnSpc>
                    <a:spcPct val="150000"/>
                  </a:lnSpc>
                  <a:buNone/>
                </a:pPr>
                <a14:m>
                  <m:oMathPara xmlns:m="http://schemas.openxmlformats.org/officeDocument/2006/math">
                    <m:oMathParaPr>
                      <m:jc m:val="center"/>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a:latin typeface="Cambria Math" panose="02040503050406030204" pitchFamily="18" charset="0"/>
                                  <a:ea typeface="Cambria Math" panose="02040503050406030204" pitchFamily="18" charset="0"/>
                                </a:rPr>
                              </m:ctrlPr>
                            </m:fPr>
                            <m:num>
                              <m:r>
                                <a:rPr lang="es-VE"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𝜇</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a:latin typeface="Cambria Math" panose="02040503050406030204" pitchFamily="18" charset="0"/>
                                  <a:ea typeface="Cambria Math" panose="02040503050406030204" pitchFamily="18" charset="0"/>
                                </a:rPr>
                              </m:ctrlPr>
                            </m:fPr>
                            <m:num>
                              <m:r>
                                <a:rPr lang="es-VE"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El intervalo de confianza termina siendo:</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a:latin typeface="Cambria Math" panose="02040503050406030204" pitchFamily="18" charset="0"/>
                              <a:ea typeface="Cambria Math" panose="02040503050406030204" pitchFamily="18" charset="0"/>
                            </a:rPr>
                          </m:ctrlPr>
                        </m:fPr>
                        <m:num>
                          <m:r>
                            <a:rPr lang="es-VE"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VE" b="0" i="1" dirty="0" smtClean="0">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a:latin typeface="Cambria Math" panose="02040503050406030204" pitchFamily="18" charset="0"/>
                              <a:ea typeface="Cambria Math" panose="02040503050406030204" pitchFamily="18" charset="0"/>
                            </a:rPr>
                          </m:ctrlPr>
                        </m:fPr>
                        <m:num>
                          <m:r>
                            <a:rPr lang="es-VE"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Simplificado:</a:t>
                </a:r>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a:latin typeface="Cambria Math" panose="02040503050406030204" pitchFamily="18" charset="0"/>
                              <a:ea typeface="Cambria Math" panose="02040503050406030204" pitchFamily="18" charset="0"/>
                            </a:rPr>
                          </m:ctrlPr>
                        </m:fPr>
                        <m:num>
                          <m:r>
                            <a:rPr lang="es-VE" i="1">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dirty="0">
                          <a:latin typeface="Cambria Math" panose="02040503050406030204" pitchFamily="18" charset="0"/>
                          <a:ea typeface="Cambria Math" panose="02040503050406030204" pitchFamily="18" charset="0"/>
                        </a:rPr>
                        <m:t>𝑠𝑖</m:t>
                      </m:r>
                      <m:r>
                        <a:rPr lang="es-419" i="1" dirty="0">
                          <a:latin typeface="Cambria Math" panose="02040503050406030204" pitchFamily="18" charset="0"/>
                          <a:ea typeface="Cambria Math" panose="02040503050406030204" pitchFamily="18" charset="0"/>
                        </a:rPr>
                        <m:t> </m:t>
                      </m:r>
                      <m:r>
                        <a:rPr lang="es-419" i="1" dirty="0">
                          <a:latin typeface="Cambria Math" panose="02040503050406030204" pitchFamily="18" charset="0"/>
                          <a:ea typeface="Cambria Math" panose="02040503050406030204" pitchFamily="18" charset="0"/>
                        </a:rPr>
                        <m:t>𝑛</m:t>
                      </m:r>
                      <m:r>
                        <a:rPr lang="es-VE" b="0" i="1" dirty="0" smtClean="0">
                          <a:latin typeface="Cambria Math" panose="02040503050406030204" pitchFamily="18" charset="0"/>
                          <a:ea typeface="Cambria Math" panose="02040503050406030204" pitchFamily="18" charset="0"/>
                        </a:rPr>
                        <m:t>&lt;</m:t>
                      </m:r>
                      <m:r>
                        <a:rPr lang="es-419" i="1" dirty="0">
                          <a:latin typeface="Cambria Math" panose="02040503050406030204" pitchFamily="18" charset="0"/>
                          <a:ea typeface="Cambria Math" panose="02040503050406030204" pitchFamily="18" charset="0"/>
                        </a:rPr>
                        <m:t>3</m:t>
                      </m:r>
                      <m:r>
                        <a:rPr lang="es-VE" b="0" i="1" dirty="0" smtClean="0">
                          <a:latin typeface="Cambria Math" panose="02040503050406030204" pitchFamily="18" charset="0"/>
                          <a:ea typeface="Cambria Math" panose="02040503050406030204" pitchFamily="18" charset="0"/>
                        </a:rPr>
                        <m:t>1</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La aproximación normal en caso de solicitarse sería:</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dirty="0" smtClean="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f>
                        <m:fPr>
                          <m:ctrlPr>
                            <a:rPr lang="es-419" i="1">
                              <a:latin typeface="Cambria Math" panose="02040503050406030204" pitchFamily="18" charset="0"/>
                              <a:ea typeface="Cambria Math" panose="02040503050406030204" pitchFamily="18" charset="0"/>
                            </a:rPr>
                          </m:ctrlPr>
                        </m:fPr>
                        <m:num>
                          <m:r>
                            <a:rPr lang="es-VE" b="0" i="1" smtClean="0">
                              <a:latin typeface="Cambria Math" panose="02040503050406030204" pitchFamily="18" charset="0"/>
                              <a:ea typeface="Cambria Math" panose="02040503050406030204" pitchFamily="18" charset="0"/>
                            </a:rPr>
                            <m:t>𝑆</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ad>
                        <m:radPr>
                          <m:degHide m:val="on"/>
                          <m:ctrlPr>
                            <a:rPr lang="es-419" i="1" dirty="0">
                              <a:latin typeface="Cambria Math" panose="02040503050406030204" pitchFamily="18" charset="0"/>
                              <a:ea typeface="Cambria Math" panose="02040503050406030204" pitchFamily="18" charset="0"/>
                            </a:rPr>
                          </m:ctrlPr>
                        </m:radPr>
                        <m:deg/>
                        <m:e>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r>
                        <a:rPr lang="es-419" i="1" dirty="0">
                          <a:latin typeface="Cambria Math" panose="02040503050406030204" pitchFamily="18" charset="0"/>
                          <a:ea typeface="Cambria Math" panose="02040503050406030204" pitchFamily="18" charset="0"/>
                        </a:rPr>
                        <m:t> </m:t>
                      </m:r>
                      <m:r>
                        <a:rPr lang="es-419" i="1" dirty="0">
                          <a:latin typeface="Cambria Math" panose="02040503050406030204" pitchFamily="18" charset="0"/>
                          <a:ea typeface="Cambria Math" panose="02040503050406030204" pitchFamily="18" charset="0"/>
                        </a:rPr>
                        <m:t>𝑠𝑖</m:t>
                      </m:r>
                      <m:r>
                        <a:rPr lang="es-419" i="1" dirty="0">
                          <a:latin typeface="Cambria Math" panose="02040503050406030204" pitchFamily="18" charset="0"/>
                          <a:ea typeface="Cambria Math" panose="02040503050406030204" pitchFamily="18" charset="0"/>
                        </a:rPr>
                        <m:t> </m:t>
                      </m:r>
                      <m:r>
                        <a:rPr lang="es-419" i="1" dirty="0">
                          <a:latin typeface="Cambria Math" panose="02040503050406030204" pitchFamily="18" charset="0"/>
                          <a:ea typeface="Cambria Math" panose="02040503050406030204" pitchFamily="18" charset="0"/>
                        </a:rPr>
                        <m:t>𝑛</m:t>
                      </m:r>
                      <m:r>
                        <a:rPr lang="es-419" i="1" dirty="0" smtClean="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3</m:t>
                      </m:r>
                      <m:r>
                        <a:rPr lang="es-VE" b="0" i="1" dirty="0" smtClean="0">
                          <a:latin typeface="Cambria Math" panose="02040503050406030204" pitchFamily="18" charset="0"/>
                          <a:ea typeface="Cambria Math" panose="02040503050406030204" pitchFamily="18" charset="0"/>
                        </a:rPr>
                        <m:t>1</m:t>
                      </m:r>
                    </m:oMath>
                  </m:oMathPara>
                </a14:m>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8"/>
                </a:stretch>
              </a:blipFill>
            </p:spPr>
            <p:txBody>
              <a:bodyPr/>
              <a:lstStyle/>
              <a:p>
                <a:r>
                  <a:rPr lang="es-VE">
                    <a:noFill/>
                  </a:rPr>
                  <a:t> </a:t>
                </a:r>
              </a:p>
            </p:txBody>
          </p:sp>
        </mc:Fallback>
      </mc:AlternateContent>
    </p:spTree>
    <p:extLst>
      <p:ext uri="{BB962C8B-B14F-4D97-AF65-F5344CB8AC3E}">
        <p14:creationId xmlns:p14="http://schemas.microsoft.com/office/powerpoint/2010/main" val="15540752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9.25</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fontScale="92500" lnSpcReduction="10000"/>
          </a:bodyPr>
          <a:lstStyle/>
          <a:p>
            <a:pPr marL="0" indent="0">
              <a:lnSpc>
                <a:spcPct val="150000"/>
              </a:lnSpc>
              <a:buNone/>
            </a:pPr>
            <a:r>
              <a:rPr lang="es-419" i="1" dirty="0"/>
              <a:t>Supongamos que en el ejercicio 9.3 el número total de automercados en el territorio es de 1.000. Calcular un intervalo de confianza del 95%. Interpretar los resultados.</a:t>
            </a:r>
          </a:p>
          <a:p>
            <a:pPr marL="0" indent="0">
              <a:lnSpc>
                <a:spcPct val="150000"/>
              </a:lnSpc>
              <a:buNone/>
            </a:pPr>
            <a:r>
              <a:rPr lang="es-419" i="1" dirty="0"/>
              <a:t>Recordando el ejercicio </a:t>
            </a:r>
            <a:r>
              <a:rPr lang="es-419" b="1" i="1" dirty="0">
                <a:solidFill>
                  <a:srgbClr val="003A5D"/>
                </a:solidFill>
              </a:rPr>
              <a:t>Propuesto 9.3</a:t>
            </a:r>
          </a:p>
          <a:p>
            <a:pPr marL="0" indent="0">
              <a:lnSpc>
                <a:spcPct val="150000"/>
              </a:lnSpc>
              <a:buNone/>
            </a:pPr>
            <a:r>
              <a:rPr lang="es-419" i="1" dirty="0"/>
              <a:t>Para estimar el precio medio de venta de un cierto bien, se tomaron al azar 101 automercados en el territorio de la República. El precio medio obtenido en la muestra fue de Bs. 20, con una desviación típica de Bs. 2. Calcular un intervalo de confianza del 95%.</a:t>
            </a:r>
          </a:p>
          <a:p>
            <a:pPr marL="0" indent="0">
              <a:lnSpc>
                <a:spcPct val="150000"/>
              </a:lnSpc>
              <a:buNone/>
            </a:pPr>
            <a:r>
              <a:rPr lang="es-419" i="1" dirty="0"/>
              <a:t>Asuma que la desviación típica muestral es insesgada.</a:t>
            </a:r>
          </a:p>
          <a:p>
            <a:pPr marL="0" indent="0">
              <a:lnSpc>
                <a:spcPct val="150000"/>
              </a:lnSpc>
              <a:buNone/>
            </a:pPr>
            <a:endParaRPr lang="es-419" i="1" dirty="0"/>
          </a:p>
        </p:txBody>
      </p:sp>
    </p:spTree>
    <p:extLst>
      <p:ext uri="{BB962C8B-B14F-4D97-AF65-F5344CB8AC3E}">
        <p14:creationId xmlns:p14="http://schemas.microsoft.com/office/powerpoint/2010/main" val="2014361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9.25</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55000" lnSpcReduction="20000"/>
          </a:bodyPr>
          <a:lstStyle/>
          <a:p>
            <a:pPr marL="0" indent="0">
              <a:buNone/>
            </a:pPr>
            <a:r>
              <a:rPr lang="es-ES" dirty="0">
                <a:latin typeface="Consolas" panose="020B0609020204030204" pitchFamily="49" charset="0"/>
              </a:rPr>
              <a:t>&gt; n &lt;- 101</a:t>
            </a:r>
          </a:p>
          <a:p>
            <a:pPr marL="0" indent="0">
              <a:buNone/>
            </a:pPr>
            <a:r>
              <a:rPr lang="es-ES" dirty="0">
                <a:latin typeface="Consolas" panose="020B0609020204030204" pitchFamily="49" charset="0"/>
              </a:rPr>
              <a:t>&gt; N &lt;- 1000</a:t>
            </a:r>
          </a:p>
          <a:p>
            <a:pPr marL="0" indent="0">
              <a:buNone/>
            </a:pPr>
            <a:r>
              <a:rPr lang="es-ES" dirty="0">
                <a:latin typeface="Consolas" panose="020B0609020204030204" pitchFamily="49" charset="0"/>
              </a:rPr>
              <a:t>&gt; </a:t>
            </a:r>
            <a:r>
              <a:rPr lang="es-ES" dirty="0" err="1">
                <a:latin typeface="Consolas" panose="020B0609020204030204" pitchFamily="49" charset="0"/>
              </a:rPr>
              <a:t>x_hat</a:t>
            </a:r>
            <a:r>
              <a:rPr lang="es-ES" dirty="0">
                <a:latin typeface="Consolas" panose="020B0609020204030204" pitchFamily="49" charset="0"/>
              </a:rPr>
              <a:t> &lt;- 20</a:t>
            </a:r>
          </a:p>
          <a:p>
            <a:pPr marL="0" indent="0">
              <a:buNone/>
            </a:pPr>
            <a:r>
              <a:rPr lang="es-ES" dirty="0">
                <a:latin typeface="Consolas" panose="020B0609020204030204" pitchFamily="49" charset="0"/>
              </a:rPr>
              <a:t>&gt; s &lt;- 2</a:t>
            </a:r>
          </a:p>
          <a:p>
            <a:pPr marL="0" indent="0">
              <a:buNone/>
            </a:pPr>
            <a:r>
              <a:rPr lang="es-ES" dirty="0">
                <a:latin typeface="Consolas" panose="020B0609020204030204" pitchFamily="49" charset="0"/>
              </a:rPr>
              <a:t>&gt; </a:t>
            </a:r>
            <a:r>
              <a:rPr lang="es-ES" dirty="0" err="1">
                <a:latin typeface="Consolas" panose="020B0609020204030204" pitchFamily="49" charset="0"/>
              </a:rPr>
              <a:t>ic</a:t>
            </a:r>
            <a:r>
              <a:rPr lang="es-ES" dirty="0">
                <a:latin typeface="Consolas" panose="020B0609020204030204" pitchFamily="49" charset="0"/>
              </a:rPr>
              <a:t> &lt;- 0.95</a:t>
            </a:r>
          </a:p>
          <a:p>
            <a:pPr marL="0" indent="0">
              <a:buNone/>
            </a:pPr>
            <a:r>
              <a:rPr lang="es-ES" dirty="0">
                <a:latin typeface="Consolas" panose="020B0609020204030204" pitchFamily="49" charset="0"/>
              </a:rPr>
              <a:t>&gt; a &lt;- 1 – </a:t>
            </a:r>
            <a:r>
              <a:rPr lang="es-ES" dirty="0" err="1">
                <a:latin typeface="Consolas" panose="020B0609020204030204" pitchFamily="49" charset="0"/>
              </a:rPr>
              <a:t>ic</a:t>
            </a:r>
            <a:endParaRPr lang="es-ES" dirty="0">
              <a:latin typeface="Consolas" panose="020B0609020204030204" pitchFamily="49" charset="0"/>
            </a:endParaRPr>
          </a:p>
          <a:p>
            <a:pPr marL="0" indent="0">
              <a:buNone/>
            </a:pPr>
            <a:endParaRPr lang="es-ES" dirty="0">
              <a:latin typeface="Consolas" panose="020B0609020204030204" pitchFamily="49" charset="0"/>
            </a:endParaRPr>
          </a:p>
          <a:p>
            <a:pPr marL="0" indent="0">
              <a:buNone/>
            </a:pPr>
            <a:r>
              <a:rPr lang="es-ES" dirty="0">
                <a:latin typeface="Consolas" panose="020B0609020204030204" pitchFamily="49" charset="0"/>
              </a:rPr>
              <a:t>&gt; #T-Student</a:t>
            </a:r>
          </a:p>
          <a:p>
            <a:pPr marL="0" indent="0">
              <a:buNone/>
            </a:pPr>
            <a:r>
              <a:rPr lang="es-ES" dirty="0">
                <a:latin typeface="Consolas" panose="020B0609020204030204" pitchFamily="49" charset="0"/>
              </a:rPr>
              <a:t>&gt; c(inferior =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qt</a:t>
            </a:r>
            <a:r>
              <a:rPr lang="es-ES" dirty="0">
                <a:latin typeface="Consolas" panose="020B0609020204030204" pitchFamily="49" charset="0"/>
              </a:rPr>
              <a:t>(a/2, </a:t>
            </a:r>
            <a:r>
              <a:rPr lang="es-ES" dirty="0" err="1">
                <a:latin typeface="Consolas" panose="020B0609020204030204" pitchFamily="49" charset="0"/>
              </a:rPr>
              <a:t>df</a:t>
            </a:r>
            <a:r>
              <a:rPr lang="es-ES" dirty="0">
                <a:latin typeface="Consolas" panose="020B0609020204030204" pitchFamily="49" charset="0"/>
              </a:rPr>
              <a:t> = n - 1, </a:t>
            </a:r>
            <a:r>
              <a:rPr lang="es-ES" dirty="0" err="1">
                <a:latin typeface="Consolas" panose="020B0609020204030204" pitchFamily="49" charset="0"/>
              </a:rPr>
              <a:t>lower.tail</a:t>
            </a:r>
            <a:r>
              <a:rPr lang="es-ES" dirty="0">
                <a:latin typeface="Consolas" panose="020B0609020204030204" pitchFamily="49" charset="0"/>
              </a:rPr>
              <a:t> = FALSE)*s/</a:t>
            </a:r>
            <a:r>
              <a:rPr lang="es-ES" dirty="0" err="1">
                <a:latin typeface="Consolas" panose="020B0609020204030204" pitchFamily="49" charset="0"/>
              </a:rPr>
              <a:t>sqrt</a:t>
            </a:r>
            <a:r>
              <a:rPr lang="es-ES" dirty="0">
                <a:latin typeface="Consolas" panose="020B0609020204030204" pitchFamily="49" charset="0"/>
              </a:rPr>
              <a:t>(n)*</a:t>
            </a:r>
            <a:r>
              <a:rPr lang="es-ES" dirty="0" err="1">
                <a:latin typeface="Consolas" panose="020B0609020204030204" pitchFamily="49" charset="0"/>
              </a:rPr>
              <a:t>sqrt</a:t>
            </a:r>
            <a:r>
              <a:rPr lang="es-ES" dirty="0">
                <a:latin typeface="Consolas" panose="020B0609020204030204" pitchFamily="49" charset="0"/>
              </a:rPr>
              <a:t>((N-n)/(N-1)),</a:t>
            </a:r>
          </a:p>
          <a:p>
            <a:pPr marL="0" indent="0">
              <a:buNone/>
            </a:pPr>
            <a:r>
              <a:rPr lang="es-ES" dirty="0">
                <a:latin typeface="Consolas" panose="020B0609020204030204" pitchFamily="49" charset="0"/>
              </a:rPr>
              <a:t>+   superior =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qt</a:t>
            </a:r>
            <a:r>
              <a:rPr lang="es-ES" dirty="0">
                <a:latin typeface="Consolas" panose="020B0609020204030204" pitchFamily="49" charset="0"/>
              </a:rPr>
              <a:t>(a/2, </a:t>
            </a:r>
            <a:r>
              <a:rPr lang="es-ES" dirty="0" err="1">
                <a:latin typeface="Consolas" panose="020B0609020204030204" pitchFamily="49" charset="0"/>
              </a:rPr>
              <a:t>df</a:t>
            </a:r>
            <a:r>
              <a:rPr lang="es-ES" dirty="0">
                <a:latin typeface="Consolas" panose="020B0609020204030204" pitchFamily="49" charset="0"/>
              </a:rPr>
              <a:t> = n - 1, </a:t>
            </a:r>
            <a:r>
              <a:rPr lang="es-ES" dirty="0" err="1">
                <a:latin typeface="Consolas" panose="020B0609020204030204" pitchFamily="49" charset="0"/>
              </a:rPr>
              <a:t>lower.tail</a:t>
            </a:r>
            <a:r>
              <a:rPr lang="es-ES" dirty="0">
                <a:latin typeface="Consolas" panose="020B0609020204030204" pitchFamily="49" charset="0"/>
              </a:rPr>
              <a:t> = FALSE)*s/</a:t>
            </a:r>
            <a:r>
              <a:rPr lang="es-ES" dirty="0" err="1">
                <a:latin typeface="Consolas" panose="020B0609020204030204" pitchFamily="49" charset="0"/>
              </a:rPr>
              <a:t>sqrt</a:t>
            </a:r>
            <a:r>
              <a:rPr lang="es-ES" dirty="0">
                <a:latin typeface="Consolas" panose="020B0609020204030204" pitchFamily="49" charset="0"/>
              </a:rPr>
              <a:t>(n)*</a:t>
            </a:r>
            <a:r>
              <a:rPr lang="es-ES" dirty="0" err="1">
                <a:latin typeface="Consolas" panose="020B0609020204030204" pitchFamily="49" charset="0"/>
              </a:rPr>
              <a:t>sqrt</a:t>
            </a:r>
            <a:r>
              <a:rPr lang="es-ES" dirty="0">
                <a:latin typeface="Consolas" panose="020B0609020204030204" pitchFamily="49" charset="0"/>
              </a:rPr>
              <a:t>((N-n)/(N-1)))</a:t>
            </a:r>
          </a:p>
          <a:p>
            <a:pPr marL="0" indent="0">
              <a:buNone/>
            </a:pPr>
            <a:r>
              <a:rPr lang="es-ES" dirty="0">
                <a:highlight>
                  <a:srgbClr val="FFFF00"/>
                </a:highlight>
                <a:latin typeface="Consolas" panose="020B0609020204030204" pitchFamily="49" charset="0"/>
              </a:rPr>
              <a:t>inferior superior </a:t>
            </a:r>
          </a:p>
          <a:p>
            <a:pPr marL="0" indent="0">
              <a:buNone/>
            </a:pPr>
            <a:r>
              <a:rPr lang="es-ES" dirty="0">
                <a:highlight>
                  <a:srgbClr val="FFFF00"/>
                </a:highlight>
                <a:latin typeface="Consolas" panose="020B0609020204030204" pitchFamily="49" charset="0"/>
              </a:rPr>
              <a:t>19.62546 20.37454 </a:t>
            </a:r>
          </a:p>
          <a:p>
            <a:pPr marL="0" indent="0">
              <a:buNone/>
            </a:pPr>
            <a:r>
              <a:rPr lang="es-ES" dirty="0">
                <a:latin typeface="Consolas" panose="020B0609020204030204" pitchFamily="49" charset="0"/>
              </a:rPr>
              <a:t>&gt; </a:t>
            </a:r>
          </a:p>
          <a:p>
            <a:pPr marL="0" indent="0">
              <a:buNone/>
            </a:pPr>
            <a:r>
              <a:rPr lang="es-ES" dirty="0">
                <a:latin typeface="Consolas" panose="020B0609020204030204" pitchFamily="49" charset="0"/>
              </a:rPr>
              <a:t>&gt; #Empleando aproximación normal</a:t>
            </a:r>
          </a:p>
          <a:p>
            <a:pPr marL="0" indent="0">
              <a:buNone/>
            </a:pPr>
            <a:r>
              <a:rPr lang="es-ES" dirty="0">
                <a:latin typeface="Consolas" panose="020B0609020204030204" pitchFamily="49" charset="0"/>
              </a:rPr>
              <a:t>&gt; c(inferior =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qnorm</a:t>
            </a:r>
            <a:r>
              <a:rPr lang="es-ES" dirty="0">
                <a:latin typeface="Consolas" panose="020B0609020204030204" pitchFamily="49" charset="0"/>
              </a:rPr>
              <a:t>(a/2, </a:t>
            </a:r>
            <a:r>
              <a:rPr lang="es-ES" dirty="0" err="1">
                <a:latin typeface="Consolas" panose="020B0609020204030204" pitchFamily="49" charset="0"/>
              </a:rPr>
              <a:t>lower.tail</a:t>
            </a:r>
            <a:r>
              <a:rPr lang="es-ES" dirty="0">
                <a:latin typeface="Consolas" panose="020B0609020204030204" pitchFamily="49" charset="0"/>
              </a:rPr>
              <a:t> = FALSE)*s/</a:t>
            </a:r>
            <a:r>
              <a:rPr lang="es-ES" dirty="0" err="1">
                <a:latin typeface="Consolas" panose="020B0609020204030204" pitchFamily="49" charset="0"/>
              </a:rPr>
              <a:t>sqrt</a:t>
            </a:r>
            <a:r>
              <a:rPr lang="es-ES" dirty="0">
                <a:latin typeface="Consolas" panose="020B0609020204030204" pitchFamily="49" charset="0"/>
              </a:rPr>
              <a:t>(n)*</a:t>
            </a:r>
            <a:r>
              <a:rPr lang="es-ES" dirty="0" err="1">
                <a:latin typeface="Consolas" panose="020B0609020204030204" pitchFamily="49" charset="0"/>
              </a:rPr>
              <a:t>sqrt</a:t>
            </a:r>
            <a:r>
              <a:rPr lang="es-ES" dirty="0">
                <a:latin typeface="Consolas" panose="020B0609020204030204" pitchFamily="49" charset="0"/>
              </a:rPr>
              <a:t>((N-n)/(N-1)),</a:t>
            </a:r>
          </a:p>
          <a:p>
            <a:pPr marL="0" indent="0">
              <a:buNone/>
            </a:pPr>
            <a:r>
              <a:rPr lang="es-ES" dirty="0">
                <a:latin typeface="Consolas" panose="020B0609020204030204" pitchFamily="49" charset="0"/>
              </a:rPr>
              <a:t>+   superior = </a:t>
            </a:r>
            <a:r>
              <a:rPr lang="es-ES" dirty="0" err="1">
                <a:latin typeface="Consolas" panose="020B0609020204030204" pitchFamily="49" charset="0"/>
              </a:rPr>
              <a:t>x_hat</a:t>
            </a:r>
            <a:r>
              <a:rPr lang="es-ES" dirty="0">
                <a:latin typeface="Consolas" panose="020B0609020204030204" pitchFamily="49" charset="0"/>
              </a:rPr>
              <a:t> + </a:t>
            </a:r>
            <a:r>
              <a:rPr lang="es-ES" dirty="0" err="1">
                <a:latin typeface="Consolas" panose="020B0609020204030204" pitchFamily="49" charset="0"/>
              </a:rPr>
              <a:t>qnorm</a:t>
            </a:r>
            <a:r>
              <a:rPr lang="es-ES" dirty="0">
                <a:latin typeface="Consolas" panose="020B0609020204030204" pitchFamily="49" charset="0"/>
              </a:rPr>
              <a:t>(a/2, </a:t>
            </a:r>
            <a:r>
              <a:rPr lang="es-ES" dirty="0" err="1">
                <a:latin typeface="Consolas" panose="020B0609020204030204" pitchFamily="49" charset="0"/>
              </a:rPr>
              <a:t>lower.tail</a:t>
            </a:r>
            <a:r>
              <a:rPr lang="es-ES" dirty="0">
                <a:latin typeface="Consolas" panose="020B0609020204030204" pitchFamily="49" charset="0"/>
              </a:rPr>
              <a:t> = FALSE)*s/</a:t>
            </a:r>
            <a:r>
              <a:rPr lang="es-ES" dirty="0" err="1">
                <a:latin typeface="Consolas" panose="020B0609020204030204" pitchFamily="49" charset="0"/>
              </a:rPr>
              <a:t>sqrt</a:t>
            </a:r>
            <a:r>
              <a:rPr lang="es-ES" dirty="0">
                <a:latin typeface="Consolas" panose="020B0609020204030204" pitchFamily="49" charset="0"/>
              </a:rPr>
              <a:t>(n)*</a:t>
            </a:r>
            <a:r>
              <a:rPr lang="es-ES" dirty="0" err="1">
                <a:latin typeface="Consolas" panose="020B0609020204030204" pitchFamily="49" charset="0"/>
              </a:rPr>
              <a:t>sqrt</a:t>
            </a:r>
            <a:r>
              <a:rPr lang="es-ES" dirty="0">
                <a:latin typeface="Consolas" panose="020B0609020204030204" pitchFamily="49" charset="0"/>
              </a:rPr>
              <a:t>((N-n)/(N-1)))</a:t>
            </a:r>
          </a:p>
          <a:p>
            <a:pPr marL="0" indent="0">
              <a:buNone/>
            </a:pPr>
            <a:r>
              <a:rPr lang="es-ES" dirty="0">
                <a:highlight>
                  <a:srgbClr val="FFFF00"/>
                </a:highlight>
                <a:latin typeface="Consolas" panose="020B0609020204030204" pitchFamily="49" charset="0"/>
              </a:rPr>
              <a:t>inferior superior </a:t>
            </a:r>
          </a:p>
          <a:p>
            <a:pPr marL="0" indent="0">
              <a:buNone/>
            </a:pPr>
            <a:r>
              <a:rPr lang="es-ES" dirty="0">
                <a:highlight>
                  <a:srgbClr val="FFFF00"/>
                </a:highlight>
                <a:latin typeface="Consolas" panose="020B0609020204030204" pitchFamily="49" charset="0"/>
              </a:rPr>
              <a:t>19.62999 20.37001 </a:t>
            </a:r>
          </a:p>
        </p:txBody>
      </p:sp>
    </p:spTree>
    <p:extLst>
      <p:ext uri="{BB962C8B-B14F-4D97-AF65-F5344CB8AC3E}">
        <p14:creationId xmlns:p14="http://schemas.microsoft.com/office/powerpoint/2010/main" val="38988595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¿Cómo encontrarían el tamaño de una muestra para un intervalo con amplitud y confianza determinada?</a:t>
            </a:r>
          </a:p>
        </p:txBody>
      </p:sp>
    </p:spTree>
    <p:extLst>
      <p:ext uri="{BB962C8B-B14F-4D97-AF65-F5344CB8AC3E}">
        <p14:creationId xmlns:p14="http://schemas.microsoft.com/office/powerpoint/2010/main" val="13266963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Determinación tamaño de una muestra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a:lnSpc>
                    <a:spcPct val="150000"/>
                  </a:lnSpc>
                </a:pPr>
                <a:r>
                  <a:rPr lang="es-419" dirty="0"/>
                  <a:t>Se parte de la fórmula de amplitud para realizar el despeje.</a:t>
                </a: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h</m:t>
                    </m:r>
                    <m:r>
                      <a:rPr lang="es-419" i="1">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dirty="0">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e>
                    </m:d>
                  </m:oMath>
                </a14:m>
                <a:r>
                  <a:rPr lang="es-419" dirty="0">
                    <a:ea typeface="Cambria Math" panose="02040503050406030204" pitchFamily="18" charset="0"/>
                  </a:rPr>
                  <a:t> </a:t>
                </a:r>
                <a:endParaRPr lang="es-419" i="1" dirty="0">
                  <a:latin typeface="Cambria Math" panose="02040503050406030204" pitchFamily="18" charset="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dirty="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r>
                      <a:rPr lang="es-419" i="1" dirty="0">
                        <a:latin typeface="Cambria Math" panose="02040503050406030204" pitchFamily="18" charset="0"/>
                        <a:ea typeface="Cambria Math" panose="02040503050406030204" pitchFamily="18" charset="0"/>
                      </a:rPr>
                      <m:t>−</m:t>
                    </m:r>
                    <m:acc>
                      <m:accPr>
                        <m:chr m:val="̅"/>
                        <m:ctrlPr>
                          <a:rPr lang="es-419" i="1" dirty="0">
                            <a:latin typeface="Cambria Math" panose="02040503050406030204" pitchFamily="18" charset="0"/>
                            <a:ea typeface="Cambria Math" panose="02040503050406030204" pitchFamily="18" charset="0"/>
                          </a:rPr>
                        </m:ctrlPr>
                      </m:accPr>
                      <m:e>
                        <m:r>
                          <a:rPr lang="es-419" i="1" dirty="0">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h</m:t>
                    </m:r>
                    <m:r>
                      <a:rPr lang="es-419" i="1">
                        <a:latin typeface="Cambria Math" panose="02040503050406030204" pitchFamily="18" charset="0"/>
                        <a:ea typeface="Cambria Math" panose="02040503050406030204" pitchFamily="18" charset="0"/>
                      </a:rPr>
                      <m:t>=2</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den>
                    </m:f>
                  </m:oMath>
                </a14:m>
                <a:endParaRPr lang="es-419" dirty="0"/>
              </a:p>
              <a:p>
                <a:pPr marL="514350" indent="-514350">
                  <a:lnSpc>
                    <a:spcPct val="150000"/>
                  </a:lnSpc>
                  <a:buFont typeface="+mj-lt"/>
                  <a:buAutoNum type="arabicPeriod"/>
                </a:pPr>
                <a14:m>
                  <m:oMath xmlns:m="http://schemas.openxmlformats.org/officeDocument/2006/math">
                    <m:rad>
                      <m:radPr>
                        <m:degHide m:val="on"/>
                        <m:ctrlPr>
                          <a:rPr lang="es-419" i="1" dirty="0">
                            <a:latin typeface="Cambria Math" panose="02040503050406030204" pitchFamily="18" charset="0"/>
                            <a:ea typeface="Cambria Math" panose="02040503050406030204" pitchFamily="18" charset="0"/>
                          </a:rPr>
                        </m:ctrlPr>
                      </m:radPr>
                      <m:deg/>
                      <m:e>
                        <m:r>
                          <a:rPr lang="es-419" i="1" dirty="0">
                            <a:latin typeface="Cambria Math" panose="02040503050406030204" pitchFamily="18" charset="0"/>
                            <a:ea typeface="Cambria Math" panose="02040503050406030204" pitchFamily="18" charset="0"/>
                          </a:rPr>
                          <m:t>𝑛</m:t>
                        </m:r>
                      </m:e>
                    </m:rad>
                    <m:r>
                      <a:rPr lang="es-419" i="1">
                        <a:latin typeface="Cambria Math" panose="02040503050406030204" pitchFamily="18" charset="0"/>
                        <a:ea typeface="Cambria Math" panose="02040503050406030204" pitchFamily="18" charset="0"/>
                      </a:rPr>
                      <m:t>=2</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
                          <a:rPr lang="es-419" b="0" i="1" dirty="0" smtClean="0">
                            <a:latin typeface="Cambria Math" panose="02040503050406030204" pitchFamily="18" charset="0"/>
                            <a:ea typeface="Cambria Math" panose="02040503050406030204" pitchFamily="18" charset="0"/>
                          </a:rPr>
                          <m:t>h</m:t>
                        </m:r>
                      </m:den>
                    </m:f>
                  </m:oMath>
                </a14:m>
                <a:endParaRPr lang="es-419" dirty="0"/>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𝑛</m:t>
                      </m:r>
                      <m:r>
                        <a:rPr lang="es-419" i="1">
                          <a:latin typeface="Cambria Math" panose="02040503050406030204" pitchFamily="18" charset="0"/>
                          <a:ea typeface="Cambria Math" panose="02040503050406030204" pitchFamily="18" charset="0"/>
                        </a:rPr>
                        <m:t>=</m:t>
                      </m:r>
                      <m:sSup>
                        <m:sSupPr>
                          <m:ctrlPr>
                            <a:rPr lang="es-419" i="1" smtClean="0">
                              <a:latin typeface="Cambria Math" panose="02040503050406030204" pitchFamily="18" charset="0"/>
                              <a:ea typeface="Cambria Math" panose="02040503050406030204" pitchFamily="18" charset="0"/>
                            </a:rPr>
                          </m:ctrlPr>
                        </m:sSupPr>
                        <m:e>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2</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VE"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𝜎</m:t>
                              </m:r>
                            </m:num>
                            <m:den>
                              <m:r>
                                <a:rPr lang="es-419" i="1" dirty="0">
                                  <a:latin typeface="Cambria Math" panose="02040503050406030204" pitchFamily="18" charset="0"/>
                                  <a:ea typeface="Cambria Math" panose="02040503050406030204" pitchFamily="18" charset="0"/>
                                </a:rPr>
                                <m:t>h</m:t>
                              </m:r>
                            </m:den>
                          </m:f>
                          <m:r>
                            <a:rPr lang="es-419" b="0" i="1" smtClean="0">
                              <a:latin typeface="Cambria Math" panose="02040503050406030204" pitchFamily="18" charset="0"/>
                              <a:ea typeface="Cambria Math" panose="02040503050406030204" pitchFamily="18" charset="0"/>
                            </a:rPr>
                            <m:t>]</m:t>
                          </m:r>
                        </m:e>
                        <m:sup>
                          <m:r>
                            <a:rPr lang="es-419" b="0" i="1" smtClean="0">
                              <a:latin typeface="Cambria Math" panose="02040503050406030204" pitchFamily="18" charset="0"/>
                              <a:ea typeface="Cambria Math" panose="02040503050406030204" pitchFamily="18" charset="0"/>
                            </a:rPr>
                            <m:t>2</m:t>
                          </m:r>
                        </m:sup>
                      </m:sSup>
                    </m:oMath>
                  </m:oMathPara>
                </a14:m>
                <a:endParaRPr lang="es-419" dirty="0"/>
              </a:p>
              <a:p>
                <a:pPr>
                  <a:lnSpc>
                    <a:spcPct val="150000"/>
                  </a:lnSpc>
                </a:pPr>
                <a:r>
                  <a:rPr lang="es-419" dirty="0"/>
                  <a:t>Nota: el planteamiento puede cambiar dependiendo del parámetro poblacional en cuestión, el estimador utilizado, y los parámetros poblacionales (des)conocidos.</a:t>
                </a:r>
              </a:p>
              <a:p>
                <a:pPr>
                  <a:lnSpc>
                    <a:spcPct val="150000"/>
                  </a:lnSpc>
                </a:pPr>
                <a:r>
                  <a:rPr lang="es-419" dirty="0"/>
                  <a:t>Planteamiento debe ajustarse para poblaciones finitas.</a:t>
                </a:r>
              </a:p>
              <a:p>
                <a:pPr>
                  <a:lnSpc>
                    <a:spcPct val="150000"/>
                  </a:lnSpc>
                </a:pPr>
                <a:endParaRPr lang="es-419" dirty="0"/>
              </a:p>
              <a:p>
                <a:pPr marL="514350" indent="-514350">
                  <a:lnSpc>
                    <a:spcPct val="150000"/>
                  </a:lnSpc>
                  <a:buFont typeface="+mj-lt"/>
                  <a:buAutoNum type="alphaLcPeriod" startAt="3"/>
                </a:pPr>
                <a:endParaRPr lang="es-419" dirty="0"/>
              </a:p>
              <a:p>
                <a:pPr>
                  <a:lnSpc>
                    <a:spcPct val="150000"/>
                  </a:lnSpc>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64"/>
                </a:stretch>
              </a:blipFill>
            </p:spPr>
            <p:txBody>
              <a:bodyPr/>
              <a:lstStyle/>
              <a:p>
                <a:r>
                  <a:rPr lang="es-419">
                    <a:noFill/>
                  </a:rPr>
                  <a:t> </a:t>
                </a:r>
              </a:p>
            </p:txBody>
          </p:sp>
        </mc:Fallback>
      </mc:AlternateContent>
    </p:spTree>
    <p:extLst>
      <p:ext uri="{BB962C8B-B14F-4D97-AF65-F5344CB8AC3E}">
        <p14:creationId xmlns:p14="http://schemas.microsoft.com/office/powerpoint/2010/main" val="13578678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9.33</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fontScale="92500" lnSpcReduction="10000"/>
          </a:bodyPr>
          <a:lstStyle/>
          <a:p>
            <a:pPr marL="0" indent="0">
              <a:lnSpc>
                <a:spcPct val="150000"/>
              </a:lnSpc>
              <a:buNone/>
            </a:pPr>
            <a:r>
              <a:rPr lang="es-419" i="1" dirty="0"/>
              <a:t>En el ejercicio anterior (</a:t>
            </a:r>
            <a:r>
              <a:rPr lang="es-419" b="1" i="1" dirty="0">
                <a:solidFill>
                  <a:srgbClr val="003A5D"/>
                </a:solidFill>
              </a:rPr>
              <a:t>9.32</a:t>
            </a:r>
            <a:r>
              <a:rPr lang="es-419" i="1" dirty="0"/>
              <a:t>). ¿De qué tamaño debe ser la muestra, si se quiere que la amplitud del intervalo sea de Bs. 0,12?. Suponga </a:t>
            </a:r>
            <a:r>
              <a:rPr lang="el-GR" b="1" dirty="0"/>
              <a:t>σ</a:t>
            </a:r>
            <a:r>
              <a:rPr lang="es-VE" b="1" baseline="30000" dirty="0"/>
              <a:t>2</a:t>
            </a:r>
            <a:r>
              <a:rPr lang="es-VE" dirty="0"/>
              <a:t> = 0,263</a:t>
            </a:r>
          </a:p>
          <a:p>
            <a:pPr marL="0" indent="0">
              <a:lnSpc>
                <a:spcPct val="150000"/>
              </a:lnSpc>
              <a:buNone/>
            </a:pPr>
            <a:r>
              <a:rPr lang="es-419" i="1" dirty="0"/>
              <a:t>Recordando el ejercicio </a:t>
            </a:r>
            <a:r>
              <a:rPr lang="es-419" b="1" i="1" dirty="0">
                <a:solidFill>
                  <a:srgbClr val="003A5D"/>
                </a:solidFill>
              </a:rPr>
              <a:t>propuesto 9.32</a:t>
            </a:r>
          </a:p>
          <a:p>
            <a:pPr marL="0" indent="0">
              <a:lnSpc>
                <a:spcPct val="150000"/>
              </a:lnSpc>
              <a:buNone/>
            </a:pPr>
            <a:r>
              <a:rPr lang="es-VE" i="1" dirty="0"/>
              <a:t>Un productor de marcadores pretende estimar el costo variable de producción por unidad de un cierto tipo de marcadores para decidir si los producirá o no. En una muestra de 150 unidades el costo variable medio fue de Bs. 3,71 siendo s</a:t>
            </a:r>
            <a:r>
              <a:rPr lang="es-VE" i="1" baseline="30000" dirty="0"/>
              <a:t>2</a:t>
            </a:r>
            <a:r>
              <a:rPr lang="es-VE" i="1" dirty="0"/>
              <a:t> = 0,263. Estimar el costo variable medio con una confianza del 95%. Interpretar los resultados.</a:t>
            </a:r>
          </a:p>
          <a:p>
            <a:pPr marL="0" indent="0">
              <a:lnSpc>
                <a:spcPct val="150000"/>
              </a:lnSpc>
              <a:buNone/>
            </a:pPr>
            <a:endParaRPr lang="es-419" b="1" i="1" dirty="0">
              <a:solidFill>
                <a:srgbClr val="003A5D"/>
              </a:solidFill>
            </a:endParaRPr>
          </a:p>
          <a:p>
            <a:pPr marL="0" indent="0">
              <a:lnSpc>
                <a:spcPct val="150000"/>
              </a:lnSpc>
              <a:buNone/>
            </a:pPr>
            <a:endParaRPr lang="es-419" b="1" i="1" dirty="0">
              <a:solidFill>
                <a:srgbClr val="003A5D"/>
              </a:solidFill>
            </a:endParaRPr>
          </a:p>
        </p:txBody>
      </p:sp>
    </p:spTree>
    <p:extLst>
      <p:ext uri="{BB962C8B-B14F-4D97-AF65-F5344CB8AC3E}">
        <p14:creationId xmlns:p14="http://schemas.microsoft.com/office/powerpoint/2010/main" val="9091409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9.33</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92500" lnSpcReduction="10000"/>
          </a:bodyPr>
          <a:lstStyle/>
          <a:p>
            <a:pPr marL="0" indent="0">
              <a:buNone/>
            </a:pPr>
            <a:r>
              <a:rPr lang="pt-BR" dirty="0">
                <a:latin typeface="Consolas" panose="020B0609020204030204" pitchFamily="49" charset="0"/>
              </a:rPr>
              <a:t>&gt; </a:t>
            </a:r>
            <a:r>
              <a:rPr lang="pt-BR" dirty="0" err="1">
                <a:latin typeface="Consolas" panose="020B0609020204030204" pitchFamily="49" charset="0"/>
              </a:rPr>
              <a:t>ic</a:t>
            </a:r>
            <a:r>
              <a:rPr lang="pt-BR" dirty="0">
                <a:latin typeface="Consolas" panose="020B0609020204030204" pitchFamily="49" charset="0"/>
              </a:rPr>
              <a:t> &lt;- 0.95</a:t>
            </a:r>
          </a:p>
          <a:p>
            <a:pPr marL="0" indent="0">
              <a:buNone/>
            </a:pPr>
            <a:r>
              <a:rPr lang="pt-BR" dirty="0">
                <a:latin typeface="Consolas" panose="020B0609020204030204" pitchFamily="49" charset="0"/>
              </a:rPr>
              <a:t>&gt; a &lt;- 1 - </a:t>
            </a:r>
            <a:r>
              <a:rPr lang="pt-BR" dirty="0" err="1">
                <a:latin typeface="Consolas" panose="020B0609020204030204" pitchFamily="49" charset="0"/>
              </a:rPr>
              <a:t>ic</a:t>
            </a:r>
            <a:endParaRPr lang="pt-BR" dirty="0">
              <a:latin typeface="Consolas" panose="020B0609020204030204" pitchFamily="49" charset="0"/>
            </a:endParaRPr>
          </a:p>
          <a:p>
            <a:pPr marL="0" indent="0">
              <a:buNone/>
            </a:pPr>
            <a:r>
              <a:rPr lang="pt-BR" dirty="0">
                <a:latin typeface="Consolas" panose="020B0609020204030204" pitchFamily="49" charset="0"/>
              </a:rPr>
              <a:t>&gt; h &lt;- 0.12</a:t>
            </a:r>
          </a:p>
          <a:p>
            <a:pPr marL="0" indent="0">
              <a:buNone/>
            </a:pPr>
            <a:r>
              <a:rPr lang="pt-BR" dirty="0">
                <a:latin typeface="Consolas" panose="020B0609020204030204" pitchFamily="49" charset="0"/>
              </a:rPr>
              <a:t>&gt; o_2 &lt;- 0.263</a:t>
            </a:r>
          </a:p>
          <a:p>
            <a:pPr marL="0" indent="0">
              <a:buNone/>
            </a:pPr>
            <a:r>
              <a:rPr lang="pt-BR" dirty="0">
                <a:latin typeface="Consolas" panose="020B0609020204030204" pitchFamily="49" charset="0"/>
              </a:rPr>
              <a:t>&gt; o &lt;- </a:t>
            </a:r>
            <a:r>
              <a:rPr lang="pt-BR" dirty="0" err="1">
                <a:latin typeface="Consolas" panose="020B0609020204030204" pitchFamily="49" charset="0"/>
              </a:rPr>
              <a:t>sqrt</a:t>
            </a:r>
            <a:r>
              <a:rPr lang="pt-BR" dirty="0">
                <a:latin typeface="Consolas" panose="020B0609020204030204" pitchFamily="49" charset="0"/>
              </a:rPr>
              <a:t>(o_2)</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n &lt;- (2*</a:t>
            </a:r>
            <a:r>
              <a:rPr lang="pt-BR" dirty="0" err="1">
                <a:latin typeface="Consolas" panose="020B0609020204030204" pitchFamily="49" charset="0"/>
              </a:rPr>
              <a:t>qnorm</a:t>
            </a:r>
            <a:r>
              <a:rPr lang="pt-BR" dirty="0">
                <a:latin typeface="Consolas" panose="020B0609020204030204" pitchFamily="49" charset="0"/>
              </a:rPr>
              <a:t>(1-a/2)*o/h)^2</a:t>
            </a:r>
          </a:p>
          <a:p>
            <a:pPr marL="0" indent="0">
              <a:buNone/>
            </a:pPr>
            <a:r>
              <a:rPr lang="pt-BR" dirty="0">
                <a:latin typeface="Consolas" panose="020B0609020204030204" pitchFamily="49" charset="0"/>
              </a:rPr>
              <a:t>&gt; n</a:t>
            </a:r>
          </a:p>
          <a:p>
            <a:pPr marL="0" indent="0">
              <a:buNone/>
            </a:pPr>
            <a:r>
              <a:rPr lang="pt-BR" dirty="0">
                <a:highlight>
                  <a:srgbClr val="FFFF00"/>
                </a:highlight>
                <a:latin typeface="Consolas" panose="020B0609020204030204" pitchFamily="49" charset="0"/>
              </a:rPr>
              <a:t>[1] 280.6399</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round(n, </a:t>
            </a:r>
            <a:r>
              <a:rPr lang="pt-BR" dirty="0" err="1">
                <a:latin typeface="Consolas" panose="020B0609020204030204" pitchFamily="49" charset="0"/>
              </a:rPr>
              <a:t>digits</a:t>
            </a:r>
            <a:r>
              <a:rPr lang="pt-BR" dirty="0">
                <a:latin typeface="Consolas" panose="020B0609020204030204" pitchFamily="49" charset="0"/>
              </a:rPr>
              <a:t> = 0)</a:t>
            </a:r>
          </a:p>
          <a:p>
            <a:pPr marL="0" indent="0">
              <a:buNone/>
            </a:pPr>
            <a:r>
              <a:rPr lang="pt-BR" dirty="0">
                <a:highlight>
                  <a:srgbClr val="FFFF00"/>
                </a:highlight>
                <a:latin typeface="Consolas" panose="020B0609020204030204" pitchFamily="49" charset="0"/>
              </a:rPr>
              <a:t>[1] 281</a:t>
            </a:r>
            <a:endParaRPr lang="es-ES" dirty="0">
              <a:highlight>
                <a:srgbClr val="FFFF00"/>
              </a:highlight>
              <a:latin typeface="Consolas" panose="020B0609020204030204" pitchFamily="49" charset="0"/>
            </a:endParaRPr>
          </a:p>
        </p:txBody>
      </p:sp>
    </p:spTree>
    <p:extLst>
      <p:ext uri="{BB962C8B-B14F-4D97-AF65-F5344CB8AC3E}">
        <p14:creationId xmlns:p14="http://schemas.microsoft.com/office/powerpoint/2010/main" val="418563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Para próxima clase</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Realice el ejercicio propuesto 9.35 (Despeje para tamaño de muestra en un intervalo con poblaciones finitas)</a:t>
            </a:r>
          </a:p>
        </p:txBody>
      </p:sp>
    </p:spTree>
    <p:extLst>
      <p:ext uri="{BB962C8B-B14F-4D97-AF65-F5344CB8AC3E}">
        <p14:creationId xmlns:p14="http://schemas.microsoft.com/office/powerpoint/2010/main" val="33720193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Para próxima clase</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¿Cómo encontrarían el nivel de confianza de un intervalo determinado?</a:t>
            </a:r>
          </a:p>
        </p:txBody>
      </p:sp>
    </p:spTree>
    <p:extLst>
      <p:ext uri="{BB962C8B-B14F-4D97-AF65-F5344CB8AC3E}">
        <p14:creationId xmlns:p14="http://schemas.microsoft.com/office/powerpoint/2010/main" val="42548044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Intervalos de confianza para la varianza de una población</a:t>
            </a:r>
            <a:endParaRPr lang="es-419" dirty="0"/>
          </a:p>
        </p:txBody>
      </p:sp>
      <p:sp>
        <p:nvSpPr>
          <p:cNvPr id="2" name="Marcador de texto 1"/>
          <p:cNvSpPr>
            <a:spLocks noGrp="1"/>
          </p:cNvSpPr>
          <p:nvPr>
            <p:ph type="body" idx="1"/>
          </p:nvPr>
        </p:nvSpPr>
        <p:spPr/>
        <p:txBody>
          <a:bodyPr/>
          <a:lstStyle/>
          <a:p>
            <a:r>
              <a:rPr lang="es-VE" dirty="0"/>
              <a:t>Construcción y ejemplos</a:t>
            </a:r>
            <a:endParaRPr lang="en-US" dirty="0"/>
          </a:p>
        </p:txBody>
      </p:sp>
    </p:spTree>
    <p:extLst>
      <p:ext uri="{BB962C8B-B14F-4D97-AF65-F5344CB8AC3E}">
        <p14:creationId xmlns:p14="http://schemas.microsoft.com/office/powerpoint/2010/main" val="31161950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Intervalos de confianza para la varianza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a:lnSpc>
                    <a:spcPct val="150000"/>
                  </a:lnSpc>
                </a:pPr>
                <a:r>
                  <a:rPr lang="es-VE" dirty="0"/>
                  <a:t>Algunas notas de cautela:</a:t>
                </a:r>
              </a:p>
              <a:p>
                <a:pPr>
                  <a:lnSpc>
                    <a:spcPct val="150000"/>
                  </a:lnSpc>
                </a:pPr>
                <a:r>
                  <a:rPr lang="es-VE" dirty="0"/>
                  <a:t>Se opera empleando funciones de estimadores con distribuciones de probabilidades </a:t>
                </a:r>
                <a:r>
                  <a:rPr lang="es-VE" b="1" dirty="0">
                    <a:solidFill>
                      <a:srgbClr val="003A5D"/>
                    </a:solidFill>
                  </a:rPr>
                  <a:t>asimétricas </a:t>
                </a:r>
                <a:r>
                  <a:rPr lang="es-VE" dirty="0"/>
                  <a:t>y</a:t>
                </a:r>
                <a:r>
                  <a:rPr lang="es-VE" b="1" dirty="0">
                    <a:solidFill>
                      <a:srgbClr val="003A5D"/>
                    </a:solidFill>
                  </a:rPr>
                  <a:t> positivas.</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s-419" i="1" dirty="0" smtClean="0">
                              <a:latin typeface="Cambria Math" panose="02040503050406030204" pitchFamily="18" charset="0"/>
                              <a:ea typeface="Cambria Math" panose="02040503050406030204" pitchFamily="18" charset="0"/>
                            </a:rPr>
                          </m:ctrlPr>
                        </m:fPr>
                        <m:num>
                          <m:r>
                            <a:rPr lang="es-VE" b="0" i="1" dirty="0" smtClean="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b="0" i="1" dirty="0" smtClean="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den>
                      </m:f>
                      <m:r>
                        <a:rPr lang="es-419" b="0" i="1" dirty="0" smtClean="0">
                          <a:latin typeface="Cambria Math" panose="02040503050406030204" pitchFamily="18" charset="0"/>
                          <a:ea typeface="Cambria Math" panose="02040503050406030204" pitchFamily="18" charset="0"/>
                        </a:rPr>
                        <m:t>~</m:t>
                      </m:r>
                      <m:sSup>
                        <m:sSupPr>
                          <m:ctrlPr>
                            <a:rPr lang="es-419" b="0" i="1" dirty="0" smtClean="0">
                              <a:latin typeface="Cambria Math" panose="02040503050406030204" pitchFamily="18" charset="0"/>
                              <a:ea typeface="Cambria Math" panose="02040503050406030204" pitchFamily="18" charset="0"/>
                            </a:rPr>
                          </m:ctrlPr>
                        </m:sSupPr>
                        <m:e>
                          <m:r>
                            <a:rPr lang="es-419" b="0" i="1" dirty="0" smtClean="0">
                              <a:latin typeface="Cambria Math" panose="02040503050406030204" pitchFamily="18" charset="0"/>
                              <a:ea typeface="Cambria Math" panose="02040503050406030204" pitchFamily="18" charset="0"/>
                            </a:rPr>
                            <m:t>𝜒</m:t>
                          </m:r>
                        </m:e>
                        <m:sup>
                          <m:r>
                            <a:rPr lang="es-419" b="0" i="1" dirty="0" smtClean="0">
                              <a:latin typeface="Cambria Math" panose="02040503050406030204" pitchFamily="18" charset="0"/>
                              <a:ea typeface="Cambria Math" panose="02040503050406030204" pitchFamily="18" charset="0"/>
                            </a:rPr>
                            <m:t>2</m:t>
                          </m:r>
                        </m:sup>
                      </m:sSup>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−1</m:t>
                          </m:r>
                        </m:e>
                      </m:d>
                    </m:oMath>
                  </m:oMathPara>
                </a14:m>
                <a:endParaRPr lang="es-VE" b="1" dirty="0">
                  <a:solidFill>
                    <a:srgbClr val="003A5D"/>
                  </a:solidFill>
                </a:endParaRPr>
              </a:p>
              <a:p>
                <a:pPr>
                  <a:lnSpc>
                    <a:spcPct val="150000"/>
                  </a:lnSpc>
                </a:pPr>
                <a:r>
                  <a:rPr lang="es-VE" dirty="0"/>
                  <a:t>La construcción del intervalo no es tan “cómoda”.</a:t>
                </a:r>
              </a:p>
              <a:p>
                <a:pPr>
                  <a:lnSpc>
                    <a:spcPct val="150000"/>
                  </a:lnSpc>
                </a:pPr>
                <a:r>
                  <a:rPr lang="es-VE" dirty="0"/>
                  <a:t>Los valores críticos (cuantiles) que asisten en determinar los no serán “espejos”.</a:t>
                </a:r>
              </a:p>
              <a:p>
                <a:pPr>
                  <a:lnSpc>
                    <a:spcPct val="150000"/>
                  </a:lnSpc>
                </a:pPr>
                <a:r>
                  <a:rPr lang="es-VE" dirty="0"/>
                  <a:t>Se debe aplicar peculiar atención a las áreas de alfa que tienen acumulados los valores críticos.</a:t>
                </a:r>
                <a:endParaRPr lang="es-419" dirty="0"/>
              </a:p>
              <a:p>
                <a:pPr marL="514350" indent="-514350">
                  <a:lnSpc>
                    <a:spcPct val="150000"/>
                  </a:lnSpc>
                  <a:buFont typeface="+mj-lt"/>
                  <a:buAutoNum type="alphaLcPeriod" startAt="3"/>
                </a:pPr>
                <a:endParaRPr lang="es-419" dirty="0"/>
              </a:p>
              <a:p>
                <a:pPr>
                  <a:lnSpc>
                    <a:spcPct val="150000"/>
                  </a:lnSpc>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s-419">
                    <a:noFill/>
                  </a:rPr>
                  <a:t> </a:t>
                </a:r>
              </a:p>
            </p:txBody>
          </p:sp>
        </mc:Fallback>
      </mc:AlternateContent>
    </p:spTree>
    <p:extLst>
      <p:ext uri="{BB962C8B-B14F-4D97-AF65-F5344CB8AC3E}">
        <p14:creationId xmlns:p14="http://schemas.microsoft.com/office/powerpoint/2010/main" val="22147873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la varianza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marL="514350" indent="-514350">
                  <a:lnSpc>
                    <a:spcPct val="150000"/>
                  </a:lnSpc>
                  <a:buFont typeface="+mj-lt"/>
                  <a:buAutoNum type="alphaLcPeriod"/>
                </a:pPr>
                <a:r>
                  <a:rPr lang="es-419" dirty="0">
                    <a:ea typeface="Cambria Math" panose="02040503050406030204" pitchFamily="18" charset="0"/>
                  </a:rPr>
                  <a:t>Población normal (empleando varianza muestral insesgada)</a:t>
                </a:r>
              </a:p>
              <a:p>
                <a:pPr>
                  <a:lnSpc>
                    <a:spcPct val="150000"/>
                  </a:lnSpc>
                </a:pPr>
                <a14:m>
                  <m:oMath xmlns:m="http://schemas.openxmlformats.org/officeDocument/2006/math">
                    <m:f>
                      <m:fPr>
                        <m:ctrlPr>
                          <a:rPr lang="es-419" i="1" dirty="0" smtClean="0">
                            <a:latin typeface="Cambria Math" panose="02040503050406030204" pitchFamily="18" charset="0"/>
                            <a:ea typeface="Cambria Math" panose="02040503050406030204" pitchFamily="18" charset="0"/>
                          </a:rPr>
                        </m:ctrlPr>
                      </m:fPr>
                      <m:num>
                        <m:r>
                          <a:rPr lang="es-VE" b="0" i="1" dirty="0" smtClean="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b="0" i="1" dirty="0" smtClean="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den>
                    </m:f>
                    <m:r>
                      <a:rPr lang="es-419" b="0" i="1" dirty="0" smtClean="0">
                        <a:latin typeface="Cambria Math" panose="02040503050406030204" pitchFamily="18" charset="0"/>
                        <a:ea typeface="Cambria Math" panose="02040503050406030204" pitchFamily="18" charset="0"/>
                      </a:rPr>
                      <m:t>~</m:t>
                    </m:r>
                    <m:sSup>
                      <m:sSupPr>
                        <m:ctrlPr>
                          <a:rPr lang="es-419" b="0" i="1" dirty="0" smtClean="0">
                            <a:latin typeface="Cambria Math" panose="02040503050406030204" pitchFamily="18" charset="0"/>
                            <a:ea typeface="Cambria Math" panose="02040503050406030204" pitchFamily="18" charset="0"/>
                          </a:rPr>
                        </m:ctrlPr>
                      </m:sSupPr>
                      <m:e>
                        <m:r>
                          <a:rPr lang="es-419" b="0" i="1" dirty="0" smtClean="0">
                            <a:latin typeface="Cambria Math" panose="02040503050406030204" pitchFamily="18" charset="0"/>
                            <a:ea typeface="Cambria Math" panose="02040503050406030204" pitchFamily="18" charset="0"/>
                          </a:rPr>
                          <m:t>𝜒</m:t>
                        </m:r>
                      </m:e>
                      <m:sup>
                        <m:r>
                          <a:rPr lang="es-419" b="0" i="1" dirty="0" smtClean="0">
                            <a:latin typeface="Cambria Math" panose="02040503050406030204" pitchFamily="18" charset="0"/>
                            <a:ea typeface="Cambria Math" panose="02040503050406030204" pitchFamily="18" charset="0"/>
                          </a:rPr>
                          <m:t>2</m:t>
                        </m:r>
                      </m:sup>
                    </m:sSup>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−1</m:t>
                        </m:r>
                      </m:e>
                    </m:d>
                    <m:r>
                      <a:rPr lang="es-419" b="0" i="0" dirty="0" smtClean="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𝑙𝑎</m:t>
                    </m:r>
                    <m:r>
                      <a:rPr lang="es-419" b="0" i="1" dirty="0" smtClean="0">
                        <a:latin typeface="Cambria Math" panose="02040503050406030204" pitchFamily="18" charset="0"/>
                        <a:ea typeface="Cambria Math" panose="02040503050406030204" pitchFamily="18" charset="0"/>
                      </a:rPr>
                      <m:t> </m:t>
                    </m:r>
                    <m:r>
                      <a:rPr lang="es-419" b="0" i="1" dirty="0" smtClean="0">
                        <a:latin typeface="Cambria Math" panose="02040503050406030204" pitchFamily="18" charset="0"/>
                        <a:ea typeface="Cambria Math" panose="02040503050406030204" pitchFamily="18" charset="0"/>
                      </a:rPr>
                      <m:t>𝑑𝑖𝑠𝑡𝑟𝑖𝑏𝑢𝑐𝑖</m:t>
                    </m:r>
                    <m:r>
                      <a:rPr lang="es-419" b="0" i="1" dirty="0" smtClean="0">
                        <a:latin typeface="Cambria Math" panose="02040503050406030204" pitchFamily="18" charset="0"/>
                        <a:ea typeface="Cambria Math" panose="02040503050406030204" pitchFamily="18" charset="0"/>
                      </a:rPr>
                      <m:t>ó</m:t>
                    </m:r>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 </m:t>
                    </m:r>
                    <m:r>
                      <a:rPr lang="es-419" b="0" i="1" dirty="0" smtClean="0">
                        <a:latin typeface="Cambria Math" panose="02040503050406030204" pitchFamily="18" charset="0"/>
                        <a:ea typeface="Cambria Math" panose="02040503050406030204" pitchFamily="18" charset="0"/>
                      </a:rPr>
                      <m:t>𝑛𝑜</m:t>
                    </m:r>
                    <m:r>
                      <a:rPr lang="es-419" b="0" i="1" dirty="0" smtClean="0">
                        <a:latin typeface="Cambria Math" panose="02040503050406030204" pitchFamily="18" charset="0"/>
                        <a:ea typeface="Cambria Math" panose="02040503050406030204" pitchFamily="18" charset="0"/>
                      </a:rPr>
                      <m:t> </m:t>
                    </m:r>
                    <m:r>
                      <a:rPr lang="es-419" b="0" i="1" dirty="0" smtClean="0">
                        <a:latin typeface="Cambria Math" panose="02040503050406030204" pitchFamily="18" charset="0"/>
                        <a:ea typeface="Cambria Math" panose="02040503050406030204" pitchFamily="18" charset="0"/>
                      </a:rPr>
                      <m:t>𝑒𝑠</m:t>
                    </m:r>
                    <m:r>
                      <a:rPr lang="es-419" b="0" i="1" dirty="0" smtClean="0">
                        <a:latin typeface="Cambria Math" panose="02040503050406030204" pitchFamily="18" charset="0"/>
                        <a:ea typeface="Cambria Math" panose="02040503050406030204" pitchFamily="18" charset="0"/>
                      </a:rPr>
                      <m:t> </m:t>
                    </m:r>
                    <m:r>
                      <a:rPr lang="es-419" b="0" i="1" dirty="0" smtClean="0">
                        <a:latin typeface="Cambria Math" panose="02040503050406030204" pitchFamily="18" charset="0"/>
                        <a:ea typeface="Cambria Math" panose="02040503050406030204" pitchFamily="18" charset="0"/>
                      </a:rPr>
                      <m:t>𝑠𝑖𝑚</m:t>
                    </m:r>
                    <m:r>
                      <a:rPr lang="es-419" b="0" i="1" dirty="0" smtClean="0">
                        <a:latin typeface="Cambria Math" panose="02040503050406030204" pitchFamily="18" charset="0"/>
                        <a:ea typeface="Cambria Math" panose="02040503050406030204" pitchFamily="18" charset="0"/>
                      </a:rPr>
                      <m:t>é</m:t>
                    </m:r>
                    <m:r>
                      <a:rPr lang="es-419" b="0" i="1" dirty="0" smtClean="0">
                        <a:latin typeface="Cambria Math" panose="02040503050406030204" pitchFamily="18" charset="0"/>
                        <a:ea typeface="Cambria Math" panose="02040503050406030204" pitchFamily="18" charset="0"/>
                      </a:rPr>
                      <m:t>𝑡𝑟𝑖𝑐𝑎</m:t>
                    </m:r>
                  </m:oMath>
                </a14:m>
                <a:endParaRPr lang="es-419" i="1"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𝑎</m:t>
                        </m:r>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den>
                        </m:f>
                        <m:r>
                          <a:rPr lang="es-419" i="1">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𝑏</m:t>
                        </m:r>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smtClean="0">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𝑎</m:t>
                            </m:r>
                          </m:num>
                          <m:den>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den>
                        </m:f>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r>
                              <a:rPr lang="es-419" b="0" i="1" dirty="0" smtClean="0">
                                <a:latin typeface="Cambria Math" panose="02040503050406030204" pitchFamily="18" charset="0"/>
                                <a:ea typeface="Cambria Math" panose="02040503050406030204" pitchFamily="18" charset="0"/>
                              </a:rPr>
                              <m:t>1</m:t>
                            </m:r>
                          </m:num>
                          <m:den>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𝑏</m:t>
                            </m:r>
                          </m:num>
                          <m:den>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r>
                              <a:rPr lang="es-419" b="0" i="1" dirty="0" smtClean="0">
                                <a:latin typeface="Cambria Math" panose="02040503050406030204" pitchFamily="18" charset="0"/>
                                <a:ea typeface="Cambria Math" panose="02040503050406030204" pitchFamily="18" charset="0"/>
                              </a:rPr>
                              <m:t>𝑎</m:t>
                            </m:r>
                          </m:den>
                        </m:f>
                        <m:r>
                          <a:rPr lang="es-419" i="1" smtClean="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r>
                          <a:rPr lang="es-419"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r>
                              <a:rPr lang="es-419" b="0" i="1" dirty="0" smtClean="0">
                                <a:latin typeface="Cambria Math" panose="02040503050406030204" pitchFamily="18" charset="0"/>
                                <a:ea typeface="Cambria Math" panose="02040503050406030204" pitchFamily="18" charset="0"/>
                              </a:rPr>
                              <m:t>𝑏</m:t>
                            </m:r>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smtClean="0">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r>
                              <a:rPr lang="es-419" i="1" dirty="0">
                                <a:latin typeface="Cambria Math" panose="02040503050406030204" pitchFamily="18" charset="0"/>
                                <a:ea typeface="Cambria Math" panose="02040503050406030204" pitchFamily="18" charset="0"/>
                              </a:rPr>
                              <m:t>𝑏</m:t>
                            </m:r>
                          </m:den>
                        </m:f>
                        <m:r>
                          <a:rPr lang="es-419" i="1">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r>
                              <a:rPr lang="es-419" i="1" dirty="0">
                                <a:latin typeface="Cambria Math" panose="02040503050406030204" pitchFamily="18" charset="0"/>
                                <a:ea typeface="Cambria Math" panose="02040503050406030204" pitchFamily="18" charset="0"/>
                              </a:rPr>
                              <m:t>𝑎</m:t>
                            </m:r>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a14:m>
                <a:endParaRPr lang="es-419" dirty="0">
                  <a:ea typeface="Cambria Math" panose="02040503050406030204" pitchFamily="18" charset="0"/>
                </a:endParaRPr>
              </a:p>
              <a:p>
                <a:pPr>
                  <a:lnSpc>
                    <a:spcPct val="150000"/>
                  </a:lnSpc>
                </a:pPr>
                <a14:m>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den>
                        </m:f>
                        <m:r>
                          <a:rPr lang="es-419" i="1">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𝑎</m:t>
                        </m:r>
                      </m:e>
                    </m:d>
                    <m:r>
                      <a:rPr lang="es-419" i="1">
                        <a:latin typeface="Cambria Math" panose="02040503050406030204" pitchFamily="18" charset="0"/>
                        <a:ea typeface="Cambria Math" panose="02040503050406030204" pitchFamily="18" charset="0"/>
                      </a:rPr>
                      <m:t>=</m:t>
                    </m:r>
                    <m:f>
                      <m:fPr>
                        <m:ctrlPr>
                          <a:rPr lang="es-419" i="1" smtClean="0">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b="0" i="1" smtClean="0">
                            <a:latin typeface="Cambria Math" panose="02040503050406030204" pitchFamily="18" charset="0"/>
                            <a:ea typeface="Cambria Math" panose="02040503050406030204" pitchFamily="18" charset="0"/>
                          </a:rPr>
                          <m:t>2</m:t>
                        </m:r>
                      </m:den>
                    </m:f>
                    <m:r>
                      <a:rPr lang="es-419" b="0" i="0"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den>
                        </m:f>
                        <m:r>
                          <a:rPr lang="es-419" i="1">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𝑏</m:t>
                        </m:r>
                      </m:e>
                    </m:d>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b="0" i="1" smtClean="0">
                            <a:latin typeface="Cambria Math" panose="02040503050406030204" pitchFamily="18" charset="0"/>
                            <a:ea typeface="Cambria Math" panose="02040503050406030204" pitchFamily="18" charset="0"/>
                          </a:rPr>
                          <m:t>2</m:t>
                        </m:r>
                      </m:den>
                    </m:f>
                  </m:oMath>
                </a14:m>
                <a:endParaRPr lang="es-419" dirty="0">
                  <a:ea typeface="Cambria Math" panose="02040503050406030204" pitchFamily="18" charset="0"/>
                </a:endParaRPr>
              </a:p>
              <a:p>
                <a:pPr>
                  <a:lnSpc>
                    <a:spcPct val="150000"/>
                  </a:lnSpc>
                </a:pPr>
                <a14:m>
                  <m:oMath xmlns:m="http://schemas.openxmlformats.org/officeDocument/2006/math">
                    <m:r>
                      <a:rPr lang="es-419" b="0" i="1" smtClean="0">
                        <a:latin typeface="Cambria Math" panose="02040503050406030204" pitchFamily="18" charset="0"/>
                        <a:ea typeface="Cambria Math" panose="02040503050406030204" pitchFamily="18" charset="0"/>
                      </a:rPr>
                      <m:t>𝑎</m:t>
                    </m:r>
                    <m:r>
                      <a:rPr lang="es-419" i="1">
                        <a:latin typeface="Cambria Math" panose="02040503050406030204" pitchFamily="18" charset="0"/>
                        <a:ea typeface="Cambria Math" panose="02040503050406030204" pitchFamily="18" charset="0"/>
                      </a:rPr>
                      <m:t>=</m:t>
                    </m:r>
                    <m:sSub>
                      <m:sSubPr>
                        <m:ctrlPr>
                          <a:rPr lang="es-419" i="1" smtClean="0">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b="0" i="1" smtClean="0">
                            <a:latin typeface="Cambria Math" panose="02040503050406030204" pitchFamily="18" charset="0"/>
                            <a:ea typeface="Cambria Math" panose="02040503050406030204" pitchFamily="18" charset="0"/>
                          </a:rPr>
                          <m:t>1−</m:t>
                        </m:r>
                        <m:f>
                          <m:fPr>
                            <m:type m:val="skw"/>
                            <m:ctrlPr>
                              <a:rPr lang="es-419" b="0" i="1" smtClean="0">
                                <a:latin typeface="Cambria Math" panose="02040503050406030204" pitchFamily="18" charset="0"/>
                                <a:ea typeface="Cambria Math" panose="02040503050406030204" pitchFamily="18" charset="0"/>
                              </a:rPr>
                            </m:ctrlPr>
                          </m:fPr>
                          <m:num>
                            <m:r>
                              <a:rPr lang="es-419" b="0" i="1" smtClean="0">
                                <a:latin typeface="Cambria Math" panose="02040503050406030204" pitchFamily="18" charset="0"/>
                                <a:ea typeface="Cambria Math" panose="02040503050406030204" pitchFamily="18" charset="0"/>
                              </a:rPr>
                              <m:t>𝛼</m:t>
                            </m:r>
                          </m:num>
                          <m:den>
                            <m:r>
                              <a:rPr lang="es-419" b="0" i="1" smtClean="0">
                                <a:latin typeface="Cambria Math" panose="02040503050406030204" pitchFamily="18" charset="0"/>
                                <a:ea typeface="Cambria Math" panose="02040503050406030204" pitchFamily="18" charset="0"/>
                              </a:rPr>
                              <m:t>2</m:t>
                            </m:r>
                          </m:den>
                        </m:f>
                      </m:sub>
                    </m:sSub>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𝑏</m:t>
                    </m:r>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VE" i="1">
                        <a:latin typeface="Cambria Math" panose="02040503050406030204" pitchFamily="18" charset="0"/>
                        <a:ea typeface="Cambria Math" panose="02040503050406030204" pitchFamily="18" charset="0"/>
                      </a:rPr>
                      <m:t>&gt;</m:t>
                    </m:r>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oMath>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64" b="-6778"/>
                </a:stretch>
              </a:blipFill>
            </p:spPr>
            <p:txBody>
              <a:bodyPr/>
              <a:lstStyle/>
              <a:p>
                <a:r>
                  <a:rPr lang="es-VE">
                    <a:noFill/>
                  </a:rPr>
                  <a:t> </a:t>
                </a:r>
              </a:p>
            </p:txBody>
          </p:sp>
        </mc:Fallback>
      </mc:AlternateContent>
      <p:pic>
        <p:nvPicPr>
          <p:cNvPr id="6" name="Picture 8">
            <a:extLst>
              <a:ext uri="{FF2B5EF4-FFF2-40B4-BE49-F238E27FC236}">
                <a16:creationId xmlns:a16="http://schemas.microsoft.com/office/drawing/2014/main" id="{1D37EAB1-282C-434F-93EF-0B74BF5E17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340" t="60895" r="34393" b="7652"/>
          <a:stretch/>
        </p:blipFill>
        <p:spPr bwMode="auto">
          <a:xfrm>
            <a:off x="6096000" y="3429000"/>
            <a:ext cx="5230070" cy="2232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E99B107-597C-4118-9968-BDE379ED3C03}"/>
                  </a:ext>
                </a:extLst>
              </p:cNvPr>
              <p:cNvSpPr txBox="1"/>
              <p:nvPr/>
            </p:nvSpPr>
            <p:spPr>
              <a:xfrm>
                <a:off x="7057102" y="5431578"/>
                <a:ext cx="715297" cy="254493"/>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Sup>
                        <m:sSubSupPr>
                          <m:ctrlPr>
                            <a:rPr lang="es-419" sz="1400" i="1" smtClean="0">
                              <a:latin typeface="Cambria Math" panose="02040503050406030204" pitchFamily="18" charset="0"/>
                            </a:rPr>
                          </m:ctrlPr>
                        </m:sSubSupPr>
                        <m:e>
                          <m:r>
                            <a:rPr lang="es-419" sz="1400" i="1" smtClean="0">
                              <a:latin typeface="Cambria Math" panose="02040503050406030204" pitchFamily="18" charset="0"/>
                              <a:ea typeface="Cambria Math" panose="02040503050406030204" pitchFamily="18" charset="0"/>
                            </a:rPr>
                            <m:t>𝜒</m:t>
                          </m:r>
                        </m:e>
                        <m:sub>
                          <m:r>
                            <a:rPr lang="en-US" sz="1400" i="1">
                              <a:latin typeface="Cambria Math" panose="02040503050406030204" pitchFamily="18" charset="0"/>
                            </a:rPr>
                            <m:t>1−</m:t>
                          </m:r>
                          <m:f>
                            <m:fPr>
                              <m:type m:val="lin"/>
                              <m:ctrlPr>
                                <a:rPr lang="en-U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𝛼</m:t>
                              </m:r>
                            </m:num>
                            <m:den>
                              <m:r>
                                <a:rPr lang="en-US" sz="1400" i="1">
                                  <a:latin typeface="Cambria Math" panose="02040503050406030204" pitchFamily="18" charset="0"/>
                                </a:rPr>
                                <m:t>2</m:t>
                              </m:r>
                            </m:den>
                          </m:f>
                        </m:sub>
                        <m:sup>
                          <m:r>
                            <a:rPr lang="es-419" sz="1400" b="0" i="1" smtClean="0">
                              <a:latin typeface="Cambria Math" panose="02040503050406030204" pitchFamily="18" charset="0"/>
                            </a:rPr>
                            <m:t>2</m:t>
                          </m:r>
                        </m:sup>
                      </m:sSubSup>
                    </m:oMath>
                  </m:oMathPara>
                </a14:m>
                <a:endParaRPr lang="es-419" sz="1400" dirty="0"/>
              </a:p>
            </p:txBody>
          </p:sp>
        </mc:Choice>
        <mc:Fallback xmlns="">
          <p:sp>
            <p:nvSpPr>
              <p:cNvPr id="4" name="TextBox 3">
                <a:extLst>
                  <a:ext uri="{FF2B5EF4-FFF2-40B4-BE49-F238E27FC236}">
                    <a16:creationId xmlns:a16="http://schemas.microsoft.com/office/drawing/2014/main" id="{6E99B107-597C-4118-9968-BDE379ED3C03}"/>
                  </a:ext>
                </a:extLst>
              </p:cNvPr>
              <p:cNvSpPr txBox="1">
                <a:spLocks noRot="1" noChangeAspect="1" noMove="1" noResize="1" noEditPoints="1" noAdjustHandles="1" noChangeArrowheads="1" noChangeShapeType="1" noTextEdit="1"/>
              </p:cNvSpPr>
              <p:nvPr/>
            </p:nvSpPr>
            <p:spPr>
              <a:xfrm>
                <a:off x="7057102" y="5431578"/>
                <a:ext cx="715297" cy="254493"/>
              </a:xfrm>
              <a:prstGeom prst="rect">
                <a:avLst/>
              </a:prstGeom>
              <a:blipFill>
                <a:blip r:embed="rId4"/>
                <a:stretch>
                  <a:fillRect t="-52381" r="-35897" b="-150000"/>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7957660-BB58-44B0-8281-7E8238C71FD0}"/>
                  </a:ext>
                </a:extLst>
              </p:cNvPr>
              <p:cNvSpPr txBox="1"/>
              <p:nvPr/>
            </p:nvSpPr>
            <p:spPr>
              <a:xfrm>
                <a:off x="7995738" y="5431578"/>
                <a:ext cx="715297" cy="254493"/>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bSup>
                        <m:sSubSupPr>
                          <m:ctrlPr>
                            <a:rPr lang="es-419" sz="1400" i="1" smtClean="0">
                              <a:latin typeface="Cambria Math" panose="02040503050406030204" pitchFamily="18" charset="0"/>
                            </a:rPr>
                          </m:ctrlPr>
                        </m:sSubSupPr>
                        <m:e>
                          <m:r>
                            <a:rPr lang="es-419" sz="1400" i="1" smtClean="0">
                              <a:latin typeface="Cambria Math" panose="02040503050406030204" pitchFamily="18" charset="0"/>
                              <a:ea typeface="Cambria Math" panose="02040503050406030204" pitchFamily="18" charset="0"/>
                            </a:rPr>
                            <m:t>𝜒</m:t>
                          </m:r>
                        </m:e>
                        <m:sub>
                          <m:f>
                            <m:fPr>
                              <m:type m:val="lin"/>
                              <m:ctrlPr>
                                <a:rPr lang="en-U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𝛼</m:t>
                              </m:r>
                            </m:num>
                            <m:den>
                              <m:r>
                                <a:rPr lang="en-US" sz="1400" i="1">
                                  <a:latin typeface="Cambria Math" panose="02040503050406030204" pitchFamily="18" charset="0"/>
                                </a:rPr>
                                <m:t>2</m:t>
                              </m:r>
                            </m:den>
                          </m:f>
                        </m:sub>
                        <m:sup>
                          <m:r>
                            <a:rPr lang="es-419" sz="1400" b="0" i="1" smtClean="0">
                              <a:latin typeface="Cambria Math" panose="02040503050406030204" pitchFamily="18" charset="0"/>
                            </a:rPr>
                            <m:t>2</m:t>
                          </m:r>
                        </m:sup>
                      </m:sSubSup>
                    </m:oMath>
                  </m:oMathPara>
                </a14:m>
                <a:endParaRPr lang="es-419" sz="1400" dirty="0"/>
              </a:p>
            </p:txBody>
          </p:sp>
        </mc:Choice>
        <mc:Fallback xmlns="">
          <p:sp>
            <p:nvSpPr>
              <p:cNvPr id="7" name="TextBox 6">
                <a:extLst>
                  <a:ext uri="{FF2B5EF4-FFF2-40B4-BE49-F238E27FC236}">
                    <a16:creationId xmlns:a16="http://schemas.microsoft.com/office/drawing/2014/main" id="{67957660-BB58-44B0-8281-7E8238C71FD0}"/>
                  </a:ext>
                </a:extLst>
              </p:cNvPr>
              <p:cNvSpPr txBox="1">
                <a:spLocks noRot="1" noChangeAspect="1" noMove="1" noResize="1" noEditPoints="1" noAdjustHandles="1" noChangeArrowheads="1" noChangeShapeType="1" noTextEdit="1"/>
              </p:cNvSpPr>
              <p:nvPr/>
            </p:nvSpPr>
            <p:spPr>
              <a:xfrm>
                <a:off x="7995738" y="5431578"/>
                <a:ext cx="715297" cy="254493"/>
              </a:xfrm>
              <a:prstGeom prst="rect">
                <a:avLst/>
              </a:prstGeom>
              <a:blipFill>
                <a:blip r:embed="rId5"/>
                <a:stretch>
                  <a:fillRect t="-52381" r="-24786" b="-150000"/>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70B7FC8-5012-4EAD-A6DB-E64B11287E16}"/>
                  </a:ext>
                </a:extLst>
              </p:cNvPr>
              <p:cNvSpPr txBox="1"/>
              <p:nvPr/>
            </p:nvSpPr>
            <p:spPr>
              <a:xfrm>
                <a:off x="10951715" y="5216904"/>
                <a:ext cx="415950" cy="246221"/>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sSup>
                        <m:sSupPr>
                          <m:ctrlPr>
                            <a:rPr lang="es-419" sz="1600" i="1" smtClean="0">
                              <a:latin typeface="Cambria Math" panose="02040503050406030204" pitchFamily="18" charset="0"/>
                              <a:ea typeface="Cambria Math" panose="02040503050406030204" pitchFamily="18" charset="0"/>
                            </a:rPr>
                          </m:ctrlPr>
                        </m:sSupPr>
                        <m:e>
                          <m:r>
                            <a:rPr lang="es-419" sz="1600" i="1">
                              <a:latin typeface="Cambria Math" panose="02040503050406030204" pitchFamily="18" charset="0"/>
                              <a:ea typeface="Cambria Math" panose="02040503050406030204" pitchFamily="18" charset="0"/>
                            </a:rPr>
                            <m:t>𝜒</m:t>
                          </m:r>
                        </m:e>
                        <m:sup>
                          <m:r>
                            <a:rPr lang="es-419" sz="1600" b="0" i="1" smtClean="0">
                              <a:latin typeface="Cambria Math" panose="02040503050406030204" pitchFamily="18" charset="0"/>
                              <a:ea typeface="Cambria Math" panose="02040503050406030204" pitchFamily="18" charset="0"/>
                            </a:rPr>
                            <m:t>2</m:t>
                          </m:r>
                        </m:sup>
                      </m:sSup>
                    </m:oMath>
                  </m:oMathPara>
                </a14:m>
                <a:endParaRPr lang="es-419" sz="1600" dirty="0"/>
              </a:p>
            </p:txBody>
          </p:sp>
        </mc:Choice>
        <mc:Fallback xmlns="">
          <p:sp>
            <p:nvSpPr>
              <p:cNvPr id="10" name="TextBox 9">
                <a:extLst>
                  <a:ext uri="{FF2B5EF4-FFF2-40B4-BE49-F238E27FC236}">
                    <a16:creationId xmlns:a16="http://schemas.microsoft.com/office/drawing/2014/main" id="{E70B7FC8-5012-4EAD-A6DB-E64B11287E16}"/>
                  </a:ext>
                </a:extLst>
              </p:cNvPr>
              <p:cNvSpPr txBox="1">
                <a:spLocks noRot="1" noChangeAspect="1" noMove="1" noResize="1" noEditPoints="1" noAdjustHandles="1" noChangeArrowheads="1" noChangeShapeType="1" noTextEdit="1"/>
              </p:cNvSpPr>
              <p:nvPr/>
            </p:nvSpPr>
            <p:spPr>
              <a:xfrm>
                <a:off x="10951715" y="5216904"/>
                <a:ext cx="415950" cy="246221"/>
              </a:xfrm>
              <a:prstGeom prst="rect">
                <a:avLst/>
              </a:prstGeom>
              <a:blipFill>
                <a:blip r:embed="rId6"/>
                <a:stretch>
                  <a:fillRect b="-20000"/>
                </a:stretch>
              </a:blipFill>
            </p:spPr>
            <p:txBody>
              <a:bodyPr/>
              <a:lstStyle/>
              <a:p>
                <a:r>
                  <a:rPr lang="es-419">
                    <a:noFill/>
                  </a:rPr>
                  <a:t> </a:t>
                </a:r>
              </a:p>
            </p:txBody>
          </p:sp>
        </mc:Fallback>
      </mc:AlternateContent>
    </p:spTree>
    <p:extLst>
      <p:ext uri="{BB962C8B-B14F-4D97-AF65-F5344CB8AC3E}">
        <p14:creationId xmlns:p14="http://schemas.microsoft.com/office/powerpoint/2010/main" val="4119899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la varianza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r>
                                <a:rPr lang="es-419" i="1" dirty="0">
                                  <a:latin typeface="Cambria Math" panose="02040503050406030204" pitchFamily="18" charset="0"/>
                                  <a:ea typeface="Cambria Math" panose="02040503050406030204" pitchFamily="18" charset="0"/>
                                </a:rPr>
                                <m:t>𝑏</m:t>
                              </m:r>
                            </m:den>
                          </m:f>
                          <m:r>
                            <a:rPr lang="es-419" i="1">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r>
                                <a:rPr lang="es-419" i="1" dirty="0">
                                  <a:latin typeface="Cambria Math" panose="02040503050406030204" pitchFamily="18" charset="0"/>
                                  <a:ea typeface="Cambria Math" panose="02040503050406030204" pitchFamily="18" charset="0"/>
                                </a:rPr>
                                <m:t>𝑎</m:t>
                              </m:r>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r>
                            <a:rPr lang="es-419" i="1">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Cuando </a:t>
                </a:r>
                <a:r>
                  <a:rPr lang="es-419" b="1" dirty="0">
                    <a:solidFill>
                      <a:srgbClr val="003A5D"/>
                    </a:solidFill>
                    <a:ea typeface="Cambria Math" panose="02040503050406030204" pitchFamily="18" charset="0"/>
                  </a:rPr>
                  <a:t>n</a:t>
                </a:r>
                <a:r>
                  <a:rPr lang="es-419" dirty="0">
                    <a:ea typeface="Cambria Math" panose="02040503050406030204" pitchFamily="18" charset="0"/>
                  </a:rPr>
                  <a:t> no es muy pequeña el intervalo es:</a:t>
                </a:r>
              </a:p>
              <a:p>
                <a:pPr marL="0" indent="0" algn="ctr">
                  <a:lnSpc>
                    <a:spcPct val="150000"/>
                  </a:lnSpc>
                  <a:buNone/>
                </a:pPr>
                <a14:m>
                  <m:oMath xmlns:m="http://schemas.openxmlformats.org/officeDocument/2006/math">
                    <m:r>
                      <a:rPr lang="es-419" i="1">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r>
                      <a:rPr lang="es-419" b="0" i="0" smtClean="0">
                        <a:latin typeface="Cambria Math" panose="02040503050406030204" pitchFamily="18" charset="0"/>
                        <a:ea typeface="Cambria Math" panose="02040503050406030204" pitchFamily="18" charset="0"/>
                      </a:rPr>
                      <m:t>;</m:t>
                    </m:r>
                  </m:oMath>
                </a14:m>
                <a:r>
                  <a:rPr lang="es-419" dirty="0">
                    <a:ea typeface="Cambria Math" panose="02040503050406030204" pitchFamily="18" charset="0"/>
                  </a:rPr>
                  <a:t> </a:t>
                </a:r>
                <a14:m>
                  <m:oMath xmlns:m="http://schemas.openxmlformats.org/officeDocument/2006/math">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r>
                      <a:rPr lang="es-VE" b="0" i="1" smtClean="0">
                        <a:latin typeface="Cambria Math" panose="02040503050406030204" pitchFamily="18" charset="0"/>
                        <a:ea typeface="Cambria Math" panose="02040503050406030204" pitchFamily="18" charset="0"/>
                      </a:rPr>
                      <m:t>]</m:t>
                    </m:r>
                  </m:oMath>
                </a14:m>
                <a:endParaRPr lang="es-419" dirty="0">
                  <a:ea typeface="Cambria Math" panose="02040503050406030204" pitchFamily="18" charset="0"/>
                </a:endParaRPr>
              </a:p>
              <a:p>
                <a:pPr>
                  <a:lnSpc>
                    <a:spcPct val="150000"/>
                  </a:lnSpc>
                </a:pPr>
                <a:r>
                  <a:rPr lang="es-419" dirty="0">
                    <a:ea typeface="Cambria Math" panose="02040503050406030204" pitchFamily="18" charset="0"/>
                  </a:rPr>
                  <a:t>De un intervalo de confianza de varianzas también se puede determinar para </a:t>
                </a:r>
                <a:r>
                  <a:rPr lang="es-419" b="1" dirty="0">
                    <a:solidFill>
                      <a:srgbClr val="003A5D"/>
                    </a:solidFill>
                    <a:ea typeface="Cambria Math" panose="02040503050406030204" pitchFamily="18" charset="0"/>
                  </a:rPr>
                  <a:t>desviaciones típicas</a:t>
                </a:r>
                <a:r>
                  <a:rPr lang="es-419" dirty="0">
                    <a:ea typeface="Cambria Math" panose="02040503050406030204" pitchFamily="18" charset="0"/>
                  </a:rPr>
                  <a:t>:</a:t>
                </a:r>
              </a:p>
              <a:p>
                <a:pPr marL="0" indent="0" algn="ctr">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rad>
                        <m:radPr>
                          <m:degHide m:val="on"/>
                          <m:ctrlPr>
                            <a:rPr lang="es-419" i="1" smtClean="0">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d>
                                <m:dPr>
                                  <m:ctrlPr>
                                    <a:rPr lang="es-VE" i="1" dirty="0">
                                      <a:latin typeface="Cambria Math" panose="02040503050406030204" pitchFamily="18" charset="0"/>
                                      <a:ea typeface="Cambria Math" panose="02040503050406030204" pitchFamily="18" charset="0"/>
                                    </a:rPr>
                                  </m:ctrlPr>
                                </m:dPr>
                                <m:e>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e>
                              </m:d>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e>
                      </m:rad>
                      <m:r>
                        <a:rPr lang="es-419" b="0" i="1" smtClean="0">
                          <a:latin typeface="Cambria Math" panose="02040503050406030204" pitchFamily="18" charset="0"/>
                          <a:ea typeface="Cambria Math" panose="02040503050406030204" pitchFamily="18" charset="0"/>
                        </a:rPr>
                        <m:t>;</m:t>
                      </m:r>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d>
                                <m:dPr>
                                  <m:ctrlPr>
                                    <a:rPr lang="es-VE" i="1" dirty="0">
                                      <a:latin typeface="Cambria Math" panose="02040503050406030204" pitchFamily="18" charset="0"/>
                                      <a:ea typeface="Cambria Math" panose="02040503050406030204" pitchFamily="18" charset="0"/>
                                    </a:rPr>
                                  </m:ctrlPr>
                                </m:dPr>
                                <m:e>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−1</m:t>
                                  </m:r>
                                </m:e>
                              </m:d>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e>
                      </m:rad>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s-VE">
                    <a:noFill/>
                  </a:rPr>
                  <a:t> </a:t>
                </a:r>
              </a:p>
            </p:txBody>
          </p:sp>
        </mc:Fallback>
      </mc:AlternateContent>
    </p:spTree>
    <p:extLst>
      <p:ext uri="{BB962C8B-B14F-4D97-AF65-F5344CB8AC3E}">
        <p14:creationId xmlns:p14="http://schemas.microsoft.com/office/powerpoint/2010/main" val="35841658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9.20</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lnSpcReduction="10000"/>
          </a:bodyPr>
          <a:lstStyle/>
          <a:p>
            <a:pPr marL="0" indent="0">
              <a:lnSpc>
                <a:spcPct val="150000"/>
              </a:lnSpc>
              <a:buNone/>
            </a:pPr>
            <a:r>
              <a:rPr lang="es-VE" i="1" dirty="0"/>
              <a:t>Una muestra aleatoria de 35 cauchos producidos por una empresa tuvo una duración media de 21.000 km y una desviación típica de 1.500 km.</a:t>
            </a:r>
            <a:endParaRPr lang="es-419" i="1" dirty="0"/>
          </a:p>
          <a:p>
            <a:pPr marL="571500" indent="-571500">
              <a:lnSpc>
                <a:spcPct val="150000"/>
              </a:lnSpc>
              <a:buFont typeface="+mj-lt"/>
              <a:buAutoNum type="romanLcPeriod"/>
            </a:pPr>
            <a:r>
              <a:rPr lang="es-419" i="1" dirty="0"/>
              <a:t>Estimar la duración media con una confianza de del 98%.</a:t>
            </a:r>
          </a:p>
          <a:p>
            <a:pPr marL="571500" indent="-571500">
              <a:lnSpc>
                <a:spcPct val="150000"/>
              </a:lnSpc>
              <a:buFont typeface="+mj-lt"/>
              <a:buAutoNum type="romanLcPeriod"/>
            </a:pPr>
            <a:r>
              <a:rPr lang="es-419" i="1" dirty="0"/>
              <a:t>Estimar la desviación típica de la duración con una confianza del 98%.</a:t>
            </a:r>
          </a:p>
          <a:p>
            <a:pPr marL="0" indent="0">
              <a:lnSpc>
                <a:spcPct val="150000"/>
              </a:lnSpc>
              <a:buNone/>
            </a:pPr>
            <a:r>
              <a:rPr lang="es-419" i="1" dirty="0"/>
              <a:t>Interpretar los resultados.</a:t>
            </a:r>
          </a:p>
          <a:p>
            <a:pPr marL="0" indent="0">
              <a:lnSpc>
                <a:spcPct val="150000"/>
              </a:lnSpc>
              <a:buNone/>
            </a:pPr>
            <a:r>
              <a:rPr lang="es-419" i="1" dirty="0"/>
              <a:t>Usar varianza muestral insesgada.</a:t>
            </a:r>
            <a:endParaRPr lang="es-VE" i="1" dirty="0"/>
          </a:p>
        </p:txBody>
      </p:sp>
    </p:spTree>
    <p:extLst>
      <p:ext uri="{BB962C8B-B14F-4D97-AF65-F5344CB8AC3E}">
        <p14:creationId xmlns:p14="http://schemas.microsoft.com/office/powerpoint/2010/main" val="30863329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9.20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55000" lnSpcReduction="20000"/>
          </a:bodyPr>
          <a:lstStyle/>
          <a:p>
            <a:pPr marL="0" indent="0">
              <a:buNone/>
            </a:pPr>
            <a:r>
              <a:rPr lang="pt-BR" dirty="0">
                <a:latin typeface="Consolas" panose="020B0609020204030204" pitchFamily="49" charset="0"/>
              </a:rPr>
              <a:t>&gt; n &lt;- 35</a:t>
            </a:r>
          </a:p>
          <a:p>
            <a:pPr marL="0" indent="0">
              <a:buNone/>
            </a:pPr>
            <a:r>
              <a:rPr lang="pt-BR" dirty="0">
                <a:latin typeface="Consolas" panose="020B0609020204030204" pitchFamily="49" charset="0"/>
              </a:rPr>
              <a:t>&gt; </a:t>
            </a:r>
            <a:r>
              <a:rPr lang="pt-BR" dirty="0" err="1">
                <a:latin typeface="Consolas" panose="020B0609020204030204" pitchFamily="49" charset="0"/>
              </a:rPr>
              <a:t>x_hat</a:t>
            </a:r>
            <a:r>
              <a:rPr lang="pt-BR" dirty="0">
                <a:latin typeface="Consolas" panose="020B0609020204030204" pitchFamily="49" charset="0"/>
              </a:rPr>
              <a:t>&lt;- 21000</a:t>
            </a:r>
          </a:p>
          <a:p>
            <a:pPr marL="0" indent="0">
              <a:buNone/>
            </a:pPr>
            <a:r>
              <a:rPr lang="pt-BR" dirty="0">
                <a:latin typeface="Consolas" panose="020B0609020204030204" pitchFamily="49" charset="0"/>
              </a:rPr>
              <a:t>&gt; s &lt;- 1500</a:t>
            </a:r>
          </a:p>
          <a:p>
            <a:pPr marL="0" indent="0">
              <a:buNone/>
            </a:pPr>
            <a:r>
              <a:rPr lang="pt-BR" dirty="0">
                <a:latin typeface="Consolas" panose="020B0609020204030204" pitchFamily="49" charset="0"/>
              </a:rPr>
              <a:t>&gt; </a:t>
            </a:r>
            <a:r>
              <a:rPr lang="pt-BR" dirty="0" err="1">
                <a:latin typeface="Consolas" panose="020B0609020204030204" pitchFamily="49" charset="0"/>
              </a:rPr>
              <a:t>ic</a:t>
            </a:r>
            <a:r>
              <a:rPr lang="pt-BR" dirty="0">
                <a:latin typeface="Consolas" panose="020B0609020204030204" pitchFamily="49" charset="0"/>
              </a:rPr>
              <a:t> &lt;- 0.98</a:t>
            </a:r>
          </a:p>
          <a:p>
            <a:pPr marL="0" indent="0">
              <a:buNone/>
            </a:pPr>
            <a:r>
              <a:rPr lang="pt-BR" dirty="0">
                <a:latin typeface="Consolas" panose="020B0609020204030204" pitchFamily="49" charset="0"/>
              </a:rPr>
              <a:t>&gt; a &lt;- 1 - </a:t>
            </a:r>
            <a:r>
              <a:rPr lang="pt-BR" dirty="0" err="1">
                <a:latin typeface="Consolas" panose="020B0609020204030204" pitchFamily="49" charset="0"/>
              </a:rPr>
              <a:t>ic</a:t>
            </a:r>
            <a:endParaRPr lang="pt-BR" dirty="0">
              <a:latin typeface="Consolas" panose="020B0609020204030204" pitchFamily="49" charset="0"/>
            </a:endParaRP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#i) T-</a:t>
            </a:r>
            <a:r>
              <a:rPr lang="pt-BR" dirty="0" err="1">
                <a:latin typeface="Consolas" panose="020B0609020204030204" pitchFamily="49" charset="0"/>
              </a:rPr>
              <a:t>Student</a:t>
            </a:r>
            <a:endParaRPr lang="pt-BR" dirty="0">
              <a:latin typeface="Consolas" panose="020B0609020204030204" pitchFamily="49" charset="0"/>
            </a:endParaRPr>
          </a:p>
          <a:p>
            <a:pPr marL="0" indent="0">
              <a:buNone/>
            </a:pPr>
            <a:r>
              <a:rPr lang="pt-BR" dirty="0">
                <a:latin typeface="Consolas" panose="020B0609020204030204" pitchFamily="49" charset="0"/>
              </a:rPr>
              <a:t>&gt; c(inferior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qt</a:t>
            </a:r>
            <a:r>
              <a:rPr lang="pt-BR" dirty="0">
                <a:latin typeface="Consolas" panose="020B0609020204030204" pitchFamily="49" charset="0"/>
              </a:rPr>
              <a:t>(a/2, </a:t>
            </a:r>
            <a:r>
              <a:rPr lang="pt-BR" dirty="0" err="1">
                <a:latin typeface="Consolas" panose="020B0609020204030204" pitchFamily="49" charset="0"/>
              </a:rPr>
              <a:t>df</a:t>
            </a:r>
            <a:r>
              <a:rPr lang="pt-BR" dirty="0">
                <a:latin typeface="Consolas" panose="020B0609020204030204" pitchFamily="49" charset="0"/>
              </a:rPr>
              <a:t> = n - 1,lower.tail = FALSE)*s/</a:t>
            </a:r>
            <a:r>
              <a:rPr lang="pt-BR" dirty="0" err="1">
                <a:latin typeface="Consolas" panose="020B0609020204030204" pitchFamily="49" charset="0"/>
              </a:rPr>
              <a:t>sqrt</a:t>
            </a:r>
            <a:r>
              <a:rPr lang="pt-BR" dirty="0">
                <a:latin typeface="Consolas" panose="020B0609020204030204" pitchFamily="49" charset="0"/>
              </a:rPr>
              <a:t>(n),</a:t>
            </a:r>
          </a:p>
          <a:p>
            <a:pPr marL="0" indent="0">
              <a:buNone/>
            </a:pPr>
            <a:r>
              <a:rPr lang="pt-BR" dirty="0">
                <a:latin typeface="Consolas" panose="020B0609020204030204" pitchFamily="49" charset="0"/>
              </a:rPr>
              <a:t>+   superior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qt</a:t>
            </a:r>
            <a:r>
              <a:rPr lang="pt-BR" dirty="0">
                <a:latin typeface="Consolas" panose="020B0609020204030204" pitchFamily="49" charset="0"/>
              </a:rPr>
              <a:t>(a/2, </a:t>
            </a:r>
            <a:r>
              <a:rPr lang="pt-BR" dirty="0" err="1">
                <a:latin typeface="Consolas" panose="020B0609020204030204" pitchFamily="49" charset="0"/>
              </a:rPr>
              <a:t>df</a:t>
            </a:r>
            <a:r>
              <a:rPr lang="pt-BR" dirty="0">
                <a:latin typeface="Consolas" panose="020B0609020204030204" pitchFamily="49" charset="0"/>
              </a:rPr>
              <a:t> = n - 1,lower.tail = FALSE)*s/</a:t>
            </a:r>
            <a:r>
              <a:rPr lang="pt-BR" dirty="0" err="1">
                <a:latin typeface="Consolas" panose="020B0609020204030204" pitchFamily="49" charset="0"/>
              </a:rPr>
              <a:t>sqrt</a:t>
            </a:r>
            <a:r>
              <a:rPr lang="pt-BR" dirty="0">
                <a:latin typeface="Consolas" panose="020B0609020204030204" pitchFamily="49" charset="0"/>
              </a:rPr>
              <a:t>(n))</a:t>
            </a:r>
          </a:p>
          <a:p>
            <a:pPr marL="0" indent="0">
              <a:lnSpc>
                <a:spcPct val="100000"/>
              </a:lnSpc>
              <a:buNone/>
            </a:pPr>
            <a:r>
              <a:rPr lang="pt-BR" dirty="0">
                <a:highlight>
                  <a:srgbClr val="FFFF00"/>
                </a:highlight>
                <a:latin typeface="Consolas" panose="020B0609020204030204" pitchFamily="49" charset="0"/>
              </a:rPr>
              <a:t>inferior superior </a:t>
            </a:r>
          </a:p>
          <a:p>
            <a:pPr marL="0" indent="0">
              <a:lnSpc>
                <a:spcPct val="100000"/>
              </a:lnSpc>
              <a:buNone/>
            </a:pPr>
            <a:r>
              <a:rPr lang="pt-BR" dirty="0">
                <a:highlight>
                  <a:srgbClr val="FFFF00"/>
                </a:highlight>
                <a:latin typeface="Consolas" panose="020B0609020204030204" pitchFamily="49" charset="0"/>
              </a:rPr>
              <a:t>20381.06 21618.94 </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#i) </a:t>
            </a:r>
            <a:r>
              <a:rPr lang="pt-BR" dirty="0" err="1">
                <a:latin typeface="Consolas" panose="020B0609020204030204" pitchFamily="49" charset="0"/>
              </a:rPr>
              <a:t>Aprox</a:t>
            </a:r>
            <a:r>
              <a:rPr lang="pt-BR" dirty="0">
                <a:latin typeface="Consolas" panose="020B0609020204030204" pitchFamily="49" charset="0"/>
              </a:rPr>
              <a:t> Normal</a:t>
            </a:r>
          </a:p>
          <a:p>
            <a:pPr marL="0" indent="0">
              <a:buNone/>
            </a:pPr>
            <a:r>
              <a:rPr lang="pt-BR" dirty="0">
                <a:latin typeface="Consolas" panose="020B0609020204030204" pitchFamily="49" charset="0"/>
              </a:rPr>
              <a:t>&gt; c(inferior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qnorm</a:t>
            </a:r>
            <a:r>
              <a:rPr lang="pt-BR" dirty="0">
                <a:latin typeface="Consolas" panose="020B0609020204030204" pitchFamily="49" charset="0"/>
              </a:rPr>
              <a:t>(a/2, </a:t>
            </a:r>
            <a:r>
              <a:rPr lang="pt-BR" dirty="0" err="1">
                <a:latin typeface="Consolas" panose="020B0609020204030204" pitchFamily="49" charset="0"/>
              </a:rPr>
              <a:t>lower.tail</a:t>
            </a:r>
            <a:r>
              <a:rPr lang="pt-BR" dirty="0">
                <a:latin typeface="Consolas" panose="020B0609020204030204" pitchFamily="49" charset="0"/>
              </a:rPr>
              <a:t> = FALSE)*s/</a:t>
            </a:r>
            <a:r>
              <a:rPr lang="pt-BR" dirty="0" err="1">
                <a:latin typeface="Consolas" panose="020B0609020204030204" pitchFamily="49" charset="0"/>
              </a:rPr>
              <a:t>sqrt</a:t>
            </a:r>
            <a:r>
              <a:rPr lang="pt-BR" dirty="0">
                <a:latin typeface="Consolas" panose="020B0609020204030204" pitchFamily="49" charset="0"/>
              </a:rPr>
              <a:t>(n),</a:t>
            </a:r>
          </a:p>
          <a:p>
            <a:pPr marL="0" indent="0">
              <a:buNone/>
            </a:pPr>
            <a:r>
              <a:rPr lang="pt-BR" dirty="0">
                <a:latin typeface="Consolas" panose="020B0609020204030204" pitchFamily="49" charset="0"/>
              </a:rPr>
              <a:t>+   superior = </a:t>
            </a:r>
            <a:r>
              <a:rPr lang="pt-BR" dirty="0" err="1">
                <a:latin typeface="Consolas" panose="020B0609020204030204" pitchFamily="49" charset="0"/>
              </a:rPr>
              <a:t>x_hat</a:t>
            </a:r>
            <a:r>
              <a:rPr lang="pt-BR" dirty="0">
                <a:latin typeface="Consolas" panose="020B0609020204030204" pitchFamily="49" charset="0"/>
              </a:rPr>
              <a:t> + </a:t>
            </a:r>
            <a:r>
              <a:rPr lang="pt-BR" dirty="0" err="1">
                <a:latin typeface="Consolas" panose="020B0609020204030204" pitchFamily="49" charset="0"/>
              </a:rPr>
              <a:t>qnorm</a:t>
            </a:r>
            <a:r>
              <a:rPr lang="pt-BR" dirty="0">
                <a:latin typeface="Consolas" panose="020B0609020204030204" pitchFamily="49" charset="0"/>
              </a:rPr>
              <a:t>(a/2, </a:t>
            </a:r>
            <a:r>
              <a:rPr lang="pt-BR" dirty="0" err="1">
                <a:latin typeface="Consolas" panose="020B0609020204030204" pitchFamily="49" charset="0"/>
              </a:rPr>
              <a:t>lower.tail</a:t>
            </a:r>
            <a:r>
              <a:rPr lang="pt-BR" dirty="0">
                <a:latin typeface="Consolas" panose="020B0609020204030204" pitchFamily="49" charset="0"/>
              </a:rPr>
              <a:t> = FALSE)*s/</a:t>
            </a:r>
            <a:r>
              <a:rPr lang="pt-BR" dirty="0" err="1">
                <a:latin typeface="Consolas" panose="020B0609020204030204" pitchFamily="49" charset="0"/>
              </a:rPr>
              <a:t>sqrt</a:t>
            </a:r>
            <a:r>
              <a:rPr lang="pt-BR" dirty="0">
                <a:latin typeface="Consolas" panose="020B0609020204030204" pitchFamily="49" charset="0"/>
              </a:rPr>
              <a:t>(n))</a:t>
            </a:r>
          </a:p>
          <a:p>
            <a:pPr marL="0" indent="0">
              <a:lnSpc>
                <a:spcPct val="100000"/>
              </a:lnSpc>
              <a:buNone/>
            </a:pPr>
            <a:r>
              <a:rPr lang="pt-BR" dirty="0">
                <a:highlight>
                  <a:srgbClr val="FFFF00"/>
                </a:highlight>
                <a:latin typeface="Consolas" panose="020B0609020204030204" pitchFamily="49" charset="0"/>
              </a:rPr>
              <a:t>inferior superior </a:t>
            </a:r>
          </a:p>
          <a:p>
            <a:pPr marL="0" indent="0">
              <a:lnSpc>
                <a:spcPct val="100000"/>
              </a:lnSpc>
              <a:buNone/>
            </a:pPr>
            <a:r>
              <a:rPr lang="pt-BR" dirty="0">
                <a:highlight>
                  <a:srgbClr val="FFFF00"/>
                </a:highlight>
                <a:latin typeface="Consolas" panose="020B0609020204030204" pitchFamily="49" charset="0"/>
              </a:rPr>
              <a:t>20410.16 21589.84 </a:t>
            </a:r>
          </a:p>
        </p:txBody>
      </p:sp>
    </p:spTree>
    <p:extLst>
      <p:ext uri="{BB962C8B-B14F-4D97-AF65-F5344CB8AC3E}">
        <p14:creationId xmlns:p14="http://schemas.microsoft.com/office/powerpoint/2010/main" val="24934459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9.20</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pt-BR" sz="1600" dirty="0">
                <a:latin typeface="Consolas" panose="020B0609020204030204" pitchFamily="49" charset="0"/>
              </a:rPr>
              <a:t>&gt; ##</a:t>
            </a:r>
            <a:r>
              <a:rPr lang="pt-BR" sz="1600" dirty="0" err="1">
                <a:latin typeface="Consolas" panose="020B0609020204030204" pitchFamily="49" charset="0"/>
              </a:rPr>
              <a:t>ii</a:t>
            </a:r>
            <a:r>
              <a:rPr lang="pt-BR" sz="1600" dirty="0">
                <a:latin typeface="Consolas" panose="020B0609020204030204" pitchFamily="49" charset="0"/>
              </a:rPr>
              <a:t>) </a:t>
            </a:r>
            <a:r>
              <a:rPr lang="pt-BR" sz="1600" dirty="0" err="1">
                <a:latin typeface="Consolas" panose="020B0609020204030204" pitchFamily="49" charset="0"/>
              </a:rPr>
              <a:t>Desv</a:t>
            </a:r>
            <a:r>
              <a:rPr lang="pt-BR" sz="1600" dirty="0">
                <a:latin typeface="Consolas" panose="020B0609020204030204" pitchFamily="49" charset="0"/>
              </a:rPr>
              <a:t> </a:t>
            </a:r>
            <a:r>
              <a:rPr lang="pt-BR" sz="1600" dirty="0" err="1">
                <a:latin typeface="Consolas" panose="020B0609020204030204" pitchFamily="49" charset="0"/>
              </a:rPr>
              <a:t>tipica</a:t>
            </a:r>
            <a:endParaRPr lang="pt-BR" sz="1600" dirty="0">
              <a:latin typeface="Consolas" panose="020B0609020204030204" pitchFamily="49" charset="0"/>
            </a:endParaRPr>
          </a:p>
          <a:p>
            <a:pPr marL="0" indent="0">
              <a:buNone/>
            </a:pPr>
            <a:r>
              <a:rPr lang="pt-BR" sz="1600" dirty="0">
                <a:latin typeface="Consolas" panose="020B0609020204030204" pitchFamily="49" charset="0"/>
              </a:rPr>
              <a:t>&gt; </a:t>
            </a:r>
            <a:r>
              <a:rPr lang="pt-BR" sz="1600" dirty="0" err="1">
                <a:latin typeface="Consolas" panose="020B0609020204030204" pitchFamily="49" charset="0"/>
              </a:rPr>
              <a:t>sqrt</a:t>
            </a:r>
            <a:r>
              <a:rPr lang="pt-BR" sz="1600" dirty="0">
                <a:latin typeface="Consolas" panose="020B0609020204030204" pitchFamily="49" charset="0"/>
              </a:rPr>
              <a:t>(c(inferior = (n-1)*(s^2)/</a:t>
            </a:r>
            <a:r>
              <a:rPr lang="pt-BR" sz="1600" dirty="0" err="1">
                <a:latin typeface="Consolas" panose="020B0609020204030204" pitchFamily="49" charset="0"/>
              </a:rPr>
              <a:t>qchisq</a:t>
            </a:r>
            <a:r>
              <a:rPr lang="pt-BR" sz="1600" dirty="0">
                <a:latin typeface="Consolas" panose="020B0609020204030204" pitchFamily="49" charset="0"/>
              </a:rPr>
              <a:t>(p = a/2, </a:t>
            </a:r>
            <a:r>
              <a:rPr lang="pt-BR" sz="1600" dirty="0" err="1">
                <a:latin typeface="Consolas" panose="020B0609020204030204" pitchFamily="49" charset="0"/>
              </a:rPr>
              <a:t>df</a:t>
            </a:r>
            <a:r>
              <a:rPr lang="pt-BR" sz="1600" dirty="0">
                <a:latin typeface="Consolas" panose="020B0609020204030204" pitchFamily="49" charset="0"/>
              </a:rPr>
              <a:t> = n - 1, </a:t>
            </a:r>
            <a:r>
              <a:rPr lang="pt-BR" sz="1600" dirty="0" err="1">
                <a:latin typeface="Consolas" panose="020B0609020204030204" pitchFamily="49" charset="0"/>
              </a:rPr>
              <a:t>lower.tail</a:t>
            </a:r>
            <a:r>
              <a:rPr lang="pt-BR" sz="1600" dirty="0">
                <a:latin typeface="Consolas" panose="020B0609020204030204" pitchFamily="49" charset="0"/>
              </a:rPr>
              <a:t> = FALSE),</a:t>
            </a:r>
          </a:p>
          <a:p>
            <a:pPr marL="0" indent="0">
              <a:buNone/>
            </a:pPr>
            <a:r>
              <a:rPr lang="pt-BR" sz="1600" dirty="0">
                <a:latin typeface="Consolas" panose="020B0609020204030204" pitchFamily="49" charset="0"/>
              </a:rPr>
              <a:t>+        superior = (n-1)*(s^2)/</a:t>
            </a:r>
            <a:r>
              <a:rPr lang="pt-BR" sz="1600" dirty="0" err="1">
                <a:latin typeface="Consolas" panose="020B0609020204030204" pitchFamily="49" charset="0"/>
              </a:rPr>
              <a:t>qchisq</a:t>
            </a:r>
            <a:r>
              <a:rPr lang="pt-BR" sz="1600" dirty="0">
                <a:latin typeface="Consolas" panose="020B0609020204030204" pitchFamily="49" charset="0"/>
              </a:rPr>
              <a:t>(p = 1 - a/2, </a:t>
            </a:r>
            <a:r>
              <a:rPr lang="pt-BR" sz="1600" dirty="0" err="1">
                <a:latin typeface="Consolas" panose="020B0609020204030204" pitchFamily="49" charset="0"/>
              </a:rPr>
              <a:t>df</a:t>
            </a:r>
            <a:r>
              <a:rPr lang="pt-BR" sz="1600" dirty="0">
                <a:latin typeface="Consolas" panose="020B0609020204030204" pitchFamily="49" charset="0"/>
              </a:rPr>
              <a:t> = n - 1, </a:t>
            </a:r>
            <a:r>
              <a:rPr lang="pt-BR" sz="1600" dirty="0" err="1">
                <a:latin typeface="Consolas" panose="020B0609020204030204" pitchFamily="49" charset="0"/>
              </a:rPr>
              <a:t>lower.tail</a:t>
            </a:r>
            <a:r>
              <a:rPr lang="pt-BR" sz="1600" dirty="0">
                <a:latin typeface="Consolas" panose="020B0609020204030204" pitchFamily="49" charset="0"/>
              </a:rPr>
              <a:t> = FALSE)))</a:t>
            </a:r>
          </a:p>
          <a:p>
            <a:pPr marL="0" indent="0">
              <a:lnSpc>
                <a:spcPct val="100000"/>
              </a:lnSpc>
              <a:buNone/>
            </a:pPr>
            <a:r>
              <a:rPr lang="pt-BR" sz="1600" dirty="0">
                <a:highlight>
                  <a:srgbClr val="FFFF00"/>
                </a:highlight>
                <a:latin typeface="Consolas" panose="020B0609020204030204" pitchFamily="49" charset="0"/>
              </a:rPr>
              <a:t>inferior superior </a:t>
            </a:r>
          </a:p>
          <a:p>
            <a:pPr marL="0" indent="0">
              <a:lnSpc>
                <a:spcPct val="100000"/>
              </a:lnSpc>
              <a:buNone/>
            </a:pPr>
            <a:r>
              <a:rPr lang="pt-BR" sz="1600" dirty="0">
                <a:highlight>
                  <a:srgbClr val="FFFF00"/>
                </a:highlight>
                <a:latin typeface="Consolas" panose="020B0609020204030204" pitchFamily="49" charset="0"/>
              </a:rPr>
              <a:t>1168.155 2073.735</a:t>
            </a:r>
          </a:p>
        </p:txBody>
      </p:sp>
    </p:spTree>
    <p:extLst>
      <p:ext uri="{BB962C8B-B14F-4D97-AF65-F5344CB8AC3E}">
        <p14:creationId xmlns:p14="http://schemas.microsoft.com/office/powerpoint/2010/main" val="14760874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¿Cómo se vería de emplearse varianzas muestrales </a:t>
            </a:r>
            <a:r>
              <a:rPr lang="es-VE" b="1" i="1" dirty="0">
                <a:solidFill>
                  <a:srgbClr val="003A5D"/>
                </a:solidFill>
              </a:rPr>
              <a:t>sesgadas</a:t>
            </a:r>
            <a:r>
              <a:rPr lang="es-VE" i="1" dirty="0"/>
              <a:t>?</a:t>
            </a:r>
          </a:p>
        </p:txBody>
      </p:sp>
    </p:spTree>
    <p:extLst>
      <p:ext uri="{BB962C8B-B14F-4D97-AF65-F5344CB8AC3E}">
        <p14:creationId xmlns:p14="http://schemas.microsoft.com/office/powerpoint/2010/main" val="315037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la varianza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b="0" i="1" dirty="0" smtClean="0">
                                      <a:latin typeface="Cambria Math" panose="02040503050406030204" pitchFamily="18" charset="0"/>
                                      <a:ea typeface="Cambria Math" panose="02040503050406030204" pitchFamily="18" charset="0"/>
                                    </a:rPr>
                                    <m:t>′</m:t>
                                  </m:r>
                                </m:sup>
                              </m:sSup>
                            </m:num>
                            <m:den>
                              <m:r>
                                <a:rPr lang="es-419" i="1" dirty="0">
                                  <a:latin typeface="Cambria Math" panose="02040503050406030204" pitchFamily="18" charset="0"/>
                                  <a:ea typeface="Cambria Math" panose="02040503050406030204" pitchFamily="18" charset="0"/>
                                </a:rPr>
                                <m:t>𝑏</m:t>
                              </m:r>
                            </m:den>
                          </m:f>
                          <m:r>
                            <a:rPr lang="es-419" i="1">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b="0" i="1" dirty="0" smtClean="0">
                                      <a:latin typeface="Cambria Math" panose="02040503050406030204" pitchFamily="18" charset="0"/>
                                      <a:ea typeface="Cambria Math" panose="02040503050406030204" pitchFamily="18" charset="0"/>
                                    </a:rPr>
                                    <m:t>′</m:t>
                                  </m:r>
                                </m:sup>
                              </m:sSup>
                            </m:num>
                            <m:den>
                              <m:r>
                                <a:rPr lang="es-419" i="1" dirty="0">
                                  <a:latin typeface="Cambria Math" panose="02040503050406030204" pitchFamily="18" charset="0"/>
                                  <a:ea typeface="Cambria Math" panose="02040503050406030204" pitchFamily="18" charset="0"/>
                                </a:rPr>
                                <m:t>𝑎</m:t>
                              </m:r>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r>
                            <a:rPr lang="es-419" i="1">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Cuando </a:t>
                </a:r>
                <a:r>
                  <a:rPr lang="es-419" b="1" dirty="0">
                    <a:solidFill>
                      <a:srgbClr val="003A5D"/>
                    </a:solidFill>
                    <a:ea typeface="Cambria Math" panose="02040503050406030204" pitchFamily="18" charset="0"/>
                  </a:rPr>
                  <a:t>n</a:t>
                </a:r>
                <a:r>
                  <a:rPr lang="es-419" dirty="0">
                    <a:ea typeface="Cambria Math" panose="02040503050406030204" pitchFamily="18" charset="0"/>
                  </a:rPr>
                  <a:t> no es muy pequeña el intervalo es:</a:t>
                </a:r>
              </a:p>
              <a:p>
                <a:pPr marL="0" indent="0" algn="ctr">
                  <a:lnSpc>
                    <a:spcPct val="150000"/>
                  </a:lnSpc>
                  <a:buNone/>
                </a:pPr>
                <a14:m>
                  <m:oMath xmlns:m="http://schemas.openxmlformats.org/officeDocument/2006/math">
                    <m:r>
                      <a:rPr lang="es-419" i="1">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r>
                      <a:rPr lang="es-419" b="0" i="0" smtClean="0">
                        <a:latin typeface="Cambria Math" panose="02040503050406030204" pitchFamily="18" charset="0"/>
                        <a:ea typeface="Cambria Math" panose="02040503050406030204" pitchFamily="18" charset="0"/>
                      </a:rPr>
                      <m:t>;</m:t>
                    </m:r>
                  </m:oMath>
                </a14:m>
                <a:r>
                  <a:rPr lang="es-419" dirty="0">
                    <a:ea typeface="Cambria Math" panose="02040503050406030204" pitchFamily="18" charset="0"/>
                  </a:rPr>
                  <a:t> </a:t>
                </a:r>
                <a14:m>
                  <m:oMath xmlns:m="http://schemas.openxmlformats.org/officeDocument/2006/math">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r>
                      <a:rPr lang="es-VE" b="0" i="1" smtClean="0">
                        <a:latin typeface="Cambria Math" panose="02040503050406030204" pitchFamily="18" charset="0"/>
                        <a:ea typeface="Cambria Math" panose="02040503050406030204" pitchFamily="18" charset="0"/>
                      </a:rPr>
                      <m:t>]</m:t>
                    </m:r>
                  </m:oMath>
                </a14:m>
                <a:endParaRPr lang="es-419" dirty="0">
                  <a:ea typeface="Cambria Math" panose="02040503050406030204" pitchFamily="18" charset="0"/>
                </a:endParaRPr>
              </a:p>
              <a:p>
                <a:pPr>
                  <a:lnSpc>
                    <a:spcPct val="150000"/>
                  </a:lnSpc>
                </a:pPr>
                <a:r>
                  <a:rPr lang="es-419" dirty="0">
                    <a:ea typeface="Cambria Math" panose="02040503050406030204" pitchFamily="18" charset="0"/>
                  </a:rPr>
                  <a:t>De un intervalo de confianza de varianzas también se puede determinar para </a:t>
                </a:r>
                <a:r>
                  <a:rPr lang="es-419" b="1" dirty="0">
                    <a:solidFill>
                      <a:srgbClr val="003A5D"/>
                    </a:solidFill>
                    <a:ea typeface="Cambria Math" panose="02040503050406030204" pitchFamily="18" charset="0"/>
                  </a:rPr>
                  <a:t>desviaciones típicas</a:t>
                </a:r>
                <a:r>
                  <a:rPr lang="es-419" dirty="0">
                    <a:ea typeface="Cambria Math" panose="02040503050406030204" pitchFamily="18" charset="0"/>
                  </a:rPr>
                  <a:t>:</a:t>
                </a:r>
              </a:p>
              <a:p>
                <a:pPr marL="0" indent="0" algn="ctr">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rad>
                        <m:radPr>
                          <m:degHide m:val="on"/>
                          <m:ctrlPr>
                            <a:rPr lang="es-419" i="1" smtClean="0">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e>
                      </m:rad>
                      <m:r>
                        <a:rPr lang="es-419" b="0" i="1" smtClean="0">
                          <a:latin typeface="Cambria Math" panose="02040503050406030204" pitchFamily="18" charset="0"/>
                          <a:ea typeface="Cambria Math" panose="02040503050406030204" pitchFamily="18" charset="0"/>
                        </a:rPr>
                        <m:t>;</m:t>
                      </m:r>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r>
                                <a:rPr lang="es-VE"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r>
                                <a:rPr lang="es-VE" i="1" dirty="0">
                                  <a:latin typeface="Cambria Math" panose="02040503050406030204" pitchFamily="18" charset="0"/>
                                  <a:ea typeface="Cambria Math" panose="02040503050406030204" pitchFamily="18" charset="0"/>
                                </a:rPr>
                                <m:t>)</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num>
                            <m:den>
                              <m:sSub>
                                <m:sSubPr>
                                  <m:ctrlPr>
                                    <a:rPr lang="es-419" i="1">
                                      <a:latin typeface="Cambria Math" panose="02040503050406030204" pitchFamily="18" charset="0"/>
                                      <a:ea typeface="Cambria Math" panose="02040503050406030204" pitchFamily="18" charset="0"/>
                                    </a:rPr>
                                  </m:ctrlPr>
                                </m:sSubPr>
                                <m:e>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e>
                      </m:rad>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Para efectos de este curso, nos concentraremos en usar varianzas muestrales insesgadas, </a:t>
                </a:r>
                <a:r>
                  <a:rPr lang="es-419" b="1" dirty="0">
                    <a:solidFill>
                      <a:srgbClr val="003A5D"/>
                    </a:solidFill>
                    <a:ea typeface="Cambria Math" panose="02040503050406030204" pitchFamily="18" charset="0"/>
                  </a:rPr>
                  <a:t>salvo</a:t>
                </a:r>
                <a:r>
                  <a:rPr lang="es-419" dirty="0">
                    <a:ea typeface="Cambria Math" panose="02040503050406030204" pitchFamily="18" charset="0"/>
                  </a:rPr>
                  <a:t> en el caso de intervalos de confianza para variables no normales.</a:t>
                </a: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s-VE">
                    <a:noFill/>
                  </a:rPr>
                  <a:t> </a:t>
                </a:r>
              </a:p>
            </p:txBody>
          </p:sp>
        </mc:Fallback>
      </mc:AlternateContent>
    </p:spTree>
    <p:extLst>
      <p:ext uri="{BB962C8B-B14F-4D97-AF65-F5344CB8AC3E}">
        <p14:creationId xmlns:p14="http://schemas.microsoft.com/office/powerpoint/2010/main" val="12682227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la varianza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marL="514350" indent="-514350">
                  <a:lnSpc>
                    <a:spcPct val="150000"/>
                  </a:lnSpc>
                  <a:buFont typeface="+mj-lt"/>
                  <a:buAutoNum type="alphaLcPeriod" startAt="2"/>
                </a:pPr>
                <a:r>
                  <a:rPr lang="es-419" dirty="0">
                    <a:ea typeface="Cambria Math" panose="02040503050406030204" pitchFamily="18" charset="0"/>
                  </a:rPr>
                  <a:t>Para poblaciones </a:t>
                </a:r>
                <a:r>
                  <a:rPr lang="es-419" b="1" dirty="0">
                    <a:solidFill>
                      <a:srgbClr val="003A5D"/>
                    </a:solidFill>
                    <a:ea typeface="Cambria Math" panose="02040503050406030204" pitchFamily="18" charset="0"/>
                  </a:rPr>
                  <a:t>no-normales</a:t>
                </a:r>
                <a:r>
                  <a:rPr lang="es-419" dirty="0">
                    <a:ea typeface="Cambria Math" panose="02040503050406030204" pitchFamily="18" charset="0"/>
                  </a:rPr>
                  <a:t>:</a:t>
                </a:r>
              </a:p>
              <a:p>
                <a:pPr>
                  <a:lnSpc>
                    <a:spcPct val="150000"/>
                  </a:lnSpc>
                </a:pPr>
                <a:r>
                  <a:rPr lang="es-419" dirty="0">
                    <a:ea typeface="Cambria Math" panose="02040503050406030204" pitchFamily="18" charset="0"/>
                  </a:rPr>
                  <a:t>No se cumple que </a:t>
                </a:r>
                <a14:m>
                  <m:oMath xmlns:m="http://schemas.openxmlformats.org/officeDocument/2006/math">
                    <m:f>
                      <m:fPr>
                        <m:ctrlPr>
                          <a:rPr lang="es-419" i="1" dirty="0" smtClean="0">
                            <a:latin typeface="Cambria Math" panose="02040503050406030204" pitchFamily="18" charset="0"/>
                            <a:ea typeface="Cambria Math" panose="02040503050406030204" pitchFamily="18" charset="0"/>
                          </a:rPr>
                        </m:ctrlPr>
                      </m:fPr>
                      <m:num>
                        <m:r>
                          <a:rPr lang="es-VE" b="0" i="1" dirty="0" smtClean="0">
                            <a:latin typeface="Cambria Math" panose="02040503050406030204" pitchFamily="18" charset="0"/>
                            <a:ea typeface="Cambria Math" panose="02040503050406030204" pitchFamily="18" charset="0"/>
                          </a:rPr>
                          <m:t>(</m:t>
                        </m:r>
                        <m:r>
                          <a:rPr lang="es-419" i="1" dirty="0" smtClean="0">
                            <a:latin typeface="Cambria Math" panose="02040503050406030204" pitchFamily="18" charset="0"/>
                            <a:ea typeface="Cambria Math" panose="02040503050406030204" pitchFamily="18" charset="0"/>
                          </a:rPr>
                          <m:t>𝑛</m:t>
                        </m:r>
                        <m:r>
                          <a:rPr lang="es-VE" b="0" i="1" dirty="0" smtClean="0">
                            <a:latin typeface="Cambria Math" panose="02040503050406030204" pitchFamily="18" charset="0"/>
                            <a:ea typeface="Cambria Math" panose="02040503050406030204" pitchFamily="18" charset="0"/>
                          </a:rPr>
                          <m:t>−1)</m:t>
                        </m:r>
                        <m:sSup>
                          <m:sSupPr>
                            <m:ctrlPr>
                              <a:rPr lang="es-419" i="1" dirty="0" smtClean="0">
                                <a:latin typeface="Cambria Math" panose="02040503050406030204" pitchFamily="18" charset="0"/>
                                <a:ea typeface="Cambria Math" panose="02040503050406030204" pitchFamily="18" charset="0"/>
                              </a:rPr>
                            </m:ctrlPr>
                          </m:sSupPr>
                          <m:e>
                            <m:r>
                              <a:rPr lang="es-419" i="1" dirty="0" smtClean="0">
                                <a:latin typeface="Cambria Math" panose="02040503050406030204" pitchFamily="18" charset="0"/>
                                <a:ea typeface="Cambria Math" panose="02040503050406030204" pitchFamily="18" charset="0"/>
                              </a:rPr>
                              <m:t>𝑆</m:t>
                            </m:r>
                          </m:e>
                          <m:sup>
                            <m:r>
                              <a:rPr lang="es-419" i="1" dirty="0" smtClean="0">
                                <a:latin typeface="Cambria Math" panose="02040503050406030204" pitchFamily="18" charset="0"/>
                                <a:ea typeface="Cambria Math" panose="02040503050406030204" pitchFamily="18" charset="0"/>
                              </a:rPr>
                              <m:t>2</m:t>
                            </m:r>
                          </m:sup>
                        </m:sSup>
                      </m:num>
                      <m:den>
                        <m:sSup>
                          <m:sSupPr>
                            <m:ctrlPr>
                              <a:rPr lang="es-419" i="1" dirty="0" smtClean="0">
                                <a:latin typeface="Cambria Math" panose="02040503050406030204" pitchFamily="18" charset="0"/>
                                <a:ea typeface="Cambria Math" panose="02040503050406030204" pitchFamily="18" charset="0"/>
                              </a:rPr>
                            </m:ctrlPr>
                          </m:sSupPr>
                          <m:e>
                            <m:r>
                              <a:rPr lang="es-419" i="1" dirty="0" smtClean="0">
                                <a:latin typeface="Cambria Math" panose="02040503050406030204" pitchFamily="18" charset="0"/>
                                <a:ea typeface="Cambria Math" panose="02040503050406030204" pitchFamily="18" charset="0"/>
                              </a:rPr>
                              <m:t>𝜎</m:t>
                            </m:r>
                          </m:e>
                          <m:sup>
                            <m:r>
                              <a:rPr lang="es-419" i="1" dirty="0" smtClean="0">
                                <a:latin typeface="Cambria Math" panose="02040503050406030204" pitchFamily="18" charset="0"/>
                                <a:ea typeface="Cambria Math" panose="02040503050406030204" pitchFamily="18" charset="0"/>
                              </a:rPr>
                              <m:t>2</m:t>
                            </m:r>
                          </m:sup>
                        </m:sSup>
                      </m:den>
                    </m:f>
                    <m:r>
                      <a:rPr lang="es-419" b="0" i="1" dirty="0" smtClean="0">
                        <a:latin typeface="Cambria Math" panose="02040503050406030204" pitchFamily="18" charset="0"/>
                        <a:ea typeface="Cambria Math" panose="02040503050406030204" pitchFamily="18" charset="0"/>
                      </a:rPr>
                      <m:t>~</m:t>
                    </m:r>
                    <m:sSup>
                      <m:sSupPr>
                        <m:ctrlPr>
                          <a:rPr lang="es-419" b="0" i="1" dirty="0" smtClean="0">
                            <a:latin typeface="Cambria Math" panose="02040503050406030204" pitchFamily="18" charset="0"/>
                            <a:ea typeface="Cambria Math" panose="02040503050406030204" pitchFamily="18" charset="0"/>
                          </a:rPr>
                        </m:ctrlPr>
                      </m:sSupPr>
                      <m:e>
                        <m:r>
                          <a:rPr lang="es-419" b="0" i="1" dirty="0" smtClean="0">
                            <a:latin typeface="Cambria Math" panose="02040503050406030204" pitchFamily="18" charset="0"/>
                            <a:ea typeface="Cambria Math" panose="02040503050406030204" pitchFamily="18" charset="0"/>
                          </a:rPr>
                          <m:t>𝜒</m:t>
                        </m:r>
                      </m:e>
                      <m:sup>
                        <m:r>
                          <a:rPr lang="es-419" b="0" i="1" dirty="0" smtClean="0">
                            <a:latin typeface="Cambria Math" panose="02040503050406030204" pitchFamily="18" charset="0"/>
                            <a:ea typeface="Cambria Math" panose="02040503050406030204" pitchFamily="18" charset="0"/>
                          </a:rPr>
                          <m:t>2</m:t>
                        </m:r>
                      </m:sup>
                    </m:sSup>
                    <m:d>
                      <m:dPr>
                        <m:ctrlPr>
                          <a:rPr lang="es-419" b="0" i="1" dirty="0" smtClean="0">
                            <a:latin typeface="Cambria Math" panose="02040503050406030204" pitchFamily="18" charset="0"/>
                            <a:ea typeface="Cambria Math" panose="02040503050406030204" pitchFamily="18" charset="0"/>
                          </a:rPr>
                        </m:ctrlPr>
                      </m:dPr>
                      <m:e>
                        <m:r>
                          <a:rPr lang="es-419" b="0" i="1" dirty="0" smtClean="0">
                            <a:latin typeface="Cambria Math" panose="02040503050406030204" pitchFamily="18" charset="0"/>
                            <a:ea typeface="Cambria Math" panose="02040503050406030204" pitchFamily="18" charset="0"/>
                          </a:rPr>
                          <m:t>𝑛</m:t>
                        </m:r>
                        <m:r>
                          <a:rPr lang="es-419" b="0" i="1" dirty="0" smtClean="0">
                            <a:latin typeface="Cambria Math" panose="02040503050406030204" pitchFamily="18" charset="0"/>
                            <a:ea typeface="Cambria Math" panose="02040503050406030204" pitchFamily="18" charset="0"/>
                          </a:rPr>
                          <m:t>−1</m:t>
                        </m:r>
                      </m:e>
                    </m:d>
                  </m:oMath>
                </a14:m>
                <a:endParaRPr lang="es-419" dirty="0">
                  <a:latin typeface="Cambria Math" panose="02040503050406030204" pitchFamily="18" charset="0"/>
                  <a:ea typeface="Cambria Math" panose="02040503050406030204" pitchFamily="18" charset="0"/>
                </a:endParaRPr>
              </a:p>
              <a:p>
                <a:pPr>
                  <a:lnSpc>
                    <a:spcPct val="150000"/>
                  </a:lnSpc>
                </a:pPr>
                <a:r>
                  <a:rPr lang="es-419" dirty="0">
                    <a:ea typeface="Cambria Math" panose="02040503050406030204" pitchFamily="18" charset="0"/>
                  </a:rPr>
                  <a:t>Sin embargo, sabemos que </a:t>
                </a:r>
                <a14:m>
                  <m:oMath xmlns:m="http://schemas.openxmlformats.org/officeDocument/2006/math">
                    <m:sSup>
                      <m:sSupPr>
                        <m:ctrlPr>
                          <a:rPr lang="es-419" i="1" dirty="0" smtClean="0">
                            <a:latin typeface="Cambria Math" panose="02040503050406030204" pitchFamily="18" charset="0"/>
                            <a:ea typeface="Cambria Math" panose="02040503050406030204" pitchFamily="18" charset="0"/>
                          </a:rPr>
                        </m:ctrlPr>
                      </m:sSupPr>
                      <m:e>
                        <m:r>
                          <a:rPr lang="es-419" i="1" dirty="0" smtClean="0">
                            <a:latin typeface="Cambria Math" panose="02040503050406030204" pitchFamily="18" charset="0"/>
                            <a:ea typeface="Cambria Math" panose="02040503050406030204" pitchFamily="18" charset="0"/>
                          </a:rPr>
                          <m:t>𝑆</m:t>
                        </m:r>
                      </m:e>
                      <m:sup>
                        <m:r>
                          <a:rPr lang="es-419" i="1" dirty="0" smtClean="0">
                            <a:latin typeface="Cambria Math" panose="02040503050406030204" pitchFamily="18" charset="0"/>
                            <a:ea typeface="Cambria Math" panose="02040503050406030204" pitchFamily="18" charset="0"/>
                          </a:rPr>
                          <m:t>2</m:t>
                        </m:r>
                        <m:r>
                          <a:rPr lang="es-VE" b="0" i="1" dirty="0" smtClean="0">
                            <a:latin typeface="Cambria Math" panose="02040503050406030204" pitchFamily="18" charset="0"/>
                            <a:ea typeface="Cambria Math" panose="02040503050406030204" pitchFamily="18" charset="0"/>
                          </a:rPr>
                          <m:t>′</m:t>
                        </m:r>
                      </m:sup>
                    </m:sSup>
                    <m:r>
                      <a:rPr lang="es-419" i="1" dirty="0" smtClean="0">
                        <a:latin typeface="Cambria Math" panose="02040503050406030204" pitchFamily="18" charset="0"/>
                        <a:ea typeface="Cambria Math" panose="02040503050406030204" pitchFamily="18" charset="0"/>
                      </a:rPr>
                      <m:t> </m:t>
                    </m:r>
                  </m:oMath>
                </a14:m>
                <a:r>
                  <a:rPr lang="es-419" dirty="0">
                    <a:ea typeface="Cambria Math" panose="02040503050406030204" pitchFamily="18" charset="0"/>
                  </a:rPr>
                  <a:t> es el estimador de </a:t>
                </a:r>
                <a:r>
                  <a:rPr lang="es-419" b="1" dirty="0">
                    <a:solidFill>
                      <a:srgbClr val="003A5D"/>
                    </a:solidFill>
                    <a:ea typeface="Cambria Math" panose="02040503050406030204" pitchFamily="18" charset="0"/>
                  </a:rPr>
                  <a:t>máxima verosimilitud </a:t>
                </a:r>
                <a14:m>
                  <m:oMath xmlns:m="http://schemas.openxmlformats.org/officeDocument/2006/math">
                    <m:sSup>
                      <m:sSupPr>
                        <m:ctrlPr>
                          <a:rPr lang="es-419" i="1" dirty="0" smtClean="0">
                            <a:latin typeface="Cambria Math" panose="02040503050406030204" pitchFamily="18" charset="0"/>
                            <a:ea typeface="Cambria Math" panose="02040503050406030204" pitchFamily="18" charset="0"/>
                          </a:rPr>
                        </m:ctrlPr>
                      </m:sSupPr>
                      <m:e>
                        <m:r>
                          <a:rPr lang="es-419" i="1" dirty="0" smtClean="0">
                            <a:latin typeface="Cambria Math" panose="02040503050406030204" pitchFamily="18" charset="0"/>
                            <a:ea typeface="Cambria Math" panose="02040503050406030204" pitchFamily="18" charset="0"/>
                          </a:rPr>
                          <m:t>𝜎</m:t>
                        </m:r>
                      </m:e>
                      <m:sup>
                        <m:r>
                          <a:rPr lang="es-419" i="1" dirty="0" smtClean="0">
                            <a:latin typeface="Cambria Math" panose="02040503050406030204" pitchFamily="18" charset="0"/>
                            <a:ea typeface="Cambria Math" panose="02040503050406030204" pitchFamily="18" charset="0"/>
                          </a:rPr>
                          <m:t>2</m:t>
                        </m:r>
                      </m:sup>
                    </m:sSup>
                  </m:oMath>
                </a14:m>
                <a:r>
                  <a:rPr lang="es-419" dirty="0">
                    <a:ea typeface="Cambria Math" panose="02040503050406030204" pitchFamily="18" charset="0"/>
                  </a:rPr>
                  <a:t>, y se distribuye de forma tal que:</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s-419" i="1" smtClean="0">
                              <a:latin typeface="Cambria Math" panose="02040503050406030204" pitchFamily="18" charset="0"/>
                            </a:rPr>
                          </m:ctrlPr>
                        </m:sSupPr>
                        <m:e>
                          <m:r>
                            <a:rPr lang="es-419" b="0" i="1" smtClean="0">
                              <a:latin typeface="Cambria Math" panose="02040503050406030204" pitchFamily="18" charset="0"/>
                            </a:rPr>
                            <m:t>𝑆</m:t>
                          </m:r>
                        </m:e>
                        <m:sup>
                          <m:r>
                            <a:rPr lang="es-419" b="0" i="1" smtClean="0">
                              <a:latin typeface="Cambria Math" panose="02040503050406030204" pitchFamily="18" charset="0"/>
                            </a:rPr>
                            <m:t>2′</m:t>
                          </m:r>
                        </m:sup>
                      </m:sSup>
                      <m:r>
                        <a:rPr lang="es-419" i="1">
                          <a:latin typeface="Cambria Math" panose="02040503050406030204" pitchFamily="18" charset="0"/>
                        </a:rPr>
                        <m:t>= </m:t>
                      </m:r>
                      <m:f>
                        <m:fPr>
                          <m:ctrlPr>
                            <a:rPr lang="es-419" i="1">
                              <a:latin typeface="Cambria Math" panose="02040503050406030204" pitchFamily="18" charset="0"/>
                            </a:rPr>
                          </m:ctrlPr>
                        </m:fPr>
                        <m:num>
                          <m:nary>
                            <m:naryPr>
                              <m:chr m:val="∑"/>
                              <m:ctrlPr>
                                <a:rPr lang="es-419" i="1">
                                  <a:latin typeface="Cambria Math" panose="02040503050406030204" pitchFamily="18" charset="0"/>
                                </a:rPr>
                              </m:ctrlPr>
                            </m:naryPr>
                            <m:sub>
                              <m:r>
                                <m:rPr>
                                  <m:brk m:alnAt="23"/>
                                </m:rPr>
                                <a:rPr lang="es-419" i="1">
                                  <a:latin typeface="Cambria Math" panose="02040503050406030204" pitchFamily="18" charset="0"/>
                                </a:rPr>
                                <m:t>𝑖</m:t>
                              </m:r>
                              <m:r>
                                <a:rPr lang="es-419" i="1">
                                  <a:latin typeface="Cambria Math" panose="02040503050406030204" pitchFamily="18" charset="0"/>
                                </a:rPr>
                                <m:t>=1</m:t>
                              </m:r>
                            </m:sub>
                            <m:sup>
                              <m:r>
                                <a:rPr lang="es-419" i="1">
                                  <a:latin typeface="Cambria Math" panose="02040503050406030204" pitchFamily="18" charset="0"/>
                                </a:rPr>
                                <m:t>𝑛</m:t>
                              </m:r>
                            </m:sup>
                            <m:e>
                              <m:sSup>
                                <m:sSupPr>
                                  <m:ctrlPr>
                                    <a:rPr lang="es-419" i="1" smtClean="0">
                                      <a:latin typeface="Cambria Math" panose="02040503050406030204" pitchFamily="18" charset="0"/>
                                    </a:rPr>
                                  </m:ctrlPr>
                                </m:sSupPr>
                                <m:e>
                                  <m:r>
                                    <a:rPr lang="es-419" b="0" i="1" smtClean="0">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𝑥</m:t>
                                      </m:r>
                                    </m:e>
                                    <m:sub>
                                      <m:r>
                                        <a:rPr lang="es-419" i="1">
                                          <a:latin typeface="Cambria Math" panose="02040503050406030204" pitchFamily="18" charset="0"/>
                                        </a:rPr>
                                        <m:t>𝑖</m:t>
                                      </m:r>
                                    </m:sub>
                                  </m:sSub>
                                  <m:r>
                                    <a:rPr lang="es-419" b="0" i="1" smtClean="0">
                                      <a:latin typeface="Cambria Math" panose="02040503050406030204" pitchFamily="18" charset="0"/>
                                    </a:rPr>
                                    <m:t>−</m:t>
                                  </m:r>
                                  <m:acc>
                                    <m:accPr>
                                      <m:chr m:val="̅"/>
                                      <m:ctrlPr>
                                        <a:rPr lang="es-419" b="0" i="1" smtClean="0">
                                          <a:latin typeface="Cambria Math" panose="02040503050406030204" pitchFamily="18" charset="0"/>
                                        </a:rPr>
                                      </m:ctrlPr>
                                    </m:accPr>
                                    <m:e>
                                      <m:r>
                                        <a:rPr lang="es-419" b="0" i="1" smtClean="0">
                                          <a:latin typeface="Cambria Math" panose="02040503050406030204" pitchFamily="18" charset="0"/>
                                        </a:rPr>
                                        <m:t>𝑥</m:t>
                                      </m:r>
                                    </m:e>
                                  </m:acc>
                                  <m:r>
                                    <a:rPr lang="es-419" b="0" i="1" smtClean="0">
                                      <a:latin typeface="Cambria Math" panose="02040503050406030204" pitchFamily="18" charset="0"/>
                                    </a:rPr>
                                    <m:t>)</m:t>
                                  </m:r>
                                </m:e>
                                <m:sup>
                                  <m:r>
                                    <a:rPr lang="es-419" b="0" i="1" smtClean="0">
                                      <a:latin typeface="Cambria Math" panose="02040503050406030204" pitchFamily="18" charset="0"/>
                                    </a:rPr>
                                    <m:t>2</m:t>
                                  </m:r>
                                </m:sup>
                              </m:sSup>
                            </m:e>
                          </m:nary>
                        </m:num>
                        <m:den>
                          <m:r>
                            <a:rPr lang="es-419" i="1">
                              <a:latin typeface="Cambria Math" panose="02040503050406030204" pitchFamily="18" charset="0"/>
                            </a:rPr>
                            <m:t>𝑛</m:t>
                          </m:r>
                        </m:den>
                      </m:f>
                    </m:oMath>
                  </m:oMathPara>
                </a14:m>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limLow>
                        <m:limLowPr>
                          <m:ctrlPr>
                            <a:rPr lang="es-419" i="1" smtClean="0">
                              <a:latin typeface="Cambria Math" panose="02040503050406030204" pitchFamily="18" charset="0"/>
                              <a:ea typeface="Cambria Math" panose="02040503050406030204" pitchFamily="18" charset="0"/>
                            </a:rPr>
                          </m:ctrlPr>
                        </m:limLowPr>
                        <m:e>
                          <m:r>
                            <m:rPr>
                              <m:sty m:val="p"/>
                            </m:rPr>
                            <a:rPr lang="es-419" i="0" smtClean="0">
                              <a:latin typeface="Cambria Math" panose="02040503050406030204" pitchFamily="18" charset="0"/>
                              <a:ea typeface="Cambria Math" panose="02040503050406030204" pitchFamily="18" charset="0"/>
                            </a:rPr>
                            <m:t>lim</m:t>
                          </m:r>
                        </m:e>
                        <m:lim>
                          <m:r>
                            <a:rPr lang="es-419" b="0" i="1" smtClean="0">
                              <a:latin typeface="Cambria Math" panose="02040503050406030204" pitchFamily="18" charset="0"/>
                              <a:ea typeface="Cambria Math" panose="02040503050406030204" pitchFamily="18" charset="0"/>
                            </a:rPr>
                            <m:t>𝑛</m:t>
                          </m:r>
                          <m:r>
                            <a:rPr lang="es-419" b="0" i="1" smtClean="0">
                              <a:latin typeface="Cambria Math" panose="02040503050406030204" pitchFamily="18" charset="0"/>
                              <a:ea typeface="Cambria Math" panose="02040503050406030204" pitchFamily="18" charset="0"/>
                            </a:rPr>
                            <m:t>→∞</m:t>
                          </m:r>
                        </m:lim>
                      </m:limLow>
                      <m:sSup>
                        <m:sSupPr>
                          <m:ctrlPr>
                            <a:rPr lang="es-419" i="1">
                              <a:latin typeface="Cambria Math" panose="02040503050406030204" pitchFamily="18" charset="0"/>
                            </a:rPr>
                          </m:ctrlPr>
                        </m:sSupPr>
                        <m:e>
                          <m:r>
                            <a:rPr lang="es-419" i="1">
                              <a:latin typeface="Cambria Math" panose="02040503050406030204" pitchFamily="18" charset="0"/>
                            </a:rPr>
                            <m:t>𝑆</m:t>
                          </m:r>
                        </m:e>
                        <m:sup>
                          <m:r>
                            <a:rPr lang="es-419" i="1">
                              <a:latin typeface="Cambria Math" panose="02040503050406030204" pitchFamily="18" charset="0"/>
                            </a:rPr>
                            <m:t>2′</m:t>
                          </m:r>
                        </m:sup>
                      </m:sSup>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𝑛</m:t>
                              </m:r>
                              <m:r>
                                <a:rPr lang="es-419" b="0" i="1" smtClean="0">
                                  <a:latin typeface="Cambria Math" panose="02040503050406030204" pitchFamily="18" charset="0"/>
                                  <a:ea typeface="Cambria Math" panose="02040503050406030204" pitchFamily="18" charset="0"/>
                                </a:rPr>
                                <m:t>−1</m:t>
                              </m:r>
                            </m:e>
                          </m:d>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𝜎</m:t>
                              </m:r>
                            </m:e>
                            <m:sup>
                              <m:r>
                                <a:rPr lang="es-419" i="1" dirty="0">
                                  <a:latin typeface="Cambria Math" panose="02040503050406030204" pitchFamily="18" charset="0"/>
                                  <a:ea typeface="Cambria Math" panose="02040503050406030204" pitchFamily="18" charset="0"/>
                                </a:rPr>
                                <m:t>2</m:t>
                              </m:r>
                            </m:sup>
                          </m:sSup>
                        </m:num>
                        <m:den>
                          <m:r>
                            <a:rPr lang="es-419" b="0" i="1" smtClean="0">
                              <a:latin typeface="Cambria Math" panose="02040503050406030204" pitchFamily="18" charset="0"/>
                              <a:ea typeface="Cambria Math" panose="02040503050406030204" pitchFamily="18" charset="0"/>
                            </a:rPr>
                            <m:t>𝑛</m:t>
                          </m:r>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rPr>
                          </m:ctrlPr>
                        </m:fPr>
                        <m:num>
                          <m:r>
                            <a:rPr lang="es-419" i="1">
                              <a:latin typeface="Cambria Math" panose="02040503050406030204" pitchFamily="18" charset="0"/>
                            </a:rPr>
                            <m:t>2(</m:t>
                          </m:r>
                          <m:r>
                            <a:rPr lang="es-419" i="1">
                              <a:latin typeface="Cambria Math" panose="02040503050406030204" pitchFamily="18" charset="0"/>
                            </a:rPr>
                            <m:t>𝑛</m:t>
                          </m:r>
                          <m:r>
                            <a:rPr lang="es-419" i="1">
                              <a:latin typeface="Cambria Math" panose="02040503050406030204" pitchFamily="18" charset="0"/>
                            </a:rPr>
                            <m:t>−1)</m:t>
                          </m:r>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s-419" i="1">
                                  <a:latin typeface="Cambria Math" panose="02040503050406030204" pitchFamily="18" charset="0"/>
                                  <a:ea typeface="Cambria Math" panose="02040503050406030204" pitchFamily="18" charset="0"/>
                                </a:rPr>
                                <m:t>4</m:t>
                              </m:r>
                            </m:sup>
                          </m:sSup>
                        </m:num>
                        <m:den>
                          <m:sSup>
                            <m:sSupPr>
                              <m:ctrlPr>
                                <a:rPr lang="es-419" i="1">
                                  <a:latin typeface="Cambria Math" panose="02040503050406030204" pitchFamily="18" charset="0"/>
                                </a:rPr>
                              </m:ctrlPr>
                            </m:sSupPr>
                            <m:e>
                              <m:r>
                                <a:rPr lang="es-419" i="1">
                                  <a:latin typeface="Cambria Math" panose="02040503050406030204" pitchFamily="18" charset="0"/>
                                </a:rPr>
                                <m:t>𝑛</m:t>
                              </m:r>
                            </m:e>
                            <m:sup>
                              <m:r>
                                <a:rPr lang="es-419" i="1">
                                  <a:latin typeface="Cambria Math" panose="02040503050406030204" pitchFamily="18" charset="0"/>
                                  <a:ea typeface="Cambria Math" panose="02040503050406030204" pitchFamily="18" charset="0"/>
                                </a:rPr>
                                <m:t>2</m:t>
                              </m:r>
                            </m:sup>
                          </m:sSup>
                        </m:den>
                      </m:f>
                      <m:r>
                        <a:rPr lang="es-419" b="0" i="1" smtClean="0">
                          <a:latin typeface="Cambria Math" panose="02040503050406030204" pitchFamily="18" charset="0"/>
                          <a:ea typeface="Cambria Math" panose="02040503050406030204" pitchFamily="18" charset="0"/>
                        </a:rPr>
                        <m:t>)</m:t>
                      </m:r>
                    </m:oMath>
                  </m:oMathPara>
                </a14:m>
                <a:endParaRPr lang="es-419" dirty="0">
                  <a:latin typeface="Cambria Math" panose="02040503050406030204" pitchFamily="18" charset="0"/>
                  <a:ea typeface="Cambria Math" panose="02040503050406030204" pitchFamily="18" charset="0"/>
                </a:endParaRPr>
              </a:p>
              <a:p>
                <a:pPr>
                  <a:lnSpc>
                    <a:spcPct val="150000"/>
                  </a:lnSpc>
                </a:pPr>
                <a:r>
                  <a:rPr lang="es-419" dirty="0">
                    <a:ea typeface="Cambria Math" panose="02040503050406030204" pitchFamily="18" charset="0"/>
                  </a:rPr>
                  <a:t>Cambia la estructura del intervalo de confianza de forma tal que:</a:t>
                </a:r>
              </a:p>
              <a:p>
                <a:pPr marL="514350" indent="-514350">
                  <a:lnSpc>
                    <a:spcPct val="150000"/>
                  </a:lnSpc>
                  <a:buFont typeface="+mj-lt"/>
                  <a:buAutoNum type="arabicPeriod"/>
                </a:pPr>
                <a14:m>
                  <m:oMath xmlns:m="http://schemas.openxmlformats.org/officeDocument/2006/math">
                    <m:r>
                      <a:rPr lang="es-419" sz="2800" i="1" smtClean="0">
                        <a:latin typeface="Cambria Math" panose="02040503050406030204" pitchFamily="18" charset="0"/>
                        <a:ea typeface="Cambria Math" panose="02040503050406030204" pitchFamily="18" charset="0"/>
                      </a:rPr>
                      <m:t>𝑃</m:t>
                    </m:r>
                    <m:d>
                      <m:dPr>
                        <m:ctrlPr>
                          <a:rPr lang="es-419" sz="2800" i="1">
                            <a:latin typeface="Cambria Math" panose="02040503050406030204" pitchFamily="18" charset="0"/>
                            <a:ea typeface="Cambria Math" panose="02040503050406030204" pitchFamily="18" charset="0"/>
                          </a:rPr>
                        </m:ctrlPr>
                      </m:dPr>
                      <m:e>
                        <m:r>
                          <a:rPr lang="es-419" sz="2800" b="0" i="1" smtClean="0">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ea typeface="Cambria Math" panose="02040503050406030204" pitchFamily="18" charset="0"/>
                              </a:rPr>
                            </m:ctrlPr>
                          </m:sSubPr>
                          <m:e>
                            <m:r>
                              <a:rPr lang="es-VE" sz="2800" b="0" i="1" smtClean="0">
                                <a:latin typeface="Cambria Math" panose="02040503050406030204" pitchFamily="18" charset="0"/>
                                <a:ea typeface="Cambria Math" panose="02040503050406030204" pitchFamily="18" charset="0"/>
                              </a:rPr>
                              <m:t>𝑧</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r>
                          <a:rPr lang="es-419" sz="2800" i="1">
                            <a:latin typeface="Cambria Math" panose="02040503050406030204" pitchFamily="18" charset="0"/>
                            <a:ea typeface="Cambria Math" panose="02040503050406030204" pitchFamily="18" charset="0"/>
                          </a:rPr>
                          <m:t>≤</m:t>
                        </m:r>
                        <m:f>
                          <m:fPr>
                            <m:ctrlPr>
                              <a:rPr lang="es-419" sz="2800" i="1" smtClean="0">
                                <a:latin typeface="Cambria Math" panose="02040503050406030204" pitchFamily="18" charset="0"/>
                                <a:ea typeface="Cambria Math" panose="02040503050406030204" pitchFamily="18" charset="0"/>
                              </a:rPr>
                            </m:ctrlPr>
                          </m:fPr>
                          <m:num>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r>
                              <a:rPr lang="es-419" sz="2800" b="0" i="1" dirty="0" smtClean="0">
                                <a:latin typeface="Cambria Math" panose="02040503050406030204" pitchFamily="18" charset="0"/>
                                <a:ea typeface="Cambria Math" panose="02040503050406030204" pitchFamily="18" charset="0"/>
                              </a:rPr>
                              <m:t>−</m:t>
                            </m:r>
                            <m:f>
                              <m:fPr>
                                <m:ctrlPr>
                                  <a:rPr lang="es-419" sz="2800" b="0" i="1" dirty="0" smtClean="0">
                                    <a:latin typeface="Cambria Math" panose="02040503050406030204" pitchFamily="18" charset="0"/>
                                    <a:ea typeface="Cambria Math" panose="02040503050406030204" pitchFamily="18" charset="0"/>
                                  </a:rPr>
                                </m:ctrlPr>
                              </m:fPr>
                              <m:num>
                                <m:r>
                                  <a:rPr lang="es-419" sz="2800" b="0" i="1" dirty="0" smtClean="0">
                                    <a:latin typeface="Cambria Math" panose="02040503050406030204" pitchFamily="18" charset="0"/>
                                    <a:ea typeface="Cambria Math" panose="02040503050406030204" pitchFamily="18" charset="0"/>
                                  </a:rPr>
                                  <m:t>(</m:t>
                                </m:r>
                                <m:r>
                                  <a:rPr lang="es-419" sz="2800" b="0" i="1" dirty="0" smtClean="0">
                                    <a:latin typeface="Cambria Math" panose="02040503050406030204" pitchFamily="18" charset="0"/>
                                    <a:ea typeface="Cambria Math" panose="02040503050406030204" pitchFamily="18" charset="0"/>
                                  </a:rPr>
                                  <m:t>𝑛</m:t>
                                </m:r>
                                <m:r>
                                  <a:rPr lang="es-419" sz="2800" b="0" i="1" dirty="0" smtClean="0">
                                    <a:latin typeface="Cambria Math" panose="02040503050406030204" pitchFamily="18" charset="0"/>
                                    <a:ea typeface="Cambria Math" panose="02040503050406030204" pitchFamily="18" charset="0"/>
                                  </a:rPr>
                                  <m:t>−1)</m:t>
                                </m:r>
                                <m:sSup>
                                  <m:sSupPr>
                                    <m:ctrlPr>
                                      <a:rPr lang="es-419" sz="2800" i="1" dirty="0">
                                        <a:latin typeface="Cambria Math" panose="02040503050406030204" pitchFamily="18" charset="0"/>
                                        <a:ea typeface="Cambria Math" panose="02040503050406030204" pitchFamily="18" charset="0"/>
                                      </a:rPr>
                                    </m:ctrlPr>
                                  </m:sSupPr>
                                  <m:e>
                                    <m:r>
                                      <a:rPr lang="es-419" sz="2800" i="1" dirty="0">
                                        <a:latin typeface="Cambria Math" panose="02040503050406030204" pitchFamily="18" charset="0"/>
                                        <a:ea typeface="Cambria Math" panose="02040503050406030204" pitchFamily="18" charset="0"/>
                                      </a:rPr>
                                      <m:t>𝜎</m:t>
                                    </m:r>
                                  </m:e>
                                  <m:sup>
                                    <m:r>
                                      <a:rPr lang="es-419" sz="2800" i="1" dirty="0">
                                        <a:latin typeface="Cambria Math" panose="02040503050406030204" pitchFamily="18" charset="0"/>
                                        <a:ea typeface="Cambria Math" panose="02040503050406030204" pitchFamily="18" charset="0"/>
                                      </a:rPr>
                                      <m:t>2</m:t>
                                    </m:r>
                                  </m:sup>
                                </m:sSup>
                              </m:num>
                              <m:den>
                                <m:r>
                                  <a:rPr lang="es-419" sz="2800" b="0" i="1" dirty="0" smtClean="0">
                                    <a:latin typeface="Cambria Math" panose="02040503050406030204" pitchFamily="18" charset="0"/>
                                    <a:ea typeface="Cambria Math" panose="02040503050406030204" pitchFamily="18" charset="0"/>
                                  </a:rPr>
                                  <m:t>𝑛</m:t>
                                </m:r>
                              </m:den>
                            </m:f>
                          </m:num>
                          <m:den>
                            <m:rad>
                              <m:radPr>
                                <m:degHide m:val="on"/>
                                <m:ctrlPr>
                                  <a:rPr lang="es-419" sz="2800" i="1" smtClean="0">
                                    <a:latin typeface="Cambria Math" panose="02040503050406030204" pitchFamily="18" charset="0"/>
                                    <a:ea typeface="Cambria Math" panose="02040503050406030204" pitchFamily="18" charset="0"/>
                                  </a:rPr>
                                </m:ctrlPr>
                              </m:radPr>
                              <m:deg/>
                              <m:e>
                                <m:f>
                                  <m:fPr>
                                    <m:ctrlPr>
                                      <a:rPr lang="es-419" sz="2800" i="1" smtClean="0">
                                        <a:latin typeface="Cambria Math" panose="02040503050406030204" pitchFamily="18" charset="0"/>
                                        <a:ea typeface="Cambria Math" panose="02040503050406030204" pitchFamily="18" charset="0"/>
                                      </a:rPr>
                                    </m:ctrlPr>
                                  </m:fPr>
                                  <m:num>
                                    <m:r>
                                      <a:rPr lang="es-419" sz="2800" b="0" i="1" smtClean="0">
                                        <a:latin typeface="Cambria Math" panose="02040503050406030204" pitchFamily="18" charset="0"/>
                                        <a:ea typeface="Cambria Math" panose="02040503050406030204" pitchFamily="18" charset="0"/>
                                      </a:rPr>
                                      <m:t>2(</m:t>
                                    </m:r>
                                    <m:r>
                                      <a:rPr lang="es-419" sz="2800" b="0" i="1" smtClean="0">
                                        <a:latin typeface="Cambria Math" panose="02040503050406030204" pitchFamily="18" charset="0"/>
                                        <a:ea typeface="Cambria Math" panose="02040503050406030204" pitchFamily="18" charset="0"/>
                                      </a:rPr>
                                      <m:t>𝑛</m:t>
                                    </m:r>
                                    <m:r>
                                      <a:rPr lang="es-419" sz="2800" b="0" i="1" smtClean="0">
                                        <a:latin typeface="Cambria Math" panose="02040503050406030204" pitchFamily="18" charset="0"/>
                                        <a:ea typeface="Cambria Math" panose="02040503050406030204" pitchFamily="18" charset="0"/>
                                      </a:rPr>
                                      <m:t>−1)</m:t>
                                    </m:r>
                                    <m:sSup>
                                      <m:sSupPr>
                                        <m:ctrlPr>
                                          <a:rPr lang="es-419" i="1">
                                            <a:latin typeface="Cambria Math" panose="02040503050406030204" pitchFamily="18" charset="0"/>
                                          </a:rPr>
                                        </m:ctrlPr>
                                      </m:sSupPr>
                                      <m:e>
                                        <m:r>
                                          <a:rPr lang="es-419" i="1">
                                            <a:latin typeface="Cambria Math" panose="02040503050406030204" pitchFamily="18" charset="0"/>
                                            <a:ea typeface="Cambria Math" panose="02040503050406030204" pitchFamily="18" charset="0"/>
                                          </a:rPr>
                                          <m:t>𝜎</m:t>
                                        </m:r>
                                      </m:e>
                                      <m:sup>
                                        <m:r>
                                          <a:rPr lang="es-419" i="1">
                                            <a:latin typeface="Cambria Math" panose="02040503050406030204" pitchFamily="18" charset="0"/>
                                            <a:ea typeface="Cambria Math" panose="02040503050406030204" pitchFamily="18" charset="0"/>
                                          </a:rPr>
                                          <m:t>4</m:t>
                                        </m:r>
                                      </m:sup>
                                    </m:sSup>
                                  </m:num>
                                  <m:den>
                                    <m:sSup>
                                      <m:sSupPr>
                                        <m:ctrlPr>
                                          <a:rPr lang="es-419" sz="2800" i="1" smtClean="0">
                                            <a:latin typeface="Cambria Math" panose="02040503050406030204" pitchFamily="18" charset="0"/>
                                            <a:ea typeface="Cambria Math" panose="02040503050406030204" pitchFamily="18" charset="0"/>
                                          </a:rPr>
                                        </m:ctrlPr>
                                      </m:sSupPr>
                                      <m:e>
                                        <m:r>
                                          <a:rPr lang="es-419" sz="2800" b="0" i="1" smtClean="0">
                                            <a:latin typeface="Cambria Math" panose="02040503050406030204" pitchFamily="18" charset="0"/>
                                            <a:ea typeface="Cambria Math" panose="02040503050406030204" pitchFamily="18" charset="0"/>
                                          </a:rPr>
                                          <m:t>𝑛</m:t>
                                        </m:r>
                                      </m:e>
                                      <m:sup>
                                        <m:r>
                                          <a:rPr lang="es-419" sz="2800" b="0" i="1" smtClean="0">
                                            <a:latin typeface="Cambria Math" panose="02040503050406030204" pitchFamily="18" charset="0"/>
                                            <a:ea typeface="Cambria Math" panose="02040503050406030204" pitchFamily="18" charset="0"/>
                                          </a:rPr>
                                          <m:t>2</m:t>
                                        </m:r>
                                      </m:sup>
                                    </m:sSup>
                                  </m:den>
                                </m:f>
                              </m:e>
                            </m:rad>
                          </m:den>
                        </m:f>
                        <m:r>
                          <a:rPr lang="es-419" sz="2800" i="1">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ea typeface="Cambria Math" panose="02040503050406030204" pitchFamily="18" charset="0"/>
                              </a:rPr>
                            </m:ctrlPr>
                          </m:sSubPr>
                          <m:e>
                            <m:r>
                              <a:rPr lang="es-VE" sz="2800" b="0" i="1" smtClean="0">
                                <a:latin typeface="Cambria Math" panose="02040503050406030204" pitchFamily="18" charset="0"/>
                                <a:ea typeface="Cambria Math" panose="02040503050406030204" pitchFamily="18" charset="0"/>
                              </a:rPr>
                              <m:t>𝑧</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e>
                    </m: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rPr>
                      <m:t>1−</m:t>
                    </m:r>
                    <m:r>
                      <a:rPr lang="es-419" sz="2800" i="1">
                        <a:latin typeface="Cambria Math" panose="02040503050406030204" pitchFamily="18" charset="0"/>
                        <a:ea typeface="Cambria Math" panose="02040503050406030204" pitchFamily="18" charset="0"/>
                      </a:rPr>
                      <m:t>𝛼</m:t>
                    </m:r>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ea typeface="Cambria Math" panose="02040503050406030204" pitchFamily="18" charset="0"/>
                      </a:rPr>
                      <m:t>𝑃</m:t>
                    </m:r>
                    <m:d>
                      <m:dPr>
                        <m:ctrlPr>
                          <a:rPr lang="es-419" sz="2800" i="1">
                            <a:latin typeface="Cambria Math" panose="02040503050406030204" pitchFamily="18" charset="0"/>
                            <a:ea typeface="Cambria Math" panose="02040503050406030204" pitchFamily="18" charset="0"/>
                          </a:rPr>
                        </m:ctrlPr>
                      </m:dPr>
                      <m:e>
                        <m:r>
                          <a:rPr lang="es-419" sz="2800" i="1">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ea typeface="Cambria Math" panose="02040503050406030204" pitchFamily="18" charset="0"/>
                              </a:rPr>
                            </m:ctrlPr>
                          </m:sSubPr>
                          <m:e>
                            <m:r>
                              <a:rPr lang="es-VE" sz="2800" b="0" i="1" smtClean="0">
                                <a:latin typeface="Cambria Math" panose="02040503050406030204" pitchFamily="18" charset="0"/>
                                <a:ea typeface="Cambria Math" panose="02040503050406030204" pitchFamily="18" charset="0"/>
                              </a:rPr>
                              <m:t>𝑧</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r>
                          <a:rPr lang="es-419" sz="2800" i="1">
                            <a:latin typeface="Cambria Math" panose="02040503050406030204" pitchFamily="18" charset="0"/>
                            <a:ea typeface="Cambria Math" panose="02040503050406030204" pitchFamily="18" charset="0"/>
                          </a:rPr>
                          <m:t>≤</m:t>
                        </m:r>
                        <m:f>
                          <m:fPr>
                            <m:ctrlPr>
                              <a:rPr lang="es-419" sz="2800" i="1">
                                <a:latin typeface="Cambria Math" panose="02040503050406030204" pitchFamily="18" charset="0"/>
                                <a:ea typeface="Cambria Math" panose="02040503050406030204" pitchFamily="18" charset="0"/>
                              </a:rPr>
                            </m:ctrlPr>
                          </m:fPr>
                          <m:num>
                            <m:r>
                              <a:rPr lang="es-419" sz="2800" b="0" i="1" smtClean="0">
                                <a:solidFill>
                                  <a:srgbClr val="003A5D"/>
                                </a:solidFill>
                                <a:latin typeface="Cambria Math" panose="02040503050406030204" pitchFamily="18" charset="0"/>
                                <a:ea typeface="Cambria Math" panose="02040503050406030204" pitchFamily="18" charset="0"/>
                              </a:rPr>
                              <m:t>𝑛</m:t>
                            </m:r>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𝑆</m:t>
                                </m:r>
                              </m:e>
                              <m:sup>
                                <m:r>
                                  <a:rPr lang="es-419" i="1" dirty="0">
                                    <a:latin typeface="Cambria Math" panose="02040503050406030204" pitchFamily="18" charset="0"/>
                                    <a:ea typeface="Cambria Math" panose="02040503050406030204" pitchFamily="18" charset="0"/>
                                  </a:rPr>
                                  <m:t>2</m:t>
                                </m:r>
                                <m:r>
                                  <a:rPr lang="es-VE" i="1" dirty="0">
                                    <a:latin typeface="Cambria Math" panose="02040503050406030204" pitchFamily="18" charset="0"/>
                                    <a:ea typeface="Cambria Math" panose="02040503050406030204" pitchFamily="18" charset="0"/>
                                  </a:rPr>
                                  <m:t>′</m:t>
                                </m:r>
                              </m:sup>
                            </m:sSup>
                            <m:r>
                              <a:rPr lang="es-419" sz="2800" b="0" i="1" dirty="0" smtClean="0">
                                <a:latin typeface="Cambria Math" panose="02040503050406030204" pitchFamily="18" charset="0"/>
                                <a:ea typeface="Cambria Math" panose="02040503050406030204" pitchFamily="18" charset="0"/>
                              </a:rPr>
                              <m:t>−(</m:t>
                            </m:r>
                            <m:r>
                              <a:rPr lang="es-419" sz="2800" b="0" i="1" dirty="0" smtClean="0">
                                <a:latin typeface="Cambria Math" panose="02040503050406030204" pitchFamily="18" charset="0"/>
                                <a:ea typeface="Cambria Math" panose="02040503050406030204" pitchFamily="18" charset="0"/>
                              </a:rPr>
                              <m:t>𝑛</m:t>
                            </m:r>
                            <m:r>
                              <a:rPr lang="es-419" sz="2800" b="0" i="1" dirty="0" smtClean="0">
                                <a:latin typeface="Cambria Math" panose="02040503050406030204" pitchFamily="18" charset="0"/>
                                <a:ea typeface="Cambria Math" panose="02040503050406030204" pitchFamily="18" charset="0"/>
                              </a:rPr>
                              <m:t>−1)</m:t>
                            </m:r>
                            <m:sSup>
                              <m:sSupPr>
                                <m:ctrlPr>
                                  <a:rPr lang="es-419" sz="2800" i="1" dirty="0">
                                    <a:latin typeface="Cambria Math" panose="02040503050406030204" pitchFamily="18" charset="0"/>
                                    <a:ea typeface="Cambria Math" panose="02040503050406030204" pitchFamily="18" charset="0"/>
                                  </a:rPr>
                                </m:ctrlPr>
                              </m:sSupPr>
                              <m:e>
                                <m:r>
                                  <a:rPr lang="es-419" sz="2800" i="1" dirty="0">
                                    <a:latin typeface="Cambria Math" panose="02040503050406030204" pitchFamily="18" charset="0"/>
                                    <a:ea typeface="Cambria Math" panose="02040503050406030204" pitchFamily="18" charset="0"/>
                                  </a:rPr>
                                  <m:t>𝜎</m:t>
                                </m:r>
                              </m:e>
                              <m:sup>
                                <m:r>
                                  <a:rPr lang="es-419" sz="2800" i="1" dirty="0">
                                    <a:latin typeface="Cambria Math" panose="02040503050406030204" pitchFamily="18" charset="0"/>
                                    <a:ea typeface="Cambria Math" panose="02040503050406030204" pitchFamily="18" charset="0"/>
                                  </a:rPr>
                                  <m:t>2</m:t>
                                </m:r>
                              </m:sup>
                            </m:sSup>
                          </m:num>
                          <m:den>
                            <m:sSup>
                              <m:sSupPr>
                                <m:ctrlPr>
                                  <a:rPr lang="es-419" sz="2800" i="1" dirty="0" smtClean="0">
                                    <a:solidFill>
                                      <a:srgbClr val="003A5D"/>
                                    </a:solidFill>
                                    <a:latin typeface="Cambria Math" panose="02040503050406030204" pitchFamily="18" charset="0"/>
                                    <a:ea typeface="Cambria Math" panose="02040503050406030204" pitchFamily="18" charset="0"/>
                                  </a:rPr>
                                </m:ctrlPr>
                              </m:sSupPr>
                              <m:e>
                                <m:r>
                                  <a:rPr lang="es-419" sz="2800" i="1" dirty="0">
                                    <a:solidFill>
                                      <a:srgbClr val="003A5D"/>
                                    </a:solidFill>
                                    <a:latin typeface="Cambria Math" panose="02040503050406030204" pitchFamily="18" charset="0"/>
                                    <a:ea typeface="Cambria Math" panose="02040503050406030204" pitchFamily="18" charset="0"/>
                                  </a:rPr>
                                  <m:t>𝜎</m:t>
                                </m:r>
                              </m:e>
                              <m:sup>
                                <m:r>
                                  <a:rPr lang="es-419" sz="2800" i="1" dirty="0">
                                    <a:solidFill>
                                      <a:srgbClr val="003A5D"/>
                                    </a:solidFill>
                                    <a:latin typeface="Cambria Math" panose="02040503050406030204" pitchFamily="18" charset="0"/>
                                    <a:ea typeface="Cambria Math" panose="02040503050406030204" pitchFamily="18" charset="0"/>
                                  </a:rPr>
                                  <m:t>2</m:t>
                                </m:r>
                              </m:sup>
                            </m:sSup>
                            <m:f>
                              <m:fPr>
                                <m:ctrlPr>
                                  <a:rPr lang="es-419" sz="2800" i="1" dirty="0" smtClean="0">
                                    <a:solidFill>
                                      <a:srgbClr val="003A5D"/>
                                    </a:solidFill>
                                    <a:latin typeface="Cambria Math" panose="02040503050406030204" pitchFamily="18" charset="0"/>
                                    <a:ea typeface="Cambria Math" panose="02040503050406030204" pitchFamily="18" charset="0"/>
                                  </a:rPr>
                                </m:ctrlPr>
                              </m:fPr>
                              <m:num>
                                <m:r>
                                  <a:rPr lang="es-419" sz="2800" b="0" i="1" dirty="0" smtClean="0">
                                    <a:solidFill>
                                      <a:srgbClr val="003A5D"/>
                                    </a:solidFill>
                                    <a:latin typeface="Cambria Math" panose="02040503050406030204" pitchFamily="18" charset="0"/>
                                    <a:ea typeface="Cambria Math" panose="02040503050406030204" pitchFamily="18" charset="0"/>
                                  </a:rPr>
                                  <m:t>𝑛</m:t>
                                </m:r>
                              </m:num>
                              <m:den>
                                <m:r>
                                  <a:rPr lang="es-419" sz="2800" b="0" i="1" dirty="0" smtClean="0">
                                    <a:solidFill>
                                      <a:srgbClr val="003A5D"/>
                                    </a:solidFill>
                                    <a:latin typeface="Cambria Math" panose="02040503050406030204" pitchFamily="18" charset="0"/>
                                    <a:ea typeface="Cambria Math" panose="02040503050406030204" pitchFamily="18" charset="0"/>
                                  </a:rPr>
                                  <m:t>𝑛</m:t>
                                </m:r>
                              </m:den>
                            </m:f>
                            <m:rad>
                              <m:radPr>
                                <m:degHide m:val="on"/>
                                <m:ctrlPr>
                                  <a:rPr lang="es-419" sz="2800" i="1" dirty="0" smtClean="0">
                                    <a:latin typeface="Cambria Math" panose="02040503050406030204" pitchFamily="18" charset="0"/>
                                    <a:ea typeface="Cambria Math" panose="02040503050406030204" pitchFamily="18" charset="0"/>
                                  </a:rPr>
                                </m:ctrlPr>
                              </m:radPr>
                              <m:deg/>
                              <m:e>
                                <m:r>
                                  <a:rPr lang="es-419" sz="2800" b="0" i="1" dirty="0" smtClean="0">
                                    <a:latin typeface="Cambria Math" panose="02040503050406030204" pitchFamily="18" charset="0"/>
                                    <a:ea typeface="Cambria Math" panose="02040503050406030204" pitchFamily="18" charset="0"/>
                                  </a:rPr>
                                  <m:t>2(</m:t>
                                </m:r>
                                <m:r>
                                  <a:rPr lang="es-419" sz="2800" b="0" i="1" dirty="0" smtClean="0">
                                    <a:latin typeface="Cambria Math" panose="02040503050406030204" pitchFamily="18" charset="0"/>
                                    <a:ea typeface="Cambria Math" panose="02040503050406030204" pitchFamily="18" charset="0"/>
                                  </a:rPr>
                                  <m:t>𝑛</m:t>
                                </m:r>
                                <m:r>
                                  <a:rPr lang="es-419" sz="2800" b="0" i="1" dirty="0" smtClean="0">
                                    <a:latin typeface="Cambria Math" panose="02040503050406030204" pitchFamily="18" charset="0"/>
                                    <a:ea typeface="Cambria Math" panose="02040503050406030204" pitchFamily="18" charset="0"/>
                                  </a:rPr>
                                  <m:t>−1)</m:t>
                                </m:r>
                              </m:e>
                            </m:rad>
                          </m:den>
                        </m:f>
                        <m:r>
                          <a:rPr lang="es-419" sz="2800" i="1">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ea typeface="Cambria Math" panose="02040503050406030204" pitchFamily="18" charset="0"/>
                              </a:rPr>
                            </m:ctrlPr>
                          </m:sSubPr>
                          <m:e>
                            <m:r>
                              <a:rPr lang="es-VE" sz="2800" b="0" i="1" smtClean="0">
                                <a:latin typeface="Cambria Math" panose="02040503050406030204" pitchFamily="18" charset="0"/>
                                <a:ea typeface="Cambria Math" panose="02040503050406030204" pitchFamily="18" charset="0"/>
                              </a:rPr>
                              <m:t>𝑧</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e>
                    </m: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rPr>
                      <m:t>1−</m:t>
                    </m:r>
                    <m:r>
                      <a:rPr lang="es-419" sz="2800" i="1">
                        <a:latin typeface="Cambria Math" panose="02040503050406030204" pitchFamily="18" charset="0"/>
                        <a:ea typeface="Cambria Math" panose="02040503050406030204" pitchFamily="18" charset="0"/>
                      </a:rPr>
                      <m:t>𝛼</m:t>
                    </m:r>
                  </m:oMath>
                </a14:m>
                <a:endParaRPr lang="es-419" sz="2800" dirty="0">
                  <a:latin typeface="Cambria Math" panose="02040503050406030204" pitchFamily="18" charset="0"/>
                  <a:ea typeface="Cambria Math" panose="02040503050406030204" pitchFamily="18" charset="0"/>
                </a:endParaRPr>
              </a:p>
              <a:p>
                <a:pPr marL="0" indent="0">
                  <a:lnSpc>
                    <a:spcPct val="150000"/>
                  </a:lnSpc>
                  <a:buNone/>
                </a:pPr>
                <a:endParaRPr lang="es-419" dirty="0">
                  <a:latin typeface="Cambria Math" panose="02040503050406030204" pitchFamily="18" charset="0"/>
                  <a:ea typeface="Cambria Math" panose="02040503050406030204" pitchFamily="18" charset="0"/>
                </a:endParaRPr>
              </a:p>
              <a:p>
                <a:pPr marL="0" indent="0">
                  <a:lnSpc>
                    <a:spcPct val="150000"/>
                  </a:lnSpc>
                  <a:buNone/>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ndParaRPr>
              </a:p>
              <a:p>
                <a:pPr>
                  <a:lnSpc>
                    <a:spcPct val="150000"/>
                  </a:lnSpc>
                </a:pPr>
                <a:endParaRPr lang="es-419" dirty="0">
                  <a:highlight>
                    <a:srgbClr val="FFFF00"/>
                  </a:highlight>
                </a:endParaRPr>
              </a:p>
              <a:p>
                <a:pPr>
                  <a:lnSpc>
                    <a:spcPct val="150000"/>
                  </a:lnSpc>
                </a:pPr>
                <a:endParaRPr lang="es-419" dirty="0">
                  <a:highlight>
                    <a:srgbClr val="FFFF00"/>
                  </a:highlight>
                </a:endParaRPr>
              </a:p>
              <a:p>
                <a:pPr marL="514350" indent="-514350">
                  <a:lnSpc>
                    <a:spcPct val="150000"/>
                  </a:lnSpc>
                  <a:buFont typeface="+mj-lt"/>
                  <a:buAutoNum type="alphaLcPeriod"/>
                </a:pPr>
                <a:endParaRPr lang="es-419" dirty="0">
                  <a:highlight>
                    <a:srgbClr val="FFFF00"/>
                  </a:highlight>
                </a:endParaRPr>
              </a:p>
              <a:p>
                <a:pPr>
                  <a:lnSpc>
                    <a:spcPct val="150000"/>
                  </a:lnSpc>
                </a:pPr>
                <a:endParaRPr lang="es-419" dirty="0">
                  <a:highlight>
                    <a:srgbClr val="FFFF00"/>
                  </a:highlight>
                </a:endParaRP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n-US">
                    <a:noFill/>
                  </a:rPr>
                  <a:t> </a:t>
                </a:r>
              </a:p>
            </p:txBody>
          </p:sp>
        </mc:Fallback>
      </mc:AlternateContent>
    </p:spTree>
    <p:extLst>
      <p:ext uri="{BB962C8B-B14F-4D97-AF65-F5344CB8AC3E}">
        <p14:creationId xmlns:p14="http://schemas.microsoft.com/office/powerpoint/2010/main" val="25850965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la varianza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lnSpcReduction="10000"/>
              </a:bodyPr>
              <a:lstStyle/>
              <a:p>
                <a:pPr marL="457200" indent="-457200">
                  <a:lnSpc>
                    <a:spcPct val="150000"/>
                  </a:lnSpc>
                  <a:buFont typeface="+mj-lt"/>
                  <a:buAutoNum type="arabicPeriod" startAt="2"/>
                </a:pPr>
                <a14:m>
                  <m:oMath xmlns:m="http://schemas.openxmlformats.org/officeDocument/2006/math">
                    <m:r>
                      <a:rPr lang="es-419" sz="2000" i="1" smtClean="0">
                        <a:latin typeface="Cambria Math" panose="02040503050406030204" pitchFamily="18" charset="0"/>
                        <a:ea typeface="Cambria Math" panose="02040503050406030204" pitchFamily="18" charset="0"/>
                      </a:rPr>
                      <m:t>𝑃</m:t>
                    </m:r>
                    <m:d>
                      <m:dPr>
                        <m:ctrlPr>
                          <a:rPr lang="es-419" sz="2000" i="1">
                            <a:latin typeface="Cambria Math" panose="02040503050406030204" pitchFamily="18" charset="0"/>
                            <a:ea typeface="Cambria Math" panose="02040503050406030204" pitchFamily="18" charset="0"/>
                          </a:rPr>
                        </m:ctrlPr>
                      </m:dPr>
                      <m:e>
                        <m:r>
                          <a:rPr lang="es-419" sz="2000" i="1">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r>
                          <a:rPr lang="es-419" sz="2000" i="1">
                            <a:latin typeface="Cambria Math" panose="02040503050406030204" pitchFamily="18" charset="0"/>
                            <a:ea typeface="Cambria Math" panose="02040503050406030204" pitchFamily="18" charset="0"/>
                          </a:rPr>
                          <m:t>≤</m:t>
                        </m:r>
                        <m:f>
                          <m:fPr>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𝑛</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𝑆</m:t>
                                </m:r>
                              </m:e>
                              <m:sup>
                                <m:r>
                                  <a:rPr lang="es-419" sz="2000" i="1" dirty="0">
                                    <a:latin typeface="Cambria Math" panose="02040503050406030204" pitchFamily="18" charset="0"/>
                                    <a:ea typeface="Cambria Math" panose="02040503050406030204" pitchFamily="18" charset="0"/>
                                  </a:rPr>
                                  <m:t>2</m:t>
                                </m:r>
                                <m:r>
                                  <a:rPr lang="es-VE" sz="2000" i="1" dirty="0">
                                    <a:latin typeface="Cambria Math" panose="02040503050406030204" pitchFamily="18" charset="0"/>
                                    <a:ea typeface="Cambria Math" panose="02040503050406030204" pitchFamily="18" charset="0"/>
                                  </a:rPr>
                                  <m:t>′</m:t>
                                </m:r>
                              </m:sup>
                            </m:sSup>
                            <m:r>
                              <a:rPr lang="es-419" sz="2000" i="1" dirty="0">
                                <a:latin typeface="Cambria Math" panose="02040503050406030204" pitchFamily="18" charset="0"/>
                                <a:ea typeface="Cambria Math" panose="02040503050406030204" pitchFamily="18" charset="0"/>
                              </a:rPr>
                              <m:t>−(</m:t>
                            </m:r>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𝜎</m:t>
                                </m:r>
                              </m:e>
                              <m:sup>
                                <m:r>
                                  <a:rPr lang="es-419" sz="2000" i="1" dirty="0">
                                    <a:latin typeface="Cambria Math" panose="02040503050406030204" pitchFamily="18" charset="0"/>
                                    <a:ea typeface="Cambria Math" panose="02040503050406030204" pitchFamily="18" charset="0"/>
                                  </a:rPr>
                                  <m:t>2</m:t>
                                </m:r>
                              </m:sup>
                            </m:sSup>
                          </m:num>
                          <m:den>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𝜎</m:t>
                                </m:r>
                              </m:e>
                              <m:sup>
                                <m:r>
                                  <a:rPr lang="es-419" sz="2000" i="1" dirty="0">
                                    <a:latin typeface="Cambria Math" panose="02040503050406030204" pitchFamily="18" charset="0"/>
                                    <a:ea typeface="Cambria Math" panose="02040503050406030204" pitchFamily="18" charset="0"/>
                                  </a:rPr>
                                  <m:t>2</m:t>
                                </m:r>
                              </m:sup>
                            </m:sSup>
                            <m:rad>
                              <m:radPr>
                                <m:degHide m:val="on"/>
                                <m:ctrlPr>
                                  <a:rPr lang="es-419" sz="2000" i="1" dirty="0">
                                    <a:latin typeface="Cambria Math" panose="02040503050406030204" pitchFamily="18" charset="0"/>
                                    <a:ea typeface="Cambria Math" panose="02040503050406030204" pitchFamily="18" charset="0"/>
                                  </a:rPr>
                                </m:ctrlPr>
                              </m:radPr>
                              <m:deg/>
                              <m:e>
                                <m:r>
                                  <a:rPr lang="es-419" sz="2000" i="1" dirty="0">
                                    <a:latin typeface="Cambria Math" panose="02040503050406030204" pitchFamily="18" charset="0"/>
                                    <a:ea typeface="Cambria Math" panose="02040503050406030204" pitchFamily="18" charset="0"/>
                                  </a:rPr>
                                  <m:t>2(</m:t>
                                </m:r>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e>
                            </m:rad>
                          </m:den>
                        </m:f>
                        <m:r>
                          <a:rPr lang="es-419" sz="2000" i="1">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e>
                    </m:d>
                    <m:r>
                      <a:rPr lang="es-419" sz="2000" i="1">
                        <a:latin typeface="Cambria Math" panose="02040503050406030204" pitchFamily="18" charset="0"/>
                        <a:ea typeface="Cambria Math" panose="02040503050406030204" pitchFamily="18" charset="0"/>
                      </a:rPr>
                      <m:t>=</m:t>
                    </m:r>
                    <m:r>
                      <a:rPr lang="es-419" sz="2000" i="1">
                        <a:latin typeface="Cambria Math" panose="02040503050406030204" pitchFamily="18" charset="0"/>
                      </a:rPr>
                      <m:t>1−</m:t>
                    </m:r>
                    <m:r>
                      <a:rPr lang="es-419" sz="2000" i="1">
                        <a:latin typeface="Cambria Math" panose="02040503050406030204" pitchFamily="18" charset="0"/>
                        <a:ea typeface="Cambria Math" panose="02040503050406030204" pitchFamily="18" charset="0"/>
                      </a:rPr>
                      <m:t>𝛼</m:t>
                    </m:r>
                    <m:r>
                      <a:rPr lang="es-419" sz="2000" i="1">
                        <a:latin typeface="Cambria Math" panose="02040503050406030204" pitchFamily="18" charset="0"/>
                        <a:ea typeface="Cambria Math" panose="02040503050406030204" pitchFamily="18" charset="0"/>
                      </a:rPr>
                      <m:t>→</m:t>
                    </m:r>
                    <m:r>
                      <a:rPr lang="es-419" sz="2000" i="1">
                        <a:latin typeface="Cambria Math" panose="02040503050406030204" pitchFamily="18" charset="0"/>
                        <a:ea typeface="Cambria Math" panose="02040503050406030204" pitchFamily="18" charset="0"/>
                      </a:rPr>
                      <m:t>𝑃</m:t>
                    </m:r>
                    <m:d>
                      <m:dPr>
                        <m:ctrlPr>
                          <a:rPr lang="es-419" sz="2000" i="1">
                            <a:latin typeface="Cambria Math" panose="02040503050406030204" pitchFamily="18" charset="0"/>
                            <a:ea typeface="Cambria Math" panose="02040503050406030204" pitchFamily="18" charset="0"/>
                          </a:rPr>
                        </m:ctrlPr>
                      </m:dPr>
                      <m:e>
                        <m:r>
                          <a:rPr lang="es-419" sz="2000" i="1">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r>
                          <a:rPr lang="es-419" sz="2000" i="1">
                            <a:latin typeface="Cambria Math" panose="02040503050406030204" pitchFamily="18" charset="0"/>
                            <a:ea typeface="Cambria Math" panose="02040503050406030204" pitchFamily="18" charset="0"/>
                          </a:rPr>
                          <m:t>≤</m:t>
                        </m:r>
                        <m:f>
                          <m:fPr>
                            <m:ctrlPr>
                              <a:rPr lang="es-419" sz="2000" i="1">
                                <a:latin typeface="Cambria Math" panose="02040503050406030204" pitchFamily="18" charset="0"/>
                                <a:ea typeface="Cambria Math" panose="02040503050406030204" pitchFamily="18" charset="0"/>
                              </a:rPr>
                            </m:ctrlPr>
                          </m:fPr>
                          <m:num>
                            <m:sSup>
                              <m:sSupPr>
                                <m:ctrlPr>
                                  <a:rPr lang="es-419" sz="2000" i="1" dirty="0" smtClean="0">
                                    <a:solidFill>
                                      <a:srgbClr val="FF0000"/>
                                    </a:solidFill>
                                    <a:latin typeface="Cambria Math" panose="02040503050406030204" pitchFamily="18" charset="0"/>
                                    <a:ea typeface="Cambria Math" panose="02040503050406030204" pitchFamily="18" charset="0"/>
                                  </a:rPr>
                                </m:ctrlPr>
                              </m:sSupPr>
                              <m:e>
                                <m:r>
                                  <a:rPr lang="es-419" sz="2000" i="1" dirty="0">
                                    <a:solidFill>
                                      <a:srgbClr val="FF0000"/>
                                    </a:solidFill>
                                    <a:latin typeface="Cambria Math" panose="02040503050406030204" pitchFamily="18" charset="0"/>
                                    <a:ea typeface="Cambria Math" panose="02040503050406030204" pitchFamily="18" charset="0"/>
                                  </a:rPr>
                                  <m:t>𝜎</m:t>
                                </m:r>
                              </m:e>
                              <m:sup>
                                <m:r>
                                  <a:rPr lang="es-419" sz="2000" i="1" dirty="0">
                                    <a:solidFill>
                                      <a:srgbClr val="FF0000"/>
                                    </a:solidFill>
                                    <a:latin typeface="Cambria Math" panose="02040503050406030204" pitchFamily="18" charset="0"/>
                                    <a:ea typeface="Cambria Math" panose="02040503050406030204" pitchFamily="18" charset="0"/>
                                  </a:rPr>
                                  <m:t>2</m:t>
                                </m:r>
                              </m:sup>
                            </m:sSup>
                            <m:r>
                              <a:rPr lang="es-419" sz="2000" b="0" i="1" smtClean="0">
                                <a:latin typeface="Cambria Math" panose="02040503050406030204" pitchFamily="18" charset="0"/>
                                <a:ea typeface="Cambria Math" panose="02040503050406030204" pitchFamily="18" charset="0"/>
                              </a:rPr>
                              <m:t>(</m:t>
                            </m:r>
                            <m:f>
                              <m:fPr>
                                <m:ctrlPr>
                                  <a:rPr lang="es-419" sz="2000" i="1" smtClean="0">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𝑛</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𝑆</m:t>
                                    </m:r>
                                  </m:e>
                                  <m:sup>
                                    <m:r>
                                      <a:rPr lang="es-419" sz="2000" i="1" dirty="0">
                                        <a:latin typeface="Cambria Math" panose="02040503050406030204" pitchFamily="18" charset="0"/>
                                        <a:ea typeface="Cambria Math" panose="02040503050406030204" pitchFamily="18" charset="0"/>
                                      </a:rPr>
                                      <m:t>2</m:t>
                                    </m:r>
                                    <m:r>
                                      <a:rPr lang="es-VE" sz="2000" i="1" dirty="0">
                                        <a:latin typeface="Cambria Math" panose="02040503050406030204" pitchFamily="18" charset="0"/>
                                        <a:ea typeface="Cambria Math" panose="02040503050406030204" pitchFamily="18" charset="0"/>
                                      </a:rPr>
                                      <m:t>′</m:t>
                                    </m:r>
                                  </m:sup>
                                </m:sSup>
                              </m:num>
                              <m:den>
                                <m:sSup>
                                  <m:sSupPr>
                                    <m:ctrlPr>
                                      <a:rPr lang="es-419" sz="2000" i="1" dirty="0" smtClean="0">
                                        <a:solidFill>
                                          <a:srgbClr val="FF0000"/>
                                        </a:solidFill>
                                        <a:latin typeface="Cambria Math" panose="02040503050406030204" pitchFamily="18" charset="0"/>
                                        <a:ea typeface="Cambria Math" panose="02040503050406030204" pitchFamily="18" charset="0"/>
                                      </a:rPr>
                                    </m:ctrlPr>
                                  </m:sSupPr>
                                  <m:e>
                                    <m:r>
                                      <a:rPr lang="es-419" sz="2000" i="1" dirty="0">
                                        <a:solidFill>
                                          <a:srgbClr val="FF0000"/>
                                        </a:solidFill>
                                        <a:latin typeface="Cambria Math" panose="02040503050406030204" pitchFamily="18" charset="0"/>
                                        <a:ea typeface="Cambria Math" panose="02040503050406030204" pitchFamily="18" charset="0"/>
                                      </a:rPr>
                                      <m:t>𝜎</m:t>
                                    </m:r>
                                  </m:e>
                                  <m:sup>
                                    <m:r>
                                      <a:rPr lang="es-419" sz="2000" i="1" dirty="0">
                                        <a:solidFill>
                                          <a:srgbClr val="FF0000"/>
                                        </a:solidFill>
                                        <a:latin typeface="Cambria Math" panose="02040503050406030204" pitchFamily="18" charset="0"/>
                                        <a:ea typeface="Cambria Math" panose="02040503050406030204" pitchFamily="18" charset="0"/>
                                      </a:rPr>
                                      <m:t>2</m:t>
                                    </m:r>
                                  </m:sup>
                                </m:sSup>
                              </m:den>
                            </m:f>
                            <m:r>
                              <a:rPr lang="es-419" sz="2000" i="1" dirty="0">
                                <a:latin typeface="Cambria Math" panose="02040503050406030204" pitchFamily="18" charset="0"/>
                                <a:ea typeface="Cambria Math" panose="02040503050406030204" pitchFamily="18" charset="0"/>
                              </a:rPr>
                              <m:t>−</m:t>
                            </m:r>
                            <m:d>
                              <m:dPr>
                                <m:ctrlPr>
                                  <a:rPr lang="es-419" sz="2000" i="1" dirty="0">
                                    <a:latin typeface="Cambria Math" panose="02040503050406030204" pitchFamily="18" charset="0"/>
                                    <a:ea typeface="Cambria Math" panose="02040503050406030204" pitchFamily="18" charset="0"/>
                                  </a:rPr>
                                </m:ctrlPr>
                              </m:dPr>
                              <m:e>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e>
                            </m:d>
                            <m:r>
                              <a:rPr lang="es-419" sz="2000" b="0" i="1" dirty="0" smtClean="0">
                                <a:latin typeface="Cambria Math" panose="02040503050406030204" pitchFamily="18" charset="0"/>
                                <a:ea typeface="Cambria Math" panose="02040503050406030204" pitchFamily="18" charset="0"/>
                              </a:rPr>
                              <m:t>)</m:t>
                            </m:r>
                            <m:r>
                              <a:rPr lang="es-419" sz="2000" i="1" dirty="0" smtClean="0">
                                <a:latin typeface="Cambria Math" panose="02040503050406030204" pitchFamily="18" charset="0"/>
                                <a:ea typeface="Cambria Math" panose="02040503050406030204" pitchFamily="18" charset="0"/>
                              </a:rPr>
                              <m:t> </m:t>
                            </m:r>
                          </m:num>
                          <m:den>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𝜎</m:t>
                                </m:r>
                              </m:e>
                              <m:sup>
                                <m:r>
                                  <a:rPr lang="es-419" sz="2000" i="1" dirty="0">
                                    <a:latin typeface="Cambria Math" panose="02040503050406030204" pitchFamily="18" charset="0"/>
                                    <a:ea typeface="Cambria Math" panose="02040503050406030204" pitchFamily="18" charset="0"/>
                                  </a:rPr>
                                  <m:t>2</m:t>
                                </m:r>
                              </m:sup>
                            </m:sSup>
                            <m:rad>
                              <m:radPr>
                                <m:degHide m:val="on"/>
                                <m:ctrlPr>
                                  <a:rPr lang="es-419" sz="2000" i="1" dirty="0">
                                    <a:latin typeface="Cambria Math" panose="02040503050406030204" pitchFamily="18" charset="0"/>
                                    <a:ea typeface="Cambria Math" panose="02040503050406030204" pitchFamily="18" charset="0"/>
                                  </a:rPr>
                                </m:ctrlPr>
                              </m:radPr>
                              <m:deg/>
                              <m:e>
                                <m:r>
                                  <a:rPr lang="es-419" sz="2000" i="1" dirty="0">
                                    <a:latin typeface="Cambria Math" panose="02040503050406030204" pitchFamily="18" charset="0"/>
                                    <a:ea typeface="Cambria Math" panose="02040503050406030204" pitchFamily="18" charset="0"/>
                                  </a:rPr>
                                  <m:t>2(</m:t>
                                </m:r>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e>
                            </m:rad>
                          </m:den>
                        </m:f>
                        <m:r>
                          <a:rPr lang="es-419" sz="2000" i="1">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e>
                    </m:d>
                    <m:r>
                      <a:rPr lang="es-419" sz="2000" i="1">
                        <a:latin typeface="Cambria Math" panose="02040503050406030204" pitchFamily="18" charset="0"/>
                        <a:ea typeface="Cambria Math" panose="02040503050406030204" pitchFamily="18" charset="0"/>
                      </a:rPr>
                      <m:t>=</m:t>
                    </m:r>
                    <m:r>
                      <a:rPr lang="es-419" sz="2000" i="1">
                        <a:latin typeface="Cambria Math" panose="02040503050406030204" pitchFamily="18" charset="0"/>
                      </a:rPr>
                      <m:t>1−</m:t>
                    </m:r>
                    <m:r>
                      <a:rPr lang="es-419" sz="2000" i="1">
                        <a:latin typeface="Cambria Math" panose="02040503050406030204" pitchFamily="18" charset="0"/>
                        <a:ea typeface="Cambria Math" panose="02040503050406030204" pitchFamily="18" charset="0"/>
                      </a:rPr>
                      <m:t>𝛼</m:t>
                    </m:r>
                  </m:oMath>
                </a14:m>
                <a:endParaRPr lang="es-419" sz="2000" dirty="0">
                  <a:latin typeface="Cambria Math" panose="02040503050406030204" pitchFamily="18" charset="0"/>
                  <a:ea typeface="Cambria Math" panose="02040503050406030204" pitchFamily="18" charset="0"/>
                </a:endParaRPr>
              </a:p>
              <a:p>
                <a:pPr marL="457200" indent="-457200">
                  <a:lnSpc>
                    <a:spcPct val="150000"/>
                  </a:lnSpc>
                  <a:buFont typeface="+mj-lt"/>
                  <a:buAutoNum type="arabicPeriod" startAt="2"/>
                </a:pPr>
                <a14:m>
                  <m:oMath xmlns:m="http://schemas.openxmlformats.org/officeDocument/2006/math">
                    <m:r>
                      <a:rPr lang="es-419" sz="2000" i="1" smtClean="0">
                        <a:latin typeface="Cambria Math" panose="02040503050406030204" pitchFamily="18" charset="0"/>
                        <a:ea typeface="Cambria Math" panose="02040503050406030204" pitchFamily="18" charset="0"/>
                      </a:rPr>
                      <m:t>𝑃</m:t>
                    </m:r>
                    <m:d>
                      <m:dPr>
                        <m:ctrlPr>
                          <a:rPr lang="es-419" sz="2000" i="1">
                            <a:latin typeface="Cambria Math" panose="02040503050406030204" pitchFamily="18" charset="0"/>
                            <a:ea typeface="Cambria Math" panose="02040503050406030204" pitchFamily="18" charset="0"/>
                          </a:rPr>
                        </m:ctrlPr>
                      </m:dPr>
                      <m:e>
                        <m:r>
                          <a:rPr lang="es-419" sz="2000" i="1">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r>
                          <a:rPr lang="es-419" sz="2000" i="1">
                            <a:latin typeface="Cambria Math" panose="02040503050406030204" pitchFamily="18" charset="0"/>
                            <a:ea typeface="Cambria Math" panose="02040503050406030204" pitchFamily="18" charset="0"/>
                          </a:rPr>
                          <m:t>≤</m:t>
                        </m:r>
                        <m:f>
                          <m:fPr>
                            <m:ctrlPr>
                              <a:rPr lang="es-419" sz="2000" i="1">
                                <a:latin typeface="Cambria Math" panose="02040503050406030204" pitchFamily="18" charset="0"/>
                                <a:ea typeface="Cambria Math" panose="02040503050406030204" pitchFamily="18" charset="0"/>
                              </a:rPr>
                            </m:ctrlPr>
                          </m:fPr>
                          <m:num>
                            <m:r>
                              <a:rPr lang="es-419" sz="2000" i="1" dirty="0" smtClean="0">
                                <a:solidFill>
                                  <a:srgbClr val="FF0000"/>
                                </a:solidFill>
                                <a:latin typeface="Cambria Math" panose="02040503050406030204" pitchFamily="18" charset="0"/>
                                <a:ea typeface="Cambria Math" panose="02040503050406030204" pitchFamily="18" charset="0"/>
                              </a:rPr>
                              <m:t> </m:t>
                            </m:r>
                            <m:r>
                              <a:rPr lang="es-419" sz="2000" b="0" i="1" smtClean="0">
                                <a:solidFill>
                                  <a:schemeClr val="tx1"/>
                                </a:solidFill>
                                <a:latin typeface="Cambria Math" panose="02040503050406030204" pitchFamily="18" charset="0"/>
                                <a:ea typeface="Cambria Math" panose="02040503050406030204" pitchFamily="18" charset="0"/>
                              </a:rPr>
                              <m:t>(</m:t>
                            </m:r>
                            <m:f>
                              <m:fPr>
                                <m:ctrlPr>
                                  <a:rPr lang="es-419" sz="2000" i="1" smtClean="0">
                                    <a:solidFill>
                                      <a:schemeClr val="tx1"/>
                                    </a:solidFill>
                                    <a:latin typeface="Cambria Math" panose="02040503050406030204" pitchFamily="18" charset="0"/>
                                    <a:ea typeface="Cambria Math" panose="02040503050406030204" pitchFamily="18" charset="0"/>
                                  </a:rPr>
                                </m:ctrlPr>
                              </m:fPr>
                              <m:num>
                                <m:r>
                                  <a:rPr lang="es-419" sz="2000" i="1">
                                    <a:solidFill>
                                      <a:schemeClr val="tx1"/>
                                    </a:solidFill>
                                    <a:latin typeface="Cambria Math" panose="02040503050406030204" pitchFamily="18" charset="0"/>
                                    <a:ea typeface="Cambria Math" panose="02040503050406030204" pitchFamily="18" charset="0"/>
                                  </a:rPr>
                                  <m:t>𝑛</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𝑆</m:t>
                                    </m:r>
                                  </m:e>
                                  <m:sup>
                                    <m:r>
                                      <a:rPr lang="es-419" sz="2000" i="1" dirty="0">
                                        <a:latin typeface="Cambria Math" panose="02040503050406030204" pitchFamily="18" charset="0"/>
                                        <a:ea typeface="Cambria Math" panose="02040503050406030204" pitchFamily="18" charset="0"/>
                                      </a:rPr>
                                      <m:t>2</m:t>
                                    </m:r>
                                    <m:r>
                                      <a:rPr lang="es-VE" sz="2000" i="1" dirty="0">
                                        <a:latin typeface="Cambria Math" panose="02040503050406030204" pitchFamily="18" charset="0"/>
                                        <a:ea typeface="Cambria Math" panose="02040503050406030204" pitchFamily="18" charset="0"/>
                                      </a:rPr>
                                      <m:t>′</m:t>
                                    </m:r>
                                  </m:sup>
                                </m:sSup>
                              </m:num>
                              <m:den>
                                <m:sSup>
                                  <m:sSupPr>
                                    <m:ctrlPr>
                                      <a:rPr lang="es-419" sz="2000" i="1" dirty="0" smtClean="0">
                                        <a:solidFill>
                                          <a:schemeClr val="tx1"/>
                                        </a:solidFill>
                                        <a:latin typeface="Cambria Math" panose="02040503050406030204" pitchFamily="18" charset="0"/>
                                        <a:ea typeface="Cambria Math" panose="02040503050406030204" pitchFamily="18" charset="0"/>
                                      </a:rPr>
                                    </m:ctrlPr>
                                  </m:sSupPr>
                                  <m:e>
                                    <m:r>
                                      <a:rPr lang="es-419" sz="2000" i="1" dirty="0">
                                        <a:solidFill>
                                          <a:schemeClr val="tx1"/>
                                        </a:solidFill>
                                        <a:latin typeface="Cambria Math" panose="02040503050406030204" pitchFamily="18" charset="0"/>
                                        <a:ea typeface="Cambria Math" panose="02040503050406030204" pitchFamily="18" charset="0"/>
                                      </a:rPr>
                                      <m:t>𝜎</m:t>
                                    </m:r>
                                  </m:e>
                                  <m:sup>
                                    <m:r>
                                      <a:rPr lang="es-419" sz="2000" i="1" dirty="0">
                                        <a:solidFill>
                                          <a:schemeClr val="tx1"/>
                                        </a:solidFill>
                                        <a:latin typeface="Cambria Math" panose="02040503050406030204" pitchFamily="18" charset="0"/>
                                        <a:ea typeface="Cambria Math" panose="02040503050406030204" pitchFamily="18" charset="0"/>
                                      </a:rPr>
                                      <m:t>2</m:t>
                                    </m:r>
                                  </m:sup>
                                </m:sSup>
                              </m:den>
                            </m:f>
                            <m:r>
                              <a:rPr lang="es-419" sz="2000" i="1" dirty="0">
                                <a:latin typeface="Cambria Math" panose="02040503050406030204" pitchFamily="18" charset="0"/>
                                <a:ea typeface="Cambria Math" panose="02040503050406030204" pitchFamily="18" charset="0"/>
                              </a:rPr>
                              <m:t>−</m:t>
                            </m:r>
                            <m:d>
                              <m:dPr>
                                <m:ctrlPr>
                                  <a:rPr lang="es-419" sz="2000" i="1" dirty="0">
                                    <a:latin typeface="Cambria Math" panose="02040503050406030204" pitchFamily="18" charset="0"/>
                                    <a:ea typeface="Cambria Math" panose="02040503050406030204" pitchFamily="18" charset="0"/>
                                  </a:rPr>
                                </m:ctrlPr>
                              </m:dPr>
                              <m:e>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e>
                            </m:d>
                            <m:r>
                              <a:rPr lang="es-419" sz="2000" b="0" i="1" dirty="0" smtClean="0">
                                <a:latin typeface="Cambria Math" panose="02040503050406030204" pitchFamily="18" charset="0"/>
                                <a:ea typeface="Cambria Math" panose="02040503050406030204" pitchFamily="18" charset="0"/>
                              </a:rPr>
                              <m:t>)</m:t>
                            </m:r>
                            <m:r>
                              <a:rPr lang="es-419" sz="2000" i="1" dirty="0" smtClean="0">
                                <a:latin typeface="Cambria Math" panose="02040503050406030204" pitchFamily="18" charset="0"/>
                                <a:ea typeface="Cambria Math" panose="02040503050406030204" pitchFamily="18" charset="0"/>
                              </a:rPr>
                              <m:t> </m:t>
                            </m:r>
                          </m:num>
                          <m:den>
                            <m:rad>
                              <m:radPr>
                                <m:degHide m:val="on"/>
                                <m:ctrlPr>
                                  <a:rPr lang="es-419" sz="2000" i="1" dirty="0">
                                    <a:latin typeface="Cambria Math" panose="02040503050406030204" pitchFamily="18" charset="0"/>
                                    <a:ea typeface="Cambria Math" panose="02040503050406030204" pitchFamily="18" charset="0"/>
                                  </a:rPr>
                                </m:ctrlPr>
                              </m:radPr>
                              <m:deg/>
                              <m:e>
                                <m:r>
                                  <a:rPr lang="es-419" sz="2000" i="1" dirty="0">
                                    <a:latin typeface="Cambria Math" panose="02040503050406030204" pitchFamily="18" charset="0"/>
                                    <a:ea typeface="Cambria Math" panose="02040503050406030204" pitchFamily="18" charset="0"/>
                                  </a:rPr>
                                  <m:t>2(</m:t>
                                </m:r>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e>
                            </m:rad>
                          </m:den>
                        </m:f>
                        <m:r>
                          <a:rPr lang="es-419" sz="2000" i="1">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e>
                    </m:d>
                    <m:r>
                      <a:rPr lang="es-419" sz="2000" i="1">
                        <a:latin typeface="Cambria Math" panose="02040503050406030204" pitchFamily="18" charset="0"/>
                        <a:ea typeface="Cambria Math" panose="02040503050406030204" pitchFamily="18" charset="0"/>
                      </a:rPr>
                      <m:t>=</m:t>
                    </m:r>
                    <m:r>
                      <a:rPr lang="es-419" sz="2000" i="1">
                        <a:latin typeface="Cambria Math" panose="02040503050406030204" pitchFamily="18" charset="0"/>
                      </a:rPr>
                      <m:t>1−</m:t>
                    </m:r>
                    <m:r>
                      <a:rPr lang="es-419" sz="2000" i="1">
                        <a:latin typeface="Cambria Math" panose="02040503050406030204" pitchFamily="18" charset="0"/>
                        <a:ea typeface="Cambria Math" panose="02040503050406030204" pitchFamily="18" charset="0"/>
                      </a:rPr>
                      <m:t>𝛼</m:t>
                    </m:r>
                  </m:oMath>
                </a14:m>
                <a:endParaRPr lang="es-419" sz="2000" dirty="0">
                  <a:latin typeface="Cambria Math" panose="02040503050406030204" pitchFamily="18" charset="0"/>
                  <a:ea typeface="Cambria Math" panose="02040503050406030204" pitchFamily="18" charset="0"/>
                </a:endParaRPr>
              </a:p>
              <a:p>
                <a:pPr marL="457200" indent="-457200">
                  <a:lnSpc>
                    <a:spcPct val="150000"/>
                  </a:lnSpc>
                  <a:buFont typeface="+mj-lt"/>
                  <a:buAutoNum type="arabicPeriod" startAt="2"/>
                </a:pPr>
                <a14:m>
                  <m:oMath xmlns:m="http://schemas.openxmlformats.org/officeDocument/2006/math">
                    <m:r>
                      <a:rPr lang="es-419" sz="2000" i="1" smtClean="0">
                        <a:latin typeface="Cambria Math" panose="02040503050406030204" pitchFamily="18" charset="0"/>
                        <a:ea typeface="Cambria Math" panose="02040503050406030204" pitchFamily="18" charset="0"/>
                      </a:rPr>
                      <m:t>𝑃</m:t>
                    </m:r>
                    <m:d>
                      <m:dPr>
                        <m:ctrlPr>
                          <a:rPr lang="es-419" sz="2000" i="1">
                            <a:latin typeface="Cambria Math" panose="02040503050406030204" pitchFamily="18" charset="0"/>
                            <a:ea typeface="Cambria Math" panose="02040503050406030204" pitchFamily="18" charset="0"/>
                          </a:rPr>
                        </m:ctrlPr>
                      </m:dPr>
                      <m:e>
                        <m:d>
                          <m:dPr>
                            <m:ctrlPr>
                              <a:rPr lang="es-419" sz="2000" b="0" i="1" smtClean="0">
                                <a:solidFill>
                                  <a:srgbClr val="003A5D"/>
                                </a:solidFill>
                                <a:latin typeface="Cambria Math" panose="02040503050406030204" pitchFamily="18" charset="0"/>
                                <a:ea typeface="Cambria Math" panose="02040503050406030204" pitchFamily="18" charset="0"/>
                              </a:rPr>
                            </m:ctrlPr>
                          </m:dPr>
                          <m:e>
                            <m:r>
                              <a:rPr lang="es-419" sz="2000" b="0" i="1" smtClean="0">
                                <a:solidFill>
                                  <a:srgbClr val="003A5D"/>
                                </a:solidFill>
                                <a:latin typeface="Cambria Math" panose="02040503050406030204" pitchFamily="18" charset="0"/>
                                <a:ea typeface="Cambria Math" panose="02040503050406030204" pitchFamily="18" charset="0"/>
                              </a:rPr>
                              <m:t>𝑛</m:t>
                            </m:r>
                            <m:r>
                              <a:rPr lang="es-419" sz="2000" b="0" i="1" smtClean="0">
                                <a:solidFill>
                                  <a:srgbClr val="003A5D"/>
                                </a:solidFill>
                                <a:latin typeface="Cambria Math" panose="02040503050406030204" pitchFamily="18" charset="0"/>
                                <a:ea typeface="Cambria Math" panose="02040503050406030204" pitchFamily="18" charset="0"/>
                              </a:rPr>
                              <m:t>−1</m:t>
                            </m:r>
                          </m:e>
                        </m:d>
                        <m:r>
                          <a:rPr lang="es-419" sz="2000" i="1">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rad>
                          <m:radPr>
                            <m:degHide m:val="on"/>
                            <m:ctrlPr>
                              <a:rPr lang="es-419" sz="2000" i="1" dirty="0" smtClean="0">
                                <a:solidFill>
                                  <a:srgbClr val="003A5D"/>
                                </a:solidFill>
                                <a:latin typeface="Cambria Math" panose="02040503050406030204" pitchFamily="18" charset="0"/>
                                <a:ea typeface="Cambria Math" panose="02040503050406030204" pitchFamily="18" charset="0"/>
                              </a:rPr>
                            </m:ctrlPr>
                          </m:radPr>
                          <m:deg/>
                          <m:e>
                            <m:r>
                              <a:rPr lang="es-419" sz="2000" i="1" dirty="0">
                                <a:solidFill>
                                  <a:srgbClr val="003A5D"/>
                                </a:solidFill>
                                <a:latin typeface="Cambria Math" panose="02040503050406030204" pitchFamily="18" charset="0"/>
                                <a:ea typeface="Cambria Math" panose="02040503050406030204" pitchFamily="18" charset="0"/>
                              </a:rPr>
                              <m:t>2</m:t>
                            </m:r>
                            <m:d>
                              <m:dPr>
                                <m:ctrlPr>
                                  <a:rPr lang="es-419" sz="2000" i="1" dirty="0">
                                    <a:solidFill>
                                      <a:srgbClr val="003A5D"/>
                                    </a:solidFill>
                                    <a:latin typeface="Cambria Math" panose="02040503050406030204" pitchFamily="18" charset="0"/>
                                    <a:ea typeface="Cambria Math" panose="02040503050406030204" pitchFamily="18" charset="0"/>
                                  </a:rPr>
                                </m:ctrlPr>
                              </m:dPr>
                              <m:e>
                                <m:r>
                                  <a:rPr lang="es-419" sz="2000" i="1" dirty="0">
                                    <a:solidFill>
                                      <a:srgbClr val="003A5D"/>
                                    </a:solidFill>
                                    <a:latin typeface="Cambria Math" panose="02040503050406030204" pitchFamily="18" charset="0"/>
                                    <a:ea typeface="Cambria Math" panose="02040503050406030204" pitchFamily="18" charset="0"/>
                                  </a:rPr>
                                  <m:t>𝑛</m:t>
                                </m:r>
                                <m:r>
                                  <a:rPr lang="es-419" sz="2000" i="1" dirty="0">
                                    <a:solidFill>
                                      <a:srgbClr val="003A5D"/>
                                    </a:solidFill>
                                    <a:latin typeface="Cambria Math" panose="02040503050406030204" pitchFamily="18" charset="0"/>
                                    <a:ea typeface="Cambria Math" panose="02040503050406030204" pitchFamily="18" charset="0"/>
                                  </a:rPr>
                                  <m:t>−1</m:t>
                                </m:r>
                              </m:e>
                            </m:d>
                          </m:e>
                        </m:rad>
                        <m:r>
                          <a:rPr lang="es-419" sz="2000" i="1">
                            <a:latin typeface="Cambria Math" panose="02040503050406030204" pitchFamily="18" charset="0"/>
                            <a:ea typeface="Cambria Math" panose="02040503050406030204" pitchFamily="18" charset="0"/>
                          </a:rPr>
                          <m:t>≤</m:t>
                        </m:r>
                        <m:f>
                          <m:fPr>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𝑛</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𝑆</m:t>
                                </m:r>
                              </m:e>
                              <m:sup>
                                <m:r>
                                  <a:rPr lang="es-419" sz="2000" i="1" dirty="0">
                                    <a:latin typeface="Cambria Math" panose="02040503050406030204" pitchFamily="18" charset="0"/>
                                    <a:ea typeface="Cambria Math" panose="02040503050406030204" pitchFamily="18" charset="0"/>
                                  </a:rPr>
                                  <m:t>2</m:t>
                                </m:r>
                                <m:r>
                                  <a:rPr lang="es-VE" sz="2000" i="1" dirty="0">
                                    <a:latin typeface="Cambria Math" panose="02040503050406030204" pitchFamily="18" charset="0"/>
                                    <a:ea typeface="Cambria Math" panose="02040503050406030204" pitchFamily="18" charset="0"/>
                                  </a:rPr>
                                  <m:t>′</m:t>
                                </m:r>
                              </m:sup>
                            </m:sSup>
                          </m:num>
                          <m:den>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𝜎</m:t>
                                </m:r>
                              </m:e>
                              <m:sup>
                                <m:r>
                                  <a:rPr lang="es-419" sz="2000" i="1" dirty="0">
                                    <a:latin typeface="Cambria Math" panose="02040503050406030204" pitchFamily="18" charset="0"/>
                                    <a:ea typeface="Cambria Math" panose="02040503050406030204" pitchFamily="18" charset="0"/>
                                  </a:rPr>
                                  <m:t>2</m:t>
                                </m:r>
                              </m:sup>
                            </m:sSup>
                          </m:den>
                        </m:f>
                        <m:r>
                          <a:rPr lang="es-419" sz="2000" i="1">
                            <a:latin typeface="Cambria Math" panose="02040503050406030204" pitchFamily="18" charset="0"/>
                            <a:ea typeface="Cambria Math" panose="02040503050406030204" pitchFamily="18" charset="0"/>
                          </a:rPr>
                          <m:t>≤</m:t>
                        </m:r>
                        <m:d>
                          <m:dPr>
                            <m:ctrlPr>
                              <a:rPr lang="es-419" sz="2000" b="0" i="1" smtClean="0">
                                <a:solidFill>
                                  <a:srgbClr val="003A5D"/>
                                </a:solidFill>
                                <a:latin typeface="Cambria Math" panose="02040503050406030204" pitchFamily="18" charset="0"/>
                                <a:ea typeface="Cambria Math" panose="02040503050406030204" pitchFamily="18" charset="0"/>
                              </a:rPr>
                            </m:ctrlPr>
                          </m:dPr>
                          <m:e>
                            <m:r>
                              <a:rPr lang="es-419" sz="2000" b="0" i="1" smtClean="0">
                                <a:solidFill>
                                  <a:srgbClr val="003A5D"/>
                                </a:solidFill>
                                <a:latin typeface="Cambria Math" panose="02040503050406030204" pitchFamily="18" charset="0"/>
                                <a:ea typeface="Cambria Math" panose="02040503050406030204" pitchFamily="18" charset="0"/>
                              </a:rPr>
                              <m:t>𝑛</m:t>
                            </m:r>
                            <m:r>
                              <a:rPr lang="es-419" sz="2000" b="0" i="1" smtClean="0">
                                <a:solidFill>
                                  <a:srgbClr val="003A5D"/>
                                </a:solidFill>
                                <a:latin typeface="Cambria Math" panose="02040503050406030204" pitchFamily="18" charset="0"/>
                                <a:ea typeface="Cambria Math" panose="02040503050406030204" pitchFamily="18" charset="0"/>
                              </a:rPr>
                              <m:t>−1</m:t>
                            </m:r>
                          </m:e>
                        </m:d>
                        <m:r>
                          <a:rPr lang="es-419" sz="2000" b="0" i="1" smtClean="0">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rad>
                          <m:radPr>
                            <m:degHide m:val="on"/>
                            <m:ctrlPr>
                              <a:rPr lang="es-419" sz="2000" i="1" dirty="0" smtClean="0">
                                <a:solidFill>
                                  <a:srgbClr val="003A5D"/>
                                </a:solidFill>
                                <a:latin typeface="Cambria Math" panose="02040503050406030204" pitchFamily="18" charset="0"/>
                                <a:ea typeface="Cambria Math" panose="02040503050406030204" pitchFamily="18" charset="0"/>
                              </a:rPr>
                            </m:ctrlPr>
                          </m:radPr>
                          <m:deg/>
                          <m:e>
                            <m:r>
                              <a:rPr lang="es-419" sz="2000" i="1" dirty="0">
                                <a:solidFill>
                                  <a:srgbClr val="003A5D"/>
                                </a:solidFill>
                                <a:latin typeface="Cambria Math" panose="02040503050406030204" pitchFamily="18" charset="0"/>
                                <a:ea typeface="Cambria Math" panose="02040503050406030204" pitchFamily="18" charset="0"/>
                              </a:rPr>
                              <m:t>2(</m:t>
                            </m:r>
                            <m:r>
                              <a:rPr lang="es-419" sz="2000" i="1" dirty="0">
                                <a:solidFill>
                                  <a:srgbClr val="003A5D"/>
                                </a:solidFill>
                                <a:latin typeface="Cambria Math" panose="02040503050406030204" pitchFamily="18" charset="0"/>
                                <a:ea typeface="Cambria Math" panose="02040503050406030204" pitchFamily="18" charset="0"/>
                              </a:rPr>
                              <m:t>𝑛</m:t>
                            </m:r>
                            <m:r>
                              <a:rPr lang="es-419" sz="2000" i="1" dirty="0">
                                <a:solidFill>
                                  <a:srgbClr val="003A5D"/>
                                </a:solidFill>
                                <a:latin typeface="Cambria Math" panose="02040503050406030204" pitchFamily="18" charset="0"/>
                                <a:ea typeface="Cambria Math" panose="02040503050406030204" pitchFamily="18" charset="0"/>
                              </a:rPr>
                              <m:t>−1)</m:t>
                            </m:r>
                          </m:e>
                        </m:rad>
                      </m:e>
                    </m:d>
                    <m:r>
                      <a:rPr lang="es-419" sz="2000" i="1">
                        <a:latin typeface="Cambria Math" panose="02040503050406030204" pitchFamily="18" charset="0"/>
                        <a:ea typeface="Cambria Math" panose="02040503050406030204" pitchFamily="18" charset="0"/>
                      </a:rPr>
                      <m:t>=</m:t>
                    </m:r>
                    <m:r>
                      <a:rPr lang="es-419" sz="2000" i="1">
                        <a:latin typeface="Cambria Math" panose="02040503050406030204" pitchFamily="18" charset="0"/>
                      </a:rPr>
                      <m:t>1−</m:t>
                    </m:r>
                    <m:r>
                      <a:rPr lang="es-419" sz="2000" i="1">
                        <a:latin typeface="Cambria Math" panose="02040503050406030204" pitchFamily="18" charset="0"/>
                        <a:ea typeface="Cambria Math" panose="02040503050406030204" pitchFamily="18" charset="0"/>
                      </a:rPr>
                      <m:t>𝛼</m:t>
                    </m:r>
                  </m:oMath>
                </a14:m>
                <a:endParaRPr lang="es-419" sz="2000" dirty="0">
                  <a:latin typeface="Cambria Math" panose="02040503050406030204" pitchFamily="18" charset="0"/>
                  <a:ea typeface="Cambria Math" panose="02040503050406030204" pitchFamily="18" charset="0"/>
                </a:endParaRPr>
              </a:p>
              <a:p>
                <a:pPr marL="457200" indent="-457200">
                  <a:lnSpc>
                    <a:spcPct val="150000"/>
                  </a:lnSpc>
                  <a:buFont typeface="+mj-lt"/>
                  <a:buAutoNum type="arabicPeriod" startAt="2"/>
                </a:pPr>
                <a14:m>
                  <m:oMath xmlns:m="http://schemas.openxmlformats.org/officeDocument/2006/math">
                    <m:r>
                      <a:rPr lang="es-419" sz="2000" i="1" smtClean="0">
                        <a:latin typeface="Cambria Math" panose="02040503050406030204" pitchFamily="18" charset="0"/>
                        <a:ea typeface="Cambria Math" panose="02040503050406030204" pitchFamily="18" charset="0"/>
                      </a:rPr>
                      <m:t>𝑃</m:t>
                    </m:r>
                    <m:d>
                      <m:dPr>
                        <m:ctrlPr>
                          <a:rPr lang="es-419" sz="2000" i="1">
                            <a:latin typeface="Cambria Math" panose="02040503050406030204" pitchFamily="18" charset="0"/>
                            <a:ea typeface="Cambria Math" panose="02040503050406030204" pitchFamily="18" charset="0"/>
                          </a:rPr>
                        </m:ctrlPr>
                      </m:dPr>
                      <m:e>
                        <m:f>
                          <m:fPr>
                            <m:ctrlPr>
                              <a:rPr lang="es-419" sz="2000" i="1" smtClean="0">
                                <a:latin typeface="Cambria Math" panose="02040503050406030204" pitchFamily="18" charset="0"/>
                                <a:ea typeface="Cambria Math" panose="02040503050406030204" pitchFamily="18" charset="0"/>
                              </a:rPr>
                            </m:ctrlPr>
                          </m:fPr>
                          <m:num>
                            <m:r>
                              <a:rPr lang="es-419" sz="2000" b="0" i="1" smtClean="0">
                                <a:latin typeface="Cambria Math" panose="02040503050406030204" pitchFamily="18" charset="0"/>
                                <a:ea typeface="Cambria Math" panose="02040503050406030204" pitchFamily="18" charset="0"/>
                              </a:rPr>
                              <m:t>1</m:t>
                            </m:r>
                          </m:num>
                          <m:den>
                            <m:d>
                              <m:dPr>
                                <m:ctrlPr>
                                  <a:rPr lang="es-419" sz="2000" i="1" smtClean="0">
                                    <a:solidFill>
                                      <a:srgbClr val="003A5D"/>
                                    </a:solidFill>
                                    <a:latin typeface="Cambria Math" panose="02040503050406030204" pitchFamily="18" charset="0"/>
                                    <a:ea typeface="Cambria Math" panose="02040503050406030204" pitchFamily="18" charset="0"/>
                                  </a:rPr>
                                </m:ctrlPr>
                              </m:dPr>
                              <m:e>
                                <m:r>
                                  <a:rPr lang="es-419" sz="2000" i="1">
                                    <a:solidFill>
                                      <a:srgbClr val="003A5D"/>
                                    </a:solidFill>
                                    <a:latin typeface="Cambria Math" panose="02040503050406030204" pitchFamily="18" charset="0"/>
                                    <a:ea typeface="Cambria Math" panose="02040503050406030204" pitchFamily="18" charset="0"/>
                                  </a:rPr>
                                  <m:t>𝑛</m:t>
                                </m:r>
                                <m:r>
                                  <a:rPr lang="es-419" sz="2000" i="1">
                                    <a:solidFill>
                                      <a:srgbClr val="003A5D"/>
                                    </a:solidFill>
                                    <a:latin typeface="Cambria Math" panose="02040503050406030204" pitchFamily="18" charset="0"/>
                                    <a:ea typeface="Cambria Math" panose="02040503050406030204" pitchFamily="18" charset="0"/>
                                  </a:rPr>
                                  <m:t>−1</m:t>
                                </m:r>
                              </m:e>
                            </m:d>
                            <m:r>
                              <a:rPr lang="es-419" sz="2000" b="0" i="1" smtClean="0">
                                <a:solidFill>
                                  <a:srgbClr val="003A5D"/>
                                </a:solidFill>
                                <a:latin typeface="Cambria Math" panose="02040503050406030204" pitchFamily="18" charset="0"/>
                                <a:ea typeface="Cambria Math" panose="02040503050406030204" pitchFamily="18" charset="0"/>
                              </a:rPr>
                              <m:t>+</m:t>
                            </m:r>
                            <m:sSub>
                              <m:sSubPr>
                                <m:ctrlPr>
                                  <a:rPr lang="es-419" sz="2000" i="1">
                                    <a:solidFill>
                                      <a:srgbClr val="003A5D"/>
                                    </a:solidFill>
                                    <a:latin typeface="Cambria Math" panose="02040503050406030204" pitchFamily="18" charset="0"/>
                                    <a:ea typeface="Cambria Math" panose="02040503050406030204" pitchFamily="18" charset="0"/>
                                  </a:rPr>
                                </m:ctrlPr>
                              </m:sSubPr>
                              <m:e>
                                <m:r>
                                  <a:rPr lang="es-VE" sz="2000" b="0" i="1" smtClean="0">
                                    <a:solidFill>
                                      <a:srgbClr val="003A5D"/>
                                    </a:solidFill>
                                    <a:latin typeface="Cambria Math" panose="02040503050406030204" pitchFamily="18" charset="0"/>
                                    <a:ea typeface="Cambria Math" panose="02040503050406030204" pitchFamily="18" charset="0"/>
                                  </a:rPr>
                                  <m:t>𝑧</m:t>
                                </m:r>
                              </m:e>
                              <m:sub>
                                <m:f>
                                  <m:fPr>
                                    <m:type m:val="skw"/>
                                    <m:ctrlPr>
                                      <a:rPr lang="es-419" sz="2000" i="1">
                                        <a:solidFill>
                                          <a:srgbClr val="003A5D"/>
                                        </a:solidFill>
                                        <a:latin typeface="Cambria Math" panose="02040503050406030204" pitchFamily="18" charset="0"/>
                                        <a:ea typeface="Cambria Math" panose="02040503050406030204" pitchFamily="18" charset="0"/>
                                      </a:rPr>
                                    </m:ctrlPr>
                                  </m:fPr>
                                  <m:num>
                                    <m:r>
                                      <a:rPr lang="es-419" sz="2000" i="1">
                                        <a:solidFill>
                                          <a:srgbClr val="003A5D"/>
                                        </a:solidFill>
                                        <a:latin typeface="Cambria Math" panose="02040503050406030204" pitchFamily="18" charset="0"/>
                                        <a:ea typeface="Cambria Math" panose="02040503050406030204" pitchFamily="18" charset="0"/>
                                      </a:rPr>
                                      <m:t>𝛼</m:t>
                                    </m:r>
                                  </m:num>
                                  <m:den>
                                    <m:r>
                                      <a:rPr lang="es-419" sz="2000" i="1">
                                        <a:solidFill>
                                          <a:srgbClr val="003A5D"/>
                                        </a:solidFill>
                                        <a:latin typeface="Cambria Math" panose="02040503050406030204" pitchFamily="18" charset="0"/>
                                        <a:ea typeface="Cambria Math" panose="02040503050406030204" pitchFamily="18" charset="0"/>
                                      </a:rPr>
                                      <m:t>2</m:t>
                                    </m:r>
                                  </m:den>
                                </m:f>
                              </m:sub>
                            </m:sSub>
                            <m:rad>
                              <m:radPr>
                                <m:degHide m:val="on"/>
                                <m:ctrlPr>
                                  <a:rPr lang="es-419" sz="2000" i="1" dirty="0">
                                    <a:solidFill>
                                      <a:srgbClr val="003A5D"/>
                                    </a:solidFill>
                                    <a:latin typeface="Cambria Math" panose="02040503050406030204" pitchFamily="18" charset="0"/>
                                    <a:ea typeface="Cambria Math" panose="02040503050406030204" pitchFamily="18" charset="0"/>
                                  </a:rPr>
                                </m:ctrlPr>
                              </m:radPr>
                              <m:deg/>
                              <m:e>
                                <m:r>
                                  <a:rPr lang="es-419" sz="2000" i="1" dirty="0">
                                    <a:solidFill>
                                      <a:srgbClr val="003A5D"/>
                                    </a:solidFill>
                                    <a:latin typeface="Cambria Math" panose="02040503050406030204" pitchFamily="18" charset="0"/>
                                    <a:ea typeface="Cambria Math" panose="02040503050406030204" pitchFamily="18" charset="0"/>
                                  </a:rPr>
                                  <m:t>2</m:t>
                                </m:r>
                                <m:d>
                                  <m:dPr>
                                    <m:ctrlPr>
                                      <a:rPr lang="es-419" sz="2000" i="1" dirty="0">
                                        <a:solidFill>
                                          <a:srgbClr val="003A5D"/>
                                        </a:solidFill>
                                        <a:latin typeface="Cambria Math" panose="02040503050406030204" pitchFamily="18" charset="0"/>
                                        <a:ea typeface="Cambria Math" panose="02040503050406030204" pitchFamily="18" charset="0"/>
                                      </a:rPr>
                                    </m:ctrlPr>
                                  </m:dPr>
                                  <m:e>
                                    <m:r>
                                      <a:rPr lang="es-419" sz="2000" i="1" dirty="0">
                                        <a:solidFill>
                                          <a:srgbClr val="003A5D"/>
                                        </a:solidFill>
                                        <a:latin typeface="Cambria Math" panose="02040503050406030204" pitchFamily="18" charset="0"/>
                                        <a:ea typeface="Cambria Math" panose="02040503050406030204" pitchFamily="18" charset="0"/>
                                      </a:rPr>
                                      <m:t>𝑛</m:t>
                                    </m:r>
                                    <m:r>
                                      <a:rPr lang="es-419" sz="2000" i="1" dirty="0">
                                        <a:solidFill>
                                          <a:srgbClr val="003A5D"/>
                                        </a:solidFill>
                                        <a:latin typeface="Cambria Math" panose="02040503050406030204" pitchFamily="18" charset="0"/>
                                        <a:ea typeface="Cambria Math" panose="02040503050406030204" pitchFamily="18" charset="0"/>
                                      </a:rPr>
                                      <m:t>−1</m:t>
                                    </m:r>
                                  </m:e>
                                </m:d>
                              </m:e>
                            </m:rad>
                          </m:den>
                        </m:f>
                        <m:r>
                          <a:rPr lang="es-419" sz="2000" i="1">
                            <a:latin typeface="Cambria Math" panose="02040503050406030204" pitchFamily="18" charset="0"/>
                            <a:ea typeface="Cambria Math" panose="02040503050406030204" pitchFamily="18" charset="0"/>
                          </a:rPr>
                          <m:t>≤</m:t>
                        </m:r>
                        <m:f>
                          <m:fPr>
                            <m:ctrlPr>
                              <a:rPr lang="es-419" sz="2000" i="1">
                                <a:latin typeface="Cambria Math" panose="02040503050406030204" pitchFamily="18" charset="0"/>
                                <a:ea typeface="Cambria Math" panose="02040503050406030204" pitchFamily="18" charset="0"/>
                              </a:rPr>
                            </m:ctrlPr>
                          </m:fPr>
                          <m:num>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𝜎</m:t>
                                </m:r>
                              </m:e>
                              <m:sup>
                                <m:r>
                                  <a:rPr lang="es-419" sz="2000" i="1" dirty="0">
                                    <a:latin typeface="Cambria Math" panose="02040503050406030204" pitchFamily="18" charset="0"/>
                                    <a:ea typeface="Cambria Math" panose="02040503050406030204" pitchFamily="18" charset="0"/>
                                  </a:rPr>
                                  <m:t>2</m:t>
                                </m:r>
                              </m:sup>
                            </m:sSup>
                          </m:num>
                          <m:den>
                            <m:r>
                              <a:rPr lang="es-419" sz="2000" i="1">
                                <a:latin typeface="Cambria Math" panose="02040503050406030204" pitchFamily="18" charset="0"/>
                                <a:ea typeface="Cambria Math" panose="02040503050406030204" pitchFamily="18" charset="0"/>
                              </a:rPr>
                              <m:t>𝑛</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𝑆</m:t>
                                </m:r>
                              </m:e>
                              <m:sup>
                                <m:r>
                                  <a:rPr lang="es-419" sz="2000" i="1" dirty="0">
                                    <a:latin typeface="Cambria Math" panose="02040503050406030204" pitchFamily="18" charset="0"/>
                                    <a:ea typeface="Cambria Math" panose="02040503050406030204" pitchFamily="18" charset="0"/>
                                  </a:rPr>
                                  <m:t>2</m:t>
                                </m:r>
                                <m:r>
                                  <a:rPr lang="es-VE" sz="2000" i="1" dirty="0">
                                    <a:latin typeface="Cambria Math" panose="02040503050406030204" pitchFamily="18" charset="0"/>
                                    <a:ea typeface="Cambria Math" panose="02040503050406030204" pitchFamily="18" charset="0"/>
                                  </a:rPr>
                                  <m:t>′</m:t>
                                </m:r>
                              </m:sup>
                            </m:sSup>
                          </m:den>
                        </m:f>
                        <m:r>
                          <a:rPr lang="es-419" sz="2000" i="1">
                            <a:latin typeface="Cambria Math" panose="02040503050406030204" pitchFamily="18" charset="0"/>
                            <a:ea typeface="Cambria Math" panose="02040503050406030204" pitchFamily="18" charset="0"/>
                          </a:rPr>
                          <m:t>≤</m:t>
                        </m:r>
                        <m:f>
                          <m:fPr>
                            <m:ctrlPr>
                              <a:rPr lang="es-419" sz="2000" i="1" smtClean="0">
                                <a:latin typeface="Cambria Math" panose="02040503050406030204" pitchFamily="18" charset="0"/>
                                <a:ea typeface="Cambria Math" panose="02040503050406030204" pitchFamily="18" charset="0"/>
                              </a:rPr>
                            </m:ctrlPr>
                          </m:fPr>
                          <m:num>
                            <m:r>
                              <a:rPr lang="es-419" sz="2000" b="0" i="1" smtClean="0">
                                <a:latin typeface="Cambria Math" panose="02040503050406030204" pitchFamily="18" charset="0"/>
                                <a:ea typeface="Cambria Math" panose="02040503050406030204" pitchFamily="18" charset="0"/>
                              </a:rPr>
                              <m:t>1</m:t>
                            </m:r>
                          </m:num>
                          <m:den>
                            <m:d>
                              <m:dPr>
                                <m:ctrlPr>
                                  <a:rPr lang="es-419" sz="2000" i="1" smtClean="0">
                                    <a:solidFill>
                                      <a:srgbClr val="003A5D"/>
                                    </a:solidFill>
                                    <a:latin typeface="Cambria Math" panose="02040503050406030204" pitchFamily="18" charset="0"/>
                                    <a:ea typeface="Cambria Math" panose="02040503050406030204" pitchFamily="18" charset="0"/>
                                  </a:rPr>
                                </m:ctrlPr>
                              </m:dPr>
                              <m:e>
                                <m:r>
                                  <a:rPr lang="es-419" sz="2000" i="1">
                                    <a:solidFill>
                                      <a:srgbClr val="003A5D"/>
                                    </a:solidFill>
                                    <a:latin typeface="Cambria Math" panose="02040503050406030204" pitchFamily="18" charset="0"/>
                                    <a:ea typeface="Cambria Math" panose="02040503050406030204" pitchFamily="18" charset="0"/>
                                  </a:rPr>
                                  <m:t>𝑛</m:t>
                                </m:r>
                                <m:r>
                                  <a:rPr lang="es-419" sz="2000" i="1">
                                    <a:solidFill>
                                      <a:srgbClr val="003A5D"/>
                                    </a:solidFill>
                                    <a:latin typeface="Cambria Math" panose="02040503050406030204" pitchFamily="18" charset="0"/>
                                    <a:ea typeface="Cambria Math" panose="02040503050406030204" pitchFamily="18" charset="0"/>
                                  </a:rPr>
                                  <m:t>−1</m:t>
                                </m:r>
                              </m:e>
                            </m:d>
                            <m:r>
                              <a:rPr lang="es-419" sz="2000" b="0" i="1" smtClean="0">
                                <a:solidFill>
                                  <a:srgbClr val="003A5D"/>
                                </a:solidFill>
                                <a:latin typeface="Cambria Math" panose="02040503050406030204" pitchFamily="18" charset="0"/>
                                <a:ea typeface="Cambria Math" panose="02040503050406030204" pitchFamily="18" charset="0"/>
                              </a:rPr>
                              <m:t>−</m:t>
                            </m:r>
                            <m:sSub>
                              <m:sSubPr>
                                <m:ctrlPr>
                                  <a:rPr lang="es-419" sz="2000" i="1">
                                    <a:solidFill>
                                      <a:srgbClr val="003A5D"/>
                                    </a:solidFill>
                                    <a:latin typeface="Cambria Math" panose="02040503050406030204" pitchFamily="18" charset="0"/>
                                    <a:ea typeface="Cambria Math" panose="02040503050406030204" pitchFamily="18" charset="0"/>
                                  </a:rPr>
                                </m:ctrlPr>
                              </m:sSubPr>
                              <m:e>
                                <m:r>
                                  <a:rPr lang="es-VE" sz="2000" b="0" i="1" smtClean="0">
                                    <a:solidFill>
                                      <a:srgbClr val="003A5D"/>
                                    </a:solidFill>
                                    <a:latin typeface="Cambria Math" panose="02040503050406030204" pitchFamily="18" charset="0"/>
                                    <a:ea typeface="Cambria Math" panose="02040503050406030204" pitchFamily="18" charset="0"/>
                                  </a:rPr>
                                  <m:t>𝑧</m:t>
                                </m:r>
                              </m:e>
                              <m:sub>
                                <m:f>
                                  <m:fPr>
                                    <m:type m:val="skw"/>
                                    <m:ctrlPr>
                                      <a:rPr lang="es-419" sz="2000" i="1">
                                        <a:solidFill>
                                          <a:srgbClr val="003A5D"/>
                                        </a:solidFill>
                                        <a:latin typeface="Cambria Math" panose="02040503050406030204" pitchFamily="18" charset="0"/>
                                        <a:ea typeface="Cambria Math" panose="02040503050406030204" pitchFamily="18" charset="0"/>
                                      </a:rPr>
                                    </m:ctrlPr>
                                  </m:fPr>
                                  <m:num>
                                    <m:r>
                                      <a:rPr lang="es-419" sz="2000" i="1">
                                        <a:solidFill>
                                          <a:srgbClr val="003A5D"/>
                                        </a:solidFill>
                                        <a:latin typeface="Cambria Math" panose="02040503050406030204" pitchFamily="18" charset="0"/>
                                        <a:ea typeface="Cambria Math" panose="02040503050406030204" pitchFamily="18" charset="0"/>
                                      </a:rPr>
                                      <m:t>𝛼</m:t>
                                    </m:r>
                                  </m:num>
                                  <m:den>
                                    <m:r>
                                      <a:rPr lang="es-419" sz="2000" i="1">
                                        <a:solidFill>
                                          <a:srgbClr val="003A5D"/>
                                        </a:solidFill>
                                        <a:latin typeface="Cambria Math" panose="02040503050406030204" pitchFamily="18" charset="0"/>
                                        <a:ea typeface="Cambria Math" panose="02040503050406030204" pitchFamily="18" charset="0"/>
                                      </a:rPr>
                                      <m:t>2</m:t>
                                    </m:r>
                                  </m:den>
                                </m:f>
                              </m:sub>
                            </m:sSub>
                            <m:rad>
                              <m:radPr>
                                <m:degHide m:val="on"/>
                                <m:ctrlPr>
                                  <a:rPr lang="es-419" sz="2000" i="1" dirty="0">
                                    <a:solidFill>
                                      <a:srgbClr val="003A5D"/>
                                    </a:solidFill>
                                    <a:latin typeface="Cambria Math" panose="02040503050406030204" pitchFamily="18" charset="0"/>
                                    <a:ea typeface="Cambria Math" panose="02040503050406030204" pitchFamily="18" charset="0"/>
                                  </a:rPr>
                                </m:ctrlPr>
                              </m:radPr>
                              <m:deg/>
                              <m:e>
                                <m:r>
                                  <a:rPr lang="es-419" sz="2000" i="1" dirty="0">
                                    <a:solidFill>
                                      <a:srgbClr val="003A5D"/>
                                    </a:solidFill>
                                    <a:latin typeface="Cambria Math" panose="02040503050406030204" pitchFamily="18" charset="0"/>
                                    <a:ea typeface="Cambria Math" panose="02040503050406030204" pitchFamily="18" charset="0"/>
                                  </a:rPr>
                                  <m:t>2(</m:t>
                                </m:r>
                                <m:r>
                                  <a:rPr lang="es-419" sz="2000" i="1" dirty="0">
                                    <a:solidFill>
                                      <a:srgbClr val="003A5D"/>
                                    </a:solidFill>
                                    <a:latin typeface="Cambria Math" panose="02040503050406030204" pitchFamily="18" charset="0"/>
                                    <a:ea typeface="Cambria Math" panose="02040503050406030204" pitchFamily="18" charset="0"/>
                                  </a:rPr>
                                  <m:t>𝑛</m:t>
                                </m:r>
                                <m:r>
                                  <a:rPr lang="es-419" sz="2000" i="1" dirty="0">
                                    <a:solidFill>
                                      <a:srgbClr val="003A5D"/>
                                    </a:solidFill>
                                    <a:latin typeface="Cambria Math" panose="02040503050406030204" pitchFamily="18" charset="0"/>
                                    <a:ea typeface="Cambria Math" panose="02040503050406030204" pitchFamily="18" charset="0"/>
                                  </a:rPr>
                                  <m:t>−1)</m:t>
                                </m:r>
                              </m:e>
                            </m:rad>
                          </m:den>
                        </m:f>
                      </m:e>
                    </m:d>
                    <m:r>
                      <a:rPr lang="es-419" sz="2000" i="1">
                        <a:latin typeface="Cambria Math" panose="02040503050406030204" pitchFamily="18" charset="0"/>
                        <a:ea typeface="Cambria Math" panose="02040503050406030204" pitchFamily="18" charset="0"/>
                      </a:rPr>
                      <m:t>=</m:t>
                    </m:r>
                    <m:r>
                      <a:rPr lang="es-419" sz="2000" i="1">
                        <a:latin typeface="Cambria Math" panose="02040503050406030204" pitchFamily="18" charset="0"/>
                      </a:rPr>
                      <m:t>1−</m:t>
                    </m:r>
                    <m:r>
                      <a:rPr lang="es-419" sz="2000" i="1">
                        <a:latin typeface="Cambria Math" panose="02040503050406030204" pitchFamily="18" charset="0"/>
                        <a:ea typeface="Cambria Math" panose="02040503050406030204" pitchFamily="18" charset="0"/>
                      </a:rPr>
                      <m:t>𝛼</m:t>
                    </m:r>
                  </m:oMath>
                </a14:m>
                <a:endParaRPr lang="es-419" sz="2000" i="1" dirty="0">
                  <a:latin typeface="Cambria Math" panose="02040503050406030204" pitchFamily="18" charset="0"/>
                  <a:ea typeface="Cambria Math" panose="02040503050406030204" pitchFamily="18" charset="0"/>
                </a:endParaRPr>
              </a:p>
              <a:p>
                <a:pPr marL="457200" indent="-457200">
                  <a:lnSpc>
                    <a:spcPct val="150000"/>
                  </a:lnSpc>
                  <a:buFont typeface="+mj-lt"/>
                  <a:buAutoNum type="arabicPeriod" startAt="2"/>
                </a:pPr>
                <a14:m>
                  <m:oMath xmlns:m="http://schemas.openxmlformats.org/officeDocument/2006/math">
                    <m:r>
                      <a:rPr lang="es-419" sz="2000" i="1">
                        <a:latin typeface="Cambria Math" panose="02040503050406030204" pitchFamily="18" charset="0"/>
                        <a:ea typeface="Cambria Math" panose="02040503050406030204" pitchFamily="18" charset="0"/>
                      </a:rPr>
                      <m:t>𝑃</m:t>
                    </m:r>
                    <m:d>
                      <m:dPr>
                        <m:ctrlPr>
                          <a:rPr lang="es-419" sz="2000" i="1">
                            <a:latin typeface="Cambria Math" panose="02040503050406030204" pitchFamily="18" charset="0"/>
                            <a:ea typeface="Cambria Math" panose="02040503050406030204" pitchFamily="18" charset="0"/>
                          </a:rPr>
                        </m:ctrlPr>
                      </m:dPr>
                      <m:e>
                        <m:f>
                          <m:fPr>
                            <m:ctrlPr>
                              <a:rPr lang="es-419" sz="2000" i="1">
                                <a:latin typeface="Cambria Math" panose="02040503050406030204" pitchFamily="18" charset="0"/>
                                <a:ea typeface="Cambria Math" panose="02040503050406030204" pitchFamily="18" charset="0"/>
                              </a:rPr>
                            </m:ctrlPr>
                          </m:fPr>
                          <m:num>
                            <m:r>
                              <a:rPr lang="es-419" sz="2000" i="1" smtClean="0">
                                <a:solidFill>
                                  <a:srgbClr val="003A5D"/>
                                </a:solidFill>
                                <a:latin typeface="Cambria Math" panose="02040503050406030204" pitchFamily="18" charset="0"/>
                                <a:ea typeface="Cambria Math" panose="02040503050406030204" pitchFamily="18" charset="0"/>
                              </a:rPr>
                              <m:t>𝑛</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𝑆</m:t>
                                </m:r>
                              </m:e>
                              <m:sup>
                                <m:r>
                                  <a:rPr lang="es-419" sz="2000" i="1" dirty="0">
                                    <a:latin typeface="Cambria Math" panose="02040503050406030204" pitchFamily="18" charset="0"/>
                                    <a:ea typeface="Cambria Math" panose="02040503050406030204" pitchFamily="18" charset="0"/>
                                  </a:rPr>
                                  <m:t>2</m:t>
                                </m:r>
                                <m:r>
                                  <a:rPr lang="es-VE" sz="2000" i="1" dirty="0">
                                    <a:latin typeface="Cambria Math" panose="02040503050406030204" pitchFamily="18" charset="0"/>
                                    <a:ea typeface="Cambria Math" panose="02040503050406030204" pitchFamily="18" charset="0"/>
                                  </a:rPr>
                                  <m:t>′</m:t>
                                </m:r>
                              </m:sup>
                            </m:sSup>
                          </m:num>
                          <m:den>
                            <m:d>
                              <m:dPr>
                                <m:ctrlPr>
                                  <a:rPr lang="es-419" sz="2000" i="1">
                                    <a:latin typeface="Cambria Math" panose="02040503050406030204" pitchFamily="18" charset="0"/>
                                    <a:ea typeface="Cambria Math" panose="02040503050406030204" pitchFamily="18" charset="0"/>
                                  </a:rPr>
                                </m:ctrlPr>
                              </m:dPr>
                              <m:e>
                                <m:r>
                                  <a:rPr lang="es-419" sz="2000" i="1">
                                    <a:latin typeface="Cambria Math" panose="02040503050406030204" pitchFamily="18" charset="0"/>
                                    <a:ea typeface="Cambria Math" panose="02040503050406030204" pitchFamily="18" charset="0"/>
                                  </a:rPr>
                                  <m:t>𝑛</m:t>
                                </m:r>
                                <m:r>
                                  <a:rPr lang="es-419" sz="2000" i="1">
                                    <a:latin typeface="Cambria Math" panose="02040503050406030204" pitchFamily="18" charset="0"/>
                                    <a:ea typeface="Cambria Math" panose="02040503050406030204" pitchFamily="18" charset="0"/>
                                  </a:rPr>
                                  <m:t>−1</m:t>
                                </m:r>
                              </m:e>
                            </m:d>
                            <m:r>
                              <a:rPr lang="es-419" sz="2000" b="0" i="1" smtClean="0">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rad>
                              <m:radPr>
                                <m:degHide m:val="on"/>
                                <m:ctrlPr>
                                  <a:rPr lang="es-419" sz="2000" i="1" dirty="0">
                                    <a:latin typeface="Cambria Math" panose="02040503050406030204" pitchFamily="18" charset="0"/>
                                    <a:ea typeface="Cambria Math" panose="02040503050406030204" pitchFamily="18" charset="0"/>
                                  </a:rPr>
                                </m:ctrlPr>
                              </m:radPr>
                              <m:deg/>
                              <m:e>
                                <m:r>
                                  <a:rPr lang="es-419" sz="2000" i="1" dirty="0">
                                    <a:latin typeface="Cambria Math" panose="02040503050406030204" pitchFamily="18" charset="0"/>
                                    <a:ea typeface="Cambria Math" panose="02040503050406030204" pitchFamily="18" charset="0"/>
                                  </a:rPr>
                                  <m:t>2</m:t>
                                </m:r>
                                <m:d>
                                  <m:dPr>
                                    <m:ctrlPr>
                                      <a:rPr lang="es-419" sz="2000" i="1" dirty="0">
                                        <a:latin typeface="Cambria Math" panose="02040503050406030204" pitchFamily="18" charset="0"/>
                                        <a:ea typeface="Cambria Math" panose="02040503050406030204" pitchFamily="18" charset="0"/>
                                      </a:rPr>
                                    </m:ctrlPr>
                                  </m:dPr>
                                  <m:e>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e>
                                </m:d>
                              </m:e>
                            </m:rad>
                          </m:den>
                        </m:f>
                        <m:r>
                          <a:rPr lang="es-419" sz="2000" i="1">
                            <a:latin typeface="Cambria Math" panose="02040503050406030204" pitchFamily="18" charset="0"/>
                            <a:ea typeface="Cambria Math" panose="02040503050406030204" pitchFamily="18" charset="0"/>
                          </a:rPr>
                          <m:t>≤</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𝜎</m:t>
                            </m:r>
                          </m:e>
                          <m:sup>
                            <m:r>
                              <a:rPr lang="es-419" sz="2000" i="1" dirty="0">
                                <a:latin typeface="Cambria Math" panose="02040503050406030204" pitchFamily="18" charset="0"/>
                                <a:ea typeface="Cambria Math" panose="02040503050406030204" pitchFamily="18" charset="0"/>
                              </a:rPr>
                              <m:t>2</m:t>
                            </m:r>
                          </m:sup>
                        </m:sSup>
                        <m:r>
                          <a:rPr lang="es-419" sz="2000" i="1">
                            <a:latin typeface="Cambria Math" panose="02040503050406030204" pitchFamily="18" charset="0"/>
                            <a:ea typeface="Cambria Math" panose="02040503050406030204" pitchFamily="18" charset="0"/>
                          </a:rPr>
                          <m:t>≤</m:t>
                        </m:r>
                        <m:f>
                          <m:fPr>
                            <m:ctrlPr>
                              <a:rPr lang="es-419" sz="2000" i="1">
                                <a:latin typeface="Cambria Math" panose="02040503050406030204" pitchFamily="18" charset="0"/>
                                <a:ea typeface="Cambria Math" panose="02040503050406030204" pitchFamily="18" charset="0"/>
                              </a:rPr>
                            </m:ctrlPr>
                          </m:fPr>
                          <m:num>
                            <m:r>
                              <a:rPr lang="es-419" sz="2000" i="1" smtClean="0">
                                <a:solidFill>
                                  <a:srgbClr val="003A5D"/>
                                </a:solidFill>
                                <a:latin typeface="Cambria Math" panose="02040503050406030204" pitchFamily="18" charset="0"/>
                                <a:ea typeface="Cambria Math" panose="02040503050406030204" pitchFamily="18" charset="0"/>
                              </a:rPr>
                              <m:t>𝑛</m:t>
                            </m:r>
                            <m:sSup>
                              <m:sSupPr>
                                <m:ctrlPr>
                                  <a:rPr lang="es-419" sz="2000" i="1" dirty="0">
                                    <a:latin typeface="Cambria Math" panose="02040503050406030204" pitchFamily="18" charset="0"/>
                                    <a:ea typeface="Cambria Math" panose="02040503050406030204" pitchFamily="18" charset="0"/>
                                  </a:rPr>
                                </m:ctrlPr>
                              </m:sSupPr>
                              <m:e>
                                <m:r>
                                  <a:rPr lang="es-419" sz="2000" i="1" dirty="0">
                                    <a:latin typeface="Cambria Math" panose="02040503050406030204" pitchFamily="18" charset="0"/>
                                    <a:ea typeface="Cambria Math" panose="02040503050406030204" pitchFamily="18" charset="0"/>
                                  </a:rPr>
                                  <m:t>𝑆</m:t>
                                </m:r>
                              </m:e>
                              <m:sup>
                                <m:r>
                                  <a:rPr lang="es-419" sz="2000" i="1" dirty="0">
                                    <a:latin typeface="Cambria Math" panose="02040503050406030204" pitchFamily="18" charset="0"/>
                                    <a:ea typeface="Cambria Math" panose="02040503050406030204" pitchFamily="18" charset="0"/>
                                  </a:rPr>
                                  <m:t>2</m:t>
                                </m:r>
                                <m:r>
                                  <a:rPr lang="es-VE" sz="2000" i="1" dirty="0">
                                    <a:latin typeface="Cambria Math" panose="02040503050406030204" pitchFamily="18" charset="0"/>
                                    <a:ea typeface="Cambria Math" panose="02040503050406030204" pitchFamily="18" charset="0"/>
                                  </a:rPr>
                                  <m:t>′</m:t>
                                </m:r>
                              </m:sup>
                            </m:sSup>
                          </m:num>
                          <m:den>
                            <m:d>
                              <m:dPr>
                                <m:ctrlPr>
                                  <a:rPr lang="es-419" sz="2000" i="1">
                                    <a:latin typeface="Cambria Math" panose="02040503050406030204" pitchFamily="18" charset="0"/>
                                    <a:ea typeface="Cambria Math" panose="02040503050406030204" pitchFamily="18" charset="0"/>
                                  </a:rPr>
                                </m:ctrlPr>
                              </m:dPr>
                              <m:e>
                                <m:r>
                                  <a:rPr lang="es-419" sz="2000" i="1">
                                    <a:latin typeface="Cambria Math" panose="02040503050406030204" pitchFamily="18" charset="0"/>
                                    <a:ea typeface="Cambria Math" panose="02040503050406030204" pitchFamily="18" charset="0"/>
                                  </a:rPr>
                                  <m:t>𝑛</m:t>
                                </m:r>
                                <m:r>
                                  <a:rPr lang="es-419" sz="2000" i="1">
                                    <a:latin typeface="Cambria Math" panose="02040503050406030204" pitchFamily="18" charset="0"/>
                                    <a:ea typeface="Cambria Math" panose="02040503050406030204" pitchFamily="18" charset="0"/>
                                  </a:rPr>
                                  <m:t>−1</m:t>
                                </m:r>
                              </m:e>
                            </m:d>
                            <m:r>
                              <a:rPr lang="es-419" sz="2000" b="0" i="1" smtClean="0">
                                <a:latin typeface="Cambria Math" panose="02040503050406030204" pitchFamily="18" charset="0"/>
                                <a:ea typeface="Cambria Math" panose="02040503050406030204" pitchFamily="18" charset="0"/>
                              </a:rPr>
                              <m:t>−</m:t>
                            </m:r>
                            <m:sSub>
                              <m:sSubPr>
                                <m:ctrlPr>
                                  <a:rPr lang="es-419" sz="2000" i="1">
                                    <a:latin typeface="Cambria Math" panose="02040503050406030204" pitchFamily="18" charset="0"/>
                                    <a:ea typeface="Cambria Math" panose="02040503050406030204" pitchFamily="18" charset="0"/>
                                  </a:rPr>
                                </m:ctrlPr>
                              </m:sSubPr>
                              <m:e>
                                <m:r>
                                  <a:rPr lang="es-VE" sz="2000" b="0" i="1" smtClean="0">
                                    <a:latin typeface="Cambria Math" panose="02040503050406030204" pitchFamily="18" charset="0"/>
                                    <a:ea typeface="Cambria Math" panose="02040503050406030204" pitchFamily="18" charset="0"/>
                                  </a:rPr>
                                  <m:t>𝑧</m:t>
                                </m:r>
                              </m:e>
                              <m:sub>
                                <m:f>
                                  <m:fPr>
                                    <m:type m:val="skw"/>
                                    <m:ctrlPr>
                                      <a:rPr lang="es-419" sz="2000" i="1">
                                        <a:latin typeface="Cambria Math" panose="02040503050406030204" pitchFamily="18" charset="0"/>
                                        <a:ea typeface="Cambria Math" panose="02040503050406030204" pitchFamily="18" charset="0"/>
                                      </a:rPr>
                                    </m:ctrlPr>
                                  </m:fPr>
                                  <m:num>
                                    <m:r>
                                      <a:rPr lang="es-419" sz="2000" i="1">
                                        <a:latin typeface="Cambria Math" panose="02040503050406030204" pitchFamily="18" charset="0"/>
                                        <a:ea typeface="Cambria Math" panose="02040503050406030204" pitchFamily="18" charset="0"/>
                                      </a:rPr>
                                      <m:t>𝛼</m:t>
                                    </m:r>
                                  </m:num>
                                  <m:den>
                                    <m:r>
                                      <a:rPr lang="es-419" sz="2000" i="1">
                                        <a:latin typeface="Cambria Math" panose="02040503050406030204" pitchFamily="18" charset="0"/>
                                        <a:ea typeface="Cambria Math" panose="02040503050406030204" pitchFamily="18" charset="0"/>
                                      </a:rPr>
                                      <m:t>2</m:t>
                                    </m:r>
                                  </m:den>
                                </m:f>
                              </m:sub>
                            </m:sSub>
                            <m:rad>
                              <m:radPr>
                                <m:degHide m:val="on"/>
                                <m:ctrlPr>
                                  <a:rPr lang="es-419" sz="2000" i="1" dirty="0">
                                    <a:latin typeface="Cambria Math" panose="02040503050406030204" pitchFamily="18" charset="0"/>
                                    <a:ea typeface="Cambria Math" panose="02040503050406030204" pitchFamily="18" charset="0"/>
                                  </a:rPr>
                                </m:ctrlPr>
                              </m:radPr>
                              <m:deg/>
                              <m:e>
                                <m:r>
                                  <a:rPr lang="es-419" sz="2000" i="1" dirty="0">
                                    <a:latin typeface="Cambria Math" panose="02040503050406030204" pitchFamily="18" charset="0"/>
                                    <a:ea typeface="Cambria Math" panose="02040503050406030204" pitchFamily="18" charset="0"/>
                                  </a:rPr>
                                  <m:t>2(</m:t>
                                </m:r>
                                <m:r>
                                  <a:rPr lang="es-419" sz="2000" i="1" dirty="0">
                                    <a:latin typeface="Cambria Math" panose="02040503050406030204" pitchFamily="18" charset="0"/>
                                    <a:ea typeface="Cambria Math" panose="02040503050406030204" pitchFamily="18" charset="0"/>
                                  </a:rPr>
                                  <m:t>𝑛</m:t>
                                </m:r>
                                <m:r>
                                  <a:rPr lang="es-419" sz="2000" i="1" dirty="0">
                                    <a:latin typeface="Cambria Math" panose="02040503050406030204" pitchFamily="18" charset="0"/>
                                    <a:ea typeface="Cambria Math" panose="02040503050406030204" pitchFamily="18" charset="0"/>
                                  </a:rPr>
                                  <m:t>−1)</m:t>
                                </m:r>
                              </m:e>
                            </m:rad>
                          </m:den>
                        </m:f>
                      </m:e>
                    </m:d>
                    <m:r>
                      <a:rPr lang="es-419" sz="2000" i="1">
                        <a:latin typeface="Cambria Math" panose="02040503050406030204" pitchFamily="18" charset="0"/>
                        <a:ea typeface="Cambria Math" panose="02040503050406030204" pitchFamily="18" charset="0"/>
                      </a:rPr>
                      <m:t>=</m:t>
                    </m:r>
                    <m:r>
                      <a:rPr lang="es-419" sz="2000" i="1">
                        <a:latin typeface="Cambria Math" panose="02040503050406030204" pitchFamily="18" charset="0"/>
                      </a:rPr>
                      <m:t>1−</m:t>
                    </m:r>
                    <m:r>
                      <a:rPr lang="es-419" sz="2000" i="1">
                        <a:latin typeface="Cambria Math" panose="02040503050406030204" pitchFamily="18" charset="0"/>
                        <a:ea typeface="Cambria Math" panose="02040503050406030204" pitchFamily="18" charset="0"/>
                      </a:rPr>
                      <m:t>𝛼</m:t>
                    </m:r>
                  </m:oMath>
                </a14:m>
                <a:endParaRPr lang="es-419" sz="2000" dirty="0">
                  <a:latin typeface="Cambria Math" panose="02040503050406030204" pitchFamily="18" charset="0"/>
                  <a:ea typeface="Cambria Math" panose="02040503050406030204" pitchFamily="18" charset="0"/>
                </a:endParaRPr>
              </a:p>
              <a:p>
                <a:pPr>
                  <a:lnSpc>
                    <a:spcPct val="150000"/>
                  </a:lnSpc>
                </a:pPr>
                <a:endParaRPr lang="es-419" sz="2000" dirty="0">
                  <a:latin typeface="Cambria Math" panose="02040503050406030204" pitchFamily="18" charset="0"/>
                  <a:ea typeface="Cambria Math" panose="02040503050406030204" pitchFamily="18" charset="0"/>
                </a:endParaRPr>
              </a:p>
              <a:p>
                <a:pPr>
                  <a:lnSpc>
                    <a:spcPct val="150000"/>
                  </a:lnSpc>
                </a:pPr>
                <a:endParaRPr lang="es-419" sz="2000" dirty="0">
                  <a:latin typeface="Cambria Math" panose="02040503050406030204" pitchFamily="18" charset="0"/>
                  <a:ea typeface="Cambria Math" panose="02040503050406030204" pitchFamily="18" charset="0"/>
                </a:endParaRPr>
              </a:p>
              <a:p>
                <a:pPr>
                  <a:lnSpc>
                    <a:spcPct val="150000"/>
                  </a:lnSpc>
                </a:pPr>
                <a:endParaRPr lang="es-419" sz="2000" dirty="0">
                  <a:latin typeface="Cambria Math" panose="02040503050406030204" pitchFamily="18" charset="0"/>
                  <a:ea typeface="Cambria Math" panose="02040503050406030204" pitchFamily="18" charset="0"/>
                </a:endParaRPr>
              </a:p>
              <a:p>
                <a:pPr marL="0" indent="0">
                  <a:lnSpc>
                    <a:spcPct val="150000"/>
                  </a:lnSpc>
                  <a:buNone/>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a typeface="Cambria Math" panose="02040503050406030204" pitchFamily="18" charset="0"/>
                </a:endParaRPr>
              </a:p>
              <a:p>
                <a:pPr>
                  <a:lnSpc>
                    <a:spcPct val="150000"/>
                  </a:lnSpc>
                </a:pPr>
                <a:endParaRPr lang="es-419" dirty="0">
                  <a:highlight>
                    <a:srgbClr val="FFFF00"/>
                  </a:highlight>
                </a:endParaRPr>
              </a:p>
              <a:p>
                <a:pPr>
                  <a:lnSpc>
                    <a:spcPct val="150000"/>
                  </a:lnSpc>
                </a:pPr>
                <a:endParaRPr lang="es-419" dirty="0">
                  <a:highlight>
                    <a:srgbClr val="FFFF00"/>
                  </a:highlight>
                </a:endParaRPr>
              </a:p>
              <a:p>
                <a:pPr>
                  <a:lnSpc>
                    <a:spcPct val="150000"/>
                  </a:lnSpc>
                </a:pPr>
                <a:endParaRPr lang="es-419" dirty="0">
                  <a:highlight>
                    <a:srgbClr val="FFFF00"/>
                  </a:highlight>
                </a:endParaRPr>
              </a:p>
              <a:p>
                <a:pPr marL="514350" indent="-514350">
                  <a:lnSpc>
                    <a:spcPct val="150000"/>
                  </a:lnSpc>
                  <a:buFont typeface="+mj-lt"/>
                  <a:buAutoNum type="alphaLcPeriod"/>
                </a:pPr>
                <a:endParaRPr lang="es-419" dirty="0">
                  <a:highlight>
                    <a:srgbClr val="FFFF00"/>
                  </a:highlight>
                </a:endParaRPr>
              </a:p>
              <a:p>
                <a:pPr>
                  <a:lnSpc>
                    <a:spcPct val="150000"/>
                  </a:lnSpc>
                </a:pPr>
                <a:endParaRPr lang="es-419" dirty="0">
                  <a:highlight>
                    <a:srgbClr val="FFFF00"/>
                  </a:highlight>
                </a:endParaRPr>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s-VE">
                    <a:noFill/>
                  </a:rPr>
                  <a:t> </a:t>
                </a:r>
              </a:p>
            </p:txBody>
          </p:sp>
        </mc:Fallback>
      </mc:AlternateContent>
    </p:spTree>
    <p:extLst>
      <p:ext uri="{BB962C8B-B14F-4D97-AF65-F5344CB8AC3E}">
        <p14:creationId xmlns:p14="http://schemas.microsoft.com/office/powerpoint/2010/main" val="13433004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la varianza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sz="2400" i="1">
                          <a:latin typeface="Cambria Math" panose="02040503050406030204" pitchFamily="18" charset="0"/>
                          <a:ea typeface="Cambria Math" panose="02040503050406030204" pitchFamily="18" charset="0"/>
                        </a:rPr>
                        <m:t>𝑃</m:t>
                      </m:r>
                      <m:d>
                        <m:dPr>
                          <m:ctrlPr>
                            <a:rPr lang="es-419" sz="2400" i="1">
                              <a:latin typeface="Cambria Math" panose="02040503050406030204" pitchFamily="18" charset="0"/>
                              <a:ea typeface="Cambria Math" panose="02040503050406030204" pitchFamily="18" charset="0"/>
                            </a:rPr>
                          </m:ctrlPr>
                        </m:dPr>
                        <m:e>
                          <m:f>
                            <m:fPr>
                              <m:ctrlPr>
                                <a:rPr lang="es-419" sz="2400" i="1">
                                  <a:latin typeface="Cambria Math" panose="02040503050406030204" pitchFamily="18" charset="0"/>
                                  <a:ea typeface="Cambria Math" panose="02040503050406030204" pitchFamily="18" charset="0"/>
                                </a:rPr>
                              </m:ctrlPr>
                            </m:fPr>
                            <m:num>
                              <m:r>
                                <a:rPr lang="es-419" sz="2400" i="1">
                                  <a:solidFill>
                                    <a:srgbClr val="003A5D"/>
                                  </a:solidFill>
                                  <a:latin typeface="Cambria Math" panose="02040503050406030204" pitchFamily="18" charset="0"/>
                                  <a:ea typeface="Cambria Math" panose="02040503050406030204" pitchFamily="18" charset="0"/>
                                </a:rPr>
                                <m:t>𝑛</m:t>
                              </m:r>
                              <m:sSup>
                                <m:sSupPr>
                                  <m:ctrlPr>
                                    <a:rPr lang="es-419" sz="2400" i="1" dirty="0">
                                      <a:latin typeface="Cambria Math" panose="02040503050406030204" pitchFamily="18" charset="0"/>
                                      <a:ea typeface="Cambria Math" panose="02040503050406030204" pitchFamily="18" charset="0"/>
                                    </a:rPr>
                                  </m:ctrlPr>
                                </m:sSupPr>
                                <m:e>
                                  <m:r>
                                    <a:rPr lang="es-419" sz="2400" i="1" dirty="0">
                                      <a:latin typeface="Cambria Math" panose="02040503050406030204" pitchFamily="18" charset="0"/>
                                      <a:ea typeface="Cambria Math" panose="02040503050406030204" pitchFamily="18" charset="0"/>
                                    </a:rPr>
                                    <m:t>𝑆</m:t>
                                  </m:r>
                                </m:e>
                                <m:sup>
                                  <m:r>
                                    <a:rPr lang="es-419" sz="2400" i="1" dirty="0">
                                      <a:latin typeface="Cambria Math" panose="02040503050406030204" pitchFamily="18" charset="0"/>
                                      <a:ea typeface="Cambria Math" panose="02040503050406030204" pitchFamily="18" charset="0"/>
                                    </a:rPr>
                                    <m:t>2</m:t>
                                  </m:r>
                                  <m:r>
                                    <a:rPr lang="es-VE" sz="2400" i="1" dirty="0">
                                      <a:latin typeface="Cambria Math" panose="02040503050406030204" pitchFamily="18" charset="0"/>
                                      <a:ea typeface="Cambria Math" panose="02040503050406030204" pitchFamily="18" charset="0"/>
                                    </a:rPr>
                                    <m:t>′</m:t>
                                  </m:r>
                                </m:sup>
                              </m:sSup>
                            </m:num>
                            <m:den>
                              <m:d>
                                <m:dPr>
                                  <m:ctrlPr>
                                    <a:rPr lang="es-419" sz="2400" i="1">
                                      <a:latin typeface="Cambria Math" panose="02040503050406030204" pitchFamily="18" charset="0"/>
                                      <a:ea typeface="Cambria Math" panose="02040503050406030204" pitchFamily="18" charset="0"/>
                                    </a:rPr>
                                  </m:ctrlPr>
                                </m:dPr>
                                <m:e>
                                  <m:r>
                                    <a:rPr lang="es-419" sz="2400" i="1">
                                      <a:latin typeface="Cambria Math" panose="02040503050406030204" pitchFamily="18" charset="0"/>
                                      <a:ea typeface="Cambria Math" panose="02040503050406030204" pitchFamily="18" charset="0"/>
                                    </a:rPr>
                                    <m:t>𝑛</m:t>
                                  </m:r>
                                  <m:r>
                                    <a:rPr lang="es-419" sz="2400" i="1">
                                      <a:latin typeface="Cambria Math" panose="02040503050406030204" pitchFamily="18" charset="0"/>
                                      <a:ea typeface="Cambria Math" panose="02040503050406030204" pitchFamily="18" charset="0"/>
                                    </a:rPr>
                                    <m:t>−1</m:t>
                                  </m:r>
                                </m:e>
                              </m:d>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VE" sz="2400" i="1">
                                      <a:latin typeface="Cambria Math" panose="02040503050406030204" pitchFamily="18" charset="0"/>
                                      <a:ea typeface="Cambria Math" panose="02040503050406030204" pitchFamily="18" charset="0"/>
                                    </a:rPr>
                                    <m:t>𝑧</m:t>
                                  </m:r>
                                </m:e>
                                <m:sub>
                                  <m:f>
                                    <m:fPr>
                                      <m:type m:val="skw"/>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𝛼</m:t>
                                      </m:r>
                                    </m:num>
                                    <m:den>
                                      <m:r>
                                        <a:rPr lang="es-419" sz="2400" i="1">
                                          <a:latin typeface="Cambria Math" panose="02040503050406030204" pitchFamily="18" charset="0"/>
                                          <a:ea typeface="Cambria Math" panose="02040503050406030204" pitchFamily="18" charset="0"/>
                                        </a:rPr>
                                        <m:t>2</m:t>
                                      </m:r>
                                    </m:den>
                                  </m:f>
                                </m:sub>
                              </m:sSub>
                              <m:rad>
                                <m:radPr>
                                  <m:degHide m:val="on"/>
                                  <m:ctrlPr>
                                    <a:rPr lang="es-419" sz="2400" i="1" dirty="0">
                                      <a:latin typeface="Cambria Math" panose="02040503050406030204" pitchFamily="18" charset="0"/>
                                      <a:ea typeface="Cambria Math" panose="02040503050406030204" pitchFamily="18" charset="0"/>
                                    </a:rPr>
                                  </m:ctrlPr>
                                </m:radPr>
                                <m:deg/>
                                <m:e>
                                  <m:r>
                                    <a:rPr lang="es-419" sz="2400" i="1" dirty="0">
                                      <a:latin typeface="Cambria Math" panose="02040503050406030204" pitchFamily="18" charset="0"/>
                                      <a:ea typeface="Cambria Math" panose="02040503050406030204" pitchFamily="18" charset="0"/>
                                    </a:rPr>
                                    <m:t>2</m:t>
                                  </m:r>
                                  <m:d>
                                    <m:dPr>
                                      <m:ctrlPr>
                                        <a:rPr lang="es-419" sz="2400" i="1" dirty="0">
                                          <a:latin typeface="Cambria Math" panose="02040503050406030204" pitchFamily="18" charset="0"/>
                                          <a:ea typeface="Cambria Math" panose="02040503050406030204" pitchFamily="18" charset="0"/>
                                        </a:rPr>
                                      </m:ctrlPr>
                                    </m:dPr>
                                    <m:e>
                                      <m:r>
                                        <a:rPr lang="es-419" sz="2400" i="1" dirty="0">
                                          <a:latin typeface="Cambria Math" panose="02040503050406030204" pitchFamily="18" charset="0"/>
                                          <a:ea typeface="Cambria Math" panose="02040503050406030204" pitchFamily="18" charset="0"/>
                                        </a:rPr>
                                        <m:t>𝑛</m:t>
                                      </m:r>
                                      <m:r>
                                        <a:rPr lang="es-419" sz="2400" i="1" dirty="0">
                                          <a:latin typeface="Cambria Math" panose="02040503050406030204" pitchFamily="18" charset="0"/>
                                          <a:ea typeface="Cambria Math" panose="02040503050406030204" pitchFamily="18" charset="0"/>
                                        </a:rPr>
                                        <m:t>−1</m:t>
                                      </m:r>
                                    </m:e>
                                  </m:d>
                                </m:e>
                              </m:rad>
                            </m:den>
                          </m:f>
                          <m:r>
                            <a:rPr lang="es-419" sz="2400" i="1">
                              <a:latin typeface="Cambria Math" panose="02040503050406030204" pitchFamily="18" charset="0"/>
                              <a:ea typeface="Cambria Math" panose="02040503050406030204" pitchFamily="18" charset="0"/>
                            </a:rPr>
                            <m:t>≤</m:t>
                          </m:r>
                          <m:sSup>
                            <m:sSupPr>
                              <m:ctrlPr>
                                <a:rPr lang="es-419" sz="2400" i="1" dirty="0">
                                  <a:latin typeface="Cambria Math" panose="02040503050406030204" pitchFamily="18" charset="0"/>
                                  <a:ea typeface="Cambria Math" panose="02040503050406030204" pitchFamily="18" charset="0"/>
                                </a:rPr>
                              </m:ctrlPr>
                            </m:sSupPr>
                            <m:e>
                              <m:r>
                                <a:rPr lang="es-419" sz="2400" i="1" dirty="0">
                                  <a:latin typeface="Cambria Math" panose="02040503050406030204" pitchFamily="18" charset="0"/>
                                  <a:ea typeface="Cambria Math" panose="02040503050406030204" pitchFamily="18" charset="0"/>
                                </a:rPr>
                                <m:t>𝜎</m:t>
                              </m:r>
                            </m:e>
                            <m:sup>
                              <m:r>
                                <a:rPr lang="es-419" sz="2400" i="1" dirty="0">
                                  <a:latin typeface="Cambria Math" panose="02040503050406030204" pitchFamily="18" charset="0"/>
                                  <a:ea typeface="Cambria Math" panose="02040503050406030204" pitchFamily="18" charset="0"/>
                                </a:rPr>
                                <m:t>2</m:t>
                              </m:r>
                            </m:sup>
                          </m:sSup>
                          <m:r>
                            <a:rPr lang="es-419" sz="2400" i="1">
                              <a:latin typeface="Cambria Math" panose="02040503050406030204" pitchFamily="18" charset="0"/>
                              <a:ea typeface="Cambria Math" panose="02040503050406030204" pitchFamily="18" charset="0"/>
                            </a:rPr>
                            <m:t>≤</m:t>
                          </m:r>
                          <m:f>
                            <m:fPr>
                              <m:ctrlPr>
                                <a:rPr lang="es-419" sz="2400" i="1">
                                  <a:latin typeface="Cambria Math" panose="02040503050406030204" pitchFamily="18" charset="0"/>
                                  <a:ea typeface="Cambria Math" panose="02040503050406030204" pitchFamily="18" charset="0"/>
                                </a:rPr>
                              </m:ctrlPr>
                            </m:fPr>
                            <m:num>
                              <m:r>
                                <a:rPr lang="es-419" sz="2400" i="1">
                                  <a:solidFill>
                                    <a:srgbClr val="003A5D"/>
                                  </a:solidFill>
                                  <a:latin typeface="Cambria Math" panose="02040503050406030204" pitchFamily="18" charset="0"/>
                                  <a:ea typeface="Cambria Math" panose="02040503050406030204" pitchFamily="18" charset="0"/>
                                </a:rPr>
                                <m:t>𝑛</m:t>
                              </m:r>
                              <m:sSup>
                                <m:sSupPr>
                                  <m:ctrlPr>
                                    <a:rPr lang="es-419" sz="2400" i="1" dirty="0">
                                      <a:latin typeface="Cambria Math" panose="02040503050406030204" pitchFamily="18" charset="0"/>
                                      <a:ea typeface="Cambria Math" panose="02040503050406030204" pitchFamily="18" charset="0"/>
                                    </a:rPr>
                                  </m:ctrlPr>
                                </m:sSupPr>
                                <m:e>
                                  <m:r>
                                    <a:rPr lang="es-419" sz="2400" i="1" dirty="0">
                                      <a:latin typeface="Cambria Math" panose="02040503050406030204" pitchFamily="18" charset="0"/>
                                      <a:ea typeface="Cambria Math" panose="02040503050406030204" pitchFamily="18" charset="0"/>
                                    </a:rPr>
                                    <m:t>𝑆</m:t>
                                  </m:r>
                                </m:e>
                                <m:sup>
                                  <m:r>
                                    <a:rPr lang="es-419" sz="2400" i="1" dirty="0">
                                      <a:latin typeface="Cambria Math" panose="02040503050406030204" pitchFamily="18" charset="0"/>
                                      <a:ea typeface="Cambria Math" panose="02040503050406030204" pitchFamily="18" charset="0"/>
                                    </a:rPr>
                                    <m:t>2</m:t>
                                  </m:r>
                                  <m:r>
                                    <a:rPr lang="es-VE" sz="2400" i="1" dirty="0">
                                      <a:latin typeface="Cambria Math" panose="02040503050406030204" pitchFamily="18" charset="0"/>
                                      <a:ea typeface="Cambria Math" panose="02040503050406030204" pitchFamily="18" charset="0"/>
                                    </a:rPr>
                                    <m:t>′</m:t>
                                  </m:r>
                                </m:sup>
                              </m:sSup>
                            </m:num>
                            <m:den>
                              <m:d>
                                <m:dPr>
                                  <m:ctrlPr>
                                    <a:rPr lang="es-419" sz="2400" i="1">
                                      <a:latin typeface="Cambria Math" panose="02040503050406030204" pitchFamily="18" charset="0"/>
                                      <a:ea typeface="Cambria Math" panose="02040503050406030204" pitchFamily="18" charset="0"/>
                                    </a:rPr>
                                  </m:ctrlPr>
                                </m:dPr>
                                <m:e>
                                  <m:r>
                                    <a:rPr lang="es-419" sz="2400" i="1">
                                      <a:latin typeface="Cambria Math" panose="02040503050406030204" pitchFamily="18" charset="0"/>
                                      <a:ea typeface="Cambria Math" panose="02040503050406030204" pitchFamily="18" charset="0"/>
                                    </a:rPr>
                                    <m:t>𝑛</m:t>
                                  </m:r>
                                  <m:r>
                                    <a:rPr lang="es-419" sz="2400" i="1">
                                      <a:latin typeface="Cambria Math" panose="02040503050406030204" pitchFamily="18" charset="0"/>
                                      <a:ea typeface="Cambria Math" panose="02040503050406030204" pitchFamily="18" charset="0"/>
                                    </a:rPr>
                                    <m:t>−1</m:t>
                                  </m:r>
                                </m:e>
                              </m:d>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VE" sz="2400" i="1">
                                      <a:latin typeface="Cambria Math" panose="02040503050406030204" pitchFamily="18" charset="0"/>
                                      <a:ea typeface="Cambria Math" panose="02040503050406030204" pitchFamily="18" charset="0"/>
                                    </a:rPr>
                                    <m:t>𝑧</m:t>
                                  </m:r>
                                </m:e>
                                <m:sub>
                                  <m:f>
                                    <m:fPr>
                                      <m:type m:val="skw"/>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𝛼</m:t>
                                      </m:r>
                                    </m:num>
                                    <m:den>
                                      <m:r>
                                        <a:rPr lang="es-419" sz="2400" i="1">
                                          <a:latin typeface="Cambria Math" panose="02040503050406030204" pitchFamily="18" charset="0"/>
                                          <a:ea typeface="Cambria Math" panose="02040503050406030204" pitchFamily="18" charset="0"/>
                                        </a:rPr>
                                        <m:t>2</m:t>
                                      </m:r>
                                    </m:den>
                                  </m:f>
                                </m:sub>
                              </m:sSub>
                              <m:rad>
                                <m:radPr>
                                  <m:degHide m:val="on"/>
                                  <m:ctrlPr>
                                    <a:rPr lang="es-419" sz="2400" i="1" dirty="0">
                                      <a:latin typeface="Cambria Math" panose="02040503050406030204" pitchFamily="18" charset="0"/>
                                      <a:ea typeface="Cambria Math" panose="02040503050406030204" pitchFamily="18" charset="0"/>
                                    </a:rPr>
                                  </m:ctrlPr>
                                </m:radPr>
                                <m:deg/>
                                <m:e>
                                  <m:r>
                                    <a:rPr lang="es-419" sz="2400" i="1" dirty="0">
                                      <a:latin typeface="Cambria Math" panose="02040503050406030204" pitchFamily="18" charset="0"/>
                                      <a:ea typeface="Cambria Math" panose="02040503050406030204" pitchFamily="18" charset="0"/>
                                    </a:rPr>
                                    <m:t>2(</m:t>
                                  </m:r>
                                  <m:r>
                                    <a:rPr lang="es-419" sz="2400" i="1" dirty="0">
                                      <a:latin typeface="Cambria Math" panose="02040503050406030204" pitchFamily="18" charset="0"/>
                                      <a:ea typeface="Cambria Math" panose="02040503050406030204" pitchFamily="18" charset="0"/>
                                    </a:rPr>
                                    <m:t>𝑛</m:t>
                                  </m:r>
                                  <m:r>
                                    <a:rPr lang="es-419" sz="2400" i="1" dirty="0">
                                      <a:latin typeface="Cambria Math" panose="02040503050406030204" pitchFamily="18" charset="0"/>
                                      <a:ea typeface="Cambria Math" panose="02040503050406030204" pitchFamily="18" charset="0"/>
                                    </a:rPr>
                                    <m:t>−1)</m:t>
                                  </m:r>
                                </m:e>
                              </m:rad>
                            </m:den>
                          </m:f>
                        </m:e>
                      </m:d>
                      <m:r>
                        <a:rPr lang="es-419" sz="2400" i="1">
                          <a:latin typeface="Cambria Math" panose="02040503050406030204" pitchFamily="18" charset="0"/>
                          <a:ea typeface="Cambria Math" panose="02040503050406030204" pitchFamily="18" charset="0"/>
                        </a:rPr>
                        <m:t>=</m:t>
                      </m:r>
                      <m:r>
                        <a:rPr lang="es-419" sz="2400" i="1">
                          <a:latin typeface="Cambria Math" panose="02040503050406030204" pitchFamily="18" charset="0"/>
                        </a:rPr>
                        <m:t>1−</m:t>
                      </m:r>
                      <m:r>
                        <a:rPr lang="es-419" sz="2400" i="1">
                          <a:latin typeface="Cambria Math" panose="02040503050406030204" pitchFamily="18" charset="0"/>
                          <a:ea typeface="Cambria Math" panose="02040503050406030204" pitchFamily="18" charset="0"/>
                        </a:rPr>
                        <m:t>𝛼</m:t>
                      </m:r>
                    </m:oMath>
                  </m:oMathPara>
                </a14:m>
                <a:endParaRPr lang="es-419" sz="2400" dirty="0">
                  <a:latin typeface="Cambria Math" panose="02040503050406030204" pitchFamily="18" charset="0"/>
                  <a:ea typeface="Cambria Math" panose="02040503050406030204" pitchFamily="18" charset="0"/>
                </a:endParaRPr>
              </a:p>
              <a:p>
                <a:pPr>
                  <a:lnSpc>
                    <a:spcPct val="150000"/>
                  </a:lnSpc>
                </a:pPr>
                <a:r>
                  <a:rPr lang="es-VE" sz="2400" dirty="0">
                    <a:ea typeface="Cambria Math" panose="02040503050406030204" pitchFamily="18" charset="0"/>
                  </a:rPr>
                  <a:t>El intervalo de confianza termina siendo:</a:t>
                </a:r>
              </a:p>
              <a:p>
                <a:pPr marL="0" indent="0">
                  <a:lnSpc>
                    <a:spcPct val="150000"/>
                  </a:lnSpc>
                  <a:buNone/>
                </a:pPr>
                <a14:m>
                  <m:oMathPara xmlns:m="http://schemas.openxmlformats.org/officeDocument/2006/math">
                    <m:oMathParaPr>
                      <m:jc m:val="centerGroup"/>
                    </m:oMathParaPr>
                    <m:oMath xmlns:m="http://schemas.openxmlformats.org/officeDocument/2006/math">
                      <m:r>
                        <a:rPr lang="es-VE" sz="2400" i="1">
                          <a:latin typeface="Cambria Math" panose="02040503050406030204" pitchFamily="18" charset="0"/>
                          <a:ea typeface="Cambria Math" panose="02040503050406030204" pitchFamily="18" charset="0"/>
                        </a:rPr>
                        <m:t>[</m:t>
                      </m:r>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𝑛</m:t>
                          </m:r>
                          <m:sSup>
                            <m:sSupPr>
                              <m:ctrlPr>
                                <a:rPr lang="es-419" sz="2400" i="1" dirty="0">
                                  <a:latin typeface="Cambria Math" panose="02040503050406030204" pitchFamily="18" charset="0"/>
                                  <a:ea typeface="Cambria Math" panose="02040503050406030204" pitchFamily="18" charset="0"/>
                                </a:rPr>
                              </m:ctrlPr>
                            </m:sSupPr>
                            <m:e>
                              <m:r>
                                <a:rPr lang="es-419" sz="2400" i="1" dirty="0">
                                  <a:latin typeface="Cambria Math" panose="02040503050406030204" pitchFamily="18" charset="0"/>
                                  <a:ea typeface="Cambria Math" panose="02040503050406030204" pitchFamily="18" charset="0"/>
                                </a:rPr>
                                <m:t>𝑆</m:t>
                              </m:r>
                            </m:e>
                            <m:sup>
                              <m:sSup>
                                <m:sSupPr>
                                  <m:ctrlPr>
                                    <a:rPr lang="es-VE" sz="2400" i="1" dirty="0">
                                      <a:latin typeface="Cambria Math" panose="02040503050406030204" pitchFamily="18" charset="0"/>
                                      <a:ea typeface="Cambria Math" panose="02040503050406030204" pitchFamily="18" charset="0"/>
                                    </a:rPr>
                                  </m:ctrlPr>
                                </m:sSupPr>
                                <m:e>
                                  <m:r>
                                    <a:rPr lang="es-419" sz="2400" i="1" dirty="0">
                                      <a:latin typeface="Cambria Math" panose="02040503050406030204" pitchFamily="18" charset="0"/>
                                      <a:ea typeface="Cambria Math" panose="02040503050406030204" pitchFamily="18" charset="0"/>
                                    </a:rPr>
                                    <m:t>2</m:t>
                                  </m:r>
                                </m:e>
                                <m:sup>
                                  <m:r>
                                    <a:rPr lang="es-VE" sz="2400" i="1" dirty="0">
                                      <a:latin typeface="Cambria Math" panose="02040503050406030204" pitchFamily="18" charset="0"/>
                                      <a:ea typeface="Cambria Math" panose="02040503050406030204" pitchFamily="18" charset="0"/>
                                    </a:rPr>
                                    <m:t>′</m:t>
                                  </m:r>
                                </m:sup>
                              </m:sSup>
                            </m:sup>
                          </m:sSup>
                        </m:num>
                        <m:den>
                          <m:d>
                            <m:dPr>
                              <m:ctrlPr>
                                <a:rPr lang="es-419" sz="2400" i="1">
                                  <a:latin typeface="Cambria Math" panose="02040503050406030204" pitchFamily="18" charset="0"/>
                                  <a:ea typeface="Cambria Math" panose="02040503050406030204" pitchFamily="18" charset="0"/>
                                </a:rPr>
                              </m:ctrlPr>
                            </m:dPr>
                            <m:e>
                              <m:r>
                                <a:rPr lang="es-419" sz="2400" i="1">
                                  <a:latin typeface="Cambria Math" panose="02040503050406030204" pitchFamily="18" charset="0"/>
                                  <a:ea typeface="Cambria Math" panose="02040503050406030204" pitchFamily="18" charset="0"/>
                                </a:rPr>
                                <m:t>𝑛</m:t>
                              </m:r>
                              <m:r>
                                <a:rPr lang="es-419" sz="2400" i="1">
                                  <a:latin typeface="Cambria Math" panose="02040503050406030204" pitchFamily="18" charset="0"/>
                                  <a:ea typeface="Cambria Math" panose="02040503050406030204" pitchFamily="18" charset="0"/>
                                </a:rPr>
                                <m:t>−1</m:t>
                              </m:r>
                            </m:e>
                          </m:d>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VE" sz="2400" i="1">
                                  <a:latin typeface="Cambria Math" panose="02040503050406030204" pitchFamily="18" charset="0"/>
                                  <a:ea typeface="Cambria Math" panose="02040503050406030204" pitchFamily="18" charset="0"/>
                                </a:rPr>
                                <m:t>𝑧</m:t>
                              </m:r>
                            </m:e>
                            <m:sub>
                              <m:f>
                                <m:fPr>
                                  <m:type m:val="skw"/>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𝛼</m:t>
                                  </m:r>
                                </m:num>
                                <m:den>
                                  <m:r>
                                    <a:rPr lang="es-419" sz="2400" i="1">
                                      <a:latin typeface="Cambria Math" panose="02040503050406030204" pitchFamily="18" charset="0"/>
                                      <a:ea typeface="Cambria Math" panose="02040503050406030204" pitchFamily="18" charset="0"/>
                                    </a:rPr>
                                    <m:t>2</m:t>
                                  </m:r>
                                </m:den>
                              </m:f>
                            </m:sub>
                          </m:sSub>
                          <m:rad>
                            <m:radPr>
                              <m:degHide m:val="on"/>
                              <m:ctrlPr>
                                <a:rPr lang="es-419" sz="2400" i="1" dirty="0">
                                  <a:latin typeface="Cambria Math" panose="02040503050406030204" pitchFamily="18" charset="0"/>
                                  <a:ea typeface="Cambria Math" panose="02040503050406030204" pitchFamily="18" charset="0"/>
                                </a:rPr>
                              </m:ctrlPr>
                            </m:radPr>
                            <m:deg/>
                            <m:e>
                              <m:r>
                                <a:rPr lang="es-419" sz="2400" i="1" dirty="0">
                                  <a:latin typeface="Cambria Math" panose="02040503050406030204" pitchFamily="18" charset="0"/>
                                  <a:ea typeface="Cambria Math" panose="02040503050406030204" pitchFamily="18" charset="0"/>
                                </a:rPr>
                                <m:t>2</m:t>
                              </m:r>
                              <m:d>
                                <m:dPr>
                                  <m:ctrlPr>
                                    <a:rPr lang="es-419" sz="2400" i="1" dirty="0">
                                      <a:latin typeface="Cambria Math" panose="02040503050406030204" pitchFamily="18" charset="0"/>
                                      <a:ea typeface="Cambria Math" panose="02040503050406030204" pitchFamily="18" charset="0"/>
                                    </a:rPr>
                                  </m:ctrlPr>
                                </m:dPr>
                                <m:e>
                                  <m:r>
                                    <a:rPr lang="es-419" sz="2400" i="1" dirty="0">
                                      <a:latin typeface="Cambria Math" panose="02040503050406030204" pitchFamily="18" charset="0"/>
                                      <a:ea typeface="Cambria Math" panose="02040503050406030204" pitchFamily="18" charset="0"/>
                                    </a:rPr>
                                    <m:t>𝑛</m:t>
                                  </m:r>
                                  <m:r>
                                    <a:rPr lang="es-419" sz="2400" i="1" dirty="0">
                                      <a:latin typeface="Cambria Math" panose="02040503050406030204" pitchFamily="18" charset="0"/>
                                      <a:ea typeface="Cambria Math" panose="02040503050406030204" pitchFamily="18" charset="0"/>
                                    </a:rPr>
                                    <m:t>−1</m:t>
                                  </m:r>
                                </m:e>
                              </m:d>
                            </m:e>
                          </m:rad>
                        </m:den>
                      </m:f>
                      <m:r>
                        <a:rPr lang="es-419" sz="2400" i="1" dirty="0">
                          <a:latin typeface="Cambria Math" panose="02040503050406030204" pitchFamily="18" charset="0"/>
                          <a:ea typeface="Cambria Math" panose="02040503050406030204" pitchFamily="18" charset="0"/>
                        </a:rPr>
                        <m:t>;</m:t>
                      </m:r>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𝑛</m:t>
                          </m:r>
                          <m:sSup>
                            <m:sSupPr>
                              <m:ctrlPr>
                                <a:rPr lang="es-419" sz="2400" i="1" dirty="0">
                                  <a:latin typeface="Cambria Math" panose="02040503050406030204" pitchFamily="18" charset="0"/>
                                  <a:ea typeface="Cambria Math" panose="02040503050406030204" pitchFamily="18" charset="0"/>
                                </a:rPr>
                              </m:ctrlPr>
                            </m:sSupPr>
                            <m:e>
                              <m:r>
                                <a:rPr lang="es-419" sz="2400" i="1" dirty="0">
                                  <a:latin typeface="Cambria Math" panose="02040503050406030204" pitchFamily="18" charset="0"/>
                                  <a:ea typeface="Cambria Math" panose="02040503050406030204" pitchFamily="18" charset="0"/>
                                </a:rPr>
                                <m:t>𝑆</m:t>
                              </m:r>
                            </m:e>
                            <m:sup>
                              <m:sSup>
                                <m:sSupPr>
                                  <m:ctrlPr>
                                    <a:rPr lang="es-VE" sz="2400" i="1" dirty="0">
                                      <a:latin typeface="Cambria Math" panose="02040503050406030204" pitchFamily="18" charset="0"/>
                                      <a:ea typeface="Cambria Math" panose="02040503050406030204" pitchFamily="18" charset="0"/>
                                    </a:rPr>
                                  </m:ctrlPr>
                                </m:sSupPr>
                                <m:e>
                                  <m:r>
                                    <a:rPr lang="es-419" sz="2400" i="1" dirty="0">
                                      <a:latin typeface="Cambria Math" panose="02040503050406030204" pitchFamily="18" charset="0"/>
                                      <a:ea typeface="Cambria Math" panose="02040503050406030204" pitchFamily="18" charset="0"/>
                                    </a:rPr>
                                    <m:t>2</m:t>
                                  </m:r>
                                </m:e>
                                <m:sup>
                                  <m:r>
                                    <a:rPr lang="es-VE" sz="2400" i="1" dirty="0">
                                      <a:latin typeface="Cambria Math" panose="02040503050406030204" pitchFamily="18" charset="0"/>
                                      <a:ea typeface="Cambria Math" panose="02040503050406030204" pitchFamily="18" charset="0"/>
                                    </a:rPr>
                                    <m:t>′</m:t>
                                  </m:r>
                                </m:sup>
                              </m:sSup>
                            </m:sup>
                          </m:sSup>
                        </m:num>
                        <m:den>
                          <m:d>
                            <m:dPr>
                              <m:ctrlPr>
                                <a:rPr lang="es-419" sz="2400" i="1">
                                  <a:latin typeface="Cambria Math" panose="02040503050406030204" pitchFamily="18" charset="0"/>
                                  <a:ea typeface="Cambria Math" panose="02040503050406030204" pitchFamily="18" charset="0"/>
                                </a:rPr>
                              </m:ctrlPr>
                            </m:dPr>
                            <m:e>
                              <m:r>
                                <a:rPr lang="es-419" sz="2400" i="1">
                                  <a:latin typeface="Cambria Math" panose="02040503050406030204" pitchFamily="18" charset="0"/>
                                  <a:ea typeface="Cambria Math" panose="02040503050406030204" pitchFamily="18" charset="0"/>
                                </a:rPr>
                                <m:t>𝑛</m:t>
                              </m:r>
                              <m:r>
                                <a:rPr lang="es-419" sz="2400" i="1">
                                  <a:latin typeface="Cambria Math" panose="02040503050406030204" pitchFamily="18" charset="0"/>
                                  <a:ea typeface="Cambria Math" panose="02040503050406030204" pitchFamily="18" charset="0"/>
                                </a:rPr>
                                <m:t>−1</m:t>
                              </m:r>
                            </m:e>
                          </m:d>
                          <m:r>
                            <a:rPr lang="es-419" sz="2400" i="1">
                              <a:latin typeface="Cambria Math" panose="02040503050406030204" pitchFamily="18" charset="0"/>
                              <a:ea typeface="Cambria Math" panose="02040503050406030204" pitchFamily="18" charset="0"/>
                            </a:rPr>
                            <m:t>−</m:t>
                          </m:r>
                          <m:sSub>
                            <m:sSubPr>
                              <m:ctrlPr>
                                <a:rPr lang="es-419" sz="2400" i="1">
                                  <a:latin typeface="Cambria Math" panose="02040503050406030204" pitchFamily="18" charset="0"/>
                                  <a:ea typeface="Cambria Math" panose="02040503050406030204" pitchFamily="18" charset="0"/>
                                </a:rPr>
                              </m:ctrlPr>
                            </m:sSubPr>
                            <m:e>
                              <m:r>
                                <a:rPr lang="es-VE" sz="2400" i="1">
                                  <a:latin typeface="Cambria Math" panose="02040503050406030204" pitchFamily="18" charset="0"/>
                                  <a:ea typeface="Cambria Math" panose="02040503050406030204" pitchFamily="18" charset="0"/>
                                </a:rPr>
                                <m:t>𝑧</m:t>
                              </m:r>
                            </m:e>
                            <m:sub>
                              <m:f>
                                <m:fPr>
                                  <m:type m:val="skw"/>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𝛼</m:t>
                                  </m:r>
                                </m:num>
                                <m:den>
                                  <m:r>
                                    <a:rPr lang="es-419" sz="2400" i="1">
                                      <a:latin typeface="Cambria Math" panose="02040503050406030204" pitchFamily="18" charset="0"/>
                                      <a:ea typeface="Cambria Math" panose="02040503050406030204" pitchFamily="18" charset="0"/>
                                    </a:rPr>
                                    <m:t>2</m:t>
                                  </m:r>
                                </m:den>
                              </m:f>
                            </m:sub>
                          </m:sSub>
                          <m:rad>
                            <m:radPr>
                              <m:degHide m:val="on"/>
                              <m:ctrlPr>
                                <a:rPr lang="es-419" sz="2400" i="1" dirty="0">
                                  <a:latin typeface="Cambria Math" panose="02040503050406030204" pitchFamily="18" charset="0"/>
                                  <a:ea typeface="Cambria Math" panose="02040503050406030204" pitchFamily="18" charset="0"/>
                                </a:rPr>
                              </m:ctrlPr>
                            </m:radPr>
                            <m:deg/>
                            <m:e>
                              <m:r>
                                <a:rPr lang="es-419" sz="2400" i="1" dirty="0">
                                  <a:latin typeface="Cambria Math" panose="02040503050406030204" pitchFamily="18" charset="0"/>
                                  <a:ea typeface="Cambria Math" panose="02040503050406030204" pitchFamily="18" charset="0"/>
                                </a:rPr>
                                <m:t>2</m:t>
                              </m:r>
                              <m:d>
                                <m:dPr>
                                  <m:ctrlPr>
                                    <a:rPr lang="es-419" sz="2400" i="1" dirty="0">
                                      <a:latin typeface="Cambria Math" panose="02040503050406030204" pitchFamily="18" charset="0"/>
                                      <a:ea typeface="Cambria Math" panose="02040503050406030204" pitchFamily="18" charset="0"/>
                                    </a:rPr>
                                  </m:ctrlPr>
                                </m:dPr>
                                <m:e>
                                  <m:r>
                                    <a:rPr lang="es-419" sz="2400" i="1" dirty="0">
                                      <a:latin typeface="Cambria Math" panose="02040503050406030204" pitchFamily="18" charset="0"/>
                                      <a:ea typeface="Cambria Math" panose="02040503050406030204" pitchFamily="18" charset="0"/>
                                    </a:rPr>
                                    <m:t>𝑛</m:t>
                                  </m:r>
                                  <m:r>
                                    <a:rPr lang="es-419" sz="2400" i="1" dirty="0">
                                      <a:latin typeface="Cambria Math" panose="02040503050406030204" pitchFamily="18" charset="0"/>
                                      <a:ea typeface="Cambria Math" panose="02040503050406030204" pitchFamily="18" charset="0"/>
                                    </a:rPr>
                                    <m:t>−1</m:t>
                                  </m:r>
                                </m:e>
                              </m:d>
                            </m:e>
                          </m:rad>
                        </m:den>
                      </m:f>
                      <m:r>
                        <a:rPr lang="es-VE" sz="2400" i="1" dirty="0">
                          <a:latin typeface="Cambria Math" panose="02040503050406030204" pitchFamily="18" charset="0"/>
                          <a:ea typeface="Cambria Math" panose="02040503050406030204" pitchFamily="18" charset="0"/>
                        </a:rPr>
                        <m:t>]</m:t>
                      </m:r>
                    </m:oMath>
                  </m:oMathPara>
                </a14:m>
                <a:endParaRPr lang="es-419" sz="2400" dirty="0">
                  <a:latin typeface="Cambria Math" panose="02040503050406030204" pitchFamily="18" charset="0"/>
                  <a:ea typeface="Cambria Math" panose="02040503050406030204" pitchFamily="18" charset="0"/>
                </a:endParaRPr>
              </a:p>
              <a:p>
                <a:pPr>
                  <a:lnSpc>
                    <a:spcPct val="150000"/>
                  </a:lnSpc>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s-VE">
                    <a:noFill/>
                  </a:rPr>
                  <a:t> </a:t>
                </a:r>
              </a:p>
            </p:txBody>
          </p:sp>
        </mc:Fallback>
      </mc:AlternateContent>
    </p:spTree>
    <p:extLst>
      <p:ext uri="{BB962C8B-B14F-4D97-AF65-F5344CB8AC3E}">
        <p14:creationId xmlns:p14="http://schemas.microsoft.com/office/powerpoint/2010/main" val="13942343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¿Hay incongruencia con que usemos la </a:t>
                </a:r>
                <a:r>
                  <a:rPr lang="es-VE" b="1" i="1" dirty="0">
                    <a:solidFill>
                      <a:srgbClr val="003A5D"/>
                    </a:solidFill>
                  </a:rPr>
                  <a:t>normal </a:t>
                </a:r>
                <a14:m>
                  <m:oMath xmlns:m="http://schemas.openxmlformats.org/officeDocument/2006/math">
                    <m:sSup>
                      <m:sSupPr>
                        <m:ctrlPr>
                          <a:rPr lang="es-419" i="1" smtClean="0">
                            <a:latin typeface="Cambria Math" panose="02040503050406030204" pitchFamily="18" charset="0"/>
                          </a:rPr>
                        </m:ctrlPr>
                      </m:sSupPr>
                      <m:e>
                        <m:r>
                          <a:rPr lang="es-419" i="1">
                            <a:latin typeface="Cambria Math" panose="02040503050406030204" pitchFamily="18" charset="0"/>
                          </a:rPr>
                          <m:t>𝑆</m:t>
                        </m:r>
                      </m:e>
                      <m:sup>
                        <m:r>
                          <a:rPr lang="es-419" i="1">
                            <a:latin typeface="Cambria Math" panose="02040503050406030204" pitchFamily="18" charset="0"/>
                          </a:rPr>
                          <m:t>2′</m:t>
                        </m:r>
                      </m:sup>
                    </m:sSup>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𝐸</m:t>
                    </m:r>
                    <m:d>
                      <m:dPr>
                        <m:ctrlPr>
                          <a:rPr lang="es-419" b="0" i="1" smtClean="0">
                            <a:latin typeface="Cambria Math" panose="02040503050406030204" pitchFamily="18" charset="0"/>
                            <a:ea typeface="Cambria Math" panose="02040503050406030204" pitchFamily="18" charset="0"/>
                          </a:rPr>
                        </m:ctrlPr>
                      </m:dPr>
                      <m:e>
                        <m:sSup>
                          <m:sSupPr>
                            <m:ctrlPr>
                              <a:rPr lang="es-419" i="1">
                                <a:latin typeface="Cambria Math" panose="02040503050406030204" pitchFamily="18" charset="0"/>
                              </a:rPr>
                            </m:ctrlPr>
                          </m:sSupPr>
                          <m:e>
                            <m:r>
                              <a:rPr lang="es-419" i="1">
                                <a:latin typeface="Cambria Math" panose="02040503050406030204" pitchFamily="18" charset="0"/>
                              </a:rPr>
                              <m:t>𝑆</m:t>
                            </m:r>
                          </m:e>
                          <m:sup>
                            <m:r>
                              <a:rPr lang="es-419" i="1">
                                <a:latin typeface="Cambria Math" panose="02040503050406030204" pitchFamily="18" charset="0"/>
                              </a:rPr>
                              <m:t>2′</m:t>
                            </m:r>
                          </m:sup>
                        </m:sSup>
                      </m:e>
                    </m:d>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𝑉𝑎𝑟</m:t>
                    </m:r>
                    <m:r>
                      <a:rPr lang="es-419" b="0" i="1" smtClean="0">
                        <a:latin typeface="Cambria Math" panose="02040503050406030204" pitchFamily="18" charset="0"/>
                        <a:ea typeface="Cambria Math" panose="02040503050406030204" pitchFamily="18" charset="0"/>
                      </a:rPr>
                      <m:t>(</m:t>
                    </m:r>
                    <m:sSup>
                      <m:sSupPr>
                        <m:ctrlPr>
                          <a:rPr lang="es-419" i="1">
                            <a:latin typeface="Cambria Math" panose="02040503050406030204" pitchFamily="18" charset="0"/>
                          </a:rPr>
                        </m:ctrlPr>
                      </m:sSupPr>
                      <m:e>
                        <m:r>
                          <a:rPr lang="es-419" i="1">
                            <a:latin typeface="Cambria Math" panose="02040503050406030204" pitchFamily="18" charset="0"/>
                          </a:rPr>
                          <m:t>𝑆</m:t>
                        </m:r>
                      </m:e>
                      <m:sup>
                        <m:r>
                          <a:rPr lang="es-419" i="1">
                            <a:latin typeface="Cambria Math" panose="02040503050406030204" pitchFamily="18" charset="0"/>
                          </a:rPr>
                          <m:t>2′</m:t>
                        </m:r>
                      </m:sup>
                    </m:sSup>
                    <m:r>
                      <a:rPr lang="es-419" b="0" i="1" smtClean="0">
                        <a:latin typeface="Cambria Math" panose="02040503050406030204" pitchFamily="18" charset="0"/>
                        <a:ea typeface="Cambria Math" panose="02040503050406030204" pitchFamily="18" charset="0"/>
                      </a:rPr>
                      <m:t>)</m:t>
                    </m:r>
                  </m:oMath>
                </a14:m>
                <a:r>
                  <a:rPr lang="es-VE" i="1" dirty="0"/>
                  <a:t> cuando todo el curso llevamos hablando de usar la </a:t>
                </a:r>
                <a:r>
                  <a:rPr lang="es-VE" b="1" i="1" dirty="0">
                    <a:solidFill>
                      <a:srgbClr val="003A5D"/>
                    </a:solidFill>
                  </a:rPr>
                  <a:t>chi-cuadrada</a:t>
                </a:r>
                <a:r>
                  <a:rPr lang="es-VE" i="1" dirty="0"/>
                  <a:t> </a:t>
                </a:r>
                <a14:m>
                  <m:oMath xmlns:m="http://schemas.openxmlformats.org/officeDocument/2006/math">
                    <m:sSup>
                      <m:sSupPr>
                        <m:ctrlPr>
                          <a:rPr lang="es-419" i="1" dirty="0">
                            <a:latin typeface="Cambria Math" panose="02040503050406030204" pitchFamily="18" charset="0"/>
                            <a:ea typeface="Cambria Math" panose="02040503050406030204" pitchFamily="18" charset="0"/>
                          </a:rPr>
                        </m:ctrlPr>
                      </m:sSupPr>
                      <m:e>
                        <m:r>
                          <a:rPr lang="es-419" i="1" dirty="0">
                            <a:latin typeface="Cambria Math" panose="02040503050406030204" pitchFamily="18" charset="0"/>
                            <a:ea typeface="Cambria Math" panose="02040503050406030204" pitchFamily="18" charset="0"/>
                          </a:rPr>
                          <m:t>𝜒</m:t>
                        </m:r>
                      </m:e>
                      <m:sup>
                        <m:r>
                          <a:rPr lang="es-419" i="1" dirty="0">
                            <a:latin typeface="Cambria Math" panose="02040503050406030204" pitchFamily="18" charset="0"/>
                            <a:ea typeface="Cambria Math" panose="02040503050406030204" pitchFamily="18" charset="0"/>
                          </a:rPr>
                          <m:t>2</m:t>
                        </m:r>
                      </m:sup>
                    </m:sSup>
                  </m:oMath>
                </a14:m>
                <a:r>
                  <a:rPr lang="es-VE" i="1" dirty="0"/>
                  <a:t>?</a:t>
                </a:r>
              </a:p>
            </p:txBody>
          </p:sp>
        </mc:Choice>
        <mc:Fallback xmlns="">
          <p:sp>
            <p:nvSpPr>
              <p:cNvPr id="3" name="Marcador de contenido 2">
                <a:extLst>
                  <a:ext uri="{FF2B5EF4-FFF2-40B4-BE49-F238E27FC236}">
                    <a16:creationId xmlns:a16="http://schemas.microsoft.com/office/drawing/2014/main" id="{8C2D7072-22D5-5CE2-66CC-3EAF549E62A0}"/>
                  </a:ext>
                </a:extLst>
              </p:cNvPr>
              <p:cNvSpPr>
                <a:spLocks noGrp="1" noRot="1" noChangeAspect="1" noMove="1" noResize="1" noEditPoints="1" noAdjustHandles="1" noChangeArrowheads="1" noChangeShapeType="1" noTextEdit="1"/>
              </p:cNvSpPr>
              <p:nvPr>
                <p:ph idx="1"/>
              </p:nvPr>
            </p:nvSpPr>
            <p:spPr>
              <a:blipFill>
                <a:blip r:embed="rId2"/>
                <a:stretch>
                  <a:fillRect r="-928"/>
                </a:stretch>
              </a:blipFill>
            </p:spPr>
            <p:txBody>
              <a:bodyPr/>
              <a:lstStyle/>
              <a:p>
                <a:r>
                  <a:rPr lang="es-419">
                    <a:noFill/>
                  </a:rPr>
                  <a:t> </a:t>
                </a:r>
              </a:p>
            </p:txBody>
          </p:sp>
        </mc:Fallback>
      </mc:AlternateContent>
    </p:spTree>
    <p:extLst>
      <p:ext uri="{BB962C8B-B14F-4D97-AF65-F5344CB8AC3E}">
        <p14:creationId xmlns:p14="http://schemas.microsoft.com/office/powerpoint/2010/main" val="224086609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Intervalos de confianza para la proporción de una población</a:t>
            </a:r>
            <a:endParaRPr lang="es-419" dirty="0"/>
          </a:p>
        </p:txBody>
      </p:sp>
      <p:sp>
        <p:nvSpPr>
          <p:cNvPr id="2" name="Marcador de texto 1"/>
          <p:cNvSpPr>
            <a:spLocks noGrp="1"/>
          </p:cNvSpPr>
          <p:nvPr>
            <p:ph type="body" idx="1"/>
          </p:nvPr>
        </p:nvSpPr>
        <p:spPr/>
        <p:txBody>
          <a:bodyPr/>
          <a:lstStyle/>
          <a:p>
            <a:r>
              <a:rPr lang="es-VE" dirty="0"/>
              <a:t>Construcción y ejemplos</a:t>
            </a:r>
            <a:endParaRPr lang="en-US" dirty="0"/>
          </a:p>
        </p:txBody>
      </p:sp>
    </p:spTree>
    <p:extLst>
      <p:ext uri="{BB962C8B-B14F-4D97-AF65-F5344CB8AC3E}">
        <p14:creationId xmlns:p14="http://schemas.microsoft.com/office/powerpoint/2010/main" val="13748491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889793-72AB-C039-D477-54AA3D2B0B0D}"/>
              </a:ext>
            </a:extLst>
          </p:cNvPr>
          <p:cNvSpPr>
            <a:spLocks noGrp="1"/>
          </p:cNvSpPr>
          <p:nvPr>
            <p:ph type="title"/>
          </p:nvPr>
        </p:nvSpPr>
        <p:spPr/>
        <p:txBody>
          <a:bodyPr/>
          <a:lstStyle/>
          <a:p>
            <a:r>
              <a:rPr lang="es-ES" dirty="0"/>
              <a:t>Intervalos de confianza para proporción poblacional</a:t>
            </a:r>
            <a:endParaRPr lang="es-419"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7AC09A3-D160-AF48-7B6B-16429C1B658E}"/>
                  </a:ext>
                </a:extLst>
              </p:cNvPr>
              <p:cNvSpPr>
                <a:spLocks noGrp="1"/>
              </p:cNvSpPr>
              <p:nvPr>
                <p:ph idx="1"/>
              </p:nvPr>
            </p:nvSpPr>
            <p:spPr/>
            <p:txBody>
              <a:bodyPr>
                <a:normAutofit fontScale="55000" lnSpcReduction="20000"/>
              </a:bodyPr>
              <a:lstStyle/>
              <a:p>
                <a:pPr>
                  <a:lnSpc>
                    <a:spcPct val="150000"/>
                  </a:lnSpc>
                </a:pPr>
                <a:r>
                  <a:rPr lang="es-419" sz="2800" dirty="0">
                    <a:ea typeface="Cambria Math" panose="02040503050406030204" pitchFamily="18" charset="0"/>
                  </a:rPr>
                  <a:t>Partimos de lo que sabemos sobre la distribución de proporciones muestrales:</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sz="2800" i="1" smtClean="0">
                              <a:latin typeface="Cambria Math" panose="02040503050406030204" pitchFamily="18" charset="0"/>
                              <a:ea typeface="Cambria Math" panose="02040503050406030204" pitchFamily="18" charset="0"/>
                            </a:rPr>
                          </m:ctrlPr>
                        </m:accPr>
                        <m:e>
                          <m:r>
                            <a:rPr lang="es-419" sz="2800" b="0" i="1" smtClean="0">
                              <a:latin typeface="Cambria Math" panose="02040503050406030204" pitchFamily="18" charset="0"/>
                              <a:ea typeface="Cambria Math" panose="02040503050406030204" pitchFamily="18" charset="0"/>
                            </a:rPr>
                            <m:t>𝑝</m:t>
                          </m:r>
                        </m:e>
                      </m:acc>
                      <m:r>
                        <a:rPr lang="es-419" sz="2800" b="0" i="1" smtClean="0">
                          <a:latin typeface="Cambria Math" panose="02040503050406030204" pitchFamily="18" charset="0"/>
                          <a:ea typeface="Cambria Math" panose="02040503050406030204" pitchFamily="18" charset="0"/>
                        </a:rPr>
                        <m:t>~</m:t>
                      </m:r>
                      <m:r>
                        <a:rPr lang="es-419" sz="2800" b="0" i="1" smtClean="0">
                          <a:latin typeface="Cambria Math" panose="02040503050406030204" pitchFamily="18" charset="0"/>
                          <a:ea typeface="Cambria Math" panose="02040503050406030204" pitchFamily="18" charset="0"/>
                        </a:rPr>
                        <m:t>𝑁</m:t>
                      </m:r>
                      <m:d>
                        <m:dPr>
                          <m:ctrlPr>
                            <a:rPr lang="es-419" sz="2800" b="0" i="1" smtClean="0">
                              <a:latin typeface="Cambria Math" panose="02040503050406030204" pitchFamily="18" charset="0"/>
                              <a:ea typeface="Cambria Math" panose="02040503050406030204" pitchFamily="18" charset="0"/>
                            </a:rPr>
                          </m:ctrlPr>
                        </m:dPr>
                        <m:e>
                          <m:r>
                            <a:rPr lang="es-419" sz="2800" b="0" i="1" smtClean="0">
                              <a:latin typeface="Cambria Math" panose="02040503050406030204" pitchFamily="18" charset="0"/>
                              <a:ea typeface="Cambria Math" panose="02040503050406030204" pitchFamily="18" charset="0"/>
                            </a:rPr>
                            <m:t>𝑝</m:t>
                          </m:r>
                          <m:r>
                            <a:rPr lang="es-419" sz="2800" b="0" i="1" smtClean="0">
                              <a:latin typeface="Cambria Math" panose="02040503050406030204" pitchFamily="18" charset="0"/>
                              <a:ea typeface="Cambria Math" panose="02040503050406030204" pitchFamily="18" charset="0"/>
                            </a:rPr>
                            <m:t>,</m:t>
                          </m:r>
                          <m:f>
                            <m:fPr>
                              <m:ctrlPr>
                                <a:rPr lang="es-419" sz="2800" b="0" i="1" smtClean="0">
                                  <a:latin typeface="Cambria Math" panose="02040503050406030204" pitchFamily="18" charset="0"/>
                                  <a:ea typeface="Cambria Math" panose="02040503050406030204" pitchFamily="18" charset="0"/>
                                </a:rPr>
                              </m:ctrlPr>
                            </m:fPr>
                            <m:num>
                              <m:r>
                                <a:rPr lang="es-419" sz="2800" b="0" i="1" smtClean="0">
                                  <a:latin typeface="Cambria Math" panose="02040503050406030204" pitchFamily="18" charset="0"/>
                                  <a:ea typeface="Cambria Math" panose="02040503050406030204" pitchFamily="18" charset="0"/>
                                </a:rPr>
                                <m:t>𝑝</m:t>
                              </m:r>
                              <m:d>
                                <m:dPr>
                                  <m:ctrlPr>
                                    <a:rPr lang="es-419" sz="2800" b="0" i="1" smtClean="0">
                                      <a:latin typeface="Cambria Math" panose="02040503050406030204" pitchFamily="18" charset="0"/>
                                      <a:ea typeface="Cambria Math" panose="02040503050406030204" pitchFamily="18" charset="0"/>
                                    </a:rPr>
                                  </m:ctrlPr>
                                </m:dPr>
                                <m:e>
                                  <m:r>
                                    <a:rPr lang="es-419" sz="2800" b="0" i="1" smtClean="0">
                                      <a:latin typeface="Cambria Math" panose="02040503050406030204" pitchFamily="18" charset="0"/>
                                      <a:ea typeface="Cambria Math" panose="02040503050406030204" pitchFamily="18" charset="0"/>
                                    </a:rPr>
                                    <m:t>1−</m:t>
                                  </m:r>
                                  <m:r>
                                    <a:rPr lang="es-419" sz="2800" b="0" i="1" smtClean="0">
                                      <a:latin typeface="Cambria Math" panose="02040503050406030204" pitchFamily="18" charset="0"/>
                                      <a:ea typeface="Cambria Math" panose="02040503050406030204" pitchFamily="18" charset="0"/>
                                    </a:rPr>
                                    <m:t>𝑝</m:t>
                                  </m:r>
                                </m:e>
                              </m:d>
                            </m:num>
                            <m:den>
                              <m:r>
                                <a:rPr lang="es-419" sz="2800" b="0" i="1" smtClean="0">
                                  <a:latin typeface="Cambria Math" panose="02040503050406030204" pitchFamily="18" charset="0"/>
                                  <a:ea typeface="Cambria Math" panose="02040503050406030204" pitchFamily="18" charset="0"/>
                                </a:rPr>
                                <m:t>𝑛</m:t>
                              </m:r>
                            </m:den>
                          </m:f>
                        </m:e>
                      </m:d>
                    </m:oMath>
                  </m:oMathPara>
                </a14:m>
                <a:endParaRPr lang="es-419" sz="2800" b="0"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sz="2800" i="1" smtClean="0">
                        <a:latin typeface="Cambria Math" panose="02040503050406030204" pitchFamily="18" charset="0"/>
                        <a:ea typeface="Cambria Math" panose="02040503050406030204" pitchFamily="18" charset="0"/>
                      </a:rPr>
                      <m:t>𝑃</m:t>
                    </m:r>
                    <m:d>
                      <m:dPr>
                        <m:ctrlPr>
                          <a:rPr lang="es-419" sz="2800" i="1">
                            <a:latin typeface="Cambria Math" panose="02040503050406030204" pitchFamily="18" charset="0"/>
                            <a:ea typeface="Cambria Math" panose="02040503050406030204" pitchFamily="18" charset="0"/>
                          </a:rPr>
                        </m:ctrlPr>
                      </m:dPr>
                      <m:e>
                        <m:r>
                          <a:rPr lang="es-419" sz="2800" i="1">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ea typeface="Cambria Math" panose="02040503050406030204" pitchFamily="18" charset="0"/>
                              </a:rPr>
                            </m:ctrlPr>
                          </m:sSubPr>
                          <m:e>
                            <m:r>
                              <a:rPr lang="es-419" sz="2800" b="0" i="1" smtClean="0">
                                <a:latin typeface="Cambria Math" panose="02040503050406030204" pitchFamily="18" charset="0"/>
                                <a:ea typeface="Cambria Math" panose="02040503050406030204" pitchFamily="18" charset="0"/>
                              </a:rPr>
                              <m:t>𝑧</m:t>
                            </m:r>
                          </m:e>
                          <m:sub>
                            <m:f>
                              <m:fPr>
                                <m:type m:val="skw"/>
                                <m:ctrlPr>
                                  <a:rPr lang="es-419" sz="2800" i="1">
                                    <a:latin typeface="Cambria Math" panose="02040503050406030204" pitchFamily="18" charset="0"/>
                                    <a:ea typeface="Cambria Math" panose="02040503050406030204" pitchFamily="18" charset="0"/>
                                  </a:rPr>
                                </m:ctrlPr>
                              </m:fPr>
                              <m:num>
                                <m:r>
                                  <a:rPr lang="es-419" sz="2800" i="1">
                                    <a:latin typeface="Cambria Math" panose="02040503050406030204" pitchFamily="18" charset="0"/>
                                    <a:ea typeface="Cambria Math" panose="02040503050406030204" pitchFamily="18" charset="0"/>
                                  </a:rPr>
                                  <m:t>𝛼</m:t>
                                </m:r>
                              </m:num>
                              <m:den>
                                <m:r>
                                  <a:rPr lang="es-419" sz="2800" i="1">
                                    <a:latin typeface="Cambria Math" panose="02040503050406030204" pitchFamily="18" charset="0"/>
                                    <a:ea typeface="Cambria Math" panose="02040503050406030204" pitchFamily="18" charset="0"/>
                                  </a:rPr>
                                  <m:t>2</m:t>
                                </m:r>
                              </m:den>
                            </m:f>
                          </m:sub>
                        </m:sSub>
                        <m:r>
                          <a:rPr lang="es-419" sz="2800" i="1">
                            <a:latin typeface="Cambria Math" panose="02040503050406030204" pitchFamily="18" charset="0"/>
                            <a:ea typeface="Cambria Math" panose="02040503050406030204" pitchFamily="18" charset="0"/>
                          </a:rPr>
                          <m:t>≤</m:t>
                        </m:r>
                        <m:f>
                          <m:fPr>
                            <m:ctrlPr>
                              <a:rPr lang="es-419" sz="2800" i="1" dirty="0">
                                <a:latin typeface="Cambria Math" panose="02040503050406030204" pitchFamily="18" charset="0"/>
                                <a:ea typeface="Cambria Math" panose="02040503050406030204" pitchFamily="18" charset="0"/>
                              </a:rPr>
                            </m:ctrlPr>
                          </m:fPr>
                          <m:num>
                            <m:r>
                              <a:rPr lang="es-419" sz="2800" b="0" i="1" dirty="0" smtClean="0">
                                <a:latin typeface="Cambria Math" panose="02040503050406030204" pitchFamily="18" charset="0"/>
                                <a:ea typeface="Cambria Math" panose="02040503050406030204" pitchFamily="18" charset="0"/>
                              </a:rPr>
                              <m:t>(</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b="0" i="1" smtClean="0">
                                <a:latin typeface="Cambria Math" panose="02040503050406030204" pitchFamily="18" charset="0"/>
                                <a:ea typeface="Cambria Math" panose="02040503050406030204" pitchFamily="18" charset="0"/>
                              </a:rPr>
                              <m:t>−</m:t>
                            </m:r>
                            <m:r>
                              <a:rPr lang="es-419" sz="2800" b="0" i="1" smtClean="0">
                                <a:latin typeface="Cambria Math" panose="02040503050406030204" pitchFamily="18" charset="0"/>
                                <a:ea typeface="Cambria Math" panose="02040503050406030204" pitchFamily="18" charset="0"/>
                              </a:rPr>
                              <m:t>𝑝</m:t>
                            </m:r>
                            <m:r>
                              <a:rPr lang="es-419" sz="2800" b="0" i="1" smtClean="0">
                                <a:latin typeface="Cambria Math" panose="02040503050406030204" pitchFamily="18" charset="0"/>
                                <a:ea typeface="Cambria Math" panose="02040503050406030204" pitchFamily="18" charset="0"/>
                              </a:rPr>
                              <m:t>)</m:t>
                            </m:r>
                            <m:rad>
                              <m:radPr>
                                <m:degHide m:val="on"/>
                                <m:ctrlPr>
                                  <a:rPr lang="es-419" sz="2800" b="0" i="1" smtClean="0">
                                    <a:latin typeface="Cambria Math" panose="02040503050406030204" pitchFamily="18" charset="0"/>
                                    <a:ea typeface="Cambria Math" panose="02040503050406030204" pitchFamily="18" charset="0"/>
                                  </a:rPr>
                                </m:ctrlPr>
                              </m:radPr>
                              <m:deg/>
                              <m:e>
                                <m:r>
                                  <a:rPr lang="es-419" sz="2800" b="0" i="1" smtClean="0">
                                    <a:latin typeface="Cambria Math" panose="02040503050406030204" pitchFamily="18" charset="0"/>
                                    <a:ea typeface="Cambria Math" panose="02040503050406030204" pitchFamily="18" charset="0"/>
                                  </a:rPr>
                                  <m:t>𝑛</m:t>
                                </m:r>
                              </m:e>
                            </m:rad>
                          </m:num>
                          <m:den>
                            <m:rad>
                              <m:radPr>
                                <m:degHide m:val="on"/>
                                <m:ctrlPr>
                                  <a:rPr lang="es-419" sz="2800" i="1" dirty="0" smtClean="0">
                                    <a:latin typeface="Cambria Math" panose="02040503050406030204" pitchFamily="18" charset="0"/>
                                    <a:ea typeface="Cambria Math" panose="02040503050406030204" pitchFamily="18" charset="0"/>
                                  </a:rPr>
                                </m:ctrlPr>
                              </m:radPr>
                              <m:deg/>
                              <m:e>
                                <m:r>
                                  <a:rPr lang="es-419" sz="2800" b="0" i="1" dirty="0" smtClean="0">
                                    <a:latin typeface="Cambria Math" panose="02040503050406030204" pitchFamily="18" charset="0"/>
                                    <a:ea typeface="Cambria Math" panose="02040503050406030204" pitchFamily="18" charset="0"/>
                                  </a:rPr>
                                  <m:t>𝑝</m:t>
                                </m:r>
                                <m:r>
                                  <a:rPr lang="es-419" sz="2800" b="0" i="1" dirty="0" smtClean="0">
                                    <a:latin typeface="Cambria Math" panose="02040503050406030204" pitchFamily="18" charset="0"/>
                                    <a:ea typeface="Cambria Math" panose="02040503050406030204" pitchFamily="18" charset="0"/>
                                  </a:rPr>
                                  <m:t>(1−</m:t>
                                </m:r>
                                <m:r>
                                  <a:rPr lang="es-419" sz="2800" b="0" i="1" dirty="0" smtClean="0">
                                    <a:latin typeface="Cambria Math" panose="02040503050406030204" pitchFamily="18" charset="0"/>
                                    <a:ea typeface="Cambria Math" panose="02040503050406030204" pitchFamily="18" charset="0"/>
                                  </a:rPr>
                                  <m:t>𝑝</m:t>
                                </m:r>
                                <m:r>
                                  <a:rPr lang="es-419" sz="2800" b="0" i="1" dirty="0" smtClean="0">
                                    <a:latin typeface="Cambria Math" panose="02040503050406030204" pitchFamily="18" charset="0"/>
                                    <a:ea typeface="Cambria Math" panose="02040503050406030204" pitchFamily="18" charset="0"/>
                                  </a:rPr>
                                  <m:t>)</m:t>
                                </m:r>
                              </m:e>
                            </m:rad>
                          </m:den>
                        </m:f>
                        <m:r>
                          <a:rPr lang="es-419" sz="2800"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rPr>
                      <m:t>1−</m:t>
                    </m:r>
                    <m:r>
                      <a:rPr lang="es-419" sz="2800" i="1">
                        <a:latin typeface="Cambria Math" panose="02040503050406030204" pitchFamily="18" charset="0"/>
                        <a:ea typeface="Cambria Math" panose="02040503050406030204" pitchFamily="18" charset="0"/>
                      </a:rPr>
                      <m:t>𝛼</m:t>
                    </m:r>
                  </m:oMath>
                </a14:m>
                <a:endParaRPr lang="es-419" sz="2800" dirty="0">
                  <a:ea typeface="Cambria Math" panose="02040503050406030204" pitchFamily="18" charset="0"/>
                </a:endParaRPr>
              </a:p>
              <a:p>
                <a:pPr>
                  <a:lnSpc>
                    <a:spcPct val="150000"/>
                  </a:lnSpc>
                </a:pPr>
                <a:r>
                  <a:rPr lang="es-419" dirty="0">
                    <a:ea typeface="Cambria Math" panose="02040503050406030204" pitchFamily="18" charset="0"/>
                  </a:rPr>
                  <a:t>Aproximación del parámetro </a:t>
                </a:r>
                <a:r>
                  <a:rPr lang="es-419" dirty="0" err="1">
                    <a:ea typeface="Cambria Math" panose="02040503050406030204" pitchFamily="18" charset="0"/>
                  </a:rPr>
                  <a:t>via</a:t>
                </a:r>
                <a:r>
                  <a:rPr lang="es-419" dirty="0">
                    <a:ea typeface="Cambria Math" panose="02040503050406030204" pitchFamily="18" charset="0"/>
                  </a:rPr>
                  <a:t> estimador en los componentes de varianza</a:t>
                </a:r>
                <a:r>
                  <a:rPr lang="es-419" sz="2800" dirty="0">
                    <a:ea typeface="Cambria Math" panose="02040503050406030204" pitchFamily="18" charset="0"/>
                  </a:rPr>
                  <a:t>:</a:t>
                </a:r>
              </a:p>
              <a:p>
                <a:pPr marL="514350" indent="-514350">
                  <a:lnSpc>
                    <a:spcPct val="150000"/>
                  </a:lnSpc>
                  <a:buFont typeface="+mj-lt"/>
                  <a:buAutoNum type="arabicPeriod" startAt="2"/>
                </a:pPr>
                <a14:m>
                  <m:oMath xmlns:m="http://schemas.openxmlformats.org/officeDocument/2006/math">
                    <m:acc>
                      <m:accPr>
                        <m:chr m:val="̂"/>
                        <m:ctrlPr>
                          <a:rPr lang="es-419" sz="2800" i="1" smtClean="0">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smtClean="0">
                        <a:latin typeface="Cambria Math" panose="02040503050406030204" pitchFamily="18" charset="0"/>
                        <a:ea typeface="Cambria Math" panose="02040503050406030204" pitchFamily="18" charset="0"/>
                      </a:rPr>
                      <m:t>≈</m:t>
                    </m:r>
                    <m:r>
                      <a:rPr lang="es-419" sz="2800" i="1">
                        <a:latin typeface="Cambria Math" panose="02040503050406030204" pitchFamily="18" charset="0"/>
                        <a:ea typeface="Cambria Math" panose="02040503050406030204" pitchFamily="18" charset="0"/>
                      </a:rPr>
                      <m:t>𝑝</m:t>
                    </m:r>
                  </m:oMath>
                </a14:m>
                <a:endParaRPr lang="es-419" sz="2800" dirty="0">
                  <a:ea typeface="Cambria Math" panose="02040503050406030204" pitchFamily="18" charset="0"/>
                </a:endParaRPr>
              </a:p>
              <a:p>
                <a:pPr marL="514350" indent="-514350">
                  <a:lnSpc>
                    <a:spcPct val="150000"/>
                  </a:lnSpc>
                  <a:buFont typeface="+mj-lt"/>
                  <a:buAutoNum type="arabicPeriod" startAt="2"/>
                </a:pPr>
                <a14:m>
                  <m:oMath xmlns:m="http://schemas.openxmlformats.org/officeDocument/2006/math">
                    <m:r>
                      <a:rPr lang="es-419" sz="2800" i="1" smtClean="0">
                        <a:latin typeface="Cambria Math" panose="02040503050406030204" pitchFamily="18" charset="0"/>
                        <a:ea typeface="Cambria Math" panose="02040503050406030204" pitchFamily="18" charset="0"/>
                      </a:rPr>
                      <m:t>𝑃</m:t>
                    </m:r>
                    <m:d>
                      <m:dPr>
                        <m:ctrlPr>
                          <a:rPr lang="es-419" sz="2800" i="1">
                            <a:latin typeface="Cambria Math" panose="02040503050406030204" pitchFamily="18" charset="0"/>
                            <a:ea typeface="Cambria Math" panose="02040503050406030204" pitchFamily="18" charset="0"/>
                          </a:rPr>
                        </m:ctrlPr>
                      </m:dPr>
                      <m:e>
                        <m:r>
                          <a:rPr lang="es-419" sz="2800"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sz="2800" i="1">
                            <a:latin typeface="Cambria Math" panose="02040503050406030204" pitchFamily="18" charset="0"/>
                            <a:ea typeface="Cambria Math" panose="02040503050406030204" pitchFamily="18" charset="0"/>
                          </a:rPr>
                          <m:t>≤</m:t>
                        </m:r>
                        <m:f>
                          <m:fPr>
                            <m:ctrlPr>
                              <a:rPr lang="es-419" sz="2800" i="1" dirty="0">
                                <a:latin typeface="Cambria Math" panose="02040503050406030204" pitchFamily="18" charset="0"/>
                                <a:ea typeface="Cambria Math" panose="02040503050406030204" pitchFamily="18" charset="0"/>
                              </a:rPr>
                            </m:ctrlPr>
                          </m:fPr>
                          <m:num>
                            <m:r>
                              <a:rPr lang="es-419" sz="2800" i="1" dirty="0">
                                <a:latin typeface="Cambria Math" panose="02040503050406030204" pitchFamily="18" charset="0"/>
                                <a:ea typeface="Cambria Math" panose="02040503050406030204" pitchFamily="18" charset="0"/>
                              </a:rPr>
                              <m:t>(</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ea typeface="Cambria Math" panose="02040503050406030204" pitchFamily="18" charset="0"/>
                              </a:rPr>
                              <m:t>𝑝</m:t>
                            </m:r>
                            <m:r>
                              <a:rPr lang="es-419" sz="2800" i="1">
                                <a:latin typeface="Cambria Math" panose="02040503050406030204" pitchFamily="18" charset="0"/>
                                <a:ea typeface="Cambria Math" panose="02040503050406030204" pitchFamily="18" charset="0"/>
                              </a:rPr>
                              <m:t>)</m:t>
                            </m:r>
                            <m:rad>
                              <m:radPr>
                                <m:degHide m:val="on"/>
                                <m:ctrlPr>
                                  <a:rPr lang="es-419" sz="2800" i="1">
                                    <a:latin typeface="Cambria Math" panose="02040503050406030204" pitchFamily="18" charset="0"/>
                                    <a:ea typeface="Cambria Math" panose="02040503050406030204" pitchFamily="18" charset="0"/>
                                  </a:rPr>
                                </m:ctrlPr>
                              </m:radPr>
                              <m:deg/>
                              <m:e>
                                <m:r>
                                  <a:rPr lang="es-419" sz="2800" i="1">
                                    <a:latin typeface="Cambria Math" panose="02040503050406030204" pitchFamily="18" charset="0"/>
                                    <a:ea typeface="Cambria Math" panose="02040503050406030204" pitchFamily="18" charset="0"/>
                                  </a:rPr>
                                  <m:t>𝑛</m:t>
                                </m:r>
                              </m:e>
                            </m:rad>
                          </m:num>
                          <m:den>
                            <m:rad>
                              <m:radPr>
                                <m:degHide m:val="on"/>
                                <m:ctrlPr>
                                  <a:rPr lang="es-419" sz="2800" i="1" dirty="0" smtClean="0">
                                    <a:solidFill>
                                      <a:srgbClr val="003A5D"/>
                                    </a:solidFill>
                                    <a:latin typeface="Cambria Math" panose="02040503050406030204" pitchFamily="18" charset="0"/>
                                    <a:ea typeface="Cambria Math" panose="02040503050406030204" pitchFamily="18" charset="0"/>
                                  </a:rPr>
                                </m:ctrlPr>
                              </m:radPr>
                              <m:deg/>
                              <m:e>
                                <m:acc>
                                  <m:accPr>
                                    <m:chr m:val="̂"/>
                                    <m:ctrlPr>
                                      <a:rPr lang="es-419" sz="2800" i="1">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i="1" dirty="0">
                                    <a:solidFill>
                                      <a:srgbClr val="003A5D"/>
                                    </a:solidFill>
                                    <a:latin typeface="Cambria Math" panose="02040503050406030204" pitchFamily="18" charset="0"/>
                                    <a:ea typeface="Cambria Math" panose="02040503050406030204" pitchFamily="18" charset="0"/>
                                  </a:rPr>
                                  <m:t>(1−</m:t>
                                </m:r>
                                <m:acc>
                                  <m:accPr>
                                    <m:chr m:val="̂"/>
                                    <m:ctrlPr>
                                      <a:rPr lang="es-419" sz="2800" i="1">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i="1" dirty="0">
                                    <a:solidFill>
                                      <a:srgbClr val="003A5D"/>
                                    </a:solidFill>
                                    <a:latin typeface="Cambria Math" panose="02040503050406030204" pitchFamily="18" charset="0"/>
                                    <a:ea typeface="Cambria Math" panose="02040503050406030204" pitchFamily="18" charset="0"/>
                                  </a:rPr>
                                  <m:t>)</m:t>
                                </m:r>
                              </m:e>
                            </m:rad>
                          </m:den>
                        </m:f>
                        <m:r>
                          <a:rPr lang="es-419" sz="2800"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rPr>
                      <m:t>1−</m:t>
                    </m:r>
                    <m:r>
                      <a:rPr lang="es-419" sz="2800" i="1">
                        <a:latin typeface="Cambria Math" panose="02040503050406030204" pitchFamily="18" charset="0"/>
                        <a:ea typeface="Cambria Math" panose="02040503050406030204" pitchFamily="18" charset="0"/>
                      </a:rPr>
                      <m:t>𝛼</m:t>
                    </m:r>
                    <m:r>
                      <a:rPr lang="es-419" sz="2800" i="1" smtClean="0">
                        <a:latin typeface="Cambria Math" panose="02040503050406030204" pitchFamily="18" charset="0"/>
                        <a:ea typeface="Cambria Math" panose="02040503050406030204" pitchFamily="18" charset="0"/>
                      </a:rPr>
                      <m:t>→</m:t>
                    </m:r>
                    <m:r>
                      <a:rPr lang="es-419" sz="2800" i="1" smtClean="0">
                        <a:latin typeface="Cambria Math" panose="02040503050406030204" pitchFamily="18" charset="0"/>
                        <a:ea typeface="Cambria Math" panose="02040503050406030204" pitchFamily="18" charset="0"/>
                      </a:rPr>
                      <m:t>𝑃</m:t>
                    </m:r>
                    <m:d>
                      <m:dPr>
                        <m:ctrlPr>
                          <a:rPr lang="es-419" sz="2800" i="1">
                            <a:latin typeface="Cambria Math" panose="02040503050406030204" pitchFamily="18" charset="0"/>
                            <a:ea typeface="Cambria Math" panose="02040503050406030204" pitchFamily="18" charset="0"/>
                          </a:rPr>
                        </m:ctrlPr>
                      </m:dPr>
                      <m:e>
                        <m:r>
                          <a:rPr lang="es-419" sz="2800"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sz="2800" i="1" dirty="0" smtClean="0">
                                <a:solidFill>
                                  <a:srgbClr val="003A5D"/>
                                </a:solidFill>
                                <a:latin typeface="Cambria Math" panose="02040503050406030204" pitchFamily="18" charset="0"/>
                                <a:ea typeface="Cambria Math" panose="02040503050406030204" pitchFamily="18" charset="0"/>
                              </a:rPr>
                            </m:ctrlPr>
                          </m:radPr>
                          <m:deg/>
                          <m:e>
                            <m:f>
                              <m:fPr>
                                <m:ctrlPr>
                                  <a:rPr lang="es-419" sz="2800" i="1">
                                    <a:solidFill>
                                      <a:srgbClr val="003A5D"/>
                                    </a:solidFill>
                                    <a:latin typeface="Cambria Math" panose="02040503050406030204" pitchFamily="18" charset="0"/>
                                    <a:ea typeface="Cambria Math" panose="02040503050406030204" pitchFamily="18" charset="0"/>
                                  </a:rPr>
                                </m:ctrlPr>
                              </m:fPr>
                              <m:num>
                                <m:acc>
                                  <m:accPr>
                                    <m:chr m:val="̂"/>
                                    <m:ctrlPr>
                                      <a:rPr lang="es-419" sz="2800" i="1">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i="1" dirty="0">
                                    <a:solidFill>
                                      <a:srgbClr val="003A5D"/>
                                    </a:solidFill>
                                    <a:latin typeface="Cambria Math" panose="02040503050406030204" pitchFamily="18" charset="0"/>
                                    <a:ea typeface="Cambria Math" panose="02040503050406030204" pitchFamily="18" charset="0"/>
                                  </a:rPr>
                                  <m:t>(1−</m:t>
                                </m:r>
                                <m:acc>
                                  <m:accPr>
                                    <m:chr m:val="̂"/>
                                    <m:ctrlPr>
                                      <a:rPr lang="es-419" sz="2800" i="1">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i="1">
                                    <a:solidFill>
                                      <a:srgbClr val="003A5D"/>
                                    </a:solidFill>
                                    <a:latin typeface="Cambria Math" panose="02040503050406030204" pitchFamily="18" charset="0"/>
                                    <a:ea typeface="Cambria Math" panose="02040503050406030204" pitchFamily="18" charset="0"/>
                                  </a:rPr>
                                  <m:t>)</m:t>
                                </m:r>
                              </m:num>
                              <m:den>
                                <m:r>
                                  <a:rPr lang="es-419" sz="2800" i="1">
                                    <a:solidFill>
                                      <a:srgbClr val="003A5D"/>
                                    </a:solidFill>
                                    <a:latin typeface="Cambria Math" panose="02040503050406030204" pitchFamily="18" charset="0"/>
                                    <a:ea typeface="Cambria Math" panose="02040503050406030204" pitchFamily="18" charset="0"/>
                                  </a:rPr>
                                  <m:t>𝑛</m:t>
                                </m:r>
                              </m:den>
                            </m:f>
                          </m:e>
                        </m:rad>
                        <m:r>
                          <a:rPr lang="es-419" sz="2800" i="1">
                            <a:latin typeface="Cambria Math" panose="02040503050406030204" pitchFamily="18" charset="0"/>
                            <a:ea typeface="Cambria Math" panose="02040503050406030204" pitchFamily="18" charset="0"/>
                          </a:rPr>
                          <m:t>≤</m:t>
                        </m:r>
                        <m:r>
                          <a:rPr lang="es-419" sz="2800" i="1" dirty="0">
                            <a:latin typeface="Cambria Math" panose="02040503050406030204" pitchFamily="18" charset="0"/>
                            <a:ea typeface="Cambria Math" panose="02040503050406030204" pitchFamily="18" charset="0"/>
                          </a:rPr>
                          <m:t>(</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ea typeface="Cambria Math" panose="02040503050406030204" pitchFamily="18" charset="0"/>
                          </a:rPr>
                          <m:t>𝑝</m:t>
                        </m:r>
                        <m:r>
                          <a:rPr lang="es-419" sz="2800"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sz="2800" i="1" dirty="0" smtClean="0">
                                <a:solidFill>
                                  <a:srgbClr val="003A5D"/>
                                </a:solidFill>
                                <a:latin typeface="Cambria Math" panose="02040503050406030204" pitchFamily="18" charset="0"/>
                                <a:ea typeface="Cambria Math" panose="02040503050406030204" pitchFamily="18" charset="0"/>
                              </a:rPr>
                            </m:ctrlPr>
                          </m:radPr>
                          <m:deg/>
                          <m:e>
                            <m:f>
                              <m:fPr>
                                <m:ctrlPr>
                                  <a:rPr lang="es-419" sz="2800" i="1">
                                    <a:solidFill>
                                      <a:srgbClr val="003A5D"/>
                                    </a:solidFill>
                                    <a:latin typeface="Cambria Math" panose="02040503050406030204" pitchFamily="18" charset="0"/>
                                    <a:ea typeface="Cambria Math" panose="02040503050406030204" pitchFamily="18" charset="0"/>
                                  </a:rPr>
                                </m:ctrlPr>
                              </m:fPr>
                              <m:num>
                                <m:acc>
                                  <m:accPr>
                                    <m:chr m:val="̂"/>
                                    <m:ctrlPr>
                                      <a:rPr lang="es-419" sz="2800" i="1">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i="1" dirty="0">
                                    <a:solidFill>
                                      <a:srgbClr val="003A5D"/>
                                    </a:solidFill>
                                    <a:latin typeface="Cambria Math" panose="02040503050406030204" pitchFamily="18" charset="0"/>
                                    <a:ea typeface="Cambria Math" panose="02040503050406030204" pitchFamily="18" charset="0"/>
                                  </a:rPr>
                                  <m:t>(1−</m:t>
                                </m:r>
                                <m:acc>
                                  <m:accPr>
                                    <m:chr m:val="̂"/>
                                    <m:ctrlPr>
                                      <a:rPr lang="es-419" sz="2800" i="1">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i="1">
                                    <a:solidFill>
                                      <a:srgbClr val="003A5D"/>
                                    </a:solidFill>
                                    <a:latin typeface="Cambria Math" panose="02040503050406030204" pitchFamily="18" charset="0"/>
                                    <a:ea typeface="Cambria Math" panose="02040503050406030204" pitchFamily="18" charset="0"/>
                                  </a:rPr>
                                  <m:t>)</m:t>
                                </m:r>
                              </m:num>
                              <m:den>
                                <m:r>
                                  <a:rPr lang="es-419" sz="2800" i="1">
                                    <a:solidFill>
                                      <a:srgbClr val="003A5D"/>
                                    </a:solidFill>
                                    <a:latin typeface="Cambria Math" panose="02040503050406030204" pitchFamily="18" charset="0"/>
                                    <a:ea typeface="Cambria Math" panose="02040503050406030204" pitchFamily="18" charset="0"/>
                                  </a:rPr>
                                  <m:t>𝑛</m:t>
                                </m:r>
                              </m:den>
                            </m:f>
                          </m:e>
                        </m:rad>
                      </m:e>
                    </m: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rPr>
                      <m:t>1−</m:t>
                    </m:r>
                    <m:r>
                      <a:rPr lang="es-419" sz="2800" i="1">
                        <a:latin typeface="Cambria Math" panose="02040503050406030204" pitchFamily="18" charset="0"/>
                        <a:ea typeface="Cambria Math" panose="02040503050406030204" pitchFamily="18" charset="0"/>
                      </a:rPr>
                      <m:t>𝛼</m:t>
                    </m:r>
                  </m:oMath>
                </a14:m>
                <a:endParaRPr lang="es-419" sz="2800" i="1" dirty="0">
                  <a:latin typeface="Cambria Math" panose="02040503050406030204" pitchFamily="18" charset="0"/>
                  <a:ea typeface="Cambria Math" panose="02040503050406030204" pitchFamily="18" charset="0"/>
                </a:endParaRPr>
              </a:p>
              <a:p>
                <a:pPr marL="514350" indent="-514350">
                  <a:lnSpc>
                    <a:spcPct val="150000"/>
                  </a:lnSpc>
                  <a:buFont typeface="+mj-lt"/>
                  <a:buAutoNum type="arabicPeriod" startAt="2"/>
                </a:pPr>
                <a14:m>
                  <m:oMath xmlns:m="http://schemas.openxmlformats.org/officeDocument/2006/math">
                    <m:r>
                      <a:rPr lang="es-419" sz="2800" i="1" smtClean="0">
                        <a:latin typeface="Cambria Math" panose="02040503050406030204" pitchFamily="18" charset="0"/>
                        <a:ea typeface="Cambria Math" panose="02040503050406030204" pitchFamily="18" charset="0"/>
                      </a:rPr>
                      <m:t>𝑃</m:t>
                    </m:r>
                    <m:d>
                      <m:dPr>
                        <m:ctrlPr>
                          <a:rPr lang="es-419" sz="2800" i="1">
                            <a:latin typeface="Cambria Math" panose="02040503050406030204" pitchFamily="18" charset="0"/>
                            <a:ea typeface="Cambria Math" panose="02040503050406030204" pitchFamily="18" charset="0"/>
                          </a:rPr>
                        </m:ctrlPr>
                      </m:dPr>
                      <m:e>
                        <m:r>
                          <a:rPr lang="es-419" sz="2800"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sz="2800" i="1" dirty="0">
                                <a:latin typeface="Cambria Math" panose="02040503050406030204" pitchFamily="18" charset="0"/>
                                <a:ea typeface="Cambria Math" panose="02040503050406030204" pitchFamily="18" charset="0"/>
                              </a:rPr>
                            </m:ctrlPr>
                          </m:radPr>
                          <m:deg/>
                          <m:e>
                            <m:f>
                              <m:fPr>
                                <m:ctrlPr>
                                  <a:rPr lang="es-419" sz="2800" i="1">
                                    <a:latin typeface="Cambria Math" panose="02040503050406030204" pitchFamily="18" charset="0"/>
                                    <a:ea typeface="Cambria Math" panose="02040503050406030204" pitchFamily="18" charset="0"/>
                                  </a:rPr>
                                </m:ctrlPr>
                              </m:fPr>
                              <m:num>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d>
                                  <m:dPr>
                                    <m:ctrlPr>
                                      <a:rPr lang="es-419" sz="2800" i="1" dirty="0">
                                        <a:latin typeface="Cambria Math" panose="02040503050406030204" pitchFamily="18" charset="0"/>
                                        <a:ea typeface="Cambria Math" panose="02040503050406030204" pitchFamily="18" charset="0"/>
                                      </a:rPr>
                                    </m:ctrlPr>
                                  </m:dPr>
                                  <m:e>
                                    <m:r>
                                      <a:rPr lang="es-419" sz="2800" i="1" dirty="0">
                                        <a:latin typeface="Cambria Math" panose="02040503050406030204" pitchFamily="18" charset="0"/>
                                        <a:ea typeface="Cambria Math" panose="02040503050406030204" pitchFamily="18" charset="0"/>
                                      </a:rPr>
                                      <m:t>1−</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e>
                                </m:d>
                              </m:num>
                              <m:den>
                                <m:r>
                                  <a:rPr lang="es-419" sz="2800" i="1">
                                    <a:latin typeface="Cambria Math" panose="02040503050406030204" pitchFamily="18" charset="0"/>
                                    <a:ea typeface="Cambria Math" panose="02040503050406030204" pitchFamily="18" charset="0"/>
                                  </a:rPr>
                                  <m:t>𝑛</m:t>
                                </m:r>
                              </m:den>
                            </m:f>
                          </m:e>
                        </m:rad>
                        <m:r>
                          <a:rPr lang="es-419" sz="2800" i="1" smtClean="0">
                            <a:solidFill>
                              <a:srgbClr val="003A5D"/>
                            </a:solidFill>
                            <a:latin typeface="Cambria Math" panose="02040503050406030204" pitchFamily="18" charset="0"/>
                            <a:ea typeface="Cambria Math" panose="02040503050406030204" pitchFamily="18" charset="0"/>
                          </a:rPr>
                          <m:t>≥</m:t>
                        </m:r>
                        <m:r>
                          <a:rPr lang="es-419" sz="2800" i="1">
                            <a:latin typeface="Cambria Math" panose="02040503050406030204" pitchFamily="18" charset="0"/>
                            <a:ea typeface="Cambria Math" panose="02040503050406030204" pitchFamily="18" charset="0"/>
                          </a:rPr>
                          <m:t>𝑝</m:t>
                        </m:r>
                        <m:r>
                          <a:rPr lang="es-419" sz="2800" b="0" i="1" smtClean="0">
                            <a:latin typeface="Cambria Math" panose="02040503050406030204" pitchFamily="18" charset="0"/>
                            <a:ea typeface="Cambria Math" panose="02040503050406030204" pitchFamily="18" charset="0"/>
                          </a:rPr>
                          <m:t>−</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a:latin typeface="Cambria Math" panose="02040503050406030204" pitchFamily="18" charset="0"/>
                            <a:ea typeface="Cambria Math" panose="02040503050406030204" pitchFamily="18" charset="0"/>
                          </a:rPr>
                          <m:t> </m:t>
                        </m:r>
                        <m:r>
                          <a:rPr lang="es-419" sz="2800" i="1" smtClean="0">
                            <a:solidFill>
                              <a:srgbClr val="003A5D"/>
                            </a:solidFill>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sz="2800" i="1" dirty="0">
                                <a:latin typeface="Cambria Math" panose="02040503050406030204" pitchFamily="18" charset="0"/>
                                <a:ea typeface="Cambria Math" panose="02040503050406030204" pitchFamily="18" charset="0"/>
                              </a:rPr>
                            </m:ctrlPr>
                          </m:radPr>
                          <m:deg/>
                          <m:e>
                            <m:f>
                              <m:fPr>
                                <m:ctrlPr>
                                  <a:rPr lang="es-419" sz="2800" i="1">
                                    <a:latin typeface="Cambria Math" panose="02040503050406030204" pitchFamily="18" charset="0"/>
                                    <a:ea typeface="Cambria Math" panose="02040503050406030204" pitchFamily="18" charset="0"/>
                                  </a:rPr>
                                </m:ctrlPr>
                              </m:fPr>
                              <m:num>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dirty="0">
                                    <a:latin typeface="Cambria Math" panose="02040503050406030204" pitchFamily="18" charset="0"/>
                                    <a:ea typeface="Cambria Math" panose="02040503050406030204" pitchFamily="18" charset="0"/>
                                  </a:rPr>
                                  <m:t>(1−</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a:latin typeface="Cambria Math" panose="02040503050406030204" pitchFamily="18" charset="0"/>
                                    <a:ea typeface="Cambria Math" panose="02040503050406030204" pitchFamily="18" charset="0"/>
                                  </a:rPr>
                                  <m:t>)</m:t>
                                </m:r>
                              </m:num>
                              <m:den>
                                <m:r>
                                  <a:rPr lang="es-419" sz="2800" i="1">
                                    <a:latin typeface="Cambria Math" panose="02040503050406030204" pitchFamily="18" charset="0"/>
                                    <a:ea typeface="Cambria Math" panose="02040503050406030204" pitchFamily="18" charset="0"/>
                                  </a:rPr>
                                  <m:t>𝑛</m:t>
                                </m:r>
                              </m:den>
                            </m:f>
                          </m:e>
                        </m:rad>
                      </m:e>
                    </m: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rPr>
                      <m:t>1−</m:t>
                    </m:r>
                    <m:r>
                      <a:rPr lang="es-419" sz="2800" i="1">
                        <a:latin typeface="Cambria Math" panose="02040503050406030204" pitchFamily="18" charset="0"/>
                        <a:ea typeface="Cambria Math" panose="02040503050406030204" pitchFamily="18" charset="0"/>
                      </a:rPr>
                      <m:t>𝛼</m:t>
                    </m:r>
                  </m:oMath>
                </a14:m>
                <a:endParaRPr lang="es-VE" sz="2800" i="1" dirty="0">
                  <a:latin typeface="Cambria Math" panose="02040503050406030204" pitchFamily="18" charset="0"/>
                  <a:ea typeface="Cambria Math" panose="02040503050406030204" pitchFamily="18" charset="0"/>
                </a:endParaRPr>
              </a:p>
              <a:p>
                <a:pPr marL="514350" indent="-514350">
                  <a:lnSpc>
                    <a:spcPct val="150000"/>
                  </a:lnSpc>
                  <a:buFont typeface="+mj-lt"/>
                  <a:buAutoNum type="arabicPeriod" startAt="2"/>
                </a:pPr>
                <a14:m>
                  <m:oMath xmlns:m="http://schemas.openxmlformats.org/officeDocument/2006/math">
                    <m:r>
                      <a:rPr lang="es-419" sz="2800" i="1" smtClean="0">
                        <a:latin typeface="Cambria Math" panose="02040503050406030204" pitchFamily="18" charset="0"/>
                        <a:ea typeface="Cambria Math" panose="02040503050406030204" pitchFamily="18" charset="0"/>
                      </a:rPr>
                      <m:t>𝑃</m:t>
                    </m:r>
                    <m:d>
                      <m:dPr>
                        <m:ctrlPr>
                          <a:rPr lang="es-419" sz="2800" i="1">
                            <a:latin typeface="Cambria Math" panose="02040503050406030204" pitchFamily="18" charset="0"/>
                            <a:ea typeface="Cambria Math" panose="02040503050406030204" pitchFamily="18" charset="0"/>
                          </a:rPr>
                        </m:ctrlPr>
                      </m:dPr>
                      <m:e>
                        <m:acc>
                          <m:accPr>
                            <m:chr m:val="̂"/>
                            <m:ctrlPr>
                              <a:rPr lang="es-419" sz="2800" i="1" smtClean="0">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i="1">
                            <a:solidFill>
                              <a:srgbClr val="003A5D"/>
                            </a:solidFill>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sz="2800" i="1" dirty="0">
                                <a:latin typeface="Cambria Math" panose="02040503050406030204" pitchFamily="18" charset="0"/>
                                <a:ea typeface="Cambria Math" panose="02040503050406030204" pitchFamily="18" charset="0"/>
                              </a:rPr>
                            </m:ctrlPr>
                          </m:radPr>
                          <m:deg/>
                          <m:e>
                            <m:f>
                              <m:fPr>
                                <m:ctrlPr>
                                  <a:rPr lang="es-419" sz="2800" i="1">
                                    <a:latin typeface="Cambria Math" panose="02040503050406030204" pitchFamily="18" charset="0"/>
                                    <a:ea typeface="Cambria Math" panose="02040503050406030204" pitchFamily="18" charset="0"/>
                                  </a:rPr>
                                </m:ctrlPr>
                              </m:fPr>
                              <m:num>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d>
                                  <m:dPr>
                                    <m:ctrlPr>
                                      <a:rPr lang="es-419" sz="2800" i="1" dirty="0">
                                        <a:latin typeface="Cambria Math" panose="02040503050406030204" pitchFamily="18" charset="0"/>
                                        <a:ea typeface="Cambria Math" panose="02040503050406030204" pitchFamily="18" charset="0"/>
                                      </a:rPr>
                                    </m:ctrlPr>
                                  </m:dPr>
                                  <m:e>
                                    <m:r>
                                      <a:rPr lang="es-419" sz="2800" i="1" dirty="0">
                                        <a:latin typeface="Cambria Math" panose="02040503050406030204" pitchFamily="18" charset="0"/>
                                        <a:ea typeface="Cambria Math" panose="02040503050406030204" pitchFamily="18" charset="0"/>
                                      </a:rPr>
                                      <m:t>1−</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e>
                                </m:d>
                              </m:num>
                              <m:den>
                                <m:r>
                                  <a:rPr lang="es-419" sz="2800" i="1">
                                    <a:latin typeface="Cambria Math" panose="02040503050406030204" pitchFamily="18" charset="0"/>
                                    <a:ea typeface="Cambria Math" panose="02040503050406030204" pitchFamily="18" charset="0"/>
                                  </a:rPr>
                                  <m:t>𝑛</m:t>
                                </m:r>
                              </m:den>
                            </m:f>
                          </m:e>
                        </m:ra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ea typeface="Cambria Math" panose="02040503050406030204" pitchFamily="18" charset="0"/>
                          </a:rPr>
                          <m:t>𝑝</m:t>
                        </m:r>
                        <m:r>
                          <a:rPr lang="es-419" sz="2800" i="1">
                            <a:latin typeface="Cambria Math" panose="02040503050406030204" pitchFamily="18" charset="0"/>
                            <a:ea typeface="Cambria Math" panose="02040503050406030204" pitchFamily="18" charset="0"/>
                          </a:rPr>
                          <m:t>≤</m:t>
                        </m:r>
                        <m:acc>
                          <m:accPr>
                            <m:chr m:val="̂"/>
                            <m:ctrlPr>
                              <a:rPr lang="es-419" sz="2800" i="1" smtClean="0">
                                <a:solidFill>
                                  <a:srgbClr val="003A5D"/>
                                </a:solidFill>
                                <a:latin typeface="Cambria Math" panose="02040503050406030204" pitchFamily="18" charset="0"/>
                                <a:ea typeface="Cambria Math" panose="02040503050406030204" pitchFamily="18" charset="0"/>
                              </a:rPr>
                            </m:ctrlPr>
                          </m:accPr>
                          <m:e>
                            <m:r>
                              <a:rPr lang="es-419" sz="2800" i="1">
                                <a:solidFill>
                                  <a:srgbClr val="003A5D"/>
                                </a:solidFill>
                                <a:latin typeface="Cambria Math" panose="02040503050406030204" pitchFamily="18" charset="0"/>
                                <a:ea typeface="Cambria Math" panose="02040503050406030204" pitchFamily="18" charset="0"/>
                              </a:rPr>
                              <m:t>𝑝</m:t>
                            </m:r>
                          </m:e>
                        </m:acc>
                        <m:r>
                          <a:rPr lang="es-419" sz="2800" b="0" i="1" smtClean="0">
                            <a:solidFill>
                              <a:srgbClr val="003A5D"/>
                            </a:solidFill>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sz="2800" i="1" dirty="0">
                                <a:latin typeface="Cambria Math" panose="02040503050406030204" pitchFamily="18" charset="0"/>
                                <a:ea typeface="Cambria Math" panose="02040503050406030204" pitchFamily="18" charset="0"/>
                              </a:rPr>
                            </m:ctrlPr>
                          </m:radPr>
                          <m:deg/>
                          <m:e>
                            <m:f>
                              <m:fPr>
                                <m:ctrlPr>
                                  <a:rPr lang="es-419" sz="2800" i="1">
                                    <a:latin typeface="Cambria Math" panose="02040503050406030204" pitchFamily="18" charset="0"/>
                                    <a:ea typeface="Cambria Math" panose="02040503050406030204" pitchFamily="18" charset="0"/>
                                  </a:rPr>
                                </m:ctrlPr>
                              </m:fPr>
                              <m:num>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dirty="0">
                                    <a:latin typeface="Cambria Math" panose="02040503050406030204" pitchFamily="18" charset="0"/>
                                    <a:ea typeface="Cambria Math" panose="02040503050406030204" pitchFamily="18" charset="0"/>
                                  </a:rPr>
                                  <m:t>(1−</m:t>
                                </m:r>
                                <m:acc>
                                  <m:accPr>
                                    <m:chr m:val="̂"/>
                                    <m:ctrlPr>
                                      <a:rPr lang="es-419" sz="2800" i="1">
                                        <a:latin typeface="Cambria Math" panose="02040503050406030204" pitchFamily="18" charset="0"/>
                                        <a:ea typeface="Cambria Math" panose="02040503050406030204" pitchFamily="18" charset="0"/>
                                      </a:rPr>
                                    </m:ctrlPr>
                                  </m:accPr>
                                  <m:e>
                                    <m:r>
                                      <a:rPr lang="es-419" sz="2800" i="1">
                                        <a:latin typeface="Cambria Math" panose="02040503050406030204" pitchFamily="18" charset="0"/>
                                        <a:ea typeface="Cambria Math" panose="02040503050406030204" pitchFamily="18" charset="0"/>
                                      </a:rPr>
                                      <m:t>𝑝</m:t>
                                    </m:r>
                                  </m:e>
                                </m:acc>
                                <m:r>
                                  <a:rPr lang="es-419" sz="2800" i="1">
                                    <a:latin typeface="Cambria Math" panose="02040503050406030204" pitchFamily="18" charset="0"/>
                                    <a:ea typeface="Cambria Math" panose="02040503050406030204" pitchFamily="18" charset="0"/>
                                  </a:rPr>
                                  <m:t>)</m:t>
                                </m:r>
                              </m:num>
                              <m:den>
                                <m:r>
                                  <a:rPr lang="es-419" sz="2800" i="1">
                                    <a:latin typeface="Cambria Math" panose="02040503050406030204" pitchFamily="18" charset="0"/>
                                    <a:ea typeface="Cambria Math" panose="02040503050406030204" pitchFamily="18" charset="0"/>
                                  </a:rPr>
                                  <m:t>𝑛</m:t>
                                </m:r>
                              </m:den>
                            </m:f>
                          </m:e>
                        </m:rad>
                      </m:e>
                    </m:d>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rPr>
                      <m:t>1−</m:t>
                    </m:r>
                    <m:r>
                      <a:rPr lang="es-419" sz="2800" i="1">
                        <a:latin typeface="Cambria Math" panose="02040503050406030204" pitchFamily="18" charset="0"/>
                        <a:ea typeface="Cambria Math" panose="02040503050406030204" pitchFamily="18" charset="0"/>
                      </a:rPr>
                      <m:t>𝛼</m:t>
                    </m:r>
                  </m:oMath>
                </a14:m>
                <a:endParaRPr lang="es-419" sz="2800" dirty="0">
                  <a:ea typeface="Cambria Math" panose="02040503050406030204" pitchFamily="18" charset="0"/>
                </a:endParaRPr>
              </a:p>
              <a:p>
                <a:pPr marL="0" indent="0">
                  <a:lnSpc>
                    <a:spcPct val="150000"/>
                  </a:lnSpc>
                  <a:buNone/>
                </a:pPr>
                <a:endParaRPr lang="es-419" sz="2800" i="1" dirty="0">
                  <a:latin typeface="Cambria Math" panose="02040503050406030204" pitchFamily="18" charset="0"/>
                  <a:ea typeface="Cambria Math" panose="02040503050406030204" pitchFamily="18" charset="0"/>
                </a:endParaRPr>
              </a:p>
              <a:p>
                <a:pPr marL="514350" indent="-514350">
                  <a:lnSpc>
                    <a:spcPct val="150000"/>
                  </a:lnSpc>
                  <a:buFont typeface="+mj-lt"/>
                  <a:buAutoNum type="arabicPeriod"/>
                </a:pPr>
                <a:endParaRPr lang="es-419" sz="2800" i="1" dirty="0">
                  <a:latin typeface="Cambria Math" panose="02040503050406030204" pitchFamily="18" charset="0"/>
                  <a:ea typeface="Cambria Math" panose="02040503050406030204" pitchFamily="18" charset="0"/>
                </a:endParaRPr>
              </a:p>
              <a:p>
                <a:pPr marL="514350" indent="-514350">
                  <a:lnSpc>
                    <a:spcPct val="150000"/>
                  </a:lnSpc>
                  <a:buFont typeface="+mj-lt"/>
                  <a:buAutoNum type="arabicPeriod"/>
                </a:pPr>
                <a:endParaRPr lang="es-419" sz="2800" dirty="0">
                  <a:ea typeface="Cambria Math" panose="02040503050406030204" pitchFamily="18" charset="0"/>
                </a:endParaRPr>
              </a:p>
              <a:p>
                <a:pPr>
                  <a:lnSpc>
                    <a:spcPct val="150000"/>
                  </a:lnSpc>
                </a:pPr>
                <a:endParaRPr lang="es-419" sz="2800" dirty="0">
                  <a:ea typeface="Cambria Math" panose="02040503050406030204" pitchFamily="18" charset="0"/>
                </a:endParaRPr>
              </a:p>
              <a:p>
                <a:pPr>
                  <a:lnSpc>
                    <a:spcPct val="150000"/>
                  </a:lnSpc>
                </a:pPr>
                <a:endParaRPr lang="es-419" dirty="0"/>
              </a:p>
            </p:txBody>
          </p:sp>
        </mc:Choice>
        <mc:Fallback xmlns="">
          <p:sp>
            <p:nvSpPr>
              <p:cNvPr id="5" name="Content Placeholder 4">
                <a:extLst>
                  <a:ext uri="{FF2B5EF4-FFF2-40B4-BE49-F238E27FC236}">
                    <a16:creationId xmlns:a16="http://schemas.microsoft.com/office/drawing/2014/main" id="{87AC09A3-D160-AF48-7B6B-16429C1B658E}"/>
                  </a:ext>
                </a:extLst>
              </p:cNvPr>
              <p:cNvSpPr>
                <a:spLocks noGrp="1" noRot="1" noChangeAspect="1" noMove="1" noResize="1" noEditPoints="1" noAdjustHandles="1" noChangeArrowheads="1" noChangeShapeType="1" noTextEdit="1"/>
              </p:cNvSpPr>
              <p:nvPr>
                <p:ph idx="1"/>
              </p:nvPr>
            </p:nvSpPr>
            <p:spPr>
              <a:blipFill>
                <a:blip r:embed="rId2"/>
                <a:stretch>
                  <a:fillRect l="-232"/>
                </a:stretch>
              </a:blipFill>
            </p:spPr>
            <p:txBody>
              <a:bodyPr/>
              <a:lstStyle/>
              <a:p>
                <a:r>
                  <a:rPr lang="es-VE">
                    <a:noFill/>
                  </a:rPr>
                  <a:t> </a:t>
                </a:r>
              </a:p>
            </p:txBody>
          </p:sp>
        </mc:Fallback>
      </mc:AlternateContent>
    </p:spTree>
    <p:extLst>
      <p:ext uri="{BB962C8B-B14F-4D97-AF65-F5344CB8AC3E}">
        <p14:creationId xmlns:p14="http://schemas.microsoft.com/office/powerpoint/2010/main" val="4663339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ES" dirty="0"/>
              <a:t>Intervalos de confianza para proporción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00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solidFill>
                            <a:schemeClr val="tx1"/>
                          </a:solidFill>
                          <a:latin typeface="Cambria Math" panose="02040503050406030204" pitchFamily="18" charset="0"/>
                          <a:ea typeface="Cambria Math" panose="02040503050406030204" pitchFamily="18" charset="0"/>
                        </a:rPr>
                        <m:t>𝑃</m:t>
                      </m:r>
                      <m:d>
                        <m:dPr>
                          <m:ctrlPr>
                            <a:rPr lang="es-419" i="1">
                              <a:solidFill>
                                <a:schemeClr val="tx1"/>
                              </a:solidFill>
                              <a:latin typeface="Cambria Math" panose="02040503050406030204" pitchFamily="18" charset="0"/>
                              <a:ea typeface="Cambria Math" panose="02040503050406030204" pitchFamily="18" charset="0"/>
                            </a:rPr>
                          </m:ctrlPr>
                        </m:dPr>
                        <m:e>
                          <m:acc>
                            <m:accPr>
                              <m:chr m:val="̂"/>
                              <m:ctrlPr>
                                <a:rPr lang="es-419" i="1">
                                  <a:solidFill>
                                    <a:schemeClr val="tx1"/>
                                  </a:solidFill>
                                  <a:latin typeface="Cambria Math" panose="02040503050406030204" pitchFamily="18" charset="0"/>
                                  <a:ea typeface="Cambria Math" panose="02040503050406030204" pitchFamily="18" charset="0"/>
                                </a:rPr>
                              </m:ctrlPr>
                            </m:accPr>
                            <m:e>
                              <m:r>
                                <a:rPr lang="es-419" i="1">
                                  <a:solidFill>
                                    <a:schemeClr val="tx1"/>
                                  </a:solidFill>
                                  <a:latin typeface="Cambria Math" panose="02040503050406030204" pitchFamily="18" charset="0"/>
                                  <a:ea typeface="Cambria Math" panose="02040503050406030204" pitchFamily="18" charset="0"/>
                                </a:rPr>
                                <m:t>𝑝</m:t>
                              </m:r>
                            </m:e>
                          </m:acc>
                          <m:r>
                            <a:rPr lang="es-419" i="1">
                              <a:solidFill>
                                <a:schemeClr val="tx1"/>
                              </a:solidFill>
                              <a:latin typeface="Cambria Math" panose="02040503050406030204" pitchFamily="18" charset="0"/>
                              <a:ea typeface="Cambria Math" panose="02040503050406030204" pitchFamily="18" charset="0"/>
                            </a:rPr>
                            <m:t>−</m:t>
                          </m:r>
                          <m:sSub>
                            <m:sSubPr>
                              <m:ctrlPr>
                                <a:rPr lang="es-419" i="1">
                                  <a:solidFill>
                                    <a:schemeClr val="tx1"/>
                                  </a:solidFill>
                                  <a:latin typeface="Cambria Math" panose="02040503050406030204" pitchFamily="18" charset="0"/>
                                  <a:ea typeface="Cambria Math" panose="02040503050406030204" pitchFamily="18" charset="0"/>
                                </a:rPr>
                              </m:ctrlPr>
                            </m:sSubPr>
                            <m:e>
                              <m:r>
                                <a:rPr lang="es-419" i="1">
                                  <a:solidFill>
                                    <a:schemeClr val="tx1"/>
                                  </a:solidFill>
                                  <a:latin typeface="Cambria Math" panose="02040503050406030204" pitchFamily="18" charset="0"/>
                                  <a:ea typeface="Cambria Math" panose="02040503050406030204" pitchFamily="18" charset="0"/>
                                </a:rPr>
                                <m:t>𝑧</m:t>
                              </m:r>
                            </m:e>
                            <m:sub>
                              <m:f>
                                <m:fPr>
                                  <m:type m:val="skw"/>
                                  <m:ctrlPr>
                                    <a:rPr lang="es-419" i="1">
                                      <a:solidFill>
                                        <a:schemeClr val="tx1"/>
                                      </a:solidFill>
                                      <a:latin typeface="Cambria Math" panose="02040503050406030204" pitchFamily="18" charset="0"/>
                                      <a:ea typeface="Cambria Math" panose="02040503050406030204" pitchFamily="18" charset="0"/>
                                    </a:rPr>
                                  </m:ctrlPr>
                                </m:fPr>
                                <m:num>
                                  <m:r>
                                    <a:rPr lang="es-419" i="1">
                                      <a:solidFill>
                                        <a:schemeClr val="tx1"/>
                                      </a:solidFill>
                                      <a:latin typeface="Cambria Math" panose="02040503050406030204" pitchFamily="18" charset="0"/>
                                      <a:ea typeface="Cambria Math" panose="02040503050406030204" pitchFamily="18" charset="0"/>
                                    </a:rPr>
                                    <m:t>𝛼</m:t>
                                  </m:r>
                                </m:num>
                                <m:den>
                                  <m:r>
                                    <a:rPr lang="es-419" i="1">
                                      <a:solidFill>
                                        <a:schemeClr val="tx1"/>
                                      </a:solidFill>
                                      <a:latin typeface="Cambria Math" panose="02040503050406030204" pitchFamily="18" charset="0"/>
                                      <a:ea typeface="Cambria Math" panose="02040503050406030204" pitchFamily="18" charset="0"/>
                                    </a:rPr>
                                    <m:t>2</m:t>
                                  </m:r>
                                </m:den>
                              </m:f>
                            </m:sub>
                          </m:sSub>
                          <m:rad>
                            <m:radPr>
                              <m:degHide m:val="on"/>
                              <m:ctrlPr>
                                <a:rPr lang="es-419" i="1" dirty="0">
                                  <a:solidFill>
                                    <a:schemeClr val="tx1"/>
                                  </a:solidFill>
                                  <a:latin typeface="Cambria Math" panose="02040503050406030204" pitchFamily="18" charset="0"/>
                                  <a:ea typeface="Cambria Math" panose="02040503050406030204" pitchFamily="18" charset="0"/>
                                </a:rPr>
                              </m:ctrlPr>
                            </m:radPr>
                            <m:deg/>
                            <m:e>
                              <m:f>
                                <m:fPr>
                                  <m:ctrlPr>
                                    <a:rPr lang="es-419" i="1">
                                      <a:solidFill>
                                        <a:schemeClr val="tx1"/>
                                      </a:solidFill>
                                      <a:latin typeface="Cambria Math" panose="02040503050406030204" pitchFamily="18" charset="0"/>
                                      <a:ea typeface="Cambria Math" panose="02040503050406030204" pitchFamily="18" charset="0"/>
                                    </a:rPr>
                                  </m:ctrlPr>
                                </m:fPr>
                                <m:num>
                                  <m:acc>
                                    <m:accPr>
                                      <m:chr m:val="̂"/>
                                      <m:ctrlPr>
                                        <a:rPr lang="es-419" i="1">
                                          <a:solidFill>
                                            <a:schemeClr val="tx1"/>
                                          </a:solidFill>
                                          <a:latin typeface="Cambria Math" panose="02040503050406030204" pitchFamily="18" charset="0"/>
                                          <a:ea typeface="Cambria Math" panose="02040503050406030204" pitchFamily="18" charset="0"/>
                                        </a:rPr>
                                      </m:ctrlPr>
                                    </m:accPr>
                                    <m:e>
                                      <m:r>
                                        <a:rPr lang="es-419" i="1">
                                          <a:solidFill>
                                            <a:schemeClr val="tx1"/>
                                          </a:solidFill>
                                          <a:latin typeface="Cambria Math" panose="02040503050406030204" pitchFamily="18" charset="0"/>
                                          <a:ea typeface="Cambria Math" panose="02040503050406030204" pitchFamily="18" charset="0"/>
                                        </a:rPr>
                                        <m:t>𝑝</m:t>
                                      </m:r>
                                    </m:e>
                                  </m:acc>
                                  <m:d>
                                    <m:dPr>
                                      <m:ctrlPr>
                                        <a:rPr lang="es-419" i="1" dirty="0">
                                          <a:solidFill>
                                            <a:schemeClr val="tx1"/>
                                          </a:solidFill>
                                          <a:latin typeface="Cambria Math" panose="02040503050406030204" pitchFamily="18" charset="0"/>
                                          <a:ea typeface="Cambria Math" panose="02040503050406030204" pitchFamily="18" charset="0"/>
                                        </a:rPr>
                                      </m:ctrlPr>
                                    </m:dPr>
                                    <m:e>
                                      <m:r>
                                        <a:rPr lang="es-419" i="1" dirty="0">
                                          <a:solidFill>
                                            <a:schemeClr val="tx1"/>
                                          </a:solidFill>
                                          <a:latin typeface="Cambria Math" panose="02040503050406030204" pitchFamily="18" charset="0"/>
                                          <a:ea typeface="Cambria Math" panose="02040503050406030204" pitchFamily="18" charset="0"/>
                                        </a:rPr>
                                        <m:t>1−</m:t>
                                      </m:r>
                                      <m:acc>
                                        <m:accPr>
                                          <m:chr m:val="̂"/>
                                          <m:ctrlPr>
                                            <a:rPr lang="es-419" i="1">
                                              <a:solidFill>
                                                <a:schemeClr val="tx1"/>
                                              </a:solidFill>
                                              <a:latin typeface="Cambria Math" panose="02040503050406030204" pitchFamily="18" charset="0"/>
                                              <a:ea typeface="Cambria Math" panose="02040503050406030204" pitchFamily="18" charset="0"/>
                                            </a:rPr>
                                          </m:ctrlPr>
                                        </m:accPr>
                                        <m:e>
                                          <m:r>
                                            <a:rPr lang="es-419" i="1">
                                              <a:solidFill>
                                                <a:schemeClr val="tx1"/>
                                              </a:solidFill>
                                              <a:latin typeface="Cambria Math" panose="02040503050406030204" pitchFamily="18" charset="0"/>
                                              <a:ea typeface="Cambria Math" panose="02040503050406030204" pitchFamily="18" charset="0"/>
                                            </a:rPr>
                                            <m:t>𝑝</m:t>
                                          </m:r>
                                        </m:e>
                                      </m:acc>
                                    </m:e>
                                  </m:d>
                                </m:num>
                                <m:den>
                                  <m:r>
                                    <a:rPr lang="es-419" i="1">
                                      <a:solidFill>
                                        <a:schemeClr val="tx1"/>
                                      </a:solidFill>
                                      <a:latin typeface="Cambria Math" panose="02040503050406030204" pitchFamily="18" charset="0"/>
                                      <a:ea typeface="Cambria Math" panose="02040503050406030204" pitchFamily="18" charset="0"/>
                                    </a:rPr>
                                    <m:t>𝑛</m:t>
                                  </m:r>
                                </m:den>
                              </m:f>
                            </m:e>
                          </m:rad>
                          <m:r>
                            <a:rPr lang="es-419" i="1">
                              <a:solidFill>
                                <a:schemeClr val="tx1"/>
                              </a:solidFill>
                              <a:latin typeface="Cambria Math" panose="02040503050406030204" pitchFamily="18" charset="0"/>
                              <a:ea typeface="Cambria Math" panose="02040503050406030204" pitchFamily="18" charset="0"/>
                            </a:rPr>
                            <m:t>≤</m:t>
                          </m:r>
                          <m:r>
                            <a:rPr lang="es-419" i="1">
                              <a:solidFill>
                                <a:schemeClr val="tx1"/>
                              </a:solidFill>
                              <a:latin typeface="Cambria Math" panose="02040503050406030204" pitchFamily="18" charset="0"/>
                              <a:ea typeface="Cambria Math" panose="02040503050406030204" pitchFamily="18" charset="0"/>
                            </a:rPr>
                            <m:t>𝑝</m:t>
                          </m:r>
                          <m:r>
                            <a:rPr lang="es-419" i="1">
                              <a:solidFill>
                                <a:schemeClr val="tx1"/>
                              </a:solidFill>
                              <a:latin typeface="Cambria Math" panose="02040503050406030204" pitchFamily="18" charset="0"/>
                              <a:ea typeface="Cambria Math" panose="02040503050406030204" pitchFamily="18" charset="0"/>
                            </a:rPr>
                            <m:t>≤</m:t>
                          </m:r>
                          <m:acc>
                            <m:accPr>
                              <m:chr m:val="̂"/>
                              <m:ctrlPr>
                                <a:rPr lang="es-419" i="1">
                                  <a:solidFill>
                                    <a:schemeClr val="tx1"/>
                                  </a:solidFill>
                                  <a:latin typeface="Cambria Math" panose="02040503050406030204" pitchFamily="18" charset="0"/>
                                  <a:ea typeface="Cambria Math" panose="02040503050406030204" pitchFamily="18" charset="0"/>
                                </a:rPr>
                              </m:ctrlPr>
                            </m:accPr>
                            <m:e>
                              <m:r>
                                <a:rPr lang="es-419" i="1">
                                  <a:solidFill>
                                    <a:schemeClr val="tx1"/>
                                  </a:solidFill>
                                  <a:latin typeface="Cambria Math" panose="02040503050406030204" pitchFamily="18" charset="0"/>
                                  <a:ea typeface="Cambria Math" panose="02040503050406030204" pitchFamily="18" charset="0"/>
                                </a:rPr>
                                <m:t>𝑝</m:t>
                              </m:r>
                            </m:e>
                          </m:acc>
                          <m:r>
                            <a:rPr lang="es-419" i="1">
                              <a:solidFill>
                                <a:schemeClr val="tx1"/>
                              </a:solidFill>
                              <a:latin typeface="Cambria Math" panose="02040503050406030204" pitchFamily="18" charset="0"/>
                              <a:ea typeface="Cambria Math" panose="02040503050406030204" pitchFamily="18" charset="0"/>
                            </a:rPr>
                            <m:t>+</m:t>
                          </m:r>
                          <m:sSub>
                            <m:sSubPr>
                              <m:ctrlPr>
                                <a:rPr lang="es-419" i="1">
                                  <a:solidFill>
                                    <a:schemeClr val="tx1"/>
                                  </a:solidFill>
                                  <a:latin typeface="Cambria Math" panose="02040503050406030204" pitchFamily="18" charset="0"/>
                                  <a:ea typeface="Cambria Math" panose="02040503050406030204" pitchFamily="18" charset="0"/>
                                </a:rPr>
                              </m:ctrlPr>
                            </m:sSubPr>
                            <m:e>
                              <m:r>
                                <a:rPr lang="es-419" i="1">
                                  <a:solidFill>
                                    <a:schemeClr val="tx1"/>
                                  </a:solidFill>
                                  <a:latin typeface="Cambria Math" panose="02040503050406030204" pitchFamily="18" charset="0"/>
                                  <a:ea typeface="Cambria Math" panose="02040503050406030204" pitchFamily="18" charset="0"/>
                                </a:rPr>
                                <m:t>𝑧</m:t>
                              </m:r>
                            </m:e>
                            <m:sub>
                              <m:f>
                                <m:fPr>
                                  <m:type m:val="skw"/>
                                  <m:ctrlPr>
                                    <a:rPr lang="es-419" i="1">
                                      <a:solidFill>
                                        <a:schemeClr val="tx1"/>
                                      </a:solidFill>
                                      <a:latin typeface="Cambria Math" panose="02040503050406030204" pitchFamily="18" charset="0"/>
                                      <a:ea typeface="Cambria Math" panose="02040503050406030204" pitchFamily="18" charset="0"/>
                                    </a:rPr>
                                  </m:ctrlPr>
                                </m:fPr>
                                <m:num>
                                  <m:r>
                                    <a:rPr lang="es-419" i="1">
                                      <a:solidFill>
                                        <a:schemeClr val="tx1"/>
                                      </a:solidFill>
                                      <a:latin typeface="Cambria Math" panose="02040503050406030204" pitchFamily="18" charset="0"/>
                                      <a:ea typeface="Cambria Math" panose="02040503050406030204" pitchFamily="18" charset="0"/>
                                    </a:rPr>
                                    <m:t>𝛼</m:t>
                                  </m:r>
                                </m:num>
                                <m:den>
                                  <m:r>
                                    <a:rPr lang="es-419" i="1">
                                      <a:solidFill>
                                        <a:schemeClr val="tx1"/>
                                      </a:solidFill>
                                      <a:latin typeface="Cambria Math" panose="02040503050406030204" pitchFamily="18" charset="0"/>
                                      <a:ea typeface="Cambria Math" panose="02040503050406030204" pitchFamily="18" charset="0"/>
                                    </a:rPr>
                                    <m:t>2</m:t>
                                  </m:r>
                                </m:den>
                              </m:f>
                            </m:sub>
                          </m:sSub>
                          <m:rad>
                            <m:radPr>
                              <m:degHide m:val="on"/>
                              <m:ctrlPr>
                                <a:rPr lang="es-419" i="1" dirty="0">
                                  <a:solidFill>
                                    <a:schemeClr val="tx1"/>
                                  </a:solidFill>
                                  <a:latin typeface="Cambria Math" panose="02040503050406030204" pitchFamily="18" charset="0"/>
                                  <a:ea typeface="Cambria Math" panose="02040503050406030204" pitchFamily="18" charset="0"/>
                                </a:rPr>
                              </m:ctrlPr>
                            </m:radPr>
                            <m:deg/>
                            <m:e>
                              <m:f>
                                <m:fPr>
                                  <m:ctrlPr>
                                    <a:rPr lang="es-419" i="1">
                                      <a:solidFill>
                                        <a:schemeClr val="tx1"/>
                                      </a:solidFill>
                                      <a:latin typeface="Cambria Math" panose="02040503050406030204" pitchFamily="18" charset="0"/>
                                      <a:ea typeface="Cambria Math" panose="02040503050406030204" pitchFamily="18" charset="0"/>
                                    </a:rPr>
                                  </m:ctrlPr>
                                </m:fPr>
                                <m:num>
                                  <m:acc>
                                    <m:accPr>
                                      <m:chr m:val="̂"/>
                                      <m:ctrlPr>
                                        <a:rPr lang="es-419" i="1">
                                          <a:solidFill>
                                            <a:schemeClr val="tx1"/>
                                          </a:solidFill>
                                          <a:latin typeface="Cambria Math" panose="02040503050406030204" pitchFamily="18" charset="0"/>
                                          <a:ea typeface="Cambria Math" panose="02040503050406030204" pitchFamily="18" charset="0"/>
                                        </a:rPr>
                                      </m:ctrlPr>
                                    </m:accPr>
                                    <m:e>
                                      <m:r>
                                        <a:rPr lang="es-419" i="1">
                                          <a:solidFill>
                                            <a:schemeClr val="tx1"/>
                                          </a:solidFill>
                                          <a:latin typeface="Cambria Math" panose="02040503050406030204" pitchFamily="18" charset="0"/>
                                          <a:ea typeface="Cambria Math" panose="02040503050406030204" pitchFamily="18" charset="0"/>
                                        </a:rPr>
                                        <m:t>𝑝</m:t>
                                      </m:r>
                                    </m:e>
                                  </m:acc>
                                  <m:r>
                                    <a:rPr lang="es-419" i="1" dirty="0">
                                      <a:solidFill>
                                        <a:schemeClr val="tx1"/>
                                      </a:solidFill>
                                      <a:latin typeface="Cambria Math" panose="02040503050406030204" pitchFamily="18" charset="0"/>
                                      <a:ea typeface="Cambria Math" panose="02040503050406030204" pitchFamily="18" charset="0"/>
                                    </a:rPr>
                                    <m:t>(1−</m:t>
                                  </m:r>
                                  <m:acc>
                                    <m:accPr>
                                      <m:chr m:val="̂"/>
                                      <m:ctrlPr>
                                        <a:rPr lang="es-419" i="1">
                                          <a:solidFill>
                                            <a:schemeClr val="tx1"/>
                                          </a:solidFill>
                                          <a:latin typeface="Cambria Math" panose="02040503050406030204" pitchFamily="18" charset="0"/>
                                          <a:ea typeface="Cambria Math" panose="02040503050406030204" pitchFamily="18" charset="0"/>
                                        </a:rPr>
                                      </m:ctrlPr>
                                    </m:accPr>
                                    <m:e>
                                      <m:r>
                                        <a:rPr lang="es-419" i="1">
                                          <a:solidFill>
                                            <a:schemeClr val="tx1"/>
                                          </a:solidFill>
                                          <a:latin typeface="Cambria Math" panose="02040503050406030204" pitchFamily="18" charset="0"/>
                                          <a:ea typeface="Cambria Math" panose="02040503050406030204" pitchFamily="18" charset="0"/>
                                        </a:rPr>
                                        <m:t>𝑝</m:t>
                                      </m:r>
                                    </m:e>
                                  </m:acc>
                                  <m:r>
                                    <a:rPr lang="es-419" i="1">
                                      <a:solidFill>
                                        <a:schemeClr val="tx1"/>
                                      </a:solidFill>
                                      <a:latin typeface="Cambria Math" panose="02040503050406030204" pitchFamily="18" charset="0"/>
                                      <a:ea typeface="Cambria Math" panose="02040503050406030204" pitchFamily="18" charset="0"/>
                                    </a:rPr>
                                    <m:t>)</m:t>
                                  </m:r>
                                </m:num>
                                <m:den>
                                  <m:r>
                                    <a:rPr lang="es-419" i="1">
                                      <a:solidFill>
                                        <a:schemeClr val="tx1"/>
                                      </a:solidFill>
                                      <a:latin typeface="Cambria Math" panose="02040503050406030204" pitchFamily="18" charset="0"/>
                                      <a:ea typeface="Cambria Math" panose="02040503050406030204" pitchFamily="18" charset="0"/>
                                    </a:rPr>
                                    <m:t>𝑛</m:t>
                                  </m:r>
                                </m:den>
                              </m:f>
                            </m:e>
                          </m:rad>
                        </m:e>
                      </m:d>
                      <m:r>
                        <a:rPr lang="es-419" i="1">
                          <a:solidFill>
                            <a:schemeClr val="tx1"/>
                          </a:solidFill>
                          <a:latin typeface="Cambria Math" panose="02040503050406030204" pitchFamily="18" charset="0"/>
                          <a:ea typeface="Cambria Math" panose="02040503050406030204" pitchFamily="18" charset="0"/>
                        </a:rPr>
                        <m:t>=</m:t>
                      </m:r>
                      <m:r>
                        <a:rPr lang="es-419" i="1">
                          <a:solidFill>
                            <a:schemeClr val="tx1"/>
                          </a:solidFill>
                          <a:latin typeface="Cambria Math" panose="02040503050406030204" pitchFamily="18" charset="0"/>
                        </a:rPr>
                        <m:t>1−</m:t>
                      </m:r>
                      <m:r>
                        <a:rPr lang="es-419" i="1">
                          <a:solidFill>
                            <a:schemeClr val="tx1"/>
                          </a:solidFill>
                          <a:latin typeface="Cambria Math" panose="02040503050406030204" pitchFamily="18" charset="0"/>
                          <a:ea typeface="Cambria Math" panose="02040503050406030204" pitchFamily="18" charset="0"/>
                        </a:rPr>
                        <m:t>𝛼</m:t>
                      </m:r>
                    </m:oMath>
                  </m:oMathPara>
                </a14:m>
                <a:endParaRPr lang="es-419" dirty="0">
                  <a:solidFill>
                    <a:schemeClr val="tx1"/>
                  </a:solidFill>
                  <a:ea typeface="Cambria Math" panose="02040503050406030204" pitchFamily="18" charset="0"/>
                </a:endParaRPr>
              </a:p>
              <a:p>
                <a:pPr>
                  <a:lnSpc>
                    <a:spcPct val="150000"/>
                  </a:lnSpc>
                </a:pPr>
                <a:r>
                  <a:rPr lang="es-VE" dirty="0">
                    <a:ea typeface="Cambria Math" panose="02040503050406030204" pitchFamily="18" charset="0"/>
                  </a:rPr>
                  <a:t>El intervalo de confianza termina siendo:</a:t>
                </a: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dirty="0">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d>
                                <m:dPr>
                                  <m:ctrlPr>
                                    <a:rPr lang="es-419" i="1" dirty="0">
                                      <a:latin typeface="Cambria Math" panose="02040503050406030204" pitchFamily="18" charset="0"/>
                                      <a:ea typeface="Cambria Math" panose="02040503050406030204" pitchFamily="18" charset="0"/>
                                    </a:rPr>
                                  </m:ctrlPr>
                                </m:dPr>
                                <m:e>
                                  <m:r>
                                    <a:rPr lang="es-419" i="1" dirty="0">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e>
                              </m:d>
                            </m:num>
                            <m:den>
                              <m:r>
                                <a:rPr lang="es-419" i="1">
                                  <a:latin typeface="Cambria Math" panose="02040503050406030204" pitchFamily="18" charset="0"/>
                                  <a:ea typeface="Cambria Math" panose="02040503050406030204" pitchFamily="18" charset="0"/>
                                </a:rPr>
                                <m:t>𝑛</m:t>
                              </m:r>
                            </m:den>
                          </m:f>
                        </m:e>
                      </m:rad>
                      <m:r>
                        <a:rPr lang="es-VE" b="0" i="1" dirty="0" smtClean="0">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dirty="0">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dirty="0">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num>
                            <m:den>
                              <m:r>
                                <a:rPr lang="es-419" i="1">
                                  <a:latin typeface="Cambria Math" panose="02040503050406030204" pitchFamily="18" charset="0"/>
                                  <a:ea typeface="Cambria Math" panose="02040503050406030204" pitchFamily="18" charset="0"/>
                                </a:rPr>
                                <m:t>𝑛</m:t>
                              </m:r>
                            </m:den>
                          </m:f>
                        </m:e>
                      </m:rad>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VE" dirty="0">
                    <a:ea typeface="Cambria Math" panose="02040503050406030204" pitchFamily="18" charset="0"/>
                  </a:rPr>
                  <a:t>Simplificado:</a:t>
                </a:r>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dirty="0">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num>
                            <m:den>
                              <m:r>
                                <a:rPr lang="es-419" i="1">
                                  <a:latin typeface="Cambria Math" panose="02040503050406030204" pitchFamily="18" charset="0"/>
                                  <a:ea typeface="Cambria Math" panose="02040503050406030204" pitchFamily="18" charset="0"/>
                                </a:rPr>
                                <m:t>𝑛</m:t>
                              </m:r>
                            </m:den>
                          </m:f>
                        </m:e>
                      </m:rad>
                    </m:oMath>
                  </m:oMathPara>
                </a14:m>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marL="514350" indent="-514350">
                  <a:lnSpc>
                    <a:spcPct val="150000"/>
                  </a:lnSpc>
                  <a:buFont typeface="+mj-lt"/>
                  <a:buAutoNum type="arabicPeriod"/>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b="0"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s-VE">
                    <a:noFill/>
                  </a:rPr>
                  <a:t> </a:t>
                </a:r>
              </a:p>
            </p:txBody>
          </p:sp>
        </mc:Fallback>
      </mc:AlternateContent>
    </p:spTree>
    <p:extLst>
      <p:ext uri="{BB962C8B-B14F-4D97-AF65-F5344CB8AC3E}">
        <p14:creationId xmlns:p14="http://schemas.microsoft.com/office/powerpoint/2010/main" val="16261738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Visualizando</a:t>
            </a:r>
            <a:endParaRPr lang="en-US" dirty="0"/>
          </a:p>
        </p:txBody>
      </p:sp>
      <p:pic>
        <p:nvPicPr>
          <p:cNvPr id="4098" name="Picture 2">
            <a:extLst>
              <a:ext uri="{FF2B5EF4-FFF2-40B4-BE49-F238E27FC236}">
                <a16:creationId xmlns:a16="http://schemas.microsoft.com/office/drawing/2014/main" id="{B3CCB2AD-5814-43A5-A5D8-21F9902F0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483" y="963000"/>
            <a:ext cx="8615034" cy="493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1482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9.23 y 9.24</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fontScale="70000" lnSpcReduction="20000"/>
          </a:bodyPr>
          <a:lstStyle/>
          <a:p>
            <a:pPr marL="0" indent="0">
              <a:lnSpc>
                <a:spcPct val="150000"/>
              </a:lnSpc>
              <a:buNone/>
            </a:pPr>
            <a:r>
              <a:rPr lang="es-VE" i="1" dirty="0"/>
              <a:t>Para estimar la proporción de familias que en un barrio tienen ingresos medios diarios superiores a Bs. 300,  se tomó una muestra aleatoria de 1.000 familias, 580 de las cuales tenías ingresos medios superiores a Bs. 300. Hacer la estimación con un intervalo de confianza del 95%, usando los intervalos (6) y (7) de la sección 9.3.1. Interpretar los resultados.</a:t>
            </a:r>
          </a:p>
          <a:p>
            <a:pPr>
              <a:lnSpc>
                <a:spcPct val="150000"/>
              </a:lnSpc>
            </a:pPr>
            <a:r>
              <a:rPr lang="es-419" dirty="0"/>
              <a:t>Error de </a:t>
            </a:r>
            <a:r>
              <a:rPr lang="es-419" dirty="0" err="1"/>
              <a:t>Casuso</a:t>
            </a:r>
            <a:r>
              <a:rPr lang="es-419" dirty="0"/>
              <a:t>: respuesta en libro corresponde a 90% de confianza en vez de 95%.</a:t>
            </a:r>
            <a:endParaRPr lang="es-VE" i="1" dirty="0"/>
          </a:p>
          <a:p>
            <a:pPr marL="0" indent="0">
              <a:lnSpc>
                <a:spcPct val="150000"/>
              </a:lnSpc>
              <a:buNone/>
            </a:pPr>
            <a:r>
              <a:rPr lang="es-VE" b="1" i="1" dirty="0">
                <a:solidFill>
                  <a:srgbClr val="003A5D"/>
                </a:solidFill>
              </a:rPr>
              <a:t>Propuesto 9.24</a:t>
            </a:r>
          </a:p>
          <a:p>
            <a:pPr marL="0" indent="0">
              <a:lnSpc>
                <a:spcPct val="150000"/>
              </a:lnSpc>
              <a:buNone/>
            </a:pPr>
            <a:r>
              <a:rPr lang="es-VE" i="1" dirty="0"/>
              <a:t>En el ejercicio anterior, hacer la estimación usando el intervalo (8) de la sección 9.3.1. Interpretar el resultado.</a:t>
            </a:r>
          </a:p>
          <a:p>
            <a:pPr marL="0" indent="0">
              <a:lnSpc>
                <a:spcPct val="150000"/>
              </a:lnSpc>
              <a:buNone/>
            </a:pPr>
            <a:r>
              <a:rPr lang="es-VE" i="1" dirty="0"/>
              <a:t>Realizar solamente el </a:t>
            </a:r>
            <a:r>
              <a:rPr lang="es-VE" b="1" i="1" dirty="0">
                <a:solidFill>
                  <a:srgbClr val="003A5D"/>
                </a:solidFill>
              </a:rPr>
              <a:t>9.24</a:t>
            </a:r>
            <a:r>
              <a:rPr lang="es-VE" i="1" dirty="0"/>
              <a:t> usando los datos del </a:t>
            </a:r>
            <a:r>
              <a:rPr lang="es-VE" b="1" i="1" dirty="0">
                <a:solidFill>
                  <a:srgbClr val="003A5D"/>
                </a:solidFill>
              </a:rPr>
              <a:t>9.23</a:t>
            </a:r>
            <a:r>
              <a:rPr lang="es-VE" i="1" dirty="0"/>
              <a:t>, emplear fórmula vista en esta presentación.</a:t>
            </a:r>
            <a:endParaRPr lang="es-419" i="1" dirty="0"/>
          </a:p>
          <a:p>
            <a:pPr marL="0" indent="0">
              <a:lnSpc>
                <a:spcPct val="150000"/>
              </a:lnSpc>
              <a:buNone/>
            </a:pPr>
            <a:endParaRPr lang="es-419" b="1" i="1" dirty="0">
              <a:solidFill>
                <a:srgbClr val="003A5D"/>
              </a:solidFill>
            </a:endParaRPr>
          </a:p>
        </p:txBody>
      </p:sp>
    </p:spTree>
    <p:extLst>
      <p:ext uri="{BB962C8B-B14F-4D97-AF65-F5344CB8AC3E}">
        <p14:creationId xmlns:p14="http://schemas.microsoft.com/office/powerpoint/2010/main" val="5831357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9.23 y 9.24</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pt-BR" sz="1000" dirty="0">
                <a:latin typeface="Consolas" panose="020B0609020204030204" pitchFamily="49" charset="0"/>
              </a:rPr>
              <a:t>&gt; n &lt;- 1000</a:t>
            </a:r>
          </a:p>
          <a:p>
            <a:pPr marL="0" indent="0">
              <a:buNone/>
            </a:pPr>
            <a:r>
              <a:rPr lang="pt-BR" sz="1000" dirty="0">
                <a:latin typeface="Consolas" panose="020B0609020204030204" pitchFamily="49" charset="0"/>
              </a:rPr>
              <a:t>&gt; p_hat &lt;- 580/n</a:t>
            </a:r>
          </a:p>
          <a:p>
            <a:pPr marL="0" indent="0">
              <a:buNone/>
            </a:pPr>
            <a:r>
              <a:rPr lang="pt-BR" sz="1000" dirty="0">
                <a:latin typeface="Consolas" panose="020B0609020204030204" pitchFamily="49" charset="0"/>
              </a:rPr>
              <a:t>&gt; p_hat</a:t>
            </a:r>
          </a:p>
          <a:p>
            <a:pPr marL="0" indent="0">
              <a:buNone/>
            </a:pPr>
            <a:r>
              <a:rPr lang="pt-BR" sz="1000" dirty="0">
                <a:latin typeface="Consolas" panose="020B0609020204030204" pitchFamily="49" charset="0"/>
              </a:rPr>
              <a:t>[1] 0.58</a:t>
            </a:r>
          </a:p>
          <a:p>
            <a:pPr marL="0" indent="0">
              <a:buNone/>
            </a:pPr>
            <a:r>
              <a:rPr lang="pt-BR" sz="1000" dirty="0">
                <a:latin typeface="Consolas" panose="020B0609020204030204" pitchFamily="49" charset="0"/>
              </a:rPr>
              <a:t>&gt; ic &lt;- 0.95</a:t>
            </a:r>
          </a:p>
          <a:p>
            <a:pPr marL="0" indent="0">
              <a:buNone/>
            </a:pPr>
            <a:r>
              <a:rPr lang="pt-BR" sz="1000" dirty="0">
                <a:latin typeface="Consolas" panose="020B0609020204030204" pitchFamily="49" charset="0"/>
              </a:rPr>
              <a:t>&gt; a &lt;- 1 - ic</a:t>
            </a:r>
          </a:p>
          <a:p>
            <a:pPr marL="0" indent="0">
              <a:buNone/>
            </a:pPr>
            <a:endParaRPr lang="pt-BR" sz="1000" dirty="0">
              <a:latin typeface="Consolas" panose="020B0609020204030204" pitchFamily="49" charset="0"/>
            </a:endParaRPr>
          </a:p>
          <a:p>
            <a:pPr marL="0" indent="0">
              <a:buNone/>
            </a:pPr>
            <a:r>
              <a:rPr lang="pt-BR" sz="1000" dirty="0">
                <a:latin typeface="Consolas" panose="020B0609020204030204" pitchFamily="49" charset="0"/>
              </a:rPr>
              <a:t>&gt; c(inferior = (p_hat + (qnorm(1-a/2)^2)/(2*n)-qnorm(1-a/2)*sqrt((p_hat*(1-p_hat)/n + ((qnorm(1-a/2)^2)/(4*(n^2))))))/(1+(qnorm(1-a/2)^2)/n), </a:t>
            </a:r>
          </a:p>
          <a:p>
            <a:pPr marL="0" indent="0">
              <a:buNone/>
            </a:pPr>
            <a:r>
              <a:rPr lang="pt-BR" sz="1000" dirty="0">
                <a:latin typeface="Consolas" panose="020B0609020204030204" pitchFamily="49" charset="0"/>
              </a:rPr>
              <a:t>+   superior = (p_hat + (qnorm(1-a/2)^2)/(2*n)+qnorm(1-a/2)*sqrt((p_hat*(1-p_hat)/n + ((qnorm(1-a/2)^2)/(4*(n^2))))))/(1+(qnorm(1-a/2)^2)/n))*100</a:t>
            </a:r>
          </a:p>
          <a:p>
            <a:pPr marL="0" indent="0">
              <a:buNone/>
            </a:pPr>
            <a:r>
              <a:rPr lang="pt-BR" sz="1000" dirty="0">
                <a:highlight>
                  <a:srgbClr val="FFFF00"/>
                </a:highlight>
                <a:latin typeface="Consolas" panose="020B0609020204030204" pitchFamily="49" charset="0"/>
              </a:rPr>
              <a:t>inferior superior </a:t>
            </a:r>
          </a:p>
          <a:p>
            <a:pPr marL="0" indent="0">
              <a:buNone/>
            </a:pPr>
            <a:r>
              <a:rPr lang="pt-BR" sz="1000" dirty="0">
                <a:highlight>
                  <a:srgbClr val="FFFF00"/>
                </a:highlight>
                <a:latin typeface="Consolas" panose="020B0609020204030204" pitchFamily="49" charset="0"/>
              </a:rPr>
              <a:t>54.91604 61.02273 </a:t>
            </a:r>
          </a:p>
        </p:txBody>
      </p:sp>
    </p:spTree>
    <p:extLst>
      <p:ext uri="{BB962C8B-B14F-4D97-AF65-F5344CB8AC3E}">
        <p14:creationId xmlns:p14="http://schemas.microsoft.com/office/powerpoint/2010/main" val="31822227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9.23 y 9.24</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55000" lnSpcReduction="20000"/>
          </a:bodyPr>
          <a:lstStyle/>
          <a:p>
            <a:pPr marL="0" indent="0">
              <a:buNone/>
            </a:pPr>
            <a:r>
              <a:rPr lang="pt-BR" dirty="0">
                <a:latin typeface="Consolas" panose="020B0609020204030204" pitchFamily="49" charset="0"/>
              </a:rPr>
              <a:t>&gt; n &lt;- 1000</a:t>
            </a:r>
          </a:p>
          <a:p>
            <a:pPr marL="0" indent="0">
              <a:buNone/>
            </a:pPr>
            <a:r>
              <a:rPr lang="pt-BR" dirty="0">
                <a:latin typeface="Consolas" panose="020B0609020204030204" pitchFamily="49" charset="0"/>
              </a:rPr>
              <a:t>&gt; p_hat &lt;- 580/n</a:t>
            </a:r>
          </a:p>
          <a:p>
            <a:pPr marL="0" indent="0">
              <a:buNone/>
            </a:pPr>
            <a:r>
              <a:rPr lang="pt-BR" dirty="0">
                <a:latin typeface="Consolas" panose="020B0609020204030204" pitchFamily="49" charset="0"/>
              </a:rPr>
              <a:t>&gt; p_hat</a:t>
            </a:r>
          </a:p>
          <a:p>
            <a:pPr marL="0" indent="0">
              <a:buNone/>
            </a:pPr>
            <a:r>
              <a:rPr lang="pt-BR" dirty="0">
                <a:latin typeface="Consolas" panose="020B0609020204030204" pitchFamily="49" charset="0"/>
              </a:rPr>
              <a:t>[1] 0.58</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ic &lt;- 0.95</a:t>
            </a:r>
          </a:p>
          <a:p>
            <a:pPr marL="0" indent="0">
              <a:buNone/>
            </a:pPr>
            <a:r>
              <a:rPr lang="pt-BR" dirty="0">
                <a:latin typeface="Consolas" panose="020B0609020204030204" pitchFamily="49" charset="0"/>
              </a:rPr>
              <a:t>&gt; a &lt;- 1 - ic</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c(inferior = p_hat - qnorm(a/2, lower.tail = FALSE)*sqrt(p_hat*(1-p_hat)/n), </a:t>
            </a:r>
          </a:p>
          <a:p>
            <a:pPr marL="0" indent="0">
              <a:buNone/>
            </a:pPr>
            <a:r>
              <a:rPr lang="pt-BR" dirty="0">
                <a:latin typeface="Consolas" panose="020B0609020204030204" pitchFamily="49" charset="0"/>
              </a:rPr>
              <a:t>+   superior = p_hat + qnorm(a/2, lower.tail = FALSE)*sqrt(p_hat*(1-p_hat)/n))*100</a:t>
            </a:r>
          </a:p>
          <a:p>
            <a:pPr marL="0" indent="0">
              <a:buNone/>
            </a:pPr>
            <a:r>
              <a:rPr lang="pt-BR" dirty="0">
                <a:highlight>
                  <a:srgbClr val="FFFF00"/>
                </a:highlight>
                <a:latin typeface="Consolas" panose="020B0609020204030204" pitchFamily="49" charset="0"/>
              </a:rPr>
              <a:t>inferior superior </a:t>
            </a:r>
          </a:p>
          <a:p>
            <a:pPr marL="0" indent="0">
              <a:buNone/>
            </a:pPr>
            <a:r>
              <a:rPr lang="pt-BR" dirty="0">
                <a:highlight>
                  <a:srgbClr val="FFFF00"/>
                </a:highlight>
                <a:latin typeface="Consolas" panose="020B0609020204030204" pitchFamily="49" charset="0"/>
              </a:rPr>
              <a:t>54.94095 61.05905 </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#Alternativamente</a:t>
            </a:r>
          </a:p>
          <a:p>
            <a:pPr marL="0" indent="0">
              <a:buNone/>
            </a:pPr>
            <a:r>
              <a:rPr lang="pt-BR" dirty="0">
                <a:latin typeface="Consolas" panose="020B0609020204030204" pitchFamily="49" charset="0"/>
              </a:rPr>
              <a:t>&gt; c(inferior = p_hat - qnorm(1-a/2)*sqrt(p_hat*(1-p_hat)/n), </a:t>
            </a:r>
          </a:p>
          <a:p>
            <a:pPr marL="0" indent="0">
              <a:buNone/>
            </a:pPr>
            <a:r>
              <a:rPr lang="pt-BR" dirty="0">
                <a:latin typeface="Consolas" panose="020B0609020204030204" pitchFamily="49" charset="0"/>
              </a:rPr>
              <a:t>+   superior = p_hat + qnorm(1-a/2)*sqrt(p_hat*(1-p_hat)/n))</a:t>
            </a:r>
          </a:p>
          <a:p>
            <a:pPr marL="0" indent="0">
              <a:buNone/>
            </a:pPr>
            <a:r>
              <a:rPr lang="pt-BR" dirty="0">
                <a:highlight>
                  <a:srgbClr val="FFFF00"/>
                </a:highlight>
                <a:latin typeface="Consolas" panose="020B0609020204030204" pitchFamily="49" charset="0"/>
              </a:rPr>
              <a:t> inferior  superior </a:t>
            </a:r>
          </a:p>
          <a:p>
            <a:pPr marL="0" indent="0">
              <a:buNone/>
            </a:pPr>
            <a:r>
              <a:rPr lang="pt-BR" dirty="0">
                <a:highlight>
                  <a:srgbClr val="FFFF00"/>
                </a:highlight>
                <a:latin typeface="Consolas" panose="020B0609020204030204" pitchFamily="49" charset="0"/>
              </a:rPr>
              <a:t>0.5494095 0.6105905 </a:t>
            </a:r>
          </a:p>
        </p:txBody>
      </p:sp>
    </p:spTree>
    <p:extLst>
      <p:ext uri="{BB962C8B-B14F-4D97-AF65-F5344CB8AC3E}">
        <p14:creationId xmlns:p14="http://schemas.microsoft.com/office/powerpoint/2010/main" val="4475964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9.37 y 9.38</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lstStyle/>
          <a:p>
            <a:pPr marL="0" indent="0">
              <a:lnSpc>
                <a:spcPct val="150000"/>
              </a:lnSpc>
              <a:buNone/>
            </a:pPr>
            <a:r>
              <a:rPr lang="es-VE" i="1" dirty="0"/>
              <a:t>Una gran empresa está pensando trasladar su fábrica para las afueras de la ciudad. A tal efecto, se desea saber con una confianza del 95% la proporción de empleados que disponen de transporte propio. En una muestra aleatoria de 100 empleados, 80 tenían transporte propio. Haga la estimación e interprete el resultado.</a:t>
            </a:r>
          </a:p>
        </p:txBody>
      </p:sp>
    </p:spTree>
    <p:extLst>
      <p:ext uri="{BB962C8B-B14F-4D97-AF65-F5344CB8AC3E}">
        <p14:creationId xmlns:p14="http://schemas.microsoft.com/office/powerpoint/2010/main" val="29255183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9.37</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62500" lnSpcReduction="20000"/>
          </a:bodyPr>
          <a:lstStyle/>
          <a:p>
            <a:pPr marL="0" indent="0">
              <a:buNone/>
            </a:pPr>
            <a:r>
              <a:rPr lang="pt-BR" dirty="0">
                <a:latin typeface="Consolas" panose="020B0609020204030204" pitchFamily="49" charset="0"/>
              </a:rPr>
              <a:t>&gt; n &lt;- 100</a:t>
            </a:r>
          </a:p>
          <a:p>
            <a:pPr marL="0" indent="0">
              <a:buNone/>
            </a:pPr>
            <a:r>
              <a:rPr lang="pt-BR" dirty="0">
                <a:latin typeface="Consolas" panose="020B0609020204030204" pitchFamily="49" charset="0"/>
              </a:rPr>
              <a:t>&gt; p_hat &lt;- 80/n</a:t>
            </a:r>
          </a:p>
          <a:p>
            <a:pPr marL="0" indent="0">
              <a:buNone/>
            </a:pPr>
            <a:r>
              <a:rPr lang="pt-BR" dirty="0">
                <a:latin typeface="Consolas" panose="020B0609020204030204" pitchFamily="49" charset="0"/>
              </a:rPr>
              <a:t>&gt; p_hat</a:t>
            </a:r>
          </a:p>
          <a:p>
            <a:pPr marL="0" indent="0">
              <a:buNone/>
            </a:pPr>
            <a:r>
              <a:rPr lang="pt-BR" dirty="0">
                <a:latin typeface="Consolas" panose="020B0609020204030204" pitchFamily="49" charset="0"/>
              </a:rPr>
              <a:t>[1] 0.8</a:t>
            </a:r>
          </a:p>
          <a:p>
            <a:pPr marL="0" indent="0">
              <a:buNone/>
            </a:pPr>
            <a:r>
              <a:rPr lang="pt-BR" dirty="0">
                <a:latin typeface="Consolas" panose="020B0609020204030204" pitchFamily="49" charset="0"/>
              </a:rPr>
              <a:t>&gt; ic &lt;- 0.95</a:t>
            </a:r>
          </a:p>
          <a:p>
            <a:pPr marL="0" indent="0">
              <a:buNone/>
            </a:pPr>
            <a:r>
              <a:rPr lang="pt-BR" dirty="0">
                <a:latin typeface="Consolas" panose="020B0609020204030204" pitchFamily="49" charset="0"/>
              </a:rPr>
              <a:t>&gt; a &lt;- 1 - ic</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c(inferior = p_hat - qnorm(a/2, lower.tail = FALSE)*sqrt(p_hat*(1-p_hat)/n), </a:t>
            </a:r>
          </a:p>
          <a:p>
            <a:pPr marL="0" indent="0">
              <a:buNone/>
            </a:pPr>
            <a:r>
              <a:rPr lang="pt-BR" dirty="0">
                <a:latin typeface="Consolas" panose="020B0609020204030204" pitchFamily="49" charset="0"/>
              </a:rPr>
              <a:t>+   superior = p_hat + qnorm(a/2, lower.tail = FALSE)*sqrt(p_hat*(1-p_hat)/n))</a:t>
            </a:r>
          </a:p>
          <a:p>
            <a:pPr marL="0" indent="0">
              <a:buNone/>
            </a:pPr>
            <a:r>
              <a:rPr lang="pt-BR" dirty="0">
                <a:highlight>
                  <a:srgbClr val="FFFF00"/>
                </a:highlight>
                <a:latin typeface="Consolas" panose="020B0609020204030204" pitchFamily="49" charset="0"/>
              </a:rPr>
              <a:t> inferior  superior </a:t>
            </a:r>
          </a:p>
          <a:p>
            <a:pPr marL="0" indent="0">
              <a:buNone/>
            </a:pPr>
            <a:r>
              <a:rPr lang="pt-BR" dirty="0">
                <a:highlight>
                  <a:srgbClr val="FFFF00"/>
                </a:highlight>
                <a:latin typeface="Consolas" panose="020B0609020204030204" pitchFamily="49" charset="0"/>
              </a:rPr>
              <a:t>0.7216014 0.8783986 </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#Alternativamente</a:t>
            </a:r>
          </a:p>
          <a:p>
            <a:pPr marL="0" indent="0">
              <a:buNone/>
            </a:pPr>
            <a:r>
              <a:rPr lang="pt-BR" dirty="0">
                <a:latin typeface="Consolas" panose="020B0609020204030204" pitchFamily="49" charset="0"/>
              </a:rPr>
              <a:t>&gt; c(inferior = p_hat - qnorm(1-a/2)*sqrt(p_hat*(1-p_hat)/n), </a:t>
            </a:r>
          </a:p>
          <a:p>
            <a:pPr marL="0" indent="0">
              <a:buNone/>
            </a:pPr>
            <a:r>
              <a:rPr lang="pt-BR" dirty="0">
                <a:latin typeface="Consolas" panose="020B0609020204030204" pitchFamily="49" charset="0"/>
              </a:rPr>
              <a:t>+   superior = p_hat + qnorm(1-a/2)*sqrt(p_hat*(1-p_hat)/n))*100</a:t>
            </a:r>
          </a:p>
          <a:p>
            <a:pPr marL="0" indent="0">
              <a:buNone/>
            </a:pPr>
            <a:r>
              <a:rPr lang="pt-BR" dirty="0">
                <a:highlight>
                  <a:srgbClr val="FFFF00"/>
                </a:highlight>
                <a:latin typeface="Consolas" panose="020B0609020204030204" pitchFamily="49" charset="0"/>
              </a:rPr>
              <a:t>inferior superior </a:t>
            </a:r>
          </a:p>
          <a:p>
            <a:pPr marL="0" indent="0">
              <a:buNone/>
            </a:pPr>
            <a:r>
              <a:rPr lang="pt-BR" dirty="0">
                <a:highlight>
                  <a:srgbClr val="FFFF00"/>
                </a:highlight>
                <a:latin typeface="Consolas" panose="020B0609020204030204" pitchFamily="49" charset="0"/>
              </a:rPr>
              <a:t>72.16014 87.83986 </a:t>
            </a:r>
          </a:p>
        </p:txBody>
      </p:sp>
    </p:spTree>
    <p:extLst>
      <p:ext uri="{BB962C8B-B14F-4D97-AF65-F5344CB8AC3E}">
        <p14:creationId xmlns:p14="http://schemas.microsoft.com/office/powerpoint/2010/main" val="25613407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proporción poblacional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a:bodyPr>
              <a:lstStyle/>
              <a:p>
                <a:pPr>
                  <a:lnSpc>
                    <a:spcPct val="150000"/>
                  </a:lnSpc>
                </a:pPr>
                <a:r>
                  <a:rPr lang="es-419" dirty="0">
                    <a:ea typeface="Cambria Math" panose="02040503050406030204" pitchFamily="18" charset="0"/>
                  </a:rPr>
                  <a:t>Si la población es finita se introduce el término de ajuste en la varianza del estimador.</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𝑁</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𝑝</m:t>
                          </m:r>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𝑝</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r>
                                    <a:rPr lang="es-419" i="1">
                                      <a:latin typeface="Cambria Math" panose="02040503050406030204" pitchFamily="18" charset="0"/>
                                      <a:ea typeface="Cambria Math" panose="02040503050406030204" pitchFamily="18" charset="0"/>
                                    </a:rPr>
                                    <m:t>𝑝</m:t>
                                  </m:r>
                                </m:e>
                              </m:d>
                            </m:num>
                            <m:den>
                              <m:r>
                                <a:rPr lang="es-419" i="1">
                                  <a:latin typeface="Cambria Math" panose="02040503050406030204" pitchFamily="18" charset="0"/>
                                  <a:ea typeface="Cambria Math" panose="02040503050406030204" pitchFamily="18" charset="0"/>
                                </a:rPr>
                                <m:t>𝑛</m:t>
                              </m:r>
                            </m:den>
                          </m:f>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d>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Por lo tanto, los límites del intervalo de confianza estarán dados por:</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dirty="0">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𝑝</m:t>
                                  </m:r>
                                </m:e>
                              </m:acc>
                              <m:r>
                                <a:rPr lang="es-419" i="1">
                                  <a:latin typeface="Cambria Math" panose="02040503050406030204" pitchFamily="18" charset="0"/>
                                  <a:ea typeface="Cambria Math" panose="02040503050406030204" pitchFamily="18" charset="0"/>
                                </a:rPr>
                                <m:t>)</m:t>
                              </m:r>
                            </m:num>
                            <m:den>
                              <m:r>
                                <a:rPr lang="es-419" i="1">
                                  <a:latin typeface="Cambria Math" panose="02040503050406030204" pitchFamily="18" charset="0"/>
                                  <a:ea typeface="Cambria Math" panose="02040503050406030204" pitchFamily="18" charset="0"/>
                                </a:rPr>
                                <m:t>𝑛</m:t>
                              </m:r>
                            </m:den>
                          </m:f>
                          <m:f>
                            <m:fPr>
                              <m:ctrlPr>
                                <a:rPr lang="es-419" i="1" dirty="0">
                                  <a:latin typeface="Cambria Math" panose="02040503050406030204" pitchFamily="18" charset="0"/>
                                  <a:ea typeface="Cambria Math" panose="02040503050406030204" pitchFamily="18" charset="0"/>
                                </a:rPr>
                              </m:ctrlPr>
                            </m:fPr>
                            <m:num>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m:t>
                              </m:r>
                              <m:r>
                                <a:rPr lang="es-419" i="1" dirty="0">
                                  <a:latin typeface="Cambria Math" panose="02040503050406030204" pitchFamily="18" charset="0"/>
                                  <a:ea typeface="Cambria Math" panose="02040503050406030204" pitchFamily="18" charset="0"/>
                                </a:rPr>
                                <m:t>𝑛</m:t>
                              </m:r>
                            </m:num>
                            <m:den>
                              <m:r>
                                <a:rPr lang="es-419" i="1" dirty="0">
                                  <a:latin typeface="Cambria Math" panose="02040503050406030204" pitchFamily="18" charset="0"/>
                                  <a:ea typeface="Cambria Math" panose="02040503050406030204" pitchFamily="18" charset="0"/>
                                </a:rPr>
                                <m:t>𝑁</m:t>
                              </m:r>
                              <m:r>
                                <a:rPr lang="es-419" i="1" dirty="0">
                                  <a:latin typeface="Cambria Math" panose="02040503050406030204" pitchFamily="18" charset="0"/>
                                  <a:ea typeface="Cambria Math" panose="02040503050406030204" pitchFamily="18" charset="0"/>
                                </a:rPr>
                                <m:t>−1</m:t>
                              </m:r>
                            </m:den>
                          </m:f>
                        </m:e>
                      </m:rad>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es-VE">
                    <a:noFill/>
                  </a:rPr>
                  <a:t> </a:t>
                </a:r>
              </a:p>
            </p:txBody>
          </p:sp>
        </mc:Fallback>
      </mc:AlternateContent>
    </p:spTree>
    <p:extLst>
      <p:ext uri="{BB962C8B-B14F-4D97-AF65-F5344CB8AC3E}">
        <p14:creationId xmlns:p14="http://schemas.microsoft.com/office/powerpoint/2010/main" val="7834387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9.38</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lstStyle/>
          <a:p>
            <a:pPr marL="0" indent="0">
              <a:lnSpc>
                <a:spcPct val="150000"/>
              </a:lnSpc>
              <a:buNone/>
            </a:pPr>
            <a:r>
              <a:rPr lang="es-VE" i="1" dirty="0"/>
              <a:t>Supongamos que en el ejercicio anterior el número total de empleados en la empresa es de 2.000. Estimar el número total de empleados con transporte propio. Usar un coeficiente de confianza del 95%. Interpretar el resultado.</a:t>
            </a:r>
            <a:endParaRPr lang="es-419" i="1" dirty="0"/>
          </a:p>
        </p:txBody>
      </p:sp>
    </p:spTree>
    <p:extLst>
      <p:ext uri="{BB962C8B-B14F-4D97-AF65-F5344CB8AC3E}">
        <p14:creationId xmlns:p14="http://schemas.microsoft.com/office/powerpoint/2010/main" val="35576752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9.38</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62500" lnSpcReduction="20000"/>
          </a:bodyPr>
          <a:lstStyle/>
          <a:p>
            <a:pPr marL="0" indent="0">
              <a:buNone/>
            </a:pPr>
            <a:r>
              <a:rPr lang="pt-BR" dirty="0">
                <a:latin typeface="Consolas" panose="020B0609020204030204" pitchFamily="49" charset="0"/>
              </a:rPr>
              <a:t>&gt; n &lt;- 100</a:t>
            </a:r>
          </a:p>
          <a:p>
            <a:pPr marL="0" indent="0">
              <a:buNone/>
            </a:pPr>
            <a:r>
              <a:rPr lang="pt-BR" dirty="0">
                <a:latin typeface="Consolas" panose="020B0609020204030204" pitchFamily="49" charset="0"/>
              </a:rPr>
              <a:t>&gt; p_hat &lt;- 80/n</a:t>
            </a:r>
          </a:p>
          <a:p>
            <a:pPr marL="0" indent="0">
              <a:buNone/>
            </a:pPr>
            <a:r>
              <a:rPr lang="pt-BR" dirty="0">
                <a:latin typeface="Consolas" panose="020B0609020204030204" pitchFamily="49" charset="0"/>
              </a:rPr>
              <a:t>&gt; ic &lt;- 0.95</a:t>
            </a:r>
          </a:p>
          <a:p>
            <a:pPr marL="0" indent="0">
              <a:buNone/>
            </a:pPr>
            <a:r>
              <a:rPr lang="pt-BR" dirty="0">
                <a:latin typeface="Consolas" panose="020B0609020204030204" pitchFamily="49" charset="0"/>
              </a:rPr>
              <a:t>&gt; a &lt;- 1 - ic</a:t>
            </a:r>
          </a:p>
          <a:p>
            <a:pPr marL="0" indent="0">
              <a:buNone/>
            </a:pPr>
            <a:r>
              <a:rPr lang="pt-BR" dirty="0">
                <a:latin typeface="Consolas" panose="020B0609020204030204" pitchFamily="49" charset="0"/>
              </a:rPr>
              <a:t>&gt; N &lt;- 2000</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#Intervalo proporciones</a:t>
            </a:r>
          </a:p>
          <a:p>
            <a:pPr marL="0" indent="0">
              <a:buNone/>
            </a:pPr>
            <a:r>
              <a:rPr lang="pt-BR" dirty="0">
                <a:latin typeface="Consolas" panose="020B0609020204030204" pitchFamily="49" charset="0"/>
              </a:rPr>
              <a:t>&gt; c(inferior = p_hat - qnorm(1-a/2)*sqrt((p_hat*(1-p_hat)/n)*((N-n)/(N-1))),</a:t>
            </a:r>
          </a:p>
          <a:p>
            <a:pPr marL="0" indent="0">
              <a:buNone/>
            </a:pPr>
            <a:r>
              <a:rPr lang="pt-BR" dirty="0">
                <a:latin typeface="Consolas" panose="020B0609020204030204" pitchFamily="49" charset="0"/>
              </a:rPr>
              <a:t>+   superior = p_hat + qnorm(1-a/2)*sqrt((p_hat*(1-p_hat)/n)*((N-n)/(N-1))))</a:t>
            </a:r>
          </a:p>
          <a:p>
            <a:pPr marL="0" indent="0">
              <a:buNone/>
            </a:pPr>
            <a:r>
              <a:rPr lang="pt-BR" dirty="0">
                <a:latin typeface="Consolas" panose="020B0609020204030204" pitchFamily="49" charset="0"/>
              </a:rPr>
              <a:t> inferior  superior </a:t>
            </a:r>
          </a:p>
          <a:p>
            <a:pPr marL="0" indent="0">
              <a:buNone/>
            </a:pPr>
            <a:r>
              <a:rPr lang="pt-BR" dirty="0">
                <a:latin typeface="Consolas" panose="020B0609020204030204" pitchFamily="49" charset="0"/>
              </a:rPr>
              <a:t>0.7235674 0.8764326 </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#Intervalo número de empleados</a:t>
            </a:r>
          </a:p>
          <a:p>
            <a:pPr marL="0" indent="0">
              <a:buNone/>
            </a:pPr>
            <a:r>
              <a:rPr lang="pt-BR" dirty="0">
                <a:latin typeface="Consolas" panose="020B0609020204030204" pitchFamily="49" charset="0"/>
              </a:rPr>
              <a:t>&gt; c(inferior = p_hat - qnorm(1-a/2)*sqrt((p_hat*(1-p_hat)/n)*((N-n)/(N-1))),</a:t>
            </a:r>
          </a:p>
          <a:p>
            <a:pPr marL="0" indent="0">
              <a:buNone/>
            </a:pPr>
            <a:r>
              <a:rPr lang="pt-BR" dirty="0">
                <a:latin typeface="Consolas" panose="020B0609020204030204" pitchFamily="49" charset="0"/>
              </a:rPr>
              <a:t>+   superior = p_hat + qnorm(1-a/2)*sqrt((p_hat*(1-p_hat)/n)*((N-n)/(N-1))))*N</a:t>
            </a:r>
          </a:p>
          <a:p>
            <a:pPr marL="0" indent="0">
              <a:buNone/>
            </a:pPr>
            <a:r>
              <a:rPr lang="pt-BR" dirty="0">
                <a:highlight>
                  <a:srgbClr val="FFFF00"/>
                </a:highlight>
                <a:latin typeface="Consolas" panose="020B0609020204030204" pitchFamily="49" charset="0"/>
              </a:rPr>
              <a:t>inferior superior </a:t>
            </a:r>
          </a:p>
          <a:p>
            <a:pPr marL="0" indent="0">
              <a:buNone/>
            </a:pPr>
            <a:r>
              <a:rPr lang="pt-BR" dirty="0">
                <a:highlight>
                  <a:srgbClr val="FFFF00"/>
                </a:highlight>
                <a:latin typeface="Consolas" panose="020B0609020204030204" pitchFamily="49" charset="0"/>
              </a:rPr>
              <a:t>1447.135 1752.865 </a:t>
            </a:r>
          </a:p>
        </p:txBody>
      </p:sp>
    </p:spTree>
    <p:extLst>
      <p:ext uri="{BB962C8B-B14F-4D97-AF65-F5344CB8AC3E}">
        <p14:creationId xmlns:p14="http://schemas.microsoft.com/office/powerpoint/2010/main" val="25873709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9.44 y 9.47</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a:bodyPr>
          <a:lstStyle/>
          <a:p>
            <a:pPr marL="0" indent="0">
              <a:lnSpc>
                <a:spcPct val="150000"/>
              </a:lnSpc>
              <a:buNone/>
            </a:pPr>
            <a:r>
              <a:rPr lang="es-VE" i="1" dirty="0"/>
              <a:t>Determinar el tamaño de muestra necesario para estimar la proporción poblacional con un intervalo de confianza del </a:t>
            </a:r>
            <a:r>
              <a:rPr lang="es-419" i="1" dirty="0"/>
              <a:t>100(1-</a:t>
            </a:r>
            <a:r>
              <a:rPr lang="el-GR" i="1" dirty="0"/>
              <a:t>α</a:t>
            </a:r>
            <a:r>
              <a:rPr lang="es-419" i="1" dirty="0"/>
              <a:t>)%</a:t>
            </a:r>
            <a:r>
              <a:rPr lang="es-VE" i="1" dirty="0"/>
              <a:t> de amplitud h en el caso de poblaciones finitas con muestreo sin reemplazamiento.</a:t>
            </a:r>
          </a:p>
          <a:p>
            <a:pPr marL="0" indent="0">
              <a:lnSpc>
                <a:spcPct val="150000"/>
              </a:lnSpc>
              <a:buNone/>
            </a:pPr>
            <a:r>
              <a:rPr lang="es-VE" b="1" i="1" dirty="0">
                <a:solidFill>
                  <a:srgbClr val="003A5D"/>
                </a:solidFill>
              </a:rPr>
              <a:t>Propuesto 9.47</a:t>
            </a:r>
          </a:p>
          <a:p>
            <a:pPr marL="0" indent="0">
              <a:lnSpc>
                <a:spcPct val="150000"/>
              </a:lnSpc>
              <a:buNone/>
            </a:pPr>
            <a:r>
              <a:rPr lang="es-VE" i="1" dirty="0"/>
              <a:t>Se desea estimar con una precisión del 2% y una confianza del 98%, la proporción de clientes morosos de una gran empresa que tiene 5.000 clientes. ¿Qué tamaño de muestra debe usarse?</a:t>
            </a:r>
            <a:endParaRPr lang="es-419" i="1" dirty="0"/>
          </a:p>
        </p:txBody>
      </p:sp>
    </p:spTree>
    <p:extLst>
      <p:ext uri="{BB962C8B-B14F-4D97-AF65-F5344CB8AC3E}">
        <p14:creationId xmlns:p14="http://schemas.microsoft.com/office/powerpoint/2010/main" val="41183052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9.47</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85000" lnSpcReduction="20000"/>
          </a:bodyPr>
          <a:lstStyle/>
          <a:p>
            <a:pPr marL="0" indent="0">
              <a:buNone/>
            </a:pPr>
            <a:r>
              <a:rPr lang="pt-BR" dirty="0">
                <a:latin typeface="Consolas" panose="020B0609020204030204" pitchFamily="49" charset="0"/>
              </a:rPr>
              <a:t>&gt; ic &lt;- 0.98</a:t>
            </a:r>
          </a:p>
          <a:p>
            <a:pPr marL="0" indent="0">
              <a:buNone/>
            </a:pPr>
            <a:r>
              <a:rPr lang="pt-BR" dirty="0">
                <a:latin typeface="Consolas" panose="020B0609020204030204" pitchFamily="49" charset="0"/>
              </a:rPr>
              <a:t>&gt; a &lt;- 1 - ic</a:t>
            </a:r>
          </a:p>
          <a:p>
            <a:pPr marL="0" indent="0">
              <a:buNone/>
            </a:pPr>
            <a:r>
              <a:rPr lang="pt-BR" dirty="0">
                <a:latin typeface="Consolas" panose="020B0609020204030204" pitchFamily="49" charset="0"/>
              </a:rPr>
              <a:t>&gt; N &lt;- 5000</a:t>
            </a:r>
          </a:p>
          <a:p>
            <a:pPr marL="0" indent="0">
              <a:buNone/>
            </a:pPr>
            <a:r>
              <a:rPr lang="pt-BR" dirty="0">
                <a:latin typeface="Consolas" panose="020B0609020204030204" pitchFamily="49" charset="0"/>
              </a:rPr>
              <a:t>&gt; h &lt;- 0.02</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#Despeje segun Casuso</a:t>
            </a:r>
          </a:p>
          <a:p>
            <a:pPr marL="0" indent="0">
              <a:buNone/>
            </a:pPr>
            <a:r>
              <a:rPr lang="pt-BR" dirty="0">
                <a:latin typeface="Consolas" panose="020B0609020204030204" pitchFamily="49" charset="0"/>
              </a:rPr>
              <a:t>&gt; n &lt;- (N/(N-1))/((h/qnorm(1-a/2))^2+(1/(N-1)))</a:t>
            </a:r>
          </a:p>
          <a:p>
            <a:pPr marL="0" indent="0">
              <a:buNone/>
            </a:pPr>
            <a:r>
              <a:rPr lang="pt-BR" dirty="0">
                <a:latin typeface="Consolas" panose="020B0609020204030204" pitchFamily="49" charset="0"/>
              </a:rPr>
              <a:t>&gt; round(n, digits = 0)</a:t>
            </a:r>
          </a:p>
          <a:p>
            <a:pPr marL="0" indent="0">
              <a:buNone/>
            </a:pPr>
            <a:r>
              <a:rPr lang="pt-BR" dirty="0">
                <a:highlight>
                  <a:srgbClr val="FFFF00"/>
                </a:highlight>
                <a:latin typeface="Consolas" panose="020B0609020204030204" pitchFamily="49" charset="0"/>
              </a:rPr>
              <a:t>[1] 3651</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#Despeje alternativo</a:t>
            </a:r>
          </a:p>
          <a:p>
            <a:pPr marL="0" indent="0">
              <a:buNone/>
            </a:pPr>
            <a:r>
              <a:rPr lang="pt-BR" dirty="0">
                <a:latin typeface="Consolas" panose="020B0609020204030204" pitchFamily="49" charset="0"/>
              </a:rPr>
              <a:t>&gt; n &lt;- N/(1+((h/(qnorm(1-a/2)))^2)*((N-1)/(1)))</a:t>
            </a:r>
          </a:p>
          <a:p>
            <a:pPr marL="0" indent="0">
              <a:buNone/>
            </a:pPr>
            <a:r>
              <a:rPr lang="pt-BR" dirty="0">
                <a:latin typeface="Consolas" panose="020B0609020204030204" pitchFamily="49" charset="0"/>
              </a:rPr>
              <a:t>&gt; round(n, digits = 0)</a:t>
            </a:r>
          </a:p>
          <a:p>
            <a:pPr marL="0" indent="0">
              <a:buNone/>
            </a:pPr>
            <a:r>
              <a:rPr lang="pt-BR" dirty="0">
                <a:highlight>
                  <a:srgbClr val="FFFF00"/>
                </a:highlight>
                <a:latin typeface="Consolas" panose="020B0609020204030204" pitchFamily="49" charset="0"/>
              </a:rPr>
              <a:t>[1] 3651</a:t>
            </a:r>
          </a:p>
        </p:txBody>
      </p:sp>
    </p:spTree>
    <p:extLst>
      <p:ext uri="{BB962C8B-B14F-4D97-AF65-F5344CB8AC3E}">
        <p14:creationId xmlns:p14="http://schemas.microsoft.com/office/powerpoint/2010/main" val="3976458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Intervalos de confianza para la diferencia de medias poblacionales</a:t>
            </a:r>
            <a:endParaRPr lang="es-419" dirty="0"/>
          </a:p>
        </p:txBody>
      </p:sp>
      <p:sp>
        <p:nvSpPr>
          <p:cNvPr id="2" name="Marcador de texto 1"/>
          <p:cNvSpPr>
            <a:spLocks noGrp="1"/>
          </p:cNvSpPr>
          <p:nvPr>
            <p:ph type="body" idx="1"/>
          </p:nvPr>
        </p:nvSpPr>
        <p:spPr/>
        <p:txBody>
          <a:bodyPr/>
          <a:lstStyle/>
          <a:p>
            <a:r>
              <a:rPr lang="es-VE" dirty="0"/>
              <a:t>Construcción y ejemplos</a:t>
            </a:r>
            <a:endParaRPr lang="en-US" dirty="0"/>
          </a:p>
        </p:txBody>
      </p:sp>
    </p:spTree>
    <p:extLst>
      <p:ext uri="{BB962C8B-B14F-4D97-AF65-F5344CB8AC3E}">
        <p14:creationId xmlns:p14="http://schemas.microsoft.com/office/powerpoint/2010/main" val="41235059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77500" lnSpcReduction="20000"/>
              </a:bodyPr>
              <a:lstStyle/>
              <a:p>
                <a:pPr>
                  <a:lnSpc>
                    <a:spcPct val="150000"/>
                  </a:lnSpc>
                </a:pPr>
                <a:r>
                  <a:rPr lang="es-419" dirty="0">
                    <a:ea typeface="Cambria Math" panose="02040503050406030204" pitchFamily="18" charset="0"/>
                  </a:rPr>
                  <a:t>El proceso de despeje parte de los estadísticos vistos en temas anteriores.</a:t>
                </a:r>
              </a:p>
              <a:p>
                <a:pPr marL="514350" indent="-514350">
                  <a:lnSpc>
                    <a:spcPct val="150000"/>
                  </a:lnSpc>
                  <a:buFont typeface="+mj-lt"/>
                  <a:buAutoNum type="alphaLcPeriod"/>
                </a:pPr>
                <a:r>
                  <a:rPr lang="es-419" dirty="0">
                    <a:ea typeface="Cambria Math" panose="02040503050406030204" pitchFamily="18" charset="0"/>
                  </a:rPr>
                  <a:t>Para varianzas poblacionales </a:t>
                </a:r>
                <a:r>
                  <a:rPr lang="es-419" b="1" dirty="0">
                    <a:solidFill>
                      <a:srgbClr val="003A5D"/>
                    </a:solidFill>
                    <a:ea typeface="Cambria Math" panose="02040503050406030204" pitchFamily="18" charset="0"/>
                  </a:rPr>
                  <a:t>conocidas</a:t>
                </a:r>
              </a:p>
              <a:p>
                <a:pPr marL="0" indent="0">
                  <a:lnSpc>
                    <a:spcPct val="120000"/>
                  </a:lnSpc>
                  <a:buNone/>
                </a:pPr>
                <a14:m>
                  <m:oMathPara xmlns:m="http://schemas.openxmlformats.org/officeDocument/2006/math">
                    <m:oMathParaPr>
                      <m:jc m:val="centerGroup"/>
                    </m:oMathParaPr>
                    <m:oMath xmlns:m="http://schemas.openxmlformats.org/officeDocument/2006/math">
                      <m:acc>
                        <m:accPr>
                          <m:chr m:val="̅"/>
                          <m:ctrlPr>
                            <a:rPr lang="es-419" i="1" smtClean="0">
                              <a:latin typeface="Cambria Math" panose="02040503050406030204" pitchFamily="18" charset="0"/>
                              <a:ea typeface="Cambria Math" panose="02040503050406030204" pitchFamily="18" charset="0"/>
                            </a:rPr>
                          </m:ctrlPr>
                        </m:accPr>
                        <m:e>
                          <m:r>
                            <a:rPr lang="es-419" b="0" i="1" smtClean="0">
                              <a:latin typeface="Cambria Math" panose="02040503050406030204" pitchFamily="18" charset="0"/>
                              <a:ea typeface="Cambria Math" panose="02040503050406030204" pitchFamily="18" charset="0"/>
                            </a:rPr>
                            <m:t>𝑋</m:t>
                          </m:r>
                        </m:e>
                      </m:acc>
                      <m:r>
                        <a:rPr lang="es-419" b="0" i="1" smtClean="0">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b="0" i="1" smtClean="0">
                              <a:latin typeface="Cambria Math" panose="02040503050406030204" pitchFamily="18" charset="0"/>
                              <a:ea typeface="Cambria Math" panose="02040503050406030204" pitchFamily="18" charset="0"/>
                            </a:rPr>
                            <m:t>𝑌</m:t>
                          </m:r>
                        </m:e>
                      </m:acc>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r>
                        <a:rPr lang="es-419" b="0" i="1" smtClean="0">
                          <a:latin typeface="Cambria Math" panose="02040503050406030204" pitchFamily="18" charset="0"/>
                          <a:ea typeface="Cambria Math" panose="02040503050406030204" pitchFamily="18" charset="0"/>
                        </a:rPr>
                        <m:t>(</m:t>
                      </m:r>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m:t>
                      </m:r>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𝜇</m:t>
                          </m:r>
                        </m:e>
                        <m:sub>
                          <m:r>
                            <a:rPr lang="es-419" b="0" i="1" smtClean="0">
                              <a:latin typeface="Cambria Math" panose="02040503050406030204" pitchFamily="18" charset="0"/>
                              <a:ea typeface="Cambria Math" panose="02040503050406030204" pitchFamily="18" charset="0"/>
                            </a:rPr>
                            <m:t>𝑦</m:t>
                          </m:r>
                        </m:sub>
                      </m:sSub>
                      <m:r>
                        <a:rPr lang="es-419" b="0" i="1" smtClean="0">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sSubSup>
                            <m:sSubSupPr>
                              <m:ctrlPr>
                                <a:rPr lang="es-419" b="0" i="1" smtClean="0">
                                  <a:latin typeface="Cambria Math" panose="02040503050406030204" pitchFamily="18" charset="0"/>
                                  <a:ea typeface="Cambria Math" panose="02040503050406030204" pitchFamily="18" charset="0"/>
                                </a:rPr>
                              </m:ctrlPr>
                            </m:sSubSupPr>
                            <m:e>
                              <m:r>
                                <a:rPr lang="es-419" b="0" i="1" smtClean="0">
                                  <a:latin typeface="Cambria Math" panose="02040503050406030204" pitchFamily="18" charset="0"/>
                                  <a:ea typeface="Cambria Math" panose="02040503050406030204" pitchFamily="18" charset="0"/>
                                </a:rPr>
                                <m:t>𝜎</m:t>
                              </m:r>
                            </m:e>
                            <m:sub>
                              <m:r>
                                <a:rPr lang="es-419" b="0" i="1" smtClean="0">
                                  <a:latin typeface="Cambria Math" panose="02040503050406030204" pitchFamily="18" charset="0"/>
                                  <a:ea typeface="Cambria Math" panose="02040503050406030204" pitchFamily="18" charset="0"/>
                                </a:rPr>
                                <m:t>𝑥</m:t>
                              </m:r>
                            </m:sub>
                            <m:sup>
                              <m:r>
                                <a:rPr lang="es-419" b="0" i="1" smtClean="0">
                                  <a:latin typeface="Cambria Math" panose="02040503050406030204" pitchFamily="18" charset="0"/>
                                  <a:ea typeface="Cambria Math" panose="02040503050406030204" pitchFamily="18" charset="0"/>
                                </a:rPr>
                                <m:t>2</m:t>
                              </m:r>
                            </m:sup>
                          </m:sSubSup>
                        </m:num>
                        <m:den>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𝑛</m:t>
                              </m:r>
                            </m:e>
                            <m:sub>
                              <m:r>
                                <a:rPr lang="es-419" b="0" i="1" smtClean="0">
                                  <a:latin typeface="Cambria Math" panose="02040503050406030204" pitchFamily="18" charset="0"/>
                                  <a:ea typeface="Cambria Math" panose="02040503050406030204" pitchFamily="18" charset="0"/>
                                </a:rPr>
                                <m:t>𝑥</m:t>
                              </m:r>
                            </m:sub>
                          </m:sSub>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b="0" i="1" smtClean="0">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b="0" i="1" smtClean="0">
                                  <a:latin typeface="Cambria Math" panose="02040503050406030204" pitchFamily="18" charset="0"/>
                                  <a:ea typeface="Cambria Math" panose="02040503050406030204" pitchFamily="18" charset="0"/>
                                </a:rPr>
                                <m:t>𝑦</m:t>
                              </m:r>
                            </m:sub>
                          </m:sSub>
                        </m:den>
                      </m:f>
                      <m:r>
                        <a:rPr lang="es-419"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b="0" i="1" dirty="0" smtClean="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419" b="0" i="1" dirty="0"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𝑦</m:t>
                                  </m:r>
                                </m:sub>
                              </m:sSub>
                              <m:r>
                                <a:rPr lang="es-419" b="0" i="1" dirty="0" smtClean="0">
                                  <a:latin typeface="Cambria Math" panose="02040503050406030204" pitchFamily="18" charset="0"/>
                                  <a:ea typeface="Cambria Math" panose="02040503050406030204" pitchFamily="18" charset="0"/>
                                </a:rPr>
                                <m:t>)</m:t>
                              </m:r>
                            </m:num>
                            <m:den>
                              <m:rad>
                                <m:radPr>
                                  <m:degHide m:val="on"/>
                                  <m:ctrlPr>
                                    <a:rPr lang="es-419" i="1" smtClean="0">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den>
                          </m:f>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𝑦</m:t>
                                  </m:r>
                                </m:sub>
                              </m:sSub>
                            </m:e>
                          </m: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20000"/>
                  </a:lnSpc>
                </a:pPr>
                <a:endParaRPr lang="es-419" dirty="0">
                  <a:ea typeface="Cambria Math" panose="02040503050406030204" pitchFamily="18" charset="0"/>
                </a:endParaRPr>
              </a:p>
              <a:p>
                <a:pPr>
                  <a:lnSpc>
                    <a:spcPct val="12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es-VE">
                    <a:noFill/>
                  </a:rPr>
                  <a:t> </a:t>
                </a:r>
              </a:p>
            </p:txBody>
          </p:sp>
        </mc:Fallback>
      </mc:AlternateContent>
    </p:spTree>
    <p:extLst>
      <p:ext uri="{BB962C8B-B14F-4D97-AF65-F5344CB8AC3E}">
        <p14:creationId xmlns:p14="http://schemas.microsoft.com/office/powerpoint/2010/main" val="29764118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85000" lnSpcReduction="10000"/>
              </a:bodyPr>
              <a:lstStyle/>
              <a:p>
                <a:pPr marL="0" indent="0">
                  <a:lnSpc>
                    <a:spcPct val="12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𝑦</m:t>
                                  </m:r>
                                </m:sub>
                              </m:sSub>
                            </m:e>
                          </m: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20000"/>
                  </a:lnSpc>
                </a:pPr>
                <a:r>
                  <a:rPr lang="es-419" dirty="0">
                    <a:ea typeface="Cambria Math" panose="02040503050406030204" pitchFamily="18" charset="0"/>
                  </a:rPr>
                  <a:t>El intervalo termina siendo:</a:t>
                </a:r>
              </a:p>
              <a:p>
                <a:pPr marL="0" indent="0">
                  <a:lnSpc>
                    <a:spcPct val="120000"/>
                  </a:lnSpc>
                  <a:buNone/>
                </a:pPr>
                <a14:m>
                  <m:oMathPara xmlns:m="http://schemas.openxmlformats.org/officeDocument/2006/math">
                    <m:oMathParaPr>
                      <m:jc m:val="centerGroup"/>
                    </m:oMathParaPr>
                    <m:oMath xmlns:m="http://schemas.openxmlformats.org/officeDocument/2006/math">
                      <m:r>
                        <a:rPr lang="es-VE" b="0" i="1" smtClean="0">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r>
                        <a:rPr lang="es-VE" b="0" i="1" smtClean="0">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20000"/>
                  </a:lnSpc>
                </a:pPr>
                <a:r>
                  <a:rPr lang="es-419" dirty="0">
                    <a:ea typeface="Cambria Math" panose="02040503050406030204" pitchFamily="18" charset="0"/>
                  </a:rPr>
                  <a:t>Simplificado:</a:t>
                </a:r>
              </a:p>
              <a:p>
                <a:pPr marL="0" indent="0">
                  <a:lnSpc>
                    <a:spcPct val="120000"/>
                  </a:lnSpc>
                  <a:buNone/>
                </a:pPr>
                <a14:m>
                  <m:oMathPara xmlns:m="http://schemas.openxmlformats.org/officeDocument/2006/math">
                    <m:oMathParaPr>
                      <m:jc m:val="centerGroup"/>
                    </m:oMathParaPr>
                    <m:oMath xmlns:m="http://schemas.openxmlformats.org/officeDocument/2006/math">
                      <m:d>
                        <m:dPr>
                          <m:ctrlPr>
                            <a:rPr lang="es-419" i="1" dirty="0" smtClean="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oMath>
                  </m:oMathPara>
                </a14:m>
                <a:endParaRPr lang="es-419" dirty="0">
                  <a:ea typeface="Cambria Math" panose="02040503050406030204" pitchFamily="18" charset="0"/>
                </a:endParaRPr>
              </a:p>
              <a:p>
                <a:pPr>
                  <a:lnSpc>
                    <a:spcPct val="120000"/>
                  </a:lnSpc>
                </a:pPr>
                <a:endParaRPr lang="es-419" dirty="0">
                  <a:ea typeface="Cambria Math" panose="02040503050406030204" pitchFamily="18" charset="0"/>
                </a:endParaRPr>
              </a:p>
              <a:p>
                <a:pPr>
                  <a:lnSpc>
                    <a:spcPct val="12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s-VE">
                    <a:noFill/>
                  </a:rPr>
                  <a:t> </a:t>
                </a:r>
              </a:p>
            </p:txBody>
          </p:sp>
        </mc:Fallback>
      </mc:AlternateContent>
    </p:spTree>
    <p:extLst>
      <p:ext uri="{BB962C8B-B14F-4D97-AF65-F5344CB8AC3E}">
        <p14:creationId xmlns:p14="http://schemas.microsoft.com/office/powerpoint/2010/main" val="12164959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ADC74C-7387-CCC4-28E5-3A1522C0B31A}"/>
              </a:ext>
            </a:extLst>
          </p:cNvPr>
          <p:cNvSpPr>
            <a:spLocks noGrp="1"/>
          </p:cNvSpPr>
          <p:nvPr>
            <p:ph type="title"/>
          </p:nvPr>
        </p:nvSpPr>
        <p:spPr/>
        <p:txBody>
          <a:bodyPr/>
          <a:lstStyle/>
          <a:p>
            <a:r>
              <a:rPr lang="es-VE" dirty="0"/>
              <a:t>Espacio de intervención: 30 segundos</a:t>
            </a:r>
          </a:p>
        </p:txBody>
      </p:sp>
      <p:sp>
        <p:nvSpPr>
          <p:cNvPr id="3" name="Marcador de contenido 2">
            <a:extLst>
              <a:ext uri="{FF2B5EF4-FFF2-40B4-BE49-F238E27FC236}">
                <a16:creationId xmlns:a16="http://schemas.microsoft.com/office/drawing/2014/main" id="{8C2D7072-22D5-5CE2-66CC-3EAF549E62A0}"/>
              </a:ext>
            </a:extLst>
          </p:cNvPr>
          <p:cNvSpPr>
            <a:spLocks noGrp="1"/>
          </p:cNvSpPr>
          <p:nvPr>
            <p:ph idx="1"/>
          </p:nvPr>
        </p:nvSpPr>
        <p:spPr/>
        <p:txBody>
          <a:bodyPr/>
          <a:lstStyle/>
          <a:p>
            <a:pPr marL="0" indent="0">
              <a:buNone/>
            </a:pPr>
            <a:endParaRPr lang="es-VE" i="1" dirty="0"/>
          </a:p>
          <a:p>
            <a:pPr marL="0" indent="0">
              <a:buNone/>
            </a:pPr>
            <a:endParaRPr lang="es-VE" i="1" dirty="0"/>
          </a:p>
          <a:p>
            <a:pPr marL="0" indent="0">
              <a:buNone/>
            </a:pPr>
            <a:endParaRPr lang="es-VE" i="1" dirty="0"/>
          </a:p>
          <a:p>
            <a:pPr marL="0" indent="0">
              <a:buNone/>
            </a:pPr>
            <a:endParaRPr lang="es-VE" i="1" dirty="0"/>
          </a:p>
          <a:p>
            <a:pPr marL="0" indent="0" algn="ctr">
              <a:buNone/>
            </a:pPr>
            <a:r>
              <a:rPr lang="es-VE" i="1" dirty="0"/>
              <a:t>¿Qué pasa si las poblaciones son finitas y los muestreos sin reemplazamiento?</a:t>
            </a:r>
          </a:p>
        </p:txBody>
      </p:sp>
    </p:spTree>
    <p:extLst>
      <p:ext uri="{BB962C8B-B14F-4D97-AF65-F5344CB8AC3E}">
        <p14:creationId xmlns:p14="http://schemas.microsoft.com/office/powerpoint/2010/main" val="727807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r>
                  <a:rPr lang="es-419" dirty="0">
                    <a:ea typeface="Cambria Math" panose="02040503050406030204" pitchFamily="18" charset="0"/>
                  </a:rPr>
                  <a:t>Población finita (varianzas poblacionales </a:t>
                </a:r>
                <a:r>
                  <a:rPr lang="es-419" b="1" dirty="0">
                    <a:solidFill>
                      <a:srgbClr val="003A5D"/>
                    </a:solidFill>
                    <a:ea typeface="Cambria Math" panose="02040503050406030204" pitchFamily="18" charset="0"/>
                  </a:rPr>
                  <a:t>conocidas</a:t>
                </a:r>
                <a:r>
                  <a:rPr lang="es-419" dirty="0">
                    <a:ea typeface="Cambria Math" panose="02040503050406030204" pitchFamily="18" charset="0"/>
                  </a:rPr>
                  <a:t>)</a:t>
                </a:r>
              </a:p>
              <a:p>
                <a:pPr marL="0" indent="0">
                  <a:lnSpc>
                    <a:spcPct val="150000"/>
                  </a:lnSpc>
                  <a:buNone/>
                </a:pPr>
                <a14:m>
                  <m:oMathPara xmlns:m="http://schemas.openxmlformats.org/officeDocument/2006/math">
                    <m:oMathParaPr>
                      <m:jc m:val="centerGroup"/>
                    </m:oMathParaPr>
                    <m:oMath xmlns:m="http://schemas.openxmlformats.org/officeDocument/2006/math">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𝑥</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f>
                            <m:fPr>
                              <m:ctrlPr>
                                <a:rPr lang="es-419" i="1" dirty="0">
                                  <a:latin typeface="Cambria Math" panose="02040503050406030204" pitchFamily="18" charset="0"/>
                                  <a:ea typeface="Cambria Math" panose="02040503050406030204" pitchFamily="18" charset="0"/>
                                </a:rPr>
                              </m:ctrlPr>
                            </m:fPr>
                            <m:num>
                              <m:sSub>
                                <m:sSubPr>
                                  <m:ctrlPr>
                                    <a:rPr lang="es-419" i="1" dirty="0" smtClean="0">
                                      <a:latin typeface="Cambria Math" panose="02040503050406030204" pitchFamily="18" charset="0"/>
                                      <a:ea typeface="Cambria Math" panose="02040503050406030204" pitchFamily="18" charset="0"/>
                                    </a:rPr>
                                  </m:ctrlPr>
                                </m:sSubPr>
                                <m:e>
                                  <m:r>
                                    <a:rPr lang="es-419" b="0" i="1" dirty="0" smtClean="0">
                                      <a:latin typeface="Cambria Math" panose="02040503050406030204" pitchFamily="18" charset="0"/>
                                      <a:ea typeface="Cambria Math" panose="02040503050406030204" pitchFamily="18" charset="0"/>
                                    </a:rPr>
                                    <m:t>𝑁</m:t>
                                  </m:r>
                                </m:e>
                                <m:sub>
                                  <m:r>
                                    <a:rPr lang="es-419" b="0" i="1" dirty="0" smtClean="0">
                                      <a:latin typeface="Cambria Math" panose="02040503050406030204" pitchFamily="18" charset="0"/>
                                      <a:ea typeface="Cambria Math" panose="02040503050406030204" pitchFamily="18" charset="0"/>
                                    </a:rPr>
                                    <m:t>𝑥</m:t>
                                  </m:r>
                                </m:sub>
                              </m:sSub>
                              <m:r>
                                <a:rPr lang="es-419" i="1" dirty="0">
                                  <a:latin typeface="Cambria Math" panose="02040503050406030204" pitchFamily="18" charset="0"/>
                                  <a:ea typeface="Cambria Math" panose="02040503050406030204" pitchFamily="18" charset="0"/>
                                </a:rPr>
                                <m:t>−</m:t>
                              </m:r>
                              <m:sSub>
                                <m:sSubPr>
                                  <m:ctrlPr>
                                    <a:rPr lang="es-419" i="1" dirty="0" smtClean="0">
                                      <a:latin typeface="Cambria Math" panose="02040503050406030204" pitchFamily="18" charset="0"/>
                                      <a:ea typeface="Cambria Math" panose="02040503050406030204" pitchFamily="18" charset="0"/>
                                    </a:rPr>
                                  </m:ctrlPr>
                                </m:sSubPr>
                                <m:e>
                                  <m:r>
                                    <a:rPr lang="es-419" b="0" i="1" dirty="0" smtClean="0">
                                      <a:latin typeface="Cambria Math" panose="02040503050406030204" pitchFamily="18" charset="0"/>
                                      <a:ea typeface="Cambria Math" panose="02040503050406030204" pitchFamily="18" charset="0"/>
                                    </a:rPr>
                                    <m:t>𝑛</m:t>
                                  </m:r>
                                </m:e>
                                <m:sub>
                                  <m:r>
                                    <a:rPr lang="es-419" b="0" i="1" dirty="0" smtClean="0">
                                      <a:latin typeface="Cambria Math" panose="02040503050406030204" pitchFamily="18" charset="0"/>
                                      <a:ea typeface="Cambria Math" panose="02040503050406030204" pitchFamily="18" charset="0"/>
                                    </a:rPr>
                                    <m:t>𝑥</m:t>
                                  </m:r>
                                </m:sub>
                              </m:sSub>
                            </m:num>
                            <m:den>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𝑁</m:t>
                                  </m:r>
                                </m:e>
                                <m:sub>
                                  <m:r>
                                    <a:rPr lang="es-419" i="1" dirty="0">
                                      <a:latin typeface="Cambria Math" panose="02040503050406030204" pitchFamily="18" charset="0"/>
                                      <a:ea typeface="Cambria Math" panose="02040503050406030204" pitchFamily="18" charset="0"/>
                                    </a:rPr>
                                    <m:t>𝑥</m:t>
                                  </m:r>
                                </m:sub>
                              </m:sSub>
                              <m:r>
                                <a:rPr lang="es-419" i="1" dirty="0">
                                  <a:latin typeface="Cambria Math" panose="02040503050406030204" pitchFamily="18" charset="0"/>
                                  <a:ea typeface="Cambria Math" panose="02040503050406030204" pitchFamily="18" charset="0"/>
                                </a:rPr>
                                <m:t>−</m:t>
                              </m:r>
                              <m:r>
                                <a:rPr lang="es-419" b="0" i="1" dirty="0" smtClean="0">
                                  <a:latin typeface="Cambria Math" panose="02040503050406030204" pitchFamily="18" charset="0"/>
                                  <a:ea typeface="Cambria Math" panose="02040503050406030204" pitchFamily="18" charset="0"/>
                                </a:rPr>
                                <m:t>1</m:t>
                              </m:r>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ea typeface="Cambria Math" panose="02040503050406030204" pitchFamily="18" charset="0"/>
                                    </a:rPr>
                                  </m:ctrlPr>
                                </m:sSubSupPr>
                                <m:e>
                                  <m:r>
                                    <a:rPr lang="es-419" i="1">
                                      <a:latin typeface="Cambria Math" panose="02040503050406030204" pitchFamily="18" charset="0"/>
                                      <a:ea typeface="Cambria Math" panose="02040503050406030204" pitchFamily="18" charset="0"/>
                                    </a:rPr>
                                    <m:t>𝜎</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ea typeface="Cambria Math" panose="02040503050406030204" pitchFamily="18" charset="0"/>
                                    </a:rPr>
                                    <m:t>2</m:t>
                                  </m:r>
                                </m:sup>
                              </m:sSubSup>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f>
                            <m:fPr>
                              <m:ctrlPr>
                                <a:rPr lang="es-419" i="1" dirty="0">
                                  <a:latin typeface="Cambria Math" panose="02040503050406030204" pitchFamily="18" charset="0"/>
                                  <a:ea typeface="Cambria Math" panose="02040503050406030204" pitchFamily="18" charset="0"/>
                                </a:rPr>
                              </m:ctrlPr>
                            </m:fPr>
                            <m:num>
                              <m:sSub>
                                <m:sSubPr>
                                  <m:ctrlPr>
                                    <a:rPr lang="es-419" i="1" dirty="0" smtClean="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𝑁</m:t>
                                  </m:r>
                                </m:e>
                                <m:sub>
                                  <m:r>
                                    <a:rPr lang="es-419" b="0" i="1" dirty="0" smtClean="0">
                                      <a:latin typeface="Cambria Math" panose="02040503050406030204" pitchFamily="18" charset="0"/>
                                      <a:ea typeface="Cambria Math" panose="02040503050406030204" pitchFamily="18" charset="0"/>
                                    </a:rPr>
                                    <m:t>𝑦</m:t>
                                  </m:r>
                                </m:sub>
                              </m:sSub>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𝑛</m:t>
                                  </m:r>
                                </m:e>
                                <m:sub>
                                  <m:r>
                                    <a:rPr lang="es-419" b="0" i="1" dirty="0" smtClean="0">
                                      <a:latin typeface="Cambria Math" panose="02040503050406030204" pitchFamily="18" charset="0"/>
                                      <a:ea typeface="Cambria Math" panose="02040503050406030204" pitchFamily="18" charset="0"/>
                                    </a:rPr>
                                    <m:t>𝑦</m:t>
                                  </m:r>
                                </m:sub>
                              </m:sSub>
                            </m:num>
                            <m:den>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𝑁</m:t>
                                  </m:r>
                                </m:e>
                                <m:sub>
                                  <m:r>
                                    <a:rPr lang="es-419" b="0" i="1" dirty="0" smtClean="0">
                                      <a:latin typeface="Cambria Math" panose="02040503050406030204" pitchFamily="18" charset="0"/>
                                      <a:ea typeface="Cambria Math" panose="02040503050406030204" pitchFamily="18" charset="0"/>
                                    </a:rPr>
                                    <m:t>𝑦</m:t>
                                  </m:r>
                                </m:sub>
                              </m:sSub>
                              <m:r>
                                <a:rPr lang="es-419" i="1" dirty="0">
                                  <a:latin typeface="Cambria Math" panose="02040503050406030204" pitchFamily="18" charset="0"/>
                                  <a:ea typeface="Cambria Math" panose="02040503050406030204" pitchFamily="18" charset="0"/>
                                </a:rPr>
                                <m:t>−1</m:t>
                              </m:r>
                            </m:den>
                          </m:f>
                        </m:e>
                      </m:rad>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s-VE">
                    <a:noFill/>
                  </a:rPr>
                  <a:t> </a:t>
                </a:r>
              </a:p>
            </p:txBody>
          </p:sp>
        </mc:Fallback>
      </mc:AlternateContent>
    </p:spTree>
    <p:extLst>
      <p:ext uri="{BB962C8B-B14F-4D97-AF65-F5344CB8AC3E}">
        <p14:creationId xmlns:p14="http://schemas.microsoft.com/office/powerpoint/2010/main" val="153894609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92500"/>
              </a:bodyPr>
              <a:lstStyle/>
              <a:p>
                <a:pPr>
                  <a:lnSpc>
                    <a:spcPct val="150000"/>
                  </a:lnSpc>
                </a:pPr>
                <a:r>
                  <a:rPr lang="es-419" dirty="0">
                    <a:ea typeface="Cambria Math" panose="02040503050406030204" pitchFamily="18" charset="0"/>
                  </a:rPr>
                  <a:t>Algunas consideraciones:</a:t>
                </a:r>
              </a:p>
              <a:p>
                <a:pPr>
                  <a:lnSpc>
                    <a:spcPct val="150000"/>
                  </a:lnSpc>
                </a:pPr>
                <a:r>
                  <a:rPr lang="es-419" dirty="0">
                    <a:ea typeface="Cambria Math" panose="02040503050406030204" pitchFamily="18" charset="0"/>
                  </a:rPr>
                  <a:t>El orden entre </a:t>
                </a:r>
                <a14:m>
                  <m:oMath xmlns:m="http://schemas.openxmlformats.org/officeDocument/2006/math">
                    <m:acc>
                      <m:accPr>
                        <m:chr m:val="̅"/>
                        <m:ctrlPr>
                          <a:rPr lang="es-419" i="1" smtClean="0">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oMath>
                </a14:m>
                <a:r>
                  <a:rPr lang="es-419" dirty="0">
                    <a:ea typeface="Cambria Math" panose="02040503050406030204" pitchFamily="18" charset="0"/>
                  </a:rPr>
                  <a:t> y </a:t>
                </a:r>
                <a14:m>
                  <m:oMath xmlns:m="http://schemas.openxmlformats.org/officeDocument/2006/math">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oMath>
                </a14:m>
                <a:r>
                  <a:rPr lang="es-419" dirty="0">
                    <a:ea typeface="Cambria Math" panose="02040503050406030204" pitchFamily="18" charset="0"/>
                  </a:rPr>
                  <a:t> es inconsecuente con tal que la construcción del estadístico y distribución sean consistentes.</a:t>
                </a:r>
              </a:p>
              <a:p>
                <a:pPr>
                  <a:lnSpc>
                    <a:spcPct val="150000"/>
                  </a:lnSpc>
                </a:pPr>
                <a:r>
                  <a:rPr lang="es-419" dirty="0">
                    <a:ea typeface="Cambria Math" panose="02040503050406030204" pitchFamily="18" charset="0"/>
                  </a:rPr>
                  <a:t>Por usos y costumbres se tiende a plantear de forma tal que </a:t>
                </a:r>
                <a14:m>
                  <m:oMath xmlns:m="http://schemas.openxmlformats.org/officeDocument/2006/math">
                    <m:acc>
                      <m:accPr>
                        <m:chr m:val="̅"/>
                        <m:ctrlPr>
                          <a:rPr lang="es-419" i="1" smtClean="0">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oMath>
                </a14:m>
                <a:r>
                  <a:rPr lang="es-419" dirty="0">
                    <a:ea typeface="Cambria Math" panose="02040503050406030204" pitchFamily="18" charset="0"/>
                  </a:rPr>
                  <a:t> es mayor que </a:t>
                </a:r>
                <a14:m>
                  <m:oMath xmlns:m="http://schemas.openxmlformats.org/officeDocument/2006/math">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oMath>
                </a14:m>
                <a:r>
                  <a:rPr lang="es-419" dirty="0">
                    <a:ea typeface="Cambria Math" panose="02040503050406030204" pitchFamily="18" charset="0"/>
                  </a:rPr>
                  <a:t>.</a:t>
                </a:r>
              </a:p>
              <a:p>
                <a:pPr>
                  <a:lnSpc>
                    <a:spcPct val="150000"/>
                  </a:lnSpc>
                </a:pPr>
                <a:r>
                  <a:rPr lang="es-419" dirty="0">
                    <a:ea typeface="Cambria Math" panose="02040503050406030204" pitchFamily="18" charset="0"/>
                  </a:rPr>
                  <a:t>No cambian las conclusiones o la amplitud del intervalo.</a:t>
                </a:r>
              </a:p>
              <a:p>
                <a:pPr>
                  <a:lnSpc>
                    <a:spcPct val="150000"/>
                  </a:lnSpc>
                </a:pPr>
                <a:r>
                  <a:rPr lang="es-419" dirty="0">
                    <a:ea typeface="Cambria Math" panose="02040503050406030204" pitchFamily="18" charset="0"/>
                  </a:rPr>
                  <a:t>Cuando el intervalo contiene a 0, podemos concluir con una confianza de </a:t>
                </a:r>
                <a:r>
                  <a:rPr lang="es-419" i="1" dirty="0"/>
                  <a:t>100(1-</a:t>
                </a:r>
                <a:r>
                  <a:rPr lang="el-GR" i="1" dirty="0"/>
                  <a:t>α</a:t>
                </a:r>
                <a:r>
                  <a:rPr lang="es-419" i="1" dirty="0"/>
                  <a:t>)%</a:t>
                </a:r>
                <a:r>
                  <a:rPr lang="es-VE" i="1" dirty="0"/>
                  <a:t>  que las medias poblacionales son iguales.</a:t>
                </a: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928" r="-406"/>
                </a:stretch>
              </a:blipFill>
            </p:spPr>
            <p:txBody>
              <a:bodyPr/>
              <a:lstStyle/>
              <a:p>
                <a:r>
                  <a:rPr lang="es-419">
                    <a:noFill/>
                  </a:rPr>
                  <a:t> </a:t>
                </a:r>
              </a:p>
            </p:txBody>
          </p:sp>
        </mc:Fallback>
      </mc:AlternateContent>
    </p:spTree>
    <p:extLst>
      <p:ext uri="{BB962C8B-B14F-4D97-AF65-F5344CB8AC3E}">
        <p14:creationId xmlns:p14="http://schemas.microsoft.com/office/powerpoint/2010/main" val="155683542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55000" lnSpcReduction="20000"/>
              </a:bodyPr>
              <a:lstStyle/>
              <a:p>
                <a:pPr marL="514350" indent="-514350">
                  <a:lnSpc>
                    <a:spcPct val="150000"/>
                  </a:lnSpc>
                  <a:buFont typeface="+mj-lt"/>
                  <a:buAutoNum type="alphaLcPeriod" startAt="2"/>
                </a:pPr>
                <a:r>
                  <a:rPr lang="es-419" dirty="0">
                    <a:ea typeface="Cambria Math" panose="02040503050406030204" pitchFamily="18" charset="0"/>
                  </a:rPr>
                  <a:t>Para varianzas poblacionales </a:t>
                </a:r>
                <a:r>
                  <a:rPr lang="es-419" b="1" dirty="0">
                    <a:solidFill>
                      <a:srgbClr val="003A5D"/>
                    </a:solidFill>
                    <a:ea typeface="Cambria Math" panose="02040503050406030204" pitchFamily="18" charset="0"/>
                  </a:rPr>
                  <a:t>desconocidas</a:t>
                </a:r>
                <a:r>
                  <a:rPr lang="es-419" dirty="0">
                    <a:ea typeface="Cambria Math" panose="02040503050406030204" pitchFamily="18" charset="0"/>
                  </a:rPr>
                  <a:t> e </a:t>
                </a:r>
                <a:r>
                  <a:rPr lang="es-419" b="1" dirty="0">
                    <a:solidFill>
                      <a:srgbClr val="003A5D"/>
                    </a:solidFill>
                    <a:ea typeface="Cambria Math" panose="02040503050406030204" pitchFamily="18" charset="0"/>
                  </a:rPr>
                  <a:t>iguales</a:t>
                </a:r>
                <a:r>
                  <a:rPr lang="es-419" dirty="0">
                    <a:ea typeface="Cambria Math" panose="02040503050406030204" pitchFamily="18" charset="0"/>
                  </a:rPr>
                  <a:t>:</a:t>
                </a:r>
              </a:p>
              <a:p>
                <a:pPr>
                  <a:lnSpc>
                    <a:spcPct val="150000"/>
                  </a:lnSpc>
                </a:pPr>
                <a:r>
                  <a:rPr lang="es-419" dirty="0">
                    <a:ea typeface="Cambria Math" panose="02040503050406030204" pitchFamily="18" charset="0"/>
                  </a:rPr>
                  <a:t>Empleamos varianzas muestrales insesgadas.</a:t>
                </a:r>
              </a:p>
              <a:p>
                <a:pPr>
                  <a:lnSpc>
                    <a:spcPct val="150000"/>
                  </a:lnSpc>
                </a:pPr>
                <a:r>
                  <a:rPr lang="es-419" dirty="0">
                    <a:ea typeface="Cambria Math" panose="02040503050406030204" pitchFamily="18" charset="0"/>
                  </a:rPr>
                  <a:t>Debemos regresar a la construcción de varianza amalgamada para la distribución de la diferencia:</a:t>
                </a:r>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s-419" sz="2800" i="1" smtClean="0">
                              <a:latin typeface="Cambria Math" panose="02040503050406030204" pitchFamily="18" charset="0"/>
                            </a:rPr>
                          </m:ctrlPr>
                        </m:sSubSupPr>
                        <m:e>
                          <m:r>
                            <a:rPr lang="es-419" sz="2800" b="0" i="1" smtClean="0">
                              <a:latin typeface="Cambria Math" panose="02040503050406030204" pitchFamily="18" charset="0"/>
                            </a:rPr>
                            <m:t>𝑆</m:t>
                          </m:r>
                        </m:e>
                        <m:sub>
                          <m:r>
                            <a:rPr lang="es-419" sz="2800" b="0" i="1" smtClean="0">
                              <a:latin typeface="Cambria Math" panose="02040503050406030204" pitchFamily="18" charset="0"/>
                            </a:rPr>
                            <m:t>𝑎</m:t>
                          </m:r>
                        </m:sub>
                        <m:sup>
                          <m:r>
                            <a:rPr lang="es-419" sz="2800" b="0" i="1" smtClean="0">
                              <a:latin typeface="Cambria Math" panose="02040503050406030204" pitchFamily="18" charset="0"/>
                            </a:rPr>
                            <m:t>2</m:t>
                          </m:r>
                        </m:sup>
                      </m:sSubSup>
                      <m:r>
                        <a:rPr lang="es-419" sz="2800" b="0" i="1" smtClean="0">
                          <a:latin typeface="Cambria Math" panose="02040503050406030204" pitchFamily="18" charset="0"/>
                        </a:rPr>
                        <m:t>=</m:t>
                      </m:r>
                      <m:f>
                        <m:fPr>
                          <m:ctrlPr>
                            <a:rPr lang="es-419" sz="2800" b="0" i="1" smtClean="0">
                              <a:latin typeface="Cambria Math" panose="02040503050406030204" pitchFamily="18" charset="0"/>
                            </a:rPr>
                          </m:ctrlPr>
                        </m:fPr>
                        <m:num>
                          <m:d>
                            <m:dPr>
                              <m:ctrlPr>
                                <a:rPr lang="es-419" sz="2800" b="0" i="1" smtClean="0">
                                  <a:latin typeface="Cambria Math" panose="02040503050406030204" pitchFamily="18" charset="0"/>
                                </a:rPr>
                              </m:ctrlPr>
                            </m:dPr>
                            <m:e>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𝑥</m:t>
                                  </m:r>
                                </m:sub>
                              </m:sSub>
                              <m:r>
                                <a:rPr lang="es-419" sz="2800" b="0" i="1" smtClean="0">
                                  <a:latin typeface="Cambria Math" panose="02040503050406030204" pitchFamily="18" charset="0"/>
                                </a:rPr>
                                <m:t>−1</m:t>
                              </m:r>
                            </m:e>
                          </m:d>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rPr>
                                <m:t>𝑥</m:t>
                              </m:r>
                            </m:sub>
                            <m:sup>
                              <m:r>
                                <a:rPr lang="es-419" sz="2800" i="1">
                                  <a:latin typeface="Cambria Math" panose="02040503050406030204" pitchFamily="18" charset="0"/>
                                </a:rPr>
                                <m:t>2</m:t>
                              </m:r>
                            </m:sup>
                          </m:sSubSup>
                          <m:r>
                            <a:rPr lang="es-419" sz="2800" b="0" i="1" smtClean="0">
                              <a:latin typeface="Cambria Math" panose="02040503050406030204" pitchFamily="18" charset="0"/>
                            </a:rPr>
                            <m:t>+(</m:t>
                          </m:r>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𝑦</m:t>
                              </m:r>
                            </m:sub>
                          </m:sSub>
                          <m:r>
                            <a:rPr lang="es-419" sz="2800" b="0" i="1" smtClean="0">
                              <a:latin typeface="Cambria Math" panose="02040503050406030204" pitchFamily="18" charset="0"/>
                            </a:rPr>
                            <m:t>−1)</m:t>
                          </m:r>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ea typeface="Cambria Math" panose="02040503050406030204" pitchFamily="18" charset="0"/>
                                </a:rPr>
                                <m:t>𝑦</m:t>
                              </m:r>
                            </m:sub>
                            <m:sup>
                              <m:r>
                                <a:rPr lang="es-419" sz="2800" i="1">
                                  <a:latin typeface="Cambria Math" panose="02040503050406030204" pitchFamily="18" charset="0"/>
                                </a:rPr>
                                <m:t>2</m:t>
                              </m:r>
                            </m:sup>
                          </m:sSubSup>
                        </m:num>
                        <m:den>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𝑥</m:t>
                              </m:r>
                            </m:sub>
                          </m:sSub>
                          <m:r>
                            <a:rPr lang="es-419" sz="2800" b="0" i="1" smtClean="0">
                              <a:latin typeface="Cambria Math" panose="02040503050406030204" pitchFamily="18" charset="0"/>
                            </a:rPr>
                            <m:t>+</m:t>
                          </m:r>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𝑦</m:t>
                              </m:r>
                            </m:sub>
                          </m:sSub>
                          <m:r>
                            <a:rPr lang="es-419" sz="2800" b="0" i="1" smtClean="0">
                              <a:latin typeface="Cambria Math" panose="02040503050406030204" pitchFamily="18" charset="0"/>
                            </a:rPr>
                            <m:t>−2</m:t>
                          </m:r>
                        </m:den>
                      </m:f>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Tenemos un estimador puntual con las características:</a:t>
                </a:r>
              </a:p>
              <a:p>
                <a:pPr marL="0" indent="0">
                  <a:lnSpc>
                    <a:spcPct val="150000"/>
                  </a:lnSpc>
                  <a:buNone/>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rPr>
                        <m:t>𝐸</m:t>
                      </m:r>
                      <m:d>
                        <m:dPr>
                          <m:ctrlPr>
                            <a:rPr lang="es-419" sz="2800" i="1">
                              <a:latin typeface="Cambria Math" panose="02040503050406030204" pitchFamily="18" charset="0"/>
                            </a:rPr>
                          </m:ctrlPr>
                        </m:dPr>
                        <m:e>
                          <m:acc>
                            <m:accPr>
                              <m:chr m:val="̅"/>
                              <m:ctrlPr>
                                <a:rPr lang="es-419" sz="2800" i="1">
                                  <a:latin typeface="Cambria Math" panose="02040503050406030204" pitchFamily="18" charset="0"/>
                                </a:rPr>
                              </m:ctrlPr>
                            </m:accPr>
                            <m:e>
                              <m:r>
                                <a:rPr lang="es-419" sz="2800" i="1">
                                  <a:latin typeface="Cambria Math" panose="02040503050406030204" pitchFamily="18" charset="0"/>
                                </a:rPr>
                                <m:t>𝑋</m:t>
                              </m:r>
                            </m:e>
                          </m:acc>
                          <m:r>
                            <a:rPr lang="es-419" sz="2800" i="1">
                              <a:latin typeface="Cambria Math" panose="02040503050406030204" pitchFamily="18" charset="0"/>
                            </a:rPr>
                            <m:t>−</m:t>
                          </m:r>
                          <m:acc>
                            <m:accPr>
                              <m:chr m:val="̅"/>
                              <m:ctrlPr>
                                <a:rPr lang="es-419" sz="2800" i="1">
                                  <a:latin typeface="Cambria Math" panose="02040503050406030204" pitchFamily="18" charset="0"/>
                                </a:rPr>
                              </m:ctrlPr>
                            </m:accPr>
                            <m:e>
                              <m:r>
                                <a:rPr lang="es-419" sz="2800" i="1">
                                  <a:latin typeface="Cambria Math" panose="02040503050406030204" pitchFamily="18" charset="0"/>
                                </a:rPr>
                                <m:t>𝑌</m:t>
                              </m:r>
                            </m:e>
                          </m:acc>
                        </m:e>
                      </m:d>
                      <m:r>
                        <a:rPr lang="es-419" sz="2800" b="0" i="1" smtClean="0">
                          <a:latin typeface="Cambria Math" panose="02040503050406030204" pitchFamily="18" charset="0"/>
                        </a:rPr>
                        <m:t>=</m:t>
                      </m:r>
                      <m:sSub>
                        <m:sSubPr>
                          <m:ctrlPr>
                            <a:rPr lang="es-419" sz="2800" i="1">
                              <a:latin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𝜇</m:t>
                          </m:r>
                        </m:e>
                        <m:sub>
                          <m:r>
                            <a:rPr lang="es-419" sz="2800" i="1">
                              <a:latin typeface="Cambria Math" panose="02040503050406030204" pitchFamily="18" charset="0"/>
                            </a:rPr>
                            <m:t>𝑥</m:t>
                          </m:r>
                        </m:sub>
                      </m:sSub>
                      <m:r>
                        <a:rPr lang="es-419" sz="2800" b="0" i="0" smtClean="0">
                          <a:latin typeface="Cambria Math" panose="02040503050406030204" pitchFamily="18" charset="0"/>
                        </a:rPr>
                        <m:t>−</m:t>
                      </m:r>
                      <m:sSub>
                        <m:sSubPr>
                          <m:ctrlPr>
                            <a:rPr lang="es-419" sz="2800" i="1">
                              <a:latin typeface="Cambria Math" panose="02040503050406030204" pitchFamily="18" charset="0"/>
                            </a:rPr>
                          </m:ctrlPr>
                        </m:sSubPr>
                        <m:e>
                          <m:r>
                            <a:rPr lang="es-419" sz="2800" i="1">
                              <a:latin typeface="Cambria Math" panose="02040503050406030204" pitchFamily="18" charset="0"/>
                              <a:ea typeface="Cambria Math" panose="02040503050406030204" pitchFamily="18" charset="0"/>
                            </a:rPr>
                            <m:t>𝜇</m:t>
                          </m:r>
                        </m:e>
                        <m:sub>
                          <m:r>
                            <a:rPr lang="es-419" sz="2800" i="1">
                              <a:latin typeface="Cambria Math" panose="02040503050406030204" pitchFamily="18" charset="0"/>
                              <a:ea typeface="Cambria Math" panose="02040503050406030204" pitchFamily="18" charset="0"/>
                            </a:rPr>
                            <m:t>𝑦</m:t>
                          </m:r>
                        </m:sub>
                      </m:sSub>
                      <m:r>
                        <a:rPr lang="es-419" sz="2800" b="0" i="1" smtClean="0">
                          <a:latin typeface="Cambria Math" panose="02040503050406030204" pitchFamily="18" charset="0"/>
                          <a:ea typeface="Cambria Math" panose="02040503050406030204" pitchFamily="18" charset="0"/>
                        </a:rPr>
                        <m:t>; </m:t>
                      </m:r>
                      <m:r>
                        <a:rPr lang="es-419" i="1">
                          <a:latin typeface="Cambria Math" panose="02040503050406030204" pitchFamily="18" charset="0"/>
                        </a:rPr>
                        <m:t>𝑉𝑎𝑟</m:t>
                      </m:r>
                      <m:d>
                        <m:dPr>
                          <m:ctrlPr>
                            <a:rPr lang="es-419" i="1">
                              <a:latin typeface="Cambria Math" panose="02040503050406030204" pitchFamily="18" charset="0"/>
                            </a:rPr>
                          </m:ctrlPr>
                        </m:dPr>
                        <m:e>
                          <m:acc>
                            <m:accPr>
                              <m:chr m:val="̅"/>
                              <m:ctrlPr>
                                <a:rPr lang="es-419" i="1">
                                  <a:latin typeface="Cambria Math" panose="02040503050406030204" pitchFamily="18" charset="0"/>
                                </a:rPr>
                              </m:ctrlPr>
                            </m:accPr>
                            <m:e>
                              <m:r>
                                <a:rPr lang="es-419" i="1">
                                  <a:latin typeface="Cambria Math" panose="02040503050406030204" pitchFamily="18" charset="0"/>
                                </a:rPr>
                                <m:t>𝑋</m:t>
                              </m:r>
                            </m:e>
                          </m:acc>
                          <m:r>
                            <a:rPr lang="es-419" i="1">
                              <a:latin typeface="Cambria Math" panose="02040503050406030204" pitchFamily="18" charset="0"/>
                            </a:rPr>
                            <m:t>−</m:t>
                          </m:r>
                          <m:acc>
                            <m:accPr>
                              <m:chr m:val="̅"/>
                              <m:ctrlPr>
                                <a:rPr lang="es-419" i="1">
                                  <a:latin typeface="Cambria Math" panose="02040503050406030204" pitchFamily="18" charset="0"/>
                                </a:rPr>
                              </m:ctrlPr>
                            </m:accPr>
                            <m:e>
                              <m:r>
                                <a:rPr lang="es-419" i="1">
                                  <a:latin typeface="Cambria Math" panose="02040503050406030204" pitchFamily="18" charset="0"/>
                                </a:rPr>
                                <m:t>𝑌</m:t>
                              </m:r>
                            </m:e>
                          </m:acc>
                        </m:e>
                      </m:d>
                      <m:r>
                        <a:rPr lang="es-419" i="1">
                          <a:latin typeface="Cambria Math" panose="02040503050406030204" pitchFamily="18" charset="0"/>
                        </a:rPr>
                        <m:t>=</m:t>
                      </m:r>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𝑎</m:t>
                          </m:r>
                        </m:sub>
                        <m:sup>
                          <m:r>
                            <a:rPr lang="es-419" i="1">
                              <a:latin typeface="Cambria Math" panose="02040503050406030204" pitchFamily="18" charset="0"/>
                            </a:rPr>
                            <m:t>2</m:t>
                          </m:r>
                        </m:sup>
                      </m:sSubSup>
                      <m:r>
                        <a:rPr lang="es-419" i="1">
                          <a:latin typeface="Cambria Math" panose="02040503050406030204" pitchFamily="18" charset="0"/>
                        </a:rPr>
                        <m:t>(</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r>
                        <a:rPr lang="es-419" i="1">
                          <a:latin typeface="Cambria Math" panose="02040503050406030204" pitchFamily="18" charset="0"/>
                        </a:rPr>
                        <m:t>)</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Con lo que se construye el estadístico:</a:t>
                </a: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𝑡</m:t>
                      </m:r>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rPr>
                          </m:ctrlPr>
                        </m:fPr>
                        <m:num>
                          <m:d>
                            <m:dPr>
                              <m:ctrlPr>
                                <a:rPr lang="es-419" i="1">
                                  <a:latin typeface="Cambria Math" panose="02040503050406030204" pitchFamily="18" charset="0"/>
                                </a:rPr>
                              </m:ctrlPr>
                            </m:dPr>
                            <m:e>
                              <m:acc>
                                <m:accPr>
                                  <m:chr m:val="̅"/>
                                  <m:ctrlPr>
                                    <a:rPr lang="es-419" i="1">
                                      <a:latin typeface="Cambria Math" panose="02040503050406030204" pitchFamily="18" charset="0"/>
                                    </a:rPr>
                                  </m:ctrlPr>
                                </m:accPr>
                                <m:e>
                                  <m:r>
                                    <a:rPr lang="es-419" i="1">
                                      <a:latin typeface="Cambria Math" panose="02040503050406030204" pitchFamily="18" charset="0"/>
                                    </a:rPr>
                                    <m:t>𝑋</m:t>
                                  </m:r>
                                </m:e>
                              </m:acc>
                              <m:r>
                                <a:rPr lang="es-419" i="1">
                                  <a:latin typeface="Cambria Math" panose="02040503050406030204" pitchFamily="18" charset="0"/>
                                </a:rPr>
                                <m:t>−</m:t>
                              </m:r>
                              <m:acc>
                                <m:accPr>
                                  <m:chr m:val="̅"/>
                                  <m:ctrlPr>
                                    <a:rPr lang="es-419" i="1">
                                      <a:latin typeface="Cambria Math" panose="02040503050406030204" pitchFamily="18" charset="0"/>
                                    </a:rPr>
                                  </m:ctrlPr>
                                </m:accPr>
                                <m:e>
                                  <m:r>
                                    <a:rPr lang="es-419" i="1">
                                      <a:latin typeface="Cambria Math" panose="02040503050406030204" pitchFamily="18" charset="0"/>
                                    </a:rPr>
                                    <m:t>𝑌</m:t>
                                  </m:r>
                                </m:e>
                              </m:acc>
                            </m:e>
                          </m:d>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rPr>
                                <m:t>𝑥</m:t>
                              </m:r>
                            </m:sub>
                          </m:sSub>
                          <m:r>
                            <a:rPr lang="es-419">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𝑦</m:t>
                              </m:r>
                            </m:sub>
                          </m:sSub>
                          <m:r>
                            <a:rPr lang="es-419" i="1">
                              <a:latin typeface="Cambria Math" panose="02040503050406030204" pitchFamily="18" charset="0"/>
                            </a:rPr>
                            <m:t>)</m:t>
                          </m:r>
                        </m:num>
                        <m:den>
                          <m:sSub>
                            <m:sSubPr>
                              <m:ctrlPr>
                                <a:rPr lang="es-419" i="1" smtClean="0">
                                  <a:latin typeface="Cambria Math" panose="02040503050406030204" pitchFamily="18" charset="0"/>
                                </a:rPr>
                              </m:ctrlPr>
                            </m:sSubPr>
                            <m:e>
                              <m:r>
                                <a:rPr lang="es-419" b="0" i="1" smtClean="0">
                                  <a:latin typeface="Cambria Math" panose="02040503050406030204" pitchFamily="18" charset="0"/>
                                </a:rPr>
                                <m:t>𝑆</m:t>
                              </m:r>
                            </m:e>
                            <m:sub>
                              <m:r>
                                <a:rPr lang="es-419" b="0" i="1" smtClean="0">
                                  <a:latin typeface="Cambria Math" panose="02040503050406030204" pitchFamily="18" charset="0"/>
                                </a:rPr>
                                <m:t>𝑎</m:t>
                              </m:r>
                            </m:sub>
                          </m:sSub>
                          <m:rad>
                            <m:radPr>
                              <m:degHide m:val="on"/>
                              <m:ctrlPr>
                                <a:rPr lang="es-419" i="1" smtClean="0">
                                  <a:latin typeface="Cambria Math" panose="02040503050406030204" pitchFamily="18" charset="0"/>
                                </a:rPr>
                              </m:ctrlPr>
                            </m:radPr>
                            <m:deg/>
                            <m:e>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den>
                      </m:f>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r>
                            <a:rPr lang="es-419" i="1">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r>
                            <a:rPr lang="es-419" i="1">
                              <a:latin typeface="Cambria Math" panose="02040503050406030204" pitchFamily="18" charset="0"/>
                            </a:rPr>
                            <m:t>−</m:t>
                          </m:r>
                          <m:r>
                            <a:rPr lang="es-419" b="0" i="1" smtClean="0">
                              <a:latin typeface="Cambria Math" panose="02040503050406030204" pitchFamily="18" charset="0"/>
                            </a:rPr>
                            <m:t>2</m:t>
                          </m:r>
                        </m:sub>
                      </m:sSub>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74"/>
                </a:stretch>
              </a:blipFill>
            </p:spPr>
            <p:txBody>
              <a:bodyPr/>
              <a:lstStyle/>
              <a:p>
                <a:r>
                  <a:rPr lang="es-419">
                    <a:noFill/>
                  </a:rPr>
                  <a:t> </a:t>
                </a:r>
              </a:p>
            </p:txBody>
          </p:sp>
        </mc:Fallback>
      </mc:AlternateContent>
    </p:spTree>
    <p:extLst>
      <p:ext uri="{BB962C8B-B14F-4D97-AF65-F5344CB8AC3E}">
        <p14:creationId xmlns:p14="http://schemas.microsoft.com/office/powerpoint/2010/main" val="38522810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55000" lnSpcReduction="20000"/>
              </a:bodyPr>
              <a:lstStyle/>
              <a:p>
                <a:pPr>
                  <a:lnSpc>
                    <a:spcPct val="150000"/>
                  </a:lnSpc>
                </a:pPr>
                <a:r>
                  <a:rPr lang="es-419" dirty="0">
                    <a:ea typeface="Cambria Math" panose="02040503050406030204" pitchFamily="18" charset="0"/>
                  </a:rPr>
                  <a:t>Construimos el intervalo de confianza:</a:t>
                </a:r>
              </a:p>
              <a:p>
                <a:pPr marL="0" indent="0">
                  <a:lnSpc>
                    <a:spcPct val="12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a:latin typeface="Cambria Math" panose="02040503050406030204" pitchFamily="18" charset="0"/>
                              <a:ea typeface="Cambria Math" panose="02040503050406030204" pitchFamily="18" charset="0"/>
                            </a:rPr>
                            <m:t>≤</m:t>
                          </m:r>
                          <m:f>
                            <m:fPr>
                              <m:ctrlPr>
                                <a:rPr lang="es-419" i="1" dirty="0">
                                  <a:latin typeface="Cambria Math" panose="02040503050406030204" pitchFamily="18" charset="0"/>
                                  <a:ea typeface="Cambria Math" panose="02040503050406030204" pitchFamily="18" charset="0"/>
                                </a:rPr>
                              </m:ctrlPr>
                            </m:fPr>
                            <m:num>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419" i="1" dirty="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𝑦</m:t>
                                  </m:r>
                                </m:sub>
                              </m:sSub>
                              <m:r>
                                <a:rPr lang="es-419" i="1" dirty="0">
                                  <a:latin typeface="Cambria Math" panose="02040503050406030204" pitchFamily="18" charset="0"/>
                                  <a:ea typeface="Cambria Math" panose="02040503050406030204" pitchFamily="18" charset="0"/>
                                </a:rPr>
                                <m:t>)</m:t>
                              </m:r>
                            </m:num>
                            <m:den>
                              <m:sSub>
                                <m:sSubPr>
                                  <m:ctrlPr>
                                    <a:rPr lang="es-419" i="1">
                                      <a:latin typeface="Cambria Math" panose="02040503050406030204" pitchFamily="18" charset="0"/>
                                    </a:rPr>
                                  </m:ctrlPr>
                                </m:sSubPr>
                                <m:e>
                                  <m:r>
                                    <a:rPr lang="es-419" i="1">
                                      <a:latin typeface="Cambria Math" panose="02040503050406030204" pitchFamily="18" charset="0"/>
                                    </a:rPr>
                                    <m:t>𝑆</m:t>
                                  </m:r>
                                </m:e>
                                <m:sub>
                                  <m:r>
                                    <a:rPr lang="es-419" i="1">
                                      <a:latin typeface="Cambria Math" panose="02040503050406030204" pitchFamily="18" charset="0"/>
                                    </a:rPr>
                                    <m:t>𝑎</m:t>
                                  </m:r>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den>
                          </m:f>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sSub>
                            <m:sSubPr>
                              <m:ctrlPr>
                                <a:rPr lang="es-419" i="1">
                                  <a:latin typeface="Cambria Math" panose="02040503050406030204" pitchFamily="18" charset="0"/>
                                </a:rPr>
                              </m:ctrlPr>
                            </m:sSubPr>
                            <m:e>
                              <m:r>
                                <a:rPr lang="es-419" i="1">
                                  <a:latin typeface="Cambria Math" panose="02040503050406030204" pitchFamily="18" charset="0"/>
                                </a:rPr>
                                <m:t>𝑆</m:t>
                              </m:r>
                            </m:e>
                            <m:sub>
                              <m:r>
                                <a:rPr lang="es-419" i="1">
                                  <a:latin typeface="Cambria Math" panose="02040503050406030204" pitchFamily="18" charset="0"/>
                                </a:rPr>
                                <m:t>𝑎</m:t>
                              </m:r>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𝑦</m:t>
                                  </m:r>
                                </m:sub>
                              </m:sSub>
                            </m:e>
                          </m: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sSub>
                            <m:sSubPr>
                              <m:ctrlPr>
                                <a:rPr lang="es-419" i="1">
                                  <a:latin typeface="Cambria Math" panose="02040503050406030204" pitchFamily="18" charset="0"/>
                                </a:rPr>
                              </m:ctrlPr>
                            </m:sSubPr>
                            <m:e>
                              <m:r>
                                <a:rPr lang="es-419" i="1">
                                  <a:latin typeface="Cambria Math" panose="02040503050406030204" pitchFamily="18" charset="0"/>
                                </a:rPr>
                                <m:t>𝑆</m:t>
                              </m:r>
                            </m:e>
                            <m:sub>
                              <m:r>
                                <a:rPr lang="es-419" i="1">
                                  <a:latin typeface="Cambria Math" panose="02040503050406030204" pitchFamily="18" charset="0"/>
                                </a:rPr>
                                <m:t>𝑎</m:t>
                              </m:r>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20000"/>
                  </a:lnSpc>
                </a:pPr>
                <a:r>
                  <a:rPr lang="es-419" dirty="0">
                    <a:ea typeface="Cambria Math" panose="02040503050406030204" pitchFamily="18" charset="0"/>
                  </a:rPr>
                  <a:t>El intervalo termina siendo:</a:t>
                </a:r>
              </a:p>
              <a:p>
                <a:pPr marL="0" indent="0">
                  <a:lnSpc>
                    <a:spcPct val="120000"/>
                  </a:lnSpc>
                  <a:buNone/>
                </a:pPr>
                <a14:m>
                  <m:oMathPara xmlns:m="http://schemas.openxmlformats.org/officeDocument/2006/math">
                    <m:oMathParaPr>
                      <m:jc m:val="centerGroup"/>
                    </m:oMathParaPr>
                    <m:oMath xmlns:m="http://schemas.openxmlformats.org/officeDocument/2006/math">
                      <m:r>
                        <a:rPr lang="es-VE" b="0" i="1" smtClean="0">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sSub>
                        <m:sSubPr>
                          <m:ctrlPr>
                            <a:rPr lang="es-419" i="1">
                              <a:latin typeface="Cambria Math" panose="02040503050406030204" pitchFamily="18" charset="0"/>
                            </a:rPr>
                          </m:ctrlPr>
                        </m:sSubPr>
                        <m:e>
                          <m:r>
                            <a:rPr lang="es-419" i="1">
                              <a:latin typeface="Cambria Math" panose="02040503050406030204" pitchFamily="18" charset="0"/>
                            </a:rPr>
                            <m:t>𝑆</m:t>
                          </m:r>
                        </m:e>
                        <m:sub>
                          <m:r>
                            <a:rPr lang="es-419" i="1">
                              <a:latin typeface="Cambria Math" panose="02040503050406030204" pitchFamily="18" charset="0"/>
                            </a:rPr>
                            <m:t>𝑎</m:t>
                          </m:r>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r>
                        <a:rPr lang="es-VE" b="0" i="1" smtClean="0">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sSub>
                        <m:sSubPr>
                          <m:ctrlPr>
                            <a:rPr lang="es-419" i="1">
                              <a:latin typeface="Cambria Math" panose="02040503050406030204" pitchFamily="18" charset="0"/>
                            </a:rPr>
                          </m:ctrlPr>
                        </m:sSubPr>
                        <m:e>
                          <m:r>
                            <a:rPr lang="es-419" i="1">
                              <a:latin typeface="Cambria Math" panose="02040503050406030204" pitchFamily="18" charset="0"/>
                            </a:rPr>
                            <m:t>𝑆</m:t>
                          </m:r>
                        </m:e>
                        <m:sub>
                          <m:r>
                            <a:rPr lang="es-419" i="1">
                              <a:latin typeface="Cambria Math" panose="02040503050406030204" pitchFamily="18" charset="0"/>
                            </a:rPr>
                            <m:t>𝑎</m:t>
                          </m:r>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r>
                        <a:rPr lang="es-VE" b="0" i="1" smtClean="0">
                          <a:latin typeface="Cambria Math" panose="02040503050406030204" pitchFamily="18" charset="0"/>
                          <a:ea typeface="Cambria Math" panose="02040503050406030204" pitchFamily="18" charset="0"/>
                        </a:rPr>
                        <m:t>]</m:t>
                      </m:r>
                    </m:oMath>
                  </m:oMathPara>
                </a14:m>
                <a:endParaRPr lang="es-419" dirty="0">
                  <a:ea typeface="Cambria Math" panose="02040503050406030204" pitchFamily="18" charset="0"/>
                </a:endParaRPr>
              </a:p>
              <a:p>
                <a:pPr>
                  <a:lnSpc>
                    <a:spcPct val="120000"/>
                  </a:lnSpc>
                </a:pPr>
                <a:r>
                  <a:rPr lang="es-419" dirty="0">
                    <a:ea typeface="Cambria Math" panose="02040503050406030204" pitchFamily="18" charset="0"/>
                  </a:rPr>
                  <a:t>Simplificado:</a:t>
                </a:r>
              </a:p>
              <a:p>
                <a:pPr marL="0" indent="0">
                  <a:lnSpc>
                    <a:spcPct val="150000"/>
                  </a:lnSpc>
                  <a:buNone/>
                </a:pPr>
                <a14:m>
                  <m:oMathPara xmlns:m="http://schemas.openxmlformats.org/officeDocument/2006/math">
                    <m:oMathParaPr>
                      <m:jc m:val="centerGroup"/>
                    </m:oMathParaPr>
                    <m:oMath xmlns:m="http://schemas.openxmlformats.org/officeDocument/2006/math">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sSub>
                        <m:sSubPr>
                          <m:ctrlPr>
                            <a:rPr lang="es-419" i="1">
                              <a:latin typeface="Cambria Math" panose="02040503050406030204" pitchFamily="18" charset="0"/>
                            </a:rPr>
                          </m:ctrlPr>
                        </m:sSubPr>
                        <m:e>
                          <m:r>
                            <a:rPr lang="es-419" i="1">
                              <a:latin typeface="Cambria Math" panose="02040503050406030204" pitchFamily="18" charset="0"/>
                            </a:rPr>
                            <m:t>𝑆</m:t>
                          </m:r>
                        </m:e>
                        <m:sub>
                          <m:r>
                            <a:rPr lang="es-419" i="1">
                              <a:latin typeface="Cambria Math" panose="02040503050406030204" pitchFamily="18" charset="0"/>
                            </a:rPr>
                            <m:t>𝑎</m:t>
                          </m:r>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r>
                                <a:rPr lang="es-419" i="1">
                                  <a:latin typeface="Cambria Math" panose="02040503050406030204" pitchFamily="18" charset="0"/>
                                </a:rPr>
                                <m:t>1</m:t>
                              </m:r>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74"/>
                </a:stretch>
              </a:blipFill>
            </p:spPr>
            <p:txBody>
              <a:bodyPr/>
              <a:lstStyle/>
              <a:p>
                <a:r>
                  <a:rPr lang="es-VE">
                    <a:noFill/>
                  </a:rPr>
                  <a:t> </a:t>
                </a:r>
              </a:p>
            </p:txBody>
          </p:sp>
        </mc:Fallback>
      </mc:AlternateContent>
    </p:spTree>
    <p:extLst>
      <p:ext uri="{BB962C8B-B14F-4D97-AF65-F5344CB8AC3E}">
        <p14:creationId xmlns:p14="http://schemas.microsoft.com/office/powerpoint/2010/main" val="108799794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9.49</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fontScale="92500" lnSpcReduction="10000"/>
          </a:bodyPr>
          <a:lstStyle/>
          <a:p>
            <a:pPr marL="0" indent="0">
              <a:lnSpc>
                <a:spcPct val="150000"/>
              </a:lnSpc>
              <a:buNone/>
            </a:pPr>
            <a:r>
              <a:rPr lang="es-VE" i="1" dirty="0"/>
              <a:t>Químicamente se establece que el porcentaje de hierro en 5 muestras de mineral extraído en una cierta mina tiene una media de 22,3% y una desviación típica de 1,8%. En 6 muestras de mineral extraído de otra mina el contenido medio fue de 20% y la desviación típica de 1,3%. Se estima que las varianzas de los porcentajes son las mismas. </a:t>
            </a:r>
          </a:p>
          <a:p>
            <a:pPr marL="0" indent="0">
              <a:lnSpc>
                <a:spcPct val="150000"/>
              </a:lnSpc>
              <a:buNone/>
            </a:pPr>
            <a:r>
              <a:rPr lang="es-VE" i="1" dirty="0"/>
              <a:t>Establecer los límites de un intervalo de confianza del 95%, para la diferencia de contenidos medios de hierro de los minerales extraídos de las dos diferentes minas. Interpretar el resultado.</a:t>
            </a:r>
          </a:p>
          <a:p>
            <a:pPr marL="0" indent="0">
              <a:lnSpc>
                <a:spcPct val="150000"/>
              </a:lnSpc>
              <a:buNone/>
            </a:pPr>
            <a:r>
              <a:rPr lang="es-419" i="1" dirty="0"/>
              <a:t>Asuma que las desviaciones típicas muestrales son insesgadas.</a:t>
            </a:r>
          </a:p>
          <a:p>
            <a:pPr marL="0" indent="0">
              <a:lnSpc>
                <a:spcPct val="150000"/>
              </a:lnSpc>
              <a:buNone/>
            </a:pPr>
            <a:endParaRPr lang="es-VE" i="1" dirty="0"/>
          </a:p>
        </p:txBody>
      </p:sp>
    </p:spTree>
    <p:extLst>
      <p:ext uri="{BB962C8B-B14F-4D97-AF65-F5344CB8AC3E}">
        <p14:creationId xmlns:p14="http://schemas.microsoft.com/office/powerpoint/2010/main" val="393583753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9.49</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pt-BR" sz="1200" dirty="0">
                <a:latin typeface="Consolas" panose="020B0609020204030204" pitchFamily="49" charset="0"/>
              </a:rPr>
              <a:t>&gt; nx &lt;-5</a:t>
            </a:r>
          </a:p>
          <a:p>
            <a:pPr marL="0" indent="0">
              <a:buNone/>
            </a:pPr>
            <a:r>
              <a:rPr lang="pt-BR" sz="1200" dirty="0">
                <a:latin typeface="Consolas" panose="020B0609020204030204" pitchFamily="49" charset="0"/>
              </a:rPr>
              <a:t>&gt; x_hat &lt;- 22.3/100</a:t>
            </a:r>
          </a:p>
          <a:p>
            <a:pPr marL="0" indent="0">
              <a:buNone/>
            </a:pPr>
            <a:r>
              <a:rPr lang="pt-BR" sz="1200" dirty="0">
                <a:latin typeface="Consolas" panose="020B0609020204030204" pitchFamily="49" charset="0"/>
              </a:rPr>
              <a:t>&gt; sx &lt;- 1.8/100</a:t>
            </a:r>
          </a:p>
          <a:p>
            <a:pPr marL="0" indent="0">
              <a:buNone/>
            </a:pPr>
            <a:endParaRPr lang="pt-BR" sz="1200" dirty="0">
              <a:latin typeface="Consolas" panose="020B0609020204030204" pitchFamily="49" charset="0"/>
            </a:endParaRPr>
          </a:p>
          <a:p>
            <a:pPr marL="0" indent="0">
              <a:buNone/>
            </a:pPr>
            <a:r>
              <a:rPr lang="pt-BR" sz="1200" dirty="0">
                <a:latin typeface="Consolas" panose="020B0609020204030204" pitchFamily="49" charset="0"/>
              </a:rPr>
              <a:t>&gt; ny &lt;- 6</a:t>
            </a:r>
          </a:p>
          <a:p>
            <a:pPr marL="0" indent="0">
              <a:buNone/>
            </a:pPr>
            <a:r>
              <a:rPr lang="pt-BR" sz="1200" dirty="0">
                <a:latin typeface="Consolas" panose="020B0609020204030204" pitchFamily="49" charset="0"/>
              </a:rPr>
              <a:t>&gt; y_hat &lt;- 20/100</a:t>
            </a:r>
          </a:p>
          <a:p>
            <a:pPr marL="0" indent="0">
              <a:buNone/>
            </a:pPr>
            <a:r>
              <a:rPr lang="pt-BR" sz="1200" dirty="0">
                <a:latin typeface="Consolas" panose="020B0609020204030204" pitchFamily="49" charset="0"/>
              </a:rPr>
              <a:t>&gt; sy &lt;-1.3/100</a:t>
            </a:r>
          </a:p>
          <a:p>
            <a:pPr marL="0" indent="0">
              <a:buNone/>
            </a:pPr>
            <a:r>
              <a:rPr lang="pt-BR" sz="1200" dirty="0">
                <a:latin typeface="Consolas" panose="020B0609020204030204" pitchFamily="49" charset="0"/>
              </a:rPr>
              <a:t> </a:t>
            </a:r>
          </a:p>
          <a:p>
            <a:pPr marL="0" indent="0">
              <a:buNone/>
            </a:pPr>
            <a:r>
              <a:rPr lang="pt-BR" sz="1200" dirty="0">
                <a:latin typeface="Consolas" panose="020B0609020204030204" pitchFamily="49" charset="0"/>
              </a:rPr>
              <a:t>&gt; ic &lt;- 0.95</a:t>
            </a:r>
          </a:p>
          <a:p>
            <a:pPr marL="0" indent="0">
              <a:buNone/>
            </a:pPr>
            <a:r>
              <a:rPr lang="pt-BR" sz="1200" dirty="0">
                <a:latin typeface="Consolas" panose="020B0609020204030204" pitchFamily="49" charset="0"/>
              </a:rPr>
              <a:t>&gt; a &lt;- 1 - ic</a:t>
            </a:r>
          </a:p>
          <a:p>
            <a:pPr marL="0" indent="0">
              <a:buNone/>
            </a:pPr>
            <a:r>
              <a:rPr lang="pt-BR" sz="1200" dirty="0">
                <a:latin typeface="Consolas" panose="020B0609020204030204" pitchFamily="49" charset="0"/>
              </a:rPr>
              <a:t> </a:t>
            </a:r>
          </a:p>
          <a:p>
            <a:pPr marL="0" indent="0">
              <a:buNone/>
            </a:pPr>
            <a:r>
              <a:rPr lang="pt-BR" sz="1200" dirty="0">
                <a:latin typeface="Consolas" panose="020B0609020204030204" pitchFamily="49" charset="0"/>
              </a:rPr>
              <a:t>&gt; sa2 &lt;- ((nx - 1)*(sx^2) + (ny - 1)*(sy^2))/(nx + ny - 2)</a:t>
            </a:r>
          </a:p>
          <a:p>
            <a:pPr marL="0" indent="0">
              <a:buNone/>
            </a:pPr>
            <a:r>
              <a:rPr lang="pt-BR" sz="1200" dirty="0">
                <a:latin typeface="Consolas" panose="020B0609020204030204" pitchFamily="49" charset="0"/>
              </a:rPr>
              <a:t>&gt; sa &lt;- sqrt(sa2)</a:t>
            </a:r>
          </a:p>
          <a:p>
            <a:pPr marL="0" indent="0">
              <a:buNone/>
            </a:pPr>
            <a:r>
              <a:rPr lang="pt-BR" sz="1200" dirty="0">
                <a:latin typeface="Consolas" panose="020B0609020204030204" pitchFamily="49" charset="0"/>
              </a:rPr>
              <a:t> </a:t>
            </a:r>
          </a:p>
          <a:p>
            <a:pPr marL="0" indent="0">
              <a:buNone/>
            </a:pPr>
            <a:r>
              <a:rPr lang="pt-BR" sz="1200" dirty="0">
                <a:latin typeface="Consolas" panose="020B0609020204030204" pitchFamily="49" charset="0"/>
              </a:rPr>
              <a:t>&gt; c(inferior = (x_hat - y_hat) - qt(a/2, df = nx + ny - 2, lower.tail = FALSE)*sa*sqrt((1/nx) + (1/ny)), </a:t>
            </a:r>
          </a:p>
          <a:p>
            <a:pPr marL="0" indent="0">
              <a:buNone/>
            </a:pPr>
            <a:r>
              <a:rPr lang="pt-BR" sz="1200" dirty="0">
                <a:latin typeface="Consolas" panose="020B0609020204030204" pitchFamily="49" charset="0"/>
              </a:rPr>
              <a:t>+   superior = (x_hat - y_hat) + qt(a/2, df = ny + ny - 2, lower.tail = FALSE)*sa*sqrt((1/nx) + (1/ny)))*100</a:t>
            </a:r>
          </a:p>
          <a:p>
            <a:pPr marL="0" indent="0">
              <a:buNone/>
            </a:pPr>
            <a:r>
              <a:rPr lang="pt-BR" sz="1200" dirty="0">
                <a:highlight>
                  <a:srgbClr val="FFFF00"/>
                </a:highlight>
                <a:latin typeface="Consolas" panose="020B0609020204030204" pitchFamily="49" charset="0"/>
              </a:rPr>
              <a:t> inferior  superior </a:t>
            </a:r>
          </a:p>
          <a:p>
            <a:pPr marL="0" indent="0">
              <a:buNone/>
            </a:pPr>
            <a:r>
              <a:rPr lang="pt-BR" sz="1200" dirty="0">
                <a:highlight>
                  <a:srgbClr val="FFFF00"/>
                </a:highlight>
                <a:latin typeface="Consolas" panose="020B0609020204030204" pitchFamily="49" charset="0"/>
              </a:rPr>
              <a:t>0.1872624 4.3809663 </a:t>
            </a:r>
          </a:p>
        </p:txBody>
      </p:sp>
    </p:spTree>
    <p:extLst>
      <p:ext uri="{BB962C8B-B14F-4D97-AF65-F5344CB8AC3E}">
        <p14:creationId xmlns:p14="http://schemas.microsoft.com/office/powerpoint/2010/main" val="11328316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9.55</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fontScale="85000" lnSpcReduction="20000"/>
          </a:bodyPr>
          <a:lstStyle/>
          <a:p>
            <a:pPr marL="0" indent="0">
              <a:lnSpc>
                <a:spcPct val="150000"/>
              </a:lnSpc>
              <a:buNone/>
            </a:pPr>
            <a:r>
              <a:rPr lang="es-VE" i="1" dirty="0"/>
              <a:t>Para estimar la eficacia de un nuevo fertilizante una empresa agrícola seleccionó 8 parcelas. En una mitad de cada parcela se usó el nuevo fertilizante, y en la otra el fertilizante usado anteriormente. La producción en Tm, por Ha,  fue la siguiente:</a:t>
            </a:r>
          </a:p>
          <a:p>
            <a:pPr marL="0" indent="0">
              <a:lnSpc>
                <a:spcPct val="150000"/>
              </a:lnSpc>
              <a:buNone/>
            </a:pPr>
            <a:r>
              <a:rPr lang="es-VE" i="1" dirty="0"/>
              <a:t>Con nuevo fertilizante: 187, 159, 193, 184, 193, 175, 179, 186.</a:t>
            </a:r>
          </a:p>
          <a:p>
            <a:pPr marL="0" indent="0">
              <a:lnSpc>
                <a:spcPct val="150000"/>
              </a:lnSpc>
              <a:buNone/>
            </a:pPr>
            <a:r>
              <a:rPr lang="es-419" i="1" dirty="0"/>
              <a:t>Con antiguo fertilizante: 179, 158, 192, 177, 182, 174, 166, 180.</a:t>
            </a:r>
          </a:p>
          <a:p>
            <a:pPr marL="0" indent="0">
              <a:lnSpc>
                <a:spcPct val="150000"/>
              </a:lnSpc>
              <a:buNone/>
            </a:pPr>
            <a:r>
              <a:rPr lang="es-419" i="1" dirty="0"/>
              <a:t>Suponiendo que las producciones son independientes y normalmente distribuidas con la misma varianza, estimar la diferencia en la producción media, con un intervalo de confianza del 95% e interpretar el resultado.</a:t>
            </a:r>
          </a:p>
          <a:p>
            <a:pPr marL="0" indent="0">
              <a:lnSpc>
                <a:spcPct val="150000"/>
              </a:lnSpc>
              <a:buNone/>
            </a:pPr>
            <a:r>
              <a:rPr lang="es-419" i="1" dirty="0"/>
              <a:t>Trabaje con varianzas muestrales insesgadas.</a:t>
            </a:r>
            <a:endParaRPr lang="es-VE" i="1" dirty="0"/>
          </a:p>
        </p:txBody>
      </p:sp>
    </p:spTree>
    <p:extLst>
      <p:ext uri="{BB962C8B-B14F-4D97-AF65-F5344CB8AC3E}">
        <p14:creationId xmlns:p14="http://schemas.microsoft.com/office/powerpoint/2010/main" val="273268052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Propuesto 9.55</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47500" lnSpcReduction="20000"/>
          </a:bodyPr>
          <a:lstStyle/>
          <a:p>
            <a:pPr marL="0" indent="0">
              <a:buNone/>
            </a:pPr>
            <a:r>
              <a:rPr lang="pt-BR" dirty="0">
                <a:latin typeface="Consolas" panose="020B0609020204030204" pitchFamily="49" charset="0"/>
              </a:rPr>
              <a:t>&gt; f_nuevo &lt;- c(187, 159, 193, 184, 193, 175, 179, 186)</a:t>
            </a:r>
          </a:p>
          <a:p>
            <a:pPr marL="0" indent="0">
              <a:buNone/>
            </a:pPr>
            <a:r>
              <a:rPr lang="pt-BR" dirty="0">
                <a:latin typeface="Consolas" panose="020B0609020204030204" pitchFamily="49" charset="0"/>
              </a:rPr>
              <a:t>&gt; f_antiguo &lt;- c(179, 158, 192, 177, 182, 174, 166, 180)</a:t>
            </a:r>
          </a:p>
          <a:p>
            <a:pPr marL="0" indent="0">
              <a:buNone/>
            </a:pPr>
            <a:r>
              <a:rPr lang="pt-BR" dirty="0">
                <a:latin typeface="Consolas" panose="020B0609020204030204" pitchFamily="49" charset="0"/>
              </a:rPr>
              <a:t>&gt; ic &lt;- 0.95</a:t>
            </a:r>
          </a:p>
          <a:p>
            <a:pPr marL="0" indent="0">
              <a:buNone/>
            </a:pPr>
            <a:r>
              <a:rPr lang="pt-BR" dirty="0">
                <a:latin typeface="Consolas" panose="020B0609020204030204" pitchFamily="49" charset="0"/>
              </a:rPr>
              <a:t>&gt; a &lt;- 1 - ic</a:t>
            </a:r>
          </a:p>
          <a:p>
            <a:pPr marL="0" indent="0">
              <a:buNone/>
            </a:pPr>
            <a:r>
              <a:rPr lang="pt-BR" dirty="0">
                <a:latin typeface="Consolas" panose="020B0609020204030204" pitchFamily="49" charset="0"/>
              </a:rPr>
              <a:t> </a:t>
            </a:r>
          </a:p>
          <a:p>
            <a:pPr marL="0" indent="0">
              <a:buNone/>
            </a:pPr>
            <a:r>
              <a:rPr lang="pt-BR" dirty="0">
                <a:latin typeface="Consolas" panose="020B0609020204030204" pitchFamily="49" charset="0"/>
              </a:rPr>
              <a:t>&gt; nx &lt;- length(f_nuevo)</a:t>
            </a:r>
          </a:p>
          <a:p>
            <a:pPr marL="0" indent="0">
              <a:buNone/>
            </a:pPr>
            <a:r>
              <a:rPr lang="pt-BR" dirty="0">
                <a:latin typeface="Consolas" panose="020B0609020204030204" pitchFamily="49" charset="0"/>
              </a:rPr>
              <a:t>&gt; ny &lt;- length(f_antiguo)</a:t>
            </a:r>
          </a:p>
          <a:p>
            <a:pPr marL="0" indent="0">
              <a:buNone/>
            </a:pPr>
            <a:r>
              <a:rPr lang="pt-BR" dirty="0">
                <a:latin typeface="Consolas" panose="020B0609020204030204" pitchFamily="49" charset="0"/>
              </a:rPr>
              <a:t>&gt; x_hat &lt;- mean(f_nuevo)</a:t>
            </a:r>
          </a:p>
          <a:p>
            <a:pPr marL="0" indent="0">
              <a:buNone/>
            </a:pPr>
            <a:r>
              <a:rPr lang="pt-BR" dirty="0">
                <a:latin typeface="Consolas" panose="020B0609020204030204" pitchFamily="49" charset="0"/>
              </a:rPr>
              <a:t>&gt; y_hat &lt;- mean(f_antiguo)</a:t>
            </a:r>
          </a:p>
          <a:p>
            <a:pPr marL="0" indent="0">
              <a:buNone/>
            </a:pPr>
            <a:r>
              <a:rPr lang="pt-BR" dirty="0">
                <a:latin typeface="Consolas" panose="020B0609020204030204" pitchFamily="49" charset="0"/>
              </a:rPr>
              <a:t>&gt; sx2 &lt;- var(f_nuevo)</a:t>
            </a:r>
          </a:p>
          <a:p>
            <a:pPr marL="0" indent="0">
              <a:buNone/>
            </a:pPr>
            <a:r>
              <a:rPr lang="pt-BR" dirty="0">
                <a:latin typeface="Consolas" panose="020B0609020204030204" pitchFamily="49" charset="0"/>
              </a:rPr>
              <a:t>&gt; sy2 &lt;- var(f_antiguo)</a:t>
            </a:r>
          </a:p>
          <a:p>
            <a:pPr marL="0" indent="0">
              <a:buNone/>
            </a:pPr>
            <a:r>
              <a:rPr lang="pt-BR" dirty="0">
                <a:latin typeface="Consolas" panose="020B0609020204030204" pitchFamily="49" charset="0"/>
              </a:rPr>
              <a:t> </a:t>
            </a:r>
          </a:p>
          <a:p>
            <a:pPr marL="0" indent="0">
              <a:buNone/>
            </a:pPr>
            <a:r>
              <a:rPr lang="pt-BR" dirty="0">
                <a:latin typeface="Consolas" panose="020B0609020204030204" pitchFamily="49" charset="0"/>
              </a:rPr>
              <a:t>&gt; sa2 &lt;- ((nx - 1)*(sx2) + (ny - 1)*(sy2))/(nx + ny - 2)</a:t>
            </a:r>
          </a:p>
          <a:p>
            <a:pPr marL="0" indent="0">
              <a:buNone/>
            </a:pPr>
            <a:r>
              <a:rPr lang="pt-BR" dirty="0">
                <a:latin typeface="Consolas" panose="020B0609020204030204" pitchFamily="49" charset="0"/>
              </a:rPr>
              <a:t>&gt; sa &lt;- sqrt(sa2)</a:t>
            </a:r>
          </a:p>
          <a:p>
            <a:pPr marL="0" indent="0">
              <a:buNone/>
            </a:pPr>
            <a:r>
              <a:rPr lang="pt-BR" dirty="0">
                <a:latin typeface="Consolas" panose="020B0609020204030204" pitchFamily="49" charset="0"/>
              </a:rPr>
              <a:t> </a:t>
            </a:r>
          </a:p>
          <a:p>
            <a:pPr marL="0" indent="0">
              <a:buNone/>
            </a:pPr>
            <a:r>
              <a:rPr lang="pt-BR" dirty="0">
                <a:latin typeface="Consolas" panose="020B0609020204030204" pitchFamily="49" charset="0"/>
              </a:rPr>
              <a:t>&gt; c(inferior = (x_hat - y_hat) - qt(a/2, df = nx + ny - 2, lower.tail = FALSE)*sa*sqrt((1/nx) + (1/ny)), </a:t>
            </a:r>
          </a:p>
          <a:p>
            <a:pPr marL="0" indent="0">
              <a:buNone/>
            </a:pPr>
            <a:r>
              <a:rPr lang="pt-BR" dirty="0">
                <a:latin typeface="Consolas" panose="020B0609020204030204" pitchFamily="49" charset="0"/>
              </a:rPr>
              <a:t>+   superior = (x_hat - y_hat) + qt(a/2, df = ny + ny - 2, lower.tail = FALSE)*sa*sqrt((1/nx) + (1/ny)))</a:t>
            </a:r>
          </a:p>
          <a:p>
            <a:pPr marL="0" indent="0">
              <a:buNone/>
            </a:pPr>
            <a:r>
              <a:rPr lang="pt-BR" dirty="0">
                <a:highlight>
                  <a:srgbClr val="FFFF00"/>
                </a:highlight>
                <a:latin typeface="Consolas" panose="020B0609020204030204" pitchFamily="49" charset="0"/>
              </a:rPr>
              <a:t> inferior  superior </a:t>
            </a:r>
          </a:p>
          <a:p>
            <a:pPr marL="0" indent="0">
              <a:buNone/>
            </a:pPr>
            <a:r>
              <a:rPr lang="pt-BR" dirty="0">
                <a:highlight>
                  <a:srgbClr val="FFFF00"/>
                </a:highlight>
                <a:latin typeface="Consolas" panose="020B0609020204030204" pitchFamily="49" charset="0"/>
              </a:rPr>
              <a:t>-5.535797 17.535797 </a:t>
            </a:r>
          </a:p>
        </p:txBody>
      </p:sp>
    </p:spTree>
    <p:extLst>
      <p:ext uri="{BB962C8B-B14F-4D97-AF65-F5344CB8AC3E}">
        <p14:creationId xmlns:p14="http://schemas.microsoft.com/office/powerpoint/2010/main" val="9013895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25000" lnSpcReduction="20000"/>
              </a:bodyPr>
              <a:lstStyle/>
              <a:p>
                <a:pPr marL="514350" indent="-514350">
                  <a:lnSpc>
                    <a:spcPct val="150000"/>
                  </a:lnSpc>
                  <a:buFont typeface="+mj-lt"/>
                  <a:buAutoNum type="alphaLcParenR" startAt="3"/>
                </a:pPr>
                <a:r>
                  <a:rPr lang="es-419" sz="7200" dirty="0">
                    <a:ea typeface="Cambria Math" panose="02040503050406030204" pitchFamily="18" charset="0"/>
                  </a:rPr>
                  <a:t>Para varianzas poblacionales </a:t>
                </a:r>
                <a:r>
                  <a:rPr lang="es-419" sz="7200" b="1" dirty="0">
                    <a:solidFill>
                      <a:srgbClr val="003A5D"/>
                    </a:solidFill>
                    <a:ea typeface="Cambria Math" panose="02040503050406030204" pitchFamily="18" charset="0"/>
                  </a:rPr>
                  <a:t>desconocidas</a:t>
                </a:r>
                <a:r>
                  <a:rPr lang="es-419" sz="7200" dirty="0">
                    <a:ea typeface="Cambria Math" panose="02040503050406030204" pitchFamily="18" charset="0"/>
                  </a:rPr>
                  <a:t> y </a:t>
                </a:r>
                <a:r>
                  <a:rPr lang="es-419" sz="7200" b="1" dirty="0">
                    <a:solidFill>
                      <a:srgbClr val="003A5D"/>
                    </a:solidFill>
                    <a:ea typeface="Cambria Math" panose="02040503050406030204" pitchFamily="18" charset="0"/>
                  </a:rPr>
                  <a:t>diferentes</a:t>
                </a:r>
                <a:r>
                  <a:rPr lang="es-419" sz="7200" dirty="0">
                    <a:ea typeface="Cambria Math" panose="02040503050406030204" pitchFamily="18" charset="0"/>
                  </a:rPr>
                  <a:t>:</a:t>
                </a:r>
              </a:p>
              <a:p>
                <a:pPr>
                  <a:lnSpc>
                    <a:spcPct val="150000"/>
                  </a:lnSpc>
                </a:pPr>
                <a:r>
                  <a:rPr lang="es-419" sz="7200" dirty="0">
                    <a:ea typeface="Cambria Math" panose="02040503050406030204" pitchFamily="18" charset="0"/>
                  </a:rPr>
                  <a:t>Empleamos varianzas muestrales insesgadas.</a:t>
                </a:r>
              </a:p>
              <a:p>
                <a:pPr>
                  <a:lnSpc>
                    <a:spcPct val="150000"/>
                  </a:lnSpc>
                </a:pPr>
                <a:r>
                  <a:rPr lang="es-419" sz="7200" dirty="0">
                    <a:ea typeface="Cambria Math" panose="02040503050406030204" pitchFamily="18" charset="0"/>
                  </a:rPr>
                  <a:t>No amalgamamos las varianzas, retornamos a una versión más tradicional del estadístico:</a:t>
                </a:r>
              </a:p>
              <a:p>
                <a:pPr>
                  <a:lnSpc>
                    <a:spcPct val="150000"/>
                  </a:lnSpc>
                </a:pPr>
                <a:r>
                  <a:rPr lang="es-419" sz="7200" dirty="0">
                    <a:ea typeface="Cambria Math" panose="02040503050406030204" pitchFamily="18" charset="0"/>
                  </a:rPr>
                  <a:t>Con lo que se construye el estadístico con sus grados de libertad </a:t>
                </a:r>
                <a:r>
                  <a:rPr lang="es-419" sz="7200" b="1" dirty="0">
                    <a:solidFill>
                      <a:srgbClr val="003A5D"/>
                    </a:solidFill>
                    <a:ea typeface="Cambria Math" panose="02040503050406030204" pitchFamily="18" charset="0"/>
                  </a:rPr>
                  <a:t>v</a:t>
                </a:r>
                <a:r>
                  <a:rPr lang="es-419" sz="7200" dirty="0">
                    <a:ea typeface="Cambria Math" panose="02040503050406030204" pitchFamily="18" charset="0"/>
                  </a:rPr>
                  <a:t>:</a:t>
                </a:r>
              </a:p>
              <a:p>
                <a:pPr marL="0" indent="0">
                  <a:lnSpc>
                    <a:spcPct val="120000"/>
                  </a:lnSpc>
                  <a:buNone/>
                </a:pPr>
                <a14:m>
                  <m:oMathPara xmlns:m="http://schemas.openxmlformats.org/officeDocument/2006/math">
                    <m:oMathParaPr>
                      <m:jc m:val="centerGroup"/>
                    </m:oMathParaPr>
                    <m:oMath xmlns:m="http://schemas.openxmlformats.org/officeDocument/2006/math">
                      <m:r>
                        <a:rPr lang="es-419" sz="7200" i="1">
                          <a:latin typeface="Cambria Math" panose="02040503050406030204" pitchFamily="18" charset="0"/>
                        </a:rPr>
                        <m:t>𝑡</m:t>
                      </m:r>
                      <m:r>
                        <a:rPr lang="es-419" sz="7200" i="1">
                          <a:latin typeface="Cambria Math" panose="02040503050406030204" pitchFamily="18" charset="0"/>
                        </a:rPr>
                        <m:t>=</m:t>
                      </m:r>
                      <m:f>
                        <m:fPr>
                          <m:ctrlPr>
                            <a:rPr lang="es-419" sz="7200" i="1">
                              <a:latin typeface="Cambria Math" panose="02040503050406030204" pitchFamily="18" charset="0"/>
                            </a:rPr>
                          </m:ctrlPr>
                        </m:fPr>
                        <m:num>
                          <m:d>
                            <m:dPr>
                              <m:ctrlPr>
                                <a:rPr lang="es-419" sz="7200" i="1">
                                  <a:latin typeface="Cambria Math" panose="02040503050406030204" pitchFamily="18" charset="0"/>
                                </a:rPr>
                              </m:ctrlPr>
                            </m:dPr>
                            <m:e>
                              <m:acc>
                                <m:accPr>
                                  <m:chr m:val="̅"/>
                                  <m:ctrlPr>
                                    <a:rPr lang="es-419" sz="7200" i="1">
                                      <a:latin typeface="Cambria Math" panose="02040503050406030204" pitchFamily="18" charset="0"/>
                                    </a:rPr>
                                  </m:ctrlPr>
                                </m:accPr>
                                <m:e>
                                  <m:r>
                                    <a:rPr lang="es-419" sz="7200" i="1">
                                      <a:latin typeface="Cambria Math" panose="02040503050406030204" pitchFamily="18" charset="0"/>
                                    </a:rPr>
                                    <m:t>𝑋</m:t>
                                  </m:r>
                                </m:e>
                              </m:acc>
                              <m:r>
                                <a:rPr lang="es-419" sz="7200" i="1">
                                  <a:latin typeface="Cambria Math" panose="02040503050406030204" pitchFamily="18" charset="0"/>
                                </a:rPr>
                                <m:t>−</m:t>
                              </m:r>
                              <m:acc>
                                <m:accPr>
                                  <m:chr m:val="̅"/>
                                  <m:ctrlPr>
                                    <a:rPr lang="es-419" sz="7200" i="1">
                                      <a:latin typeface="Cambria Math" panose="02040503050406030204" pitchFamily="18" charset="0"/>
                                    </a:rPr>
                                  </m:ctrlPr>
                                </m:accPr>
                                <m:e>
                                  <m:r>
                                    <a:rPr lang="es-419" sz="7200" i="1">
                                      <a:latin typeface="Cambria Math" panose="02040503050406030204" pitchFamily="18" charset="0"/>
                                    </a:rPr>
                                    <m:t>𝑌</m:t>
                                  </m:r>
                                </m:e>
                              </m:acc>
                            </m:e>
                          </m:d>
                          <m:r>
                            <a:rPr lang="es-419" sz="7200" i="1">
                              <a:latin typeface="Cambria Math" panose="02040503050406030204" pitchFamily="18" charset="0"/>
                            </a:rPr>
                            <m:t>−(</m:t>
                          </m:r>
                          <m:sSub>
                            <m:sSubPr>
                              <m:ctrlPr>
                                <a:rPr lang="es-419" sz="7200" i="1">
                                  <a:latin typeface="Cambria Math" panose="02040503050406030204" pitchFamily="18" charset="0"/>
                                </a:rPr>
                              </m:ctrlPr>
                            </m:sSubPr>
                            <m:e>
                              <m:r>
                                <a:rPr lang="es-419" sz="7200" i="1">
                                  <a:latin typeface="Cambria Math" panose="02040503050406030204" pitchFamily="18" charset="0"/>
                                  <a:ea typeface="Cambria Math" panose="02040503050406030204" pitchFamily="18" charset="0"/>
                                </a:rPr>
                                <m:t>𝜇</m:t>
                              </m:r>
                            </m:e>
                            <m:sub>
                              <m:r>
                                <a:rPr lang="es-419" sz="7200" i="1">
                                  <a:latin typeface="Cambria Math" panose="02040503050406030204" pitchFamily="18" charset="0"/>
                                </a:rPr>
                                <m:t>𝑥</m:t>
                              </m:r>
                            </m:sub>
                          </m:sSub>
                          <m:r>
                            <a:rPr lang="es-419" sz="7200">
                              <a:latin typeface="Cambria Math" panose="02040503050406030204" pitchFamily="18" charset="0"/>
                            </a:rPr>
                            <m:t>−</m:t>
                          </m:r>
                          <m:sSub>
                            <m:sSubPr>
                              <m:ctrlPr>
                                <a:rPr lang="es-419" sz="7200" i="1">
                                  <a:latin typeface="Cambria Math" panose="02040503050406030204" pitchFamily="18" charset="0"/>
                                </a:rPr>
                              </m:ctrlPr>
                            </m:sSubPr>
                            <m:e>
                              <m:r>
                                <a:rPr lang="es-419" sz="7200" i="1">
                                  <a:latin typeface="Cambria Math" panose="02040503050406030204" pitchFamily="18" charset="0"/>
                                  <a:ea typeface="Cambria Math" panose="02040503050406030204" pitchFamily="18" charset="0"/>
                                </a:rPr>
                                <m:t>𝜇</m:t>
                              </m:r>
                            </m:e>
                            <m:sub>
                              <m:r>
                                <a:rPr lang="es-419" sz="7200" i="1">
                                  <a:latin typeface="Cambria Math" panose="02040503050406030204" pitchFamily="18" charset="0"/>
                                  <a:ea typeface="Cambria Math" panose="02040503050406030204" pitchFamily="18" charset="0"/>
                                </a:rPr>
                                <m:t>𝑦</m:t>
                              </m:r>
                            </m:sub>
                          </m:sSub>
                          <m:r>
                            <a:rPr lang="es-419" sz="7200" i="1">
                              <a:latin typeface="Cambria Math" panose="02040503050406030204" pitchFamily="18" charset="0"/>
                            </a:rPr>
                            <m:t>)</m:t>
                          </m:r>
                        </m:num>
                        <m:den>
                          <m:rad>
                            <m:radPr>
                              <m:degHide m:val="on"/>
                              <m:ctrlPr>
                                <a:rPr lang="es-419" sz="7200" i="1">
                                  <a:latin typeface="Cambria Math" panose="02040503050406030204" pitchFamily="18" charset="0"/>
                                </a:rPr>
                              </m:ctrlPr>
                            </m:radPr>
                            <m:deg/>
                            <m:e>
                              <m:f>
                                <m:fPr>
                                  <m:ctrlPr>
                                    <a:rPr lang="es-419" sz="7200" i="1">
                                      <a:latin typeface="Cambria Math" panose="02040503050406030204" pitchFamily="18" charset="0"/>
                                    </a:rPr>
                                  </m:ctrlPr>
                                </m:fPr>
                                <m:num>
                                  <m:sSubSup>
                                    <m:sSubSupPr>
                                      <m:ctrlPr>
                                        <a:rPr lang="es-419" sz="7200" i="1">
                                          <a:latin typeface="Cambria Math" panose="02040503050406030204" pitchFamily="18" charset="0"/>
                                        </a:rPr>
                                      </m:ctrlPr>
                                    </m:sSubSupPr>
                                    <m:e>
                                      <m:r>
                                        <a:rPr lang="es-419" sz="7200" i="1">
                                          <a:latin typeface="Cambria Math" panose="02040503050406030204" pitchFamily="18" charset="0"/>
                                        </a:rPr>
                                        <m:t>𝑆</m:t>
                                      </m:r>
                                    </m:e>
                                    <m:sub>
                                      <m:r>
                                        <a:rPr lang="es-419" sz="7200" i="1">
                                          <a:latin typeface="Cambria Math" panose="02040503050406030204" pitchFamily="18" charset="0"/>
                                        </a:rPr>
                                        <m:t>𝑥</m:t>
                                      </m:r>
                                    </m:sub>
                                    <m:sup>
                                      <m:r>
                                        <a:rPr lang="es-419" sz="7200" i="1">
                                          <a:latin typeface="Cambria Math" panose="02040503050406030204" pitchFamily="18" charset="0"/>
                                        </a:rPr>
                                        <m:t>2</m:t>
                                      </m:r>
                                    </m:sup>
                                  </m:sSub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𝑥</m:t>
                                      </m:r>
                                    </m:sub>
                                  </m:sSub>
                                </m:den>
                              </m:f>
                              <m:r>
                                <m:rPr>
                                  <m:nor/>
                                </m:rPr>
                                <a:rPr lang="es-419" sz="7200" dirty="0"/>
                                <m:t>+ </m:t>
                              </m:r>
                              <m:f>
                                <m:fPr>
                                  <m:ctrlPr>
                                    <a:rPr lang="es-419" sz="7200" i="1">
                                      <a:latin typeface="Cambria Math" panose="02040503050406030204" pitchFamily="18" charset="0"/>
                                    </a:rPr>
                                  </m:ctrlPr>
                                </m:fPr>
                                <m:num>
                                  <m:sSubSup>
                                    <m:sSubSupPr>
                                      <m:ctrlPr>
                                        <a:rPr lang="es-419" sz="7200" i="1">
                                          <a:latin typeface="Cambria Math" panose="02040503050406030204" pitchFamily="18" charset="0"/>
                                        </a:rPr>
                                      </m:ctrlPr>
                                    </m:sSubSupPr>
                                    <m:e>
                                      <m:r>
                                        <a:rPr lang="es-419" sz="7200" i="1">
                                          <a:latin typeface="Cambria Math" panose="02040503050406030204" pitchFamily="18" charset="0"/>
                                        </a:rPr>
                                        <m:t>𝑆</m:t>
                                      </m:r>
                                    </m:e>
                                    <m:sub>
                                      <m:r>
                                        <a:rPr lang="es-419" sz="7200" i="1">
                                          <a:latin typeface="Cambria Math" panose="02040503050406030204" pitchFamily="18" charset="0"/>
                                          <a:ea typeface="Cambria Math" panose="02040503050406030204" pitchFamily="18" charset="0"/>
                                        </a:rPr>
                                        <m:t>𝑦</m:t>
                                      </m:r>
                                    </m:sub>
                                    <m:sup>
                                      <m:r>
                                        <a:rPr lang="es-419" sz="7200" i="1">
                                          <a:latin typeface="Cambria Math" panose="02040503050406030204" pitchFamily="18" charset="0"/>
                                        </a:rPr>
                                        <m:t>2</m:t>
                                      </m:r>
                                    </m:sup>
                                  </m:sSub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𝑦</m:t>
                                      </m:r>
                                    </m:sub>
                                  </m:sSub>
                                </m:den>
                              </m:f>
                            </m:e>
                          </m:rad>
                        </m:den>
                      </m:f>
                      <m:r>
                        <a:rPr lang="es-419" sz="7200" i="1">
                          <a:latin typeface="Cambria Math" panose="02040503050406030204" pitchFamily="18" charset="0"/>
                          <a:ea typeface="Cambria Math" panose="02040503050406030204" pitchFamily="18" charset="0"/>
                        </a:rPr>
                        <m:t>~</m:t>
                      </m:r>
                      <m:sSub>
                        <m:sSubPr>
                          <m:ctrlPr>
                            <a:rPr lang="es-419" sz="7200" i="1">
                              <a:latin typeface="Cambria Math" panose="02040503050406030204" pitchFamily="18" charset="0"/>
                              <a:ea typeface="Cambria Math" panose="02040503050406030204" pitchFamily="18" charset="0"/>
                            </a:rPr>
                          </m:ctrlPr>
                        </m:sSubPr>
                        <m:e>
                          <m:r>
                            <a:rPr lang="es-419" sz="7200" i="1">
                              <a:latin typeface="Cambria Math" panose="02040503050406030204" pitchFamily="18" charset="0"/>
                              <a:ea typeface="Cambria Math" panose="02040503050406030204" pitchFamily="18" charset="0"/>
                            </a:rPr>
                            <m:t>𝑡</m:t>
                          </m:r>
                        </m:e>
                        <m:sub>
                          <m:r>
                            <a:rPr lang="es-419" sz="7200" i="1">
                              <a:latin typeface="Cambria Math" panose="02040503050406030204" pitchFamily="18" charset="0"/>
                              <a:ea typeface="Cambria Math" panose="02040503050406030204" pitchFamily="18" charset="0"/>
                            </a:rPr>
                            <m:t>𝑣</m:t>
                          </m:r>
                        </m:sub>
                      </m:sSub>
                      <m:r>
                        <a:rPr lang="es-419" sz="7200" b="0" i="1" smtClean="0">
                          <a:latin typeface="Cambria Math" panose="02040503050406030204" pitchFamily="18" charset="0"/>
                          <a:ea typeface="Cambria Math" panose="02040503050406030204" pitchFamily="18" charset="0"/>
                        </a:rPr>
                        <m:t>;</m:t>
                      </m:r>
                      <m:r>
                        <a:rPr lang="es-419" sz="7200" b="0" i="1" smtClean="0">
                          <a:latin typeface="Cambria Math" panose="02040503050406030204" pitchFamily="18" charset="0"/>
                          <a:ea typeface="Cambria Math" panose="02040503050406030204" pitchFamily="18" charset="0"/>
                        </a:rPr>
                        <m:t>𝑐𝑜𝑛</m:t>
                      </m:r>
                      <m:r>
                        <a:rPr lang="es-419" sz="7200" b="0" i="1" smtClean="0">
                          <a:latin typeface="Cambria Math" panose="02040503050406030204" pitchFamily="18" charset="0"/>
                          <a:ea typeface="Cambria Math" panose="02040503050406030204" pitchFamily="18" charset="0"/>
                        </a:rPr>
                        <m:t> </m:t>
                      </m:r>
                      <m:r>
                        <a:rPr lang="es-419" sz="7200" i="1">
                          <a:latin typeface="Cambria Math" panose="02040503050406030204" pitchFamily="18" charset="0"/>
                        </a:rPr>
                        <m:t>𝑣</m:t>
                      </m:r>
                      <m:r>
                        <a:rPr lang="es-419" sz="7200" i="1">
                          <a:latin typeface="Cambria Math" panose="02040503050406030204" pitchFamily="18" charset="0"/>
                        </a:rPr>
                        <m:t>=</m:t>
                      </m:r>
                      <m:f>
                        <m:fPr>
                          <m:ctrlPr>
                            <a:rPr lang="es-419" sz="7200" i="1">
                              <a:latin typeface="Cambria Math" panose="02040503050406030204" pitchFamily="18" charset="0"/>
                            </a:rPr>
                          </m:ctrlPr>
                        </m:fPr>
                        <m:num>
                          <m:sSup>
                            <m:sSupPr>
                              <m:ctrlPr>
                                <a:rPr lang="es-419" sz="7200" i="1">
                                  <a:latin typeface="Cambria Math" panose="02040503050406030204" pitchFamily="18" charset="0"/>
                                </a:rPr>
                              </m:ctrlPr>
                            </m:sSupPr>
                            <m:e>
                              <m:r>
                                <a:rPr lang="es-419" sz="7200" i="1">
                                  <a:latin typeface="Cambria Math" panose="02040503050406030204" pitchFamily="18" charset="0"/>
                                </a:rPr>
                                <m:t>(</m:t>
                              </m:r>
                              <m:f>
                                <m:fPr>
                                  <m:ctrlPr>
                                    <a:rPr lang="es-419" sz="7200" i="1">
                                      <a:latin typeface="Cambria Math" panose="02040503050406030204" pitchFamily="18" charset="0"/>
                                    </a:rPr>
                                  </m:ctrlPr>
                                </m:fPr>
                                <m:num>
                                  <m:sSubSup>
                                    <m:sSubSupPr>
                                      <m:ctrlPr>
                                        <a:rPr lang="es-419" sz="7200" i="1">
                                          <a:latin typeface="Cambria Math" panose="02040503050406030204" pitchFamily="18" charset="0"/>
                                        </a:rPr>
                                      </m:ctrlPr>
                                    </m:sSubSupPr>
                                    <m:e>
                                      <m:r>
                                        <a:rPr lang="es-419" sz="7200" i="1">
                                          <a:latin typeface="Cambria Math" panose="02040503050406030204" pitchFamily="18" charset="0"/>
                                        </a:rPr>
                                        <m:t>𝑆</m:t>
                                      </m:r>
                                    </m:e>
                                    <m:sub>
                                      <m:r>
                                        <a:rPr lang="es-419" sz="7200" i="1">
                                          <a:latin typeface="Cambria Math" panose="02040503050406030204" pitchFamily="18" charset="0"/>
                                        </a:rPr>
                                        <m:t>𝑥</m:t>
                                      </m:r>
                                    </m:sub>
                                    <m:sup>
                                      <m:r>
                                        <a:rPr lang="es-419" sz="7200" i="1">
                                          <a:latin typeface="Cambria Math" panose="02040503050406030204" pitchFamily="18" charset="0"/>
                                        </a:rPr>
                                        <m:t>2</m:t>
                                      </m:r>
                                    </m:sup>
                                  </m:sSub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𝑥</m:t>
                                      </m:r>
                                    </m:sub>
                                  </m:sSub>
                                </m:den>
                              </m:f>
                              <m:r>
                                <m:rPr>
                                  <m:nor/>
                                </m:rPr>
                                <a:rPr lang="es-419" sz="7200" dirty="0"/>
                                <m:t>+ </m:t>
                              </m:r>
                              <m:f>
                                <m:fPr>
                                  <m:ctrlPr>
                                    <a:rPr lang="es-419" sz="7200" i="1">
                                      <a:latin typeface="Cambria Math" panose="02040503050406030204" pitchFamily="18" charset="0"/>
                                    </a:rPr>
                                  </m:ctrlPr>
                                </m:fPr>
                                <m:num>
                                  <m:sSubSup>
                                    <m:sSubSupPr>
                                      <m:ctrlPr>
                                        <a:rPr lang="es-419" sz="7200" i="1">
                                          <a:latin typeface="Cambria Math" panose="02040503050406030204" pitchFamily="18" charset="0"/>
                                        </a:rPr>
                                      </m:ctrlPr>
                                    </m:sSubSupPr>
                                    <m:e>
                                      <m:r>
                                        <a:rPr lang="es-419" sz="7200" i="1">
                                          <a:latin typeface="Cambria Math" panose="02040503050406030204" pitchFamily="18" charset="0"/>
                                        </a:rPr>
                                        <m:t>𝑆</m:t>
                                      </m:r>
                                    </m:e>
                                    <m:sub>
                                      <m:r>
                                        <a:rPr lang="es-419" sz="7200" i="1">
                                          <a:latin typeface="Cambria Math" panose="02040503050406030204" pitchFamily="18" charset="0"/>
                                          <a:ea typeface="Cambria Math" panose="02040503050406030204" pitchFamily="18" charset="0"/>
                                        </a:rPr>
                                        <m:t>𝑦</m:t>
                                      </m:r>
                                    </m:sub>
                                    <m:sup>
                                      <m:r>
                                        <a:rPr lang="es-419" sz="7200" i="1">
                                          <a:latin typeface="Cambria Math" panose="02040503050406030204" pitchFamily="18" charset="0"/>
                                        </a:rPr>
                                        <m:t>2</m:t>
                                      </m:r>
                                    </m:sup>
                                  </m:sSub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𝑦</m:t>
                                      </m:r>
                                    </m:sub>
                                  </m:sSub>
                                </m:den>
                              </m:f>
                              <m:r>
                                <a:rPr lang="es-419" sz="7200" i="1">
                                  <a:latin typeface="Cambria Math" panose="02040503050406030204" pitchFamily="18" charset="0"/>
                                </a:rPr>
                                <m:t>)</m:t>
                              </m:r>
                            </m:e>
                            <m:sup>
                              <m:r>
                                <a:rPr lang="es-419" sz="7200" i="1">
                                  <a:latin typeface="Cambria Math" panose="02040503050406030204" pitchFamily="18" charset="0"/>
                                </a:rPr>
                                <m:t>2</m:t>
                              </m:r>
                            </m:sup>
                          </m:sSup>
                        </m:num>
                        <m:den>
                          <m:f>
                            <m:fPr>
                              <m:ctrlPr>
                                <a:rPr lang="es-419" sz="7200" i="1">
                                  <a:latin typeface="Cambria Math" panose="02040503050406030204" pitchFamily="18" charset="0"/>
                                </a:rPr>
                              </m:ctrlPr>
                            </m:fPr>
                            <m:num>
                              <m:sSup>
                                <m:sSupPr>
                                  <m:ctrlPr>
                                    <a:rPr lang="es-419" sz="7200" i="1">
                                      <a:latin typeface="Cambria Math" panose="02040503050406030204" pitchFamily="18" charset="0"/>
                                    </a:rPr>
                                  </m:ctrlPr>
                                </m:sSupPr>
                                <m:e>
                                  <m:r>
                                    <a:rPr lang="es-419" sz="7200" i="1">
                                      <a:latin typeface="Cambria Math" panose="02040503050406030204" pitchFamily="18" charset="0"/>
                                    </a:rPr>
                                    <m:t>(</m:t>
                                  </m:r>
                                  <m:f>
                                    <m:fPr>
                                      <m:ctrlPr>
                                        <a:rPr lang="es-419" sz="7200" i="1">
                                          <a:latin typeface="Cambria Math" panose="02040503050406030204" pitchFamily="18" charset="0"/>
                                        </a:rPr>
                                      </m:ctrlPr>
                                    </m:fPr>
                                    <m:num>
                                      <m:sSubSup>
                                        <m:sSubSupPr>
                                          <m:ctrlPr>
                                            <a:rPr lang="es-419" sz="7200" i="1">
                                              <a:latin typeface="Cambria Math" panose="02040503050406030204" pitchFamily="18" charset="0"/>
                                            </a:rPr>
                                          </m:ctrlPr>
                                        </m:sSubSupPr>
                                        <m:e>
                                          <m:r>
                                            <a:rPr lang="es-419" sz="7200" i="1">
                                              <a:latin typeface="Cambria Math" panose="02040503050406030204" pitchFamily="18" charset="0"/>
                                            </a:rPr>
                                            <m:t>𝑆</m:t>
                                          </m:r>
                                        </m:e>
                                        <m:sub>
                                          <m:r>
                                            <a:rPr lang="es-419" sz="7200" i="1">
                                              <a:latin typeface="Cambria Math" panose="02040503050406030204" pitchFamily="18" charset="0"/>
                                            </a:rPr>
                                            <m:t>𝑥</m:t>
                                          </m:r>
                                        </m:sub>
                                        <m:sup>
                                          <m:r>
                                            <a:rPr lang="es-419" sz="7200" i="1">
                                              <a:latin typeface="Cambria Math" panose="02040503050406030204" pitchFamily="18" charset="0"/>
                                            </a:rPr>
                                            <m:t>2</m:t>
                                          </m:r>
                                        </m:sup>
                                      </m:sSub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𝑥</m:t>
                                          </m:r>
                                        </m:sub>
                                      </m:sSub>
                                    </m:den>
                                  </m:f>
                                  <m:r>
                                    <a:rPr lang="es-419" sz="7200" i="1">
                                      <a:latin typeface="Cambria Math" panose="02040503050406030204" pitchFamily="18" charset="0"/>
                                    </a:rPr>
                                    <m:t>)</m:t>
                                  </m:r>
                                </m:e>
                                <m:sup>
                                  <m:r>
                                    <a:rPr lang="es-419" sz="7200" i="1">
                                      <a:latin typeface="Cambria Math" panose="02040503050406030204" pitchFamily="18" charset="0"/>
                                    </a:rPr>
                                    <m:t>2</m:t>
                                  </m:r>
                                </m:sup>
                              </m:s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𝑥</m:t>
                                  </m:r>
                                </m:sub>
                              </m:sSub>
                              <m:r>
                                <a:rPr lang="es-419" sz="7200" i="1">
                                  <a:latin typeface="Cambria Math" panose="02040503050406030204" pitchFamily="18" charset="0"/>
                                </a:rPr>
                                <m:t>−1</m:t>
                              </m:r>
                            </m:den>
                          </m:f>
                          <m:r>
                            <a:rPr lang="es-419" sz="7200" i="1">
                              <a:latin typeface="Cambria Math" panose="02040503050406030204" pitchFamily="18" charset="0"/>
                            </a:rPr>
                            <m:t>+</m:t>
                          </m:r>
                          <m:f>
                            <m:fPr>
                              <m:ctrlPr>
                                <a:rPr lang="es-419" sz="7200" i="1">
                                  <a:latin typeface="Cambria Math" panose="02040503050406030204" pitchFamily="18" charset="0"/>
                                </a:rPr>
                              </m:ctrlPr>
                            </m:fPr>
                            <m:num>
                              <m:sSup>
                                <m:sSupPr>
                                  <m:ctrlPr>
                                    <a:rPr lang="es-419" sz="7200" i="1">
                                      <a:latin typeface="Cambria Math" panose="02040503050406030204" pitchFamily="18" charset="0"/>
                                    </a:rPr>
                                  </m:ctrlPr>
                                </m:sSupPr>
                                <m:e>
                                  <m:r>
                                    <a:rPr lang="es-419" sz="7200" i="1">
                                      <a:latin typeface="Cambria Math" panose="02040503050406030204" pitchFamily="18" charset="0"/>
                                    </a:rPr>
                                    <m:t>(</m:t>
                                  </m:r>
                                  <m:f>
                                    <m:fPr>
                                      <m:ctrlPr>
                                        <a:rPr lang="es-419" sz="7200" i="1">
                                          <a:latin typeface="Cambria Math" panose="02040503050406030204" pitchFamily="18" charset="0"/>
                                        </a:rPr>
                                      </m:ctrlPr>
                                    </m:fPr>
                                    <m:num>
                                      <m:sSubSup>
                                        <m:sSubSupPr>
                                          <m:ctrlPr>
                                            <a:rPr lang="es-419" sz="7200" i="1">
                                              <a:latin typeface="Cambria Math" panose="02040503050406030204" pitchFamily="18" charset="0"/>
                                            </a:rPr>
                                          </m:ctrlPr>
                                        </m:sSubSupPr>
                                        <m:e>
                                          <m:r>
                                            <a:rPr lang="es-419" sz="7200" i="1">
                                              <a:latin typeface="Cambria Math" panose="02040503050406030204" pitchFamily="18" charset="0"/>
                                            </a:rPr>
                                            <m:t>𝑆</m:t>
                                          </m:r>
                                        </m:e>
                                        <m:sub>
                                          <m:r>
                                            <a:rPr lang="es-419" sz="7200" i="1">
                                              <a:latin typeface="Cambria Math" panose="02040503050406030204" pitchFamily="18" charset="0"/>
                                            </a:rPr>
                                            <m:t>𝑦</m:t>
                                          </m:r>
                                        </m:sub>
                                        <m:sup>
                                          <m:r>
                                            <a:rPr lang="es-419" sz="7200" i="1">
                                              <a:latin typeface="Cambria Math" panose="02040503050406030204" pitchFamily="18" charset="0"/>
                                            </a:rPr>
                                            <m:t>2</m:t>
                                          </m:r>
                                        </m:sup>
                                      </m:sSub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𝑦</m:t>
                                          </m:r>
                                        </m:sub>
                                      </m:sSub>
                                    </m:den>
                                  </m:f>
                                  <m:r>
                                    <a:rPr lang="es-419" sz="7200" i="1">
                                      <a:latin typeface="Cambria Math" panose="02040503050406030204" pitchFamily="18" charset="0"/>
                                    </a:rPr>
                                    <m:t>)</m:t>
                                  </m:r>
                                </m:e>
                                <m:sup>
                                  <m:r>
                                    <a:rPr lang="es-419" sz="7200" i="1">
                                      <a:latin typeface="Cambria Math" panose="02040503050406030204" pitchFamily="18" charset="0"/>
                                    </a:rPr>
                                    <m:t>2</m:t>
                                  </m:r>
                                </m:sup>
                              </m:sSup>
                            </m:num>
                            <m:den>
                              <m:sSub>
                                <m:sSubPr>
                                  <m:ctrlPr>
                                    <a:rPr lang="es-419" sz="7200" i="1">
                                      <a:latin typeface="Cambria Math" panose="02040503050406030204" pitchFamily="18" charset="0"/>
                                    </a:rPr>
                                  </m:ctrlPr>
                                </m:sSubPr>
                                <m:e>
                                  <m:r>
                                    <a:rPr lang="es-419" sz="7200" i="1">
                                      <a:latin typeface="Cambria Math" panose="02040503050406030204" pitchFamily="18" charset="0"/>
                                    </a:rPr>
                                    <m:t>𝑛</m:t>
                                  </m:r>
                                </m:e>
                                <m:sub>
                                  <m:r>
                                    <a:rPr lang="es-419" sz="7200" i="1">
                                      <a:latin typeface="Cambria Math" panose="02040503050406030204" pitchFamily="18" charset="0"/>
                                    </a:rPr>
                                    <m:t>𝑦</m:t>
                                  </m:r>
                                </m:sub>
                              </m:sSub>
                              <m:r>
                                <a:rPr lang="es-419" sz="7200" i="1">
                                  <a:latin typeface="Cambria Math" panose="02040503050406030204" pitchFamily="18" charset="0"/>
                                </a:rPr>
                                <m:t>−1</m:t>
                              </m:r>
                            </m:den>
                          </m:f>
                        </m:den>
                      </m:f>
                    </m:oMath>
                  </m:oMathPara>
                </a14:m>
                <a:endParaRPr lang="es-419" sz="5500" dirty="0">
                  <a:ea typeface="Cambria Math" panose="02040503050406030204" pitchFamily="18" charset="0"/>
                </a:endParaRPr>
              </a:p>
              <a:p>
                <a:pPr>
                  <a:lnSpc>
                    <a:spcPct val="150000"/>
                  </a:lnSpc>
                </a:pPr>
                <a:r>
                  <a:rPr lang="es-419" sz="7200" dirty="0">
                    <a:ea typeface="Cambria Math" panose="02040503050406030204" pitchFamily="18" charset="0"/>
                  </a:rPr>
                  <a:t>Podemos plantear el despeje del intervalo:</a:t>
                </a:r>
              </a:p>
              <a:p>
                <a:pPr marL="0" indent="0">
                  <a:lnSpc>
                    <a:spcPct val="120000"/>
                  </a:lnSpc>
                  <a:buNone/>
                </a:pPr>
                <a14:m>
                  <m:oMathPara xmlns:m="http://schemas.openxmlformats.org/officeDocument/2006/math">
                    <m:oMathParaPr>
                      <m:jc m:val="centerGroup"/>
                    </m:oMathParaPr>
                    <m:oMath xmlns:m="http://schemas.openxmlformats.org/officeDocument/2006/math">
                      <m:r>
                        <a:rPr lang="es-419" sz="6000" i="1" smtClean="0">
                          <a:latin typeface="Cambria Math" panose="02040503050406030204" pitchFamily="18" charset="0"/>
                          <a:ea typeface="Cambria Math" panose="02040503050406030204" pitchFamily="18" charset="0"/>
                        </a:rPr>
                        <m:t>𝑃</m:t>
                      </m:r>
                      <m:d>
                        <m:dPr>
                          <m:ctrlPr>
                            <a:rPr lang="es-419" sz="6000" i="1">
                              <a:latin typeface="Cambria Math" panose="02040503050406030204" pitchFamily="18" charset="0"/>
                              <a:ea typeface="Cambria Math" panose="02040503050406030204" pitchFamily="18" charset="0"/>
                            </a:rPr>
                          </m:ctrlPr>
                        </m:dPr>
                        <m:e>
                          <m:r>
                            <a:rPr lang="es-419" sz="6000" i="1">
                              <a:latin typeface="Cambria Math" panose="02040503050406030204" pitchFamily="18" charset="0"/>
                              <a:ea typeface="Cambria Math" panose="02040503050406030204" pitchFamily="18" charset="0"/>
                            </a:rPr>
                            <m:t>−</m:t>
                          </m:r>
                          <m:sSub>
                            <m:sSubPr>
                              <m:ctrlPr>
                                <a:rPr lang="es-419" sz="6000" i="1">
                                  <a:latin typeface="Cambria Math" panose="02040503050406030204" pitchFamily="18" charset="0"/>
                                  <a:ea typeface="Cambria Math" panose="02040503050406030204" pitchFamily="18" charset="0"/>
                                </a:rPr>
                              </m:ctrlPr>
                            </m:sSubPr>
                            <m:e>
                              <m:r>
                                <a:rPr lang="es-419" sz="6000" b="0" i="1" smtClean="0">
                                  <a:latin typeface="Cambria Math" panose="02040503050406030204" pitchFamily="18" charset="0"/>
                                  <a:ea typeface="Cambria Math" panose="02040503050406030204" pitchFamily="18" charset="0"/>
                                </a:rPr>
                                <m:t>𝑡</m:t>
                              </m:r>
                            </m:e>
                            <m:sub>
                              <m:f>
                                <m:fPr>
                                  <m:type m:val="skw"/>
                                  <m:ctrlPr>
                                    <a:rPr lang="es-419" sz="6000" i="1">
                                      <a:latin typeface="Cambria Math" panose="02040503050406030204" pitchFamily="18" charset="0"/>
                                      <a:ea typeface="Cambria Math" panose="02040503050406030204" pitchFamily="18" charset="0"/>
                                    </a:rPr>
                                  </m:ctrlPr>
                                </m:fPr>
                                <m:num>
                                  <m:r>
                                    <a:rPr lang="es-419" sz="6000" i="1">
                                      <a:latin typeface="Cambria Math" panose="02040503050406030204" pitchFamily="18" charset="0"/>
                                      <a:ea typeface="Cambria Math" panose="02040503050406030204" pitchFamily="18" charset="0"/>
                                    </a:rPr>
                                    <m:t>𝛼</m:t>
                                  </m:r>
                                </m:num>
                                <m:den>
                                  <m:r>
                                    <a:rPr lang="es-419" sz="6000" i="1">
                                      <a:latin typeface="Cambria Math" panose="02040503050406030204" pitchFamily="18" charset="0"/>
                                      <a:ea typeface="Cambria Math" panose="02040503050406030204" pitchFamily="18" charset="0"/>
                                    </a:rPr>
                                    <m:t>2</m:t>
                                  </m:r>
                                </m:den>
                              </m:f>
                            </m:sub>
                          </m:sSub>
                          <m:r>
                            <a:rPr lang="es-419" sz="6000" i="1">
                              <a:latin typeface="Cambria Math" panose="02040503050406030204" pitchFamily="18" charset="0"/>
                              <a:ea typeface="Cambria Math" panose="02040503050406030204" pitchFamily="18" charset="0"/>
                            </a:rPr>
                            <m:t>≤</m:t>
                          </m:r>
                          <m:f>
                            <m:fPr>
                              <m:ctrlPr>
                                <a:rPr lang="es-419" sz="6000" i="1">
                                  <a:latin typeface="Cambria Math" panose="02040503050406030204" pitchFamily="18" charset="0"/>
                                </a:rPr>
                              </m:ctrlPr>
                            </m:fPr>
                            <m:num>
                              <m:d>
                                <m:dPr>
                                  <m:ctrlPr>
                                    <a:rPr lang="es-419" sz="6000" i="1">
                                      <a:latin typeface="Cambria Math" panose="02040503050406030204" pitchFamily="18" charset="0"/>
                                    </a:rPr>
                                  </m:ctrlPr>
                                </m:dPr>
                                <m:e>
                                  <m:acc>
                                    <m:accPr>
                                      <m:chr m:val="̅"/>
                                      <m:ctrlPr>
                                        <a:rPr lang="es-419" sz="6000" i="1">
                                          <a:latin typeface="Cambria Math" panose="02040503050406030204" pitchFamily="18" charset="0"/>
                                        </a:rPr>
                                      </m:ctrlPr>
                                    </m:accPr>
                                    <m:e>
                                      <m:r>
                                        <a:rPr lang="es-419" sz="6000" i="1">
                                          <a:latin typeface="Cambria Math" panose="02040503050406030204" pitchFamily="18" charset="0"/>
                                        </a:rPr>
                                        <m:t>𝑋</m:t>
                                      </m:r>
                                    </m:e>
                                  </m:acc>
                                  <m:r>
                                    <a:rPr lang="es-419" sz="6000" i="1">
                                      <a:latin typeface="Cambria Math" panose="02040503050406030204" pitchFamily="18" charset="0"/>
                                    </a:rPr>
                                    <m:t>−</m:t>
                                  </m:r>
                                  <m:acc>
                                    <m:accPr>
                                      <m:chr m:val="̅"/>
                                      <m:ctrlPr>
                                        <a:rPr lang="es-419" sz="6000" i="1">
                                          <a:latin typeface="Cambria Math" panose="02040503050406030204" pitchFamily="18" charset="0"/>
                                        </a:rPr>
                                      </m:ctrlPr>
                                    </m:accPr>
                                    <m:e>
                                      <m:r>
                                        <a:rPr lang="es-419" sz="6000" i="1">
                                          <a:latin typeface="Cambria Math" panose="02040503050406030204" pitchFamily="18" charset="0"/>
                                        </a:rPr>
                                        <m:t>𝑌</m:t>
                                      </m:r>
                                    </m:e>
                                  </m:acc>
                                </m:e>
                              </m:d>
                              <m:r>
                                <a:rPr lang="es-419" sz="6000" i="1">
                                  <a:latin typeface="Cambria Math" panose="02040503050406030204" pitchFamily="18" charset="0"/>
                                </a:rPr>
                                <m:t>−(</m:t>
                              </m:r>
                              <m:sSub>
                                <m:sSubPr>
                                  <m:ctrlPr>
                                    <a:rPr lang="es-419" sz="6000" i="1">
                                      <a:latin typeface="Cambria Math" panose="02040503050406030204" pitchFamily="18" charset="0"/>
                                    </a:rPr>
                                  </m:ctrlPr>
                                </m:sSubPr>
                                <m:e>
                                  <m:r>
                                    <a:rPr lang="es-419" sz="6000" i="1">
                                      <a:latin typeface="Cambria Math" panose="02040503050406030204" pitchFamily="18" charset="0"/>
                                      <a:ea typeface="Cambria Math" panose="02040503050406030204" pitchFamily="18" charset="0"/>
                                    </a:rPr>
                                    <m:t>𝜇</m:t>
                                  </m:r>
                                </m:e>
                                <m:sub>
                                  <m:r>
                                    <a:rPr lang="es-419" sz="6000" i="1">
                                      <a:latin typeface="Cambria Math" panose="02040503050406030204" pitchFamily="18" charset="0"/>
                                    </a:rPr>
                                    <m:t>𝑥</m:t>
                                  </m:r>
                                </m:sub>
                              </m:sSub>
                              <m:r>
                                <a:rPr lang="es-419" sz="6000">
                                  <a:latin typeface="Cambria Math" panose="02040503050406030204" pitchFamily="18" charset="0"/>
                                </a:rPr>
                                <m:t>−</m:t>
                              </m:r>
                              <m:sSub>
                                <m:sSubPr>
                                  <m:ctrlPr>
                                    <a:rPr lang="es-419" sz="6000" i="1">
                                      <a:latin typeface="Cambria Math" panose="02040503050406030204" pitchFamily="18" charset="0"/>
                                    </a:rPr>
                                  </m:ctrlPr>
                                </m:sSubPr>
                                <m:e>
                                  <m:r>
                                    <a:rPr lang="es-419" sz="6000" i="1">
                                      <a:latin typeface="Cambria Math" panose="02040503050406030204" pitchFamily="18" charset="0"/>
                                      <a:ea typeface="Cambria Math" panose="02040503050406030204" pitchFamily="18" charset="0"/>
                                    </a:rPr>
                                    <m:t>𝜇</m:t>
                                  </m:r>
                                </m:e>
                                <m:sub>
                                  <m:r>
                                    <a:rPr lang="es-419" sz="6000" i="1">
                                      <a:latin typeface="Cambria Math" panose="02040503050406030204" pitchFamily="18" charset="0"/>
                                      <a:ea typeface="Cambria Math" panose="02040503050406030204" pitchFamily="18" charset="0"/>
                                    </a:rPr>
                                    <m:t>𝑦</m:t>
                                  </m:r>
                                </m:sub>
                              </m:sSub>
                              <m:r>
                                <a:rPr lang="es-419" sz="6000" i="1">
                                  <a:latin typeface="Cambria Math" panose="02040503050406030204" pitchFamily="18" charset="0"/>
                                </a:rPr>
                                <m:t>)</m:t>
                              </m:r>
                            </m:num>
                            <m:den>
                              <m:rad>
                                <m:radPr>
                                  <m:degHide m:val="on"/>
                                  <m:ctrlPr>
                                    <a:rPr lang="es-419" sz="6000" i="1">
                                      <a:latin typeface="Cambria Math" panose="02040503050406030204" pitchFamily="18" charset="0"/>
                                    </a:rPr>
                                  </m:ctrlPr>
                                </m:radPr>
                                <m:deg/>
                                <m:e>
                                  <m:f>
                                    <m:fPr>
                                      <m:ctrlPr>
                                        <a:rPr lang="es-419" sz="6000" i="1">
                                          <a:latin typeface="Cambria Math" panose="02040503050406030204" pitchFamily="18" charset="0"/>
                                        </a:rPr>
                                      </m:ctrlPr>
                                    </m:fPr>
                                    <m:num>
                                      <m:sSubSup>
                                        <m:sSubSupPr>
                                          <m:ctrlPr>
                                            <a:rPr lang="es-419" sz="6000" i="1">
                                              <a:latin typeface="Cambria Math" panose="02040503050406030204" pitchFamily="18" charset="0"/>
                                            </a:rPr>
                                          </m:ctrlPr>
                                        </m:sSubSupPr>
                                        <m:e>
                                          <m:r>
                                            <a:rPr lang="es-419" sz="6000" i="1">
                                              <a:latin typeface="Cambria Math" panose="02040503050406030204" pitchFamily="18" charset="0"/>
                                            </a:rPr>
                                            <m:t>𝑆</m:t>
                                          </m:r>
                                        </m:e>
                                        <m:sub>
                                          <m:r>
                                            <a:rPr lang="es-419" sz="6000" i="1">
                                              <a:latin typeface="Cambria Math" panose="02040503050406030204" pitchFamily="18" charset="0"/>
                                            </a:rPr>
                                            <m:t>𝑥</m:t>
                                          </m:r>
                                        </m:sub>
                                        <m:sup>
                                          <m:r>
                                            <a:rPr lang="es-419" sz="6000" i="1">
                                              <a:latin typeface="Cambria Math" panose="02040503050406030204" pitchFamily="18" charset="0"/>
                                            </a:rPr>
                                            <m:t>2</m:t>
                                          </m:r>
                                        </m:sup>
                                      </m:sSubSup>
                                    </m:num>
                                    <m:den>
                                      <m:sSub>
                                        <m:sSubPr>
                                          <m:ctrlPr>
                                            <a:rPr lang="es-419" sz="6000" i="1">
                                              <a:latin typeface="Cambria Math" panose="02040503050406030204" pitchFamily="18" charset="0"/>
                                            </a:rPr>
                                          </m:ctrlPr>
                                        </m:sSubPr>
                                        <m:e>
                                          <m:r>
                                            <a:rPr lang="es-419" sz="6000" i="1">
                                              <a:latin typeface="Cambria Math" panose="02040503050406030204" pitchFamily="18" charset="0"/>
                                            </a:rPr>
                                            <m:t>𝑛</m:t>
                                          </m:r>
                                        </m:e>
                                        <m:sub>
                                          <m:r>
                                            <a:rPr lang="es-419" sz="6000" i="1">
                                              <a:latin typeface="Cambria Math" panose="02040503050406030204" pitchFamily="18" charset="0"/>
                                            </a:rPr>
                                            <m:t>𝑥</m:t>
                                          </m:r>
                                        </m:sub>
                                      </m:sSub>
                                    </m:den>
                                  </m:f>
                                  <m:r>
                                    <m:rPr>
                                      <m:nor/>
                                    </m:rPr>
                                    <a:rPr lang="es-419" sz="6000" dirty="0"/>
                                    <m:t>+ </m:t>
                                  </m:r>
                                  <m:f>
                                    <m:fPr>
                                      <m:ctrlPr>
                                        <a:rPr lang="es-419" sz="6000" i="1">
                                          <a:latin typeface="Cambria Math" panose="02040503050406030204" pitchFamily="18" charset="0"/>
                                        </a:rPr>
                                      </m:ctrlPr>
                                    </m:fPr>
                                    <m:num>
                                      <m:sSubSup>
                                        <m:sSubSupPr>
                                          <m:ctrlPr>
                                            <a:rPr lang="es-419" sz="6000" i="1">
                                              <a:latin typeface="Cambria Math" panose="02040503050406030204" pitchFamily="18" charset="0"/>
                                            </a:rPr>
                                          </m:ctrlPr>
                                        </m:sSubSupPr>
                                        <m:e>
                                          <m:r>
                                            <a:rPr lang="es-419" sz="6000" i="1">
                                              <a:latin typeface="Cambria Math" panose="02040503050406030204" pitchFamily="18" charset="0"/>
                                            </a:rPr>
                                            <m:t>𝑆</m:t>
                                          </m:r>
                                        </m:e>
                                        <m:sub>
                                          <m:r>
                                            <a:rPr lang="es-419" sz="6000" i="1">
                                              <a:latin typeface="Cambria Math" panose="02040503050406030204" pitchFamily="18" charset="0"/>
                                              <a:ea typeface="Cambria Math" panose="02040503050406030204" pitchFamily="18" charset="0"/>
                                            </a:rPr>
                                            <m:t>𝑦</m:t>
                                          </m:r>
                                        </m:sub>
                                        <m:sup>
                                          <m:r>
                                            <a:rPr lang="es-419" sz="6000" i="1">
                                              <a:latin typeface="Cambria Math" panose="02040503050406030204" pitchFamily="18" charset="0"/>
                                            </a:rPr>
                                            <m:t>2</m:t>
                                          </m:r>
                                        </m:sup>
                                      </m:sSubSup>
                                    </m:num>
                                    <m:den>
                                      <m:sSub>
                                        <m:sSubPr>
                                          <m:ctrlPr>
                                            <a:rPr lang="es-419" sz="6000" i="1">
                                              <a:latin typeface="Cambria Math" panose="02040503050406030204" pitchFamily="18" charset="0"/>
                                            </a:rPr>
                                          </m:ctrlPr>
                                        </m:sSubPr>
                                        <m:e>
                                          <m:r>
                                            <a:rPr lang="es-419" sz="6000" i="1">
                                              <a:latin typeface="Cambria Math" panose="02040503050406030204" pitchFamily="18" charset="0"/>
                                            </a:rPr>
                                            <m:t>𝑛</m:t>
                                          </m:r>
                                        </m:e>
                                        <m:sub>
                                          <m:r>
                                            <a:rPr lang="es-419" sz="6000" i="1">
                                              <a:latin typeface="Cambria Math" panose="02040503050406030204" pitchFamily="18" charset="0"/>
                                            </a:rPr>
                                            <m:t>𝑦</m:t>
                                          </m:r>
                                        </m:sub>
                                      </m:sSub>
                                    </m:den>
                                  </m:f>
                                </m:e>
                              </m:rad>
                            </m:den>
                          </m:f>
                          <m:r>
                            <a:rPr lang="es-419" sz="6000" i="1">
                              <a:latin typeface="Cambria Math" panose="02040503050406030204" pitchFamily="18" charset="0"/>
                              <a:ea typeface="Cambria Math" panose="02040503050406030204" pitchFamily="18" charset="0"/>
                            </a:rPr>
                            <m:t>≤</m:t>
                          </m:r>
                          <m:sSub>
                            <m:sSubPr>
                              <m:ctrlPr>
                                <a:rPr lang="es-419" sz="6000" i="1">
                                  <a:latin typeface="Cambria Math" panose="02040503050406030204" pitchFamily="18" charset="0"/>
                                  <a:ea typeface="Cambria Math" panose="02040503050406030204" pitchFamily="18" charset="0"/>
                                </a:rPr>
                              </m:ctrlPr>
                            </m:sSubPr>
                            <m:e>
                              <m:r>
                                <a:rPr lang="es-419" sz="6000" b="0" i="1" smtClean="0">
                                  <a:latin typeface="Cambria Math" panose="02040503050406030204" pitchFamily="18" charset="0"/>
                                  <a:ea typeface="Cambria Math" panose="02040503050406030204" pitchFamily="18" charset="0"/>
                                </a:rPr>
                                <m:t>𝑡</m:t>
                              </m:r>
                            </m:e>
                            <m:sub>
                              <m:f>
                                <m:fPr>
                                  <m:type m:val="skw"/>
                                  <m:ctrlPr>
                                    <a:rPr lang="es-419" sz="6000" i="1">
                                      <a:latin typeface="Cambria Math" panose="02040503050406030204" pitchFamily="18" charset="0"/>
                                      <a:ea typeface="Cambria Math" panose="02040503050406030204" pitchFamily="18" charset="0"/>
                                    </a:rPr>
                                  </m:ctrlPr>
                                </m:fPr>
                                <m:num>
                                  <m:r>
                                    <a:rPr lang="es-419" sz="6000" i="1">
                                      <a:latin typeface="Cambria Math" panose="02040503050406030204" pitchFamily="18" charset="0"/>
                                      <a:ea typeface="Cambria Math" panose="02040503050406030204" pitchFamily="18" charset="0"/>
                                    </a:rPr>
                                    <m:t>𝛼</m:t>
                                  </m:r>
                                </m:num>
                                <m:den>
                                  <m:r>
                                    <a:rPr lang="es-419" sz="6000" i="1">
                                      <a:latin typeface="Cambria Math" panose="02040503050406030204" pitchFamily="18" charset="0"/>
                                      <a:ea typeface="Cambria Math" panose="02040503050406030204" pitchFamily="18" charset="0"/>
                                    </a:rPr>
                                    <m:t>2</m:t>
                                  </m:r>
                                </m:den>
                              </m:f>
                            </m:sub>
                          </m:sSub>
                        </m:e>
                      </m:d>
                      <m:r>
                        <a:rPr lang="es-419" sz="6000" i="1">
                          <a:latin typeface="Cambria Math" panose="02040503050406030204" pitchFamily="18" charset="0"/>
                          <a:ea typeface="Cambria Math" panose="02040503050406030204" pitchFamily="18" charset="0"/>
                        </a:rPr>
                        <m:t>=</m:t>
                      </m:r>
                      <m:r>
                        <a:rPr lang="es-419" sz="6000" i="1">
                          <a:latin typeface="Cambria Math" panose="02040503050406030204" pitchFamily="18" charset="0"/>
                        </a:rPr>
                        <m:t>1−</m:t>
                      </m:r>
                      <m:r>
                        <a:rPr lang="es-419" sz="6000" i="1">
                          <a:latin typeface="Cambria Math" panose="02040503050406030204" pitchFamily="18" charset="0"/>
                          <a:ea typeface="Cambria Math" panose="02040503050406030204" pitchFamily="18" charset="0"/>
                        </a:rPr>
                        <m:t>𝛼</m:t>
                      </m:r>
                    </m:oMath>
                  </m:oMathPara>
                </a14:m>
                <a:endParaRPr lang="es-419" sz="6000" dirty="0">
                  <a:ea typeface="Cambria Math" panose="02040503050406030204" pitchFamily="18" charset="0"/>
                </a:endParaRPr>
              </a:p>
              <a:p>
                <a:pPr>
                  <a:lnSpc>
                    <a:spcPct val="120000"/>
                  </a:lnSpc>
                </a:pPr>
                <a:endParaRPr lang="es-419" sz="550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s-VE">
                    <a:noFill/>
                  </a:rPr>
                  <a:t> </a:t>
                </a:r>
              </a:p>
            </p:txBody>
          </p:sp>
        </mc:Fallback>
      </mc:AlternateContent>
    </p:spTree>
    <p:extLst>
      <p:ext uri="{BB962C8B-B14F-4D97-AF65-F5344CB8AC3E}">
        <p14:creationId xmlns:p14="http://schemas.microsoft.com/office/powerpoint/2010/main" val="17140554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𝑥</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r>
                            <a:rPr lang="es-419" i="1">
                              <a:latin typeface="Cambria Math" panose="02040503050406030204" pitchFamily="18" charset="0"/>
                              <a:ea typeface="Cambria Math" panose="02040503050406030204" pitchFamily="18" charset="0"/>
                            </a:rPr>
                            <m:t>≤</m:t>
                          </m:r>
                          <m:d>
                            <m:dPr>
                              <m:ctrlPr>
                                <a:rPr lang="es-419" i="1">
                                  <a:latin typeface="Cambria Math" panose="02040503050406030204" pitchFamily="18" charset="0"/>
                                </a:rPr>
                              </m:ctrlPr>
                            </m:dPr>
                            <m:e>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rPr>
                                    <m:t>𝑥</m:t>
                                  </m:r>
                                </m:sub>
                              </m:sSub>
                              <m:r>
                                <a:rPr lang="es-419">
                                  <a:latin typeface="Cambria Math" panose="02040503050406030204" pitchFamily="18" charset="0"/>
                                </a:rPr>
                                <m:t>−</m:t>
                              </m:r>
                              <m:sSub>
                                <m:sSubPr>
                                  <m:ctrlPr>
                                    <a:rPr lang="es-419" i="1">
                                      <a:latin typeface="Cambria Math" panose="02040503050406030204" pitchFamily="18" charset="0"/>
                                    </a:rPr>
                                  </m:ctrlPr>
                                </m:sSubPr>
                                <m:e>
                                  <m:r>
                                    <a:rPr lang="es-419" i="1">
                                      <a:latin typeface="Cambria Math" panose="02040503050406030204" pitchFamily="18" charset="0"/>
                                      <a:ea typeface="Cambria Math" panose="02040503050406030204" pitchFamily="18" charset="0"/>
                                    </a:rPr>
                                    <m:t>𝜇</m:t>
                                  </m:r>
                                </m:e>
                                <m:sub>
                                  <m:r>
                                    <a:rPr lang="es-419" i="1">
                                      <a:latin typeface="Cambria Math" panose="02040503050406030204" pitchFamily="18" charset="0"/>
                                      <a:ea typeface="Cambria Math" panose="02040503050406030204" pitchFamily="18" charset="0"/>
                                    </a:rPr>
                                    <m:t>𝑦</m:t>
                                  </m:r>
                                </m:sub>
                              </m:sSub>
                            </m:e>
                          </m:d>
                          <m:r>
                            <a:rPr lang="es-419" i="1">
                              <a:latin typeface="Cambria Math" panose="02040503050406030204" pitchFamily="18" charset="0"/>
                              <a:ea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𝑥</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e>
                      </m:d>
                      <m:r>
                        <a:rPr lang="es-419" i="1">
                          <a:latin typeface="Cambria Math" panose="02040503050406030204" pitchFamily="18" charset="0"/>
                          <a:ea typeface="Cambria Math" panose="02040503050406030204" pitchFamily="18" charset="0"/>
                        </a:rPr>
                        <m:t>=</m:t>
                      </m:r>
                      <m:r>
                        <a:rPr lang="es-419" i="1">
                          <a:latin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El intervalo termina siendo:</a:t>
                </a:r>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s-419" b="0" i="1" dirty="0" smtClean="0">
                              <a:latin typeface="Cambria Math" panose="02040503050406030204" pitchFamily="18" charset="0"/>
                              <a:ea typeface="Cambria Math" panose="02040503050406030204" pitchFamily="18" charset="0"/>
                            </a:rPr>
                          </m:ctrlPr>
                        </m:dPr>
                        <m:e>
                          <m:d>
                            <m:dPr>
                              <m:ctrlPr>
                                <a:rPr lang="es-419" i="1" dirty="0" smtClean="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VE"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𝑥</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r>
                            <a:rPr lang="es-419" b="0" i="1" smtClean="0">
                              <a:latin typeface="Cambria Math" panose="02040503050406030204" pitchFamily="18" charset="0"/>
                            </a:rPr>
                            <m:t>;</m:t>
                          </m:r>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419" b="0" i="1" smtClean="0">
                              <a:latin typeface="Cambria Math" panose="02040503050406030204" pitchFamily="18" charset="0"/>
                              <a:ea typeface="Cambria Math" panose="02040503050406030204" pitchFamily="18" charset="0"/>
                            </a:rPr>
                            <m:t>+</m:t>
                          </m:r>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𝑥</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e>
                      </m:d>
                    </m:oMath>
                  </m:oMathPara>
                </a14:m>
                <a:endParaRPr lang="es-419" b="0" dirty="0"/>
              </a:p>
              <a:p>
                <a:pPr>
                  <a:lnSpc>
                    <a:spcPct val="150000"/>
                  </a:lnSpc>
                </a:pPr>
                <a:r>
                  <a:rPr lang="es-419" dirty="0">
                    <a:ea typeface="Cambria Math" panose="02040503050406030204" pitchFamily="18" charset="0"/>
                  </a:rPr>
                  <a:t>Resumido en:</a:t>
                </a:r>
              </a:p>
              <a:p>
                <a:pPr marL="0" indent="0">
                  <a:lnSpc>
                    <a:spcPct val="150000"/>
                  </a:lnSpc>
                  <a:buNone/>
                </a:pPr>
                <a14:m>
                  <m:oMathPara xmlns:m="http://schemas.openxmlformats.org/officeDocument/2006/math">
                    <m:oMathParaPr>
                      <m:jc m:val="centerGroup"/>
                    </m:oMathParaPr>
                    <m:oMath xmlns:m="http://schemas.openxmlformats.org/officeDocument/2006/math">
                      <m:d>
                        <m:dPr>
                          <m:ctrlPr>
                            <a:rPr lang="es-419" i="1" dirty="0">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𝑋</m:t>
                              </m:r>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r>
                                <a:rPr lang="es-419" i="1">
                                  <a:latin typeface="Cambria Math" panose="02040503050406030204" pitchFamily="18" charset="0"/>
                                  <a:ea typeface="Cambria Math" panose="02040503050406030204" pitchFamily="18" charset="0"/>
                                </a:rPr>
                                <m:t>𝑌</m:t>
                              </m:r>
                            </m:e>
                          </m:acc>
                        </m:e>
                      </m:d>
                      <m:r>
                        <a:rPr lang="es-419" i="1">
                          <a:latin typeface="Cambria Math" panose="02040503050406030204" pitchFamily="18" charset="0"/>
                          <a:ea typeface="Cambria Math" panose="02040503050406030204" pitchFamily="18" charset="0"/>
                        </a:rPr>
                        <m:t>∓ </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𝑡</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rPr>
                          </m:ctrlPr>
                        </m:radPr>
                        <m:deg/>
                        <m:e>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𝑥</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𝑥</m:t>
                                  </m:r>
                                </m:sub>
                              </m:sSub>
                            </m:den>
                          </m:f>
                          <m:r>
                            <m:rPr>
                              <m:nor/>
                            </m:rPr>
                            <a:rPr lang="es-419" dirty="0"/>
                            <m:t>+ </m:t>
                          </m:r>
                          <m:f>
                            <m:fPr>
                              <m:ctrlPr>
                                <a:rPr lang="es-419" i="1">
                                  <a:latin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ea typeface="Cambria Math" panose="02040503050406030204" pitchFamily="18" charset="0"/>
                                    </a:rPr>
                                    <m:t>𝑦</m:t>
                                  </m:r>
                                </m:sub>
                                <m:sup>
                                  <m:r>
                                    <a:rPr lang="es-419" i="1">
                                      <a:latin typeface="Cambria Math" panose="02040503050406030204" pitchFamily="18" charset="0"/>
                                    </a:rPr>
                                    <m:t>2</m:t>
                                  </m:r>
                                </m:sup>
                              </m:sSubSup>
                            </m:num>
                            <m:den>
                              <m:sSub>
                                <m:sSubPr>
                                  <m:ctrlPr>
                                    <a:rPr lang="es-419" i="1">
                                      <a:latin typeface="Cambria Math" panose="02040503050406030204" pitchFamily="18" charset="0"/>
                                    </a:rPr>
                                  </m:ctrlPr>
                                </m:sSubPr>
                                <m:e>
                                  <m:r>
                                    <a:rPr lang="es-419" i="1">
                                      <a:latin typeface="Cambria Math" panose="02040503050406030204" pitchFamily="18" charset="0"/>
                                    </a:rPr>
                                    <m:t>𝑛</m:t>
                                  </m:r>
                                </m:e>
                                <m:sub>
                                  <m:r>
                                    <a:rPr lang="es-419" i="1">
                                      <a:latin typeface="Cambria Math" panose="02040503050406030204" pitchFamily="18" charset="0"/>
                                    </a:rPr>
                                    <m:t>𝑦</m:t>
                                  </m:r>
                                </m:sub>
                              </m:sSub>
                            </m:den>
                          </m:f>
                        </m:e>
                      </m:rad>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s-419">
                    <a:noFill/>
                  </a:rPr>
                  <a:t> </a:t>
                </a:r>
              </a:p>
            </p:txBody>
          </p:sp>
        </mc:Fallback>
      </mc:AlternateContent>
    </p:spTree>
    <p:extLst>
      <p:ext uri="{BB962C8B-B14F-4D97-AF65-F5344CB8AC3E}">
        <p14:creationId xmlns:p14="http://schemas.microsoft.com/office/powerpoint/2010/main" val="7792464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9.59</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lstStyle/>
          <a:p>
            <a:pPr marL="0" indent="0">
              <a:lnSpc>
                <a:spcPct val="150000"/>
              </a:lnSpc>
              <a:buNone/>
            </a:pPr>
            <a:r>
              <a:rPr lang="es-VE" i="1" dirty="0"/>
              <a:t>En el ejercicio </a:t>
            </a:r>
            <a:r>
              <a:rPr lang="es-VE" b="1" i="1" dirty="0">
                <a:solidFill>
                  <a:srgbClr val="003A5D"/>
                </a:solidFill>
              </a:rPr>
              <a:t>9.55</a:t>
            </a:r>
            <a:r>
              <a:rPr lang="es-VE" i="1" dirty="0"/>
              <a:t>,  calcular el intervalo de confianza si no se sabe que las varianzas son iguales. Interpretar el resultado.</a:t>
            </a:r>
          </a:p>
        </p:txBody>
      </p:sp>
    </p:spTree>
    <p:extLst>
      <p:ext uri="{BB962C8B-B14F-4D97-AF65-F5344CB8AC3E}">
        <p14:creationId xmlns:p14="http://schemas.microsoft.com/office/powerpoint/2010/main" val="227269417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9.59</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fontScale="55000" lnSpcReduction="20000"/>
          </a:bodyPr>
          <a:lstStyle/>
          <a:p>
            <a:pPr marL="0" indent="0">
              <a:buNone/>
            </a:pPr>
            <a:r>
              <a:rPr lang="pt-BR" dirty="0">
                <a:latin typeface="Consolas" panose="020B0609020204030204" pitchFamily="49" charset="0"/>
              </a:rPr>
              <a:t>&gt; f_nuevo &lt;- c(187, 159, 193, 184, 193, 175, 179, 186)</a:t>
            </a:r>
          </a:p>
          <a:p>
            <a:pPr marL="0" indent="0">
              <a:buNone/>
            </a:pPr>
            <a:r>
              <a:rPr lang="pt-BR" dirty="0">
                <a:latin typeface="Consolas" panose="020B0609020204030204" pitchFamily="49" charset="0"/>
              </a:rPr>
              <a:t>&gt; f_antiguo &lt;- c(179, 158, 192, 177, 182, 174, 166, 180)</a:t>
            </a:r>
          </a:p>
          <a:p>
            <a:pPr marL="0" indent="0">
              <a:buNone/>
            </a:pPr>
            <a:r>
              <a:rPr lang="pt-BR" dirty="0">
                <a:latin typeface="Consolas" panose="020B0609020204030204" pitchFamily="49" charset="0"/>
              </a:rPr>
              <a:t>&gt; ic &lt;- 0.95</a:t>
            </a:r>
          </a:p>
          <a:p>
            <a:pPr marL="0" indent="0">
              <a:buNone/>
            </a:pPr>
            <a:r>
              <a:rPr lang="pt-BR" dirty="0">
                <a:latin typeface="Consolas" panose="020B0609020204030204" pitchFamily="49" charset="0"/>
              </a:rPr>
              <a:t>&gt; a &lt;- 1 - ic</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nx &lt;- length(f_nuevo)</a:t>
            </a:r>
          </a:p>
          <a:p>
            <a:pPr marL="0" indent="0">
              <a:buNone/>
            </a:pPr>
            <a:r>
              <a:rPr lang="pt-BR" dirty="0">
                <a:latin typeface="Consolas" panose="020B0609020204030204" pitchFamily="49" charset="0"/>
              </a:rPr>
              <a:t>&gt; ny &lt;- length(f_antiguo)</a:t>
            </a:r>
          </a:p>
          <a:p>
            <a:pPr marL="0" indent="0">
              <a:buNone/>
            </a:pPr>
            <a:r>
              <a:rPr lang="pt-BR" dirty="0">
                <a:latin typeface="Consolas" panose="020B0609020204030204" pitchFamily="49" charset="0"/>
              </a:rPr>
              <a:t>&gt; x_hat &lt;- mean(f_nuevo)</a:t>
            </a:r>
          </a:p>
          <a:p>
            <a:pPr marL="0" indent="0">
              <a:buNone/>
            </a:pPr>
            <a:r>
              <a:rPr lang="pt-BR" dirty="0">
                <a:latin typeface="Consolas" panose="020B0609020204030204" pitchFamily="49" charset="0"/>
              </a:rPr>
              <a:t>&gt; y_hat &lt;- mean(f_antiguo)</a:t>
            </a:r>
          </a:p>
          <a:p>
            <a:pPr marL="0" indent="0">
              <a:buNone/>
            </a:pPr>
            <a:r>
              <a:rPr lang="pt-BR" dirty="0">
                <a:latin typeface="Consolas" panose="020B0609020204030204" pitchFamily="49" charset="0"/>
              </a:rPr>
              <a:t>&gt; sx2 &lt;- var(f_nuevo)</a:t>
            </a:r>
          </a:p>
          <a:p>
            <a:pPr marL="0" indent="0">
              <a:buNone/>
            </a:pPr>
            <a:r>
              <a:rPr lang="pt-BR" dirty="0">
                <a:latin typeface="Consolas" panose="020B0609020204030204" pitchFamily="49" charset="0"/>
              </a:rPr>
              <a:t>&gt; sy2 &lt;- var(f_antiguo)</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v &lt;- (((sx2/nx)+(sy2/ny))^2)/((((sx2/nx)^2)/(nx-1))+(((sy2/ny)^2)/(ny-1)))</a:t>
            </a:r>
          </a:p>
          <a:p>
            <a:pPr marL="0" indent="0">
              <a:buNone/>
            </a:pPr>
            <a:endParaRPr lang="pt-BR" dirty="0">
              <a:latin typeface="Consolas" panose="020B0609020204030204" pitchFamily="49" charset="0"/>
            </a:endParaRPr>
          </a:p>
          <a:p>
            <a:pPr marL="0" indent="0">
              <a:buNone/>
            </a:pPr>
            <a:r>
              <a:rPr lang="pt-BR" dirty="0">
                <a:latin typeface="Consolas" panose="020B0609020204030204" pitchFamily="49" charset="0"/>
              </a:rPr>
              <a:t>&gt; c(inferior = (x_hat - y_hat) - qt(a/2, df = v, lower.tail = FALSE)*sqrt((sx2/nx) + (sy2/ny)), </a:t>
            </a:r>
          </a:p>
          <a:p>
            <a:pPr marL="0" indent="0">
              <a:buNone/>
            </a:pPr>
            <a:r>
              <a:rPr lang="pt-BR" dirty="0">
                <a:latin typeface="Consolas" panose="020B0609020204030204" pitchFamily="49" charset="0"/>
              </a:rPr>
              <a:t>+   superior = (x_hat - y_hat) + qt(a/2, df = v, lower.tail = FALSE)*sqrt((sx2/nx) + (sy2/ny)))</a:t>
            </a:r>
          </a:p>
          <a:p>
            <a:pPr marL="0" indent="0">
              <a:buNone/>
            </a:pPr>
            <a:r>
              <a:rPr lang="pt-BR" dirty="0">
                <a:highlight>
                  <a:srgbClr val="FFFF00"/>
                </a:highlight>
                <a:latin typeface="Consolas" panose="020B0609020204030204" pitchFamily="49" charset="0"/>
              </a:rPr>
              <a:t> inferior  superior </a:t>
            </a:r>
          </a:p>
          <a:p>
            <a:pPr marL="0" indent="0">
              <a:buNone/>
            </a:pPr>
            <a:r>
              <a:rPr lang="pt-BR" dirty="0">
                <a:highlight>
                  <a:srgbClr val="FFFF00"/>
                </a:highlight>
                <a:latin typeface="Consolas" panose="020B0609020204030204" pitchFamily="49" charset="0"/>
              </a:rPr>
              <a:t>-5.542557 17.542557 </a:t>
            </a:r>
          </a:p>
        </p:txBody>
      </p:sp>
    </p:spTree>
    <p:extLst>
      <p:ext uri="{BB962C8B-B14F-4D97-AF65-F5344CB8AC3E}">
        <p14:creationId xmlns:p14="http://schemas.microsoft.com/office/powerpoint/2010/main" val="35211335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Intervalos de confianza para diferencia de proporciones poblacionales</a:t>
            </a:r>
            <a:endParaRPr lang="es-419" dirty="0"/>
          </a:p>
        </p:txBody>
      </p:sp>
      <p:sp>
        <p:nvSpPr>
          <p:cNvPr id="2" name="Marcador de texto 1"/>
          <p:cNvSpPr>
            <a:spLocks noGrp="1"/>
          </p:cNvSpPr>
          <p:nvPr>
            <p:ph type="body" idx="1"/>
          </p:nvPr>
        </p:nvSpPr>
        <p:spPr/>
        <p:txBody>
          <a:bodyPr/>
          <a:lstStyle/>
          <a:p>
            <a:r>
              <a:rPr lang="es-VE" dirty="0"/>
              <a:t>Definición y ejemplo</a:t>
            </a:r>
            <a:endParaRPr lang="en-US" dirty="0"/>
          </a:p>
        </p:txBody>
      </p:sp>
    </p:spTree>
    <p:extLst>
      <p:ext uri="{BB962C8B-B14F-4D97-AF65-F5344CB8AC3E}">
        <p14:creationId xmlns:p14="http://schemas.microsoft.com/office/powerpoint/2010/main" val="39256313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proporciones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55000" lnSpcReduction="20000"/>
              </a:bodyPr>
              <a:lstStyle/>
              <a:p>
                <a:pPr>
                  <a:lnSpc>
                    <a:spcPct val="150000"/>
                  </a:lnSpc>
                </a:pPr>
                <a:r>
                  <a:rPr lang="es-419" dirty="0">
                    <a:ea typeface="Cambria Math" panose="02040503050406030204" pitchFamily="18" charset="0"/>
                  </a:rPr>
                  <a:t>Partiremos de la distribución del estimador puntual para diferencia de proporciones</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s-419" i="1" smtClean="0">
                              <a:latin typeface="Cambria Math" panose="02040503050406030204" pitchFamily="18" charset="0"/>
                              <a:ea typeface="Cambria Math" panose="02040503050406030204" pitchFamily="18" charset="0"/>
                            </a:rPr>
                          </m:ctrlPr>
                        </m:accPr>
                        <m:e>
                          <m:sSub>
                            <m:sSubPr>
                              <m:ctrlPr>
                                <a:rPr lang="es-419"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𝑥</m:t>
                              </m:r>
                            </m:sub>
                          </m:sSub>
                        </m:e>
                      </m:acc>
                      <m:r>
                        <a:rPr lang="es-419" b="0" i="1" smtClean="0">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𝑦</m:t>
                              </m:r>
                            </m:sub>
                          </m:sSub>
                        </m:e>
                      </m:acc>
                      <m:r>
                        <a:rPr lang="es-419" b="0" i="1" smtClean="0">
                          <a:latin typeface="Cambria Math" panose="02040503050406030204" pitchFamily="18" charset="0"/>
                          <a:ea typeface="Cambria Math" panose="02040503050406030204" pitchFamily="18" charset="0"/>
                        </a:rPr>
                        <m:t>~</m:t>
                      </m:r>
                      <m:r>
                        <a:rPr lang="es-419" b="0" i="1" smtClean="0">
                          <a:latin typeface="Cambria Math" panose="02040503050406030204" pitchFamily="18" charset="0"/>
                          <a:ea typeface="Cambria Math" panose="02040503050406030204" pitchFamily="18" charset="0"/>
                        </a:rPr>
                        <m:t>𝑁</m:t>
                      </m:r>
                      <m:d>
                        <m:dPr>
                          <m:ctrlPr>
                            <a:rPr lang="es-419" b="0" i="1" smtClean="0">
                              <a:latin typeface="Cambria Math" panose="02040503050406030204" pitchFamily="18" charset="0"/>
                              <a:ea typeface="Cambria Math" panose="02040503050406030204" pitchFamily="18" charset="0"/>
                            </a:rPr>
                          </m:ctrlPr>
                        </m:dPr>
                        <m:e>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𝑦</m:t>
                              </m:r>
                            </m:sub>
                          </m:sSub>
                          <m:r>
                            <a:rPr lang="es-419" b="0" i="1" smtClean="0">
                              <a:latin typeface="Cambria Math" panose="02040503050406030204" pitchFamily="18" charset="0"/>
                              <a:ea typeface="Cambria Math" panose="02040503050406030204" pitchFamily="18" charset="0"/>
                            </a:rPr>
                            <m:t>,</m:t>
                          </m:r>
                          <m:f>
                            <m:fPr>
                              <m:ctrlPr>
                                <a:rPr lang="es-419" b="0" i="1" smtClean="0">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d>
                                <m:dPr>
                                  <m:ctrlPr>
                                    <a:rPr lang="es-419" b="0" i="1" smtClean="0">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d>
                            </m:num>
                            <m:den>
                              <m:sSub>
                                <m:sSubPr>
                                  <m:ctrlPr>
                                    <a:rPr lang="es-419" b="0" i="1" smtClean="0">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𝑛</m:t>
                                  </m:r>
                                </m:e>
                                <m:sub>
                                  <m:r>
                                    <a:rPr lang="es-419" b="0" i="1" smtClean="0">
                                      <a:latin typeface="Cambria Math" panose="02040503050406030204" pitchFamily="18" charset="0"/>
                                      <a:ea typeface="Cambria Math" panose="02040503050406030204" pitchFamily="18" charset="0"/>
                                    </a:rPr>
                                    <m:t>𝑥</m:t>
                                  </m:r>
                                </m:sub>
                              </m:sSub>
                            </m:den>
                          </m:f>
                          <m:r>
                            <a:rPr lang="es-419" b="0" i="1"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𝑦</m:t>
                                  </m:r>
                                </m:sub>
                              </m:sSub>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𝑦</m:t>
                                      </m:r>
                                    </m:sub>
                                  </m:sSub>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b="0" i="1" smtClean="0">
                                      <a:latin typeface="Cambria Math" panose="02040503050406030204" pitchFamily="18" charset="0"/>
                                      <a:ea typeface="Cambria Math" panose="02040503050406030204" pitchFamily="18" charset="0"/>
                                    </a:rPr>
                                    <m:t>𝑦</m:t>
                                  </m:r>
                                </m:sub>
                              </m:sSub>
                            </m:den>
                          </m:f>
                        </m:e>
                      </m:d>
                      <m:r>
                        <a:rPr lang="es-419" b="0" i="1" smtClean="0">
                          <a:latin typeface="Cambria Math" panose="02040503050406030204" pitchFamily="18" charset="0"/>
                          <a:ea typeface="Cambria Math" panose="02040503050406030204" pitchFamily="18" charset="0"/>
                        </a:rPr>
                        <m:t>=1−</m:t>
                      </m:r>
                      <m:r>
                        <a:rPr lang="es-419" b="0" i="1" smtClean="0">
                          <a:latin typeface="Cambria Math" panose="02040503050406030204" pitchFamily="18" charset="0"/>
                          <a:ea typeface="Cambria Math" panose="02040503050406030204" pitchFamily="18" charset="0"/>
                        </a:rPr>
                        <m:t>𝛼</m:t>
                      </m:r>
                    </m:oMath>
                  </m:oMathPara>
                </a14:m>
                <a:endParaRPr lang="es-419" b="0" dirty="0">
                  <a:ea typeface="Cambria Math" panose="02040503050406030204" pitchFamily="18" charset="0"/>
                </a:endParaRPr>
              </a:p>
              <a:p>
                <a:pPr>
                  <a:lnSpc>
                    <a:spcPct val="150000"/>
                  </a:lnSpc>
                </a:pPr>
                <a:r>
                  <a:rPr lang="es-419" dirty="0">
                    <a:ea typeface="Cambria Math" panose="02040503050406030204" pitchFamily="18" charset="0"/>
                  </a:rPr>
                  <a:t>Planteamos el despeje:</a:t>
                </a:r>
                <a:endParaRPr lang="es-419" b="0"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b="0" i="1" smtClean="0">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
                            <a:rPr lang="es-419" i="1" smtClean="0">
                              <a:latin typeface="Cambria Math" panose="02040503050406030204" pitchFamily="18" charset="0"/>
                              <a:ea typeface="Cambria Math" panose="02040503050406030204" pitchFamily="18" charset="0"/>
                            </a:rPr>
                            <m:t>≤</m:t>
                          </m:r>
                          <m:f>
                            <m:fPr>
                              <m:ctrlPr>
                                <a:rPr lang="es-419" i="1" smtClean="0">
                                  <a:latin typeface="Cambria Math" panose="02040503050406030204" pitchFamily="18" charset="0"/>
                                  <a:ea typeface="Cambria Math" panose="02040503050406030204" pitchFamily="18" charset="0"/>
                                </a:rPr>
                              </m:ctrlPr>
                            </m:fPr>
                            <m:num>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b="0" i="1" smtClean="0">
                                      <a:latin typeface="Cambria Math" panose="02040503050406030204" pitchFamily="18" charset="0"/>
                                      <a:ea typeface="Cambria Math" panose="02040503050406030204" pitchFamily="18" charset="0"/>
                                    </a:rPr>
                                    <m:t>𝑦</m:t>
                                  </m:r>
                                </m:sub>
                              </m:sSub>
                              <m:r>
                                <a:rPr lang="es-419" b="0" i="1" smtClean="0">
                                  <a:latin typeface="Cambria Math" panose="02040503050406030204" pitchFamily="18" charset="0"/>
                                  <a:ea typeface="Cambria Math" panose="02040503050406030204" pitchFamily="18" charset="0"/>
                                </a:rPr>
                                <m:t>)</m:t>
                              </m:r>
                            </m:num>
                            <m:den>
                              <m:rad>
                                <m:radPr>
                                  <m:degHide m:val="on"/>
                                  <m:ctrlPr>
                                    <a:rPr lang="es-419" i="1" smtClean="0">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den>
                          </m:f>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e>
                      </m:d>
                      <m:r>
                        <a:rPr lang="es-419" i="1">
                          <a:latin typeface="Cambria Math" panose="02040503050406030204" pitchFamily="18" charset="0"/>
                          <a:ea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r>
                            <a:rPr lang="es-419" i="1">
                              <a:latin typeface="Cambria Math" panose="02040503050406030204" pitchFamily="18" charset="0"/>
                              <a:ea typeface="Cambria Math" panose="02040503050406030204" pitchFamily="18" charset="0"/>
                            </a:rPr>
                            <m:t>≤</m:t>
                          </m:r>
                          <m:d>
                            <m:dPr>
                              <m:ctrlPr>
                                <a:rPr lang="es-419" i="1">
                                  <a:latin typeface="Cambria Math" panose="02040503050406030204" pitchFamily="18" charset="0"/>
                                  <a:ea typeface="Cambria Math" panose="02040503050406030204" pitchFamily="18" charset="0"/>
                                </a:rPr>
                              </m:ctrlPr>
                            </m:d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d>
                          <m:r>
                            <a:rPr lang="es-419" i="1">
                              <a:latin typeface="Cambria Math" panose="02040503050406030204" pitchFamily="18" charset="0"/>
                              <a:ea typeface="Cambria Math" panose="02040503050406030204" pitchFamily="18" charset="0"/>
                            </a:rPr>
                            <m:t>≤</m:t>
                          </m:r>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e>
                      </m:d>
                      <m:r>
                        <a:rPr lang="es-419" i="1">
                          <a:latin typeface="Cambria Math" panose="02040503050406030204" pitchFamily="18" charset="0"/>
                          <a:ea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marL="0" indent="0">
                  <a:lnSpc>
                    <a:spcPct val="150000"/>
                  </a:lnSpc>
                  <a:buNone/>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74"/>
                </a:stretch>
              </a:blipFill>
            </p:spPr>
            <p:txBody>
              <a:bodyPr/>
              <a:lstStyle/>
              <a:p>
                <a:r>
                  <a:rPr lang="es-VE">
                    <a:noFill/>
                  </a:rPr>
                  <a:t> </a:t>
                </a:r>
              </a:p>
            </p:txBody>
          </p:sp>
        </mc:Fallback>
      </mc:AlternateContent>
    </p:spTree>
    <p:extLst>
      <p:ext uri="{BB962C8B-B14F-4D97-AF65-F5344CB8AC3E}">
        <p14:creationId xmlns:p14="http://schemas.microsoft.com/office/powerpoint/2010/main" val="2549378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medias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55000" lnSpcReduction="20000"/>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𝑃</m:t>
                      </m:r>
                      <m:d>
                        <m:dPr>
                          <m:ctrlPr>
                            <a:rPr lang="es-419" i="1">
                              <a:latin typeface="Cambria Math" panose="02040503050406030204" pitchFamily="18" charset="0"/>
                              <a:ea typeface="Cambria Math" panose="02040503050406030204" pitchFamily="18" charset="0"/>
                            </a:rPr>
                          </m:ctrlPr>
                        </m:dPr>
                        <m:e>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r>
                            <a:rPr lang="es-419" i="1">
                              <a:latin typeface="Cambria Math" panose="02040503050406030204" pitchFamily="18" charset="0"/>
                              <a:ea typeface="Cambria Math" panose="02040503050406030204" pitchFamily="18" charset="0"/>
                            </a:rPr>
                            <m:t>≤</m:t>
                          </m:r>
                          <m:d>
                            <m:dPr>
                              <m:ctrlPr>
                                <a:rPr lang="es-419" i="1">
                                  <a:latin typeface="Cambria Math" panose="02040503050406030204" pitchFamily="18" charset="0"/>
                                  <a:ea typeface="Cambria Math" panose="02040503050406030204" pitchFamily="18" charset="0"/>
                                </a:rPr>
                              </m:ctrlPr>
                            </m:d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d>
                          <m:r>
                            <a:rPr lang="es-419" i="1">
                              <a:latin typeface="Cambria Math" panose="02040503050406030204" pitchFamily="18" charset="0"/>
                              <a:ea typeface="Cambria Math" panose="02040503050406030204" pitchFamily="18" charset="0"/>
                            </a:rPr>
                            <m:t>≤</m:t>
                          </m:r>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e>
                      </m:d>
                      <m:r>
                        <a:rPr lang="es-419" i="1">
                          <a:latin typeface="Cambria Math" panose="02040503050406030204" pitchFamily="18" charset="0"/>
                          <a:ea typeface="Cambria Math" panose="02040503050406030204" pitchFamily="18" charset="0"/>
                        </a:rPr>
                        <m:t>=1−</m:t>
                      </m:r>
                      <m:r>
                        <a:rPr lang="es-419" i="1">
                          <a:latin typeface="Cambria Math" panose="02040503050406030204" pitchFamily="18" charset="0"/>
                          <a:ea typeface="Cambria Math" panose="02040503050406030204" pitchFamily="18" charset="0"/>
                        </a:rPr>
                        <m:t>𝛼</m:t>
                      </m:r>
                    </m:oMath>
                  </m:oMathPara>
                </a14:m>
                <a:endParaRPr lang="es-419" dirty="0">
                  <a:ea typeface="Cambria Math" panose="02040503050406030204" pitchFamily="18" charset="0"/>
                </a:endParaRPr>
              </a:p>
              <a:p>
                <a:pPr>
                  <a:lnSpc>
                    <a:spcPct val="150000"/>
                  </a:lnSpc>
                </a:pPr>
                <a:r>
                  <a:rPr lang="es-419" dirty="0">
                    <a:ea typeface="Cambria Math" panose="02040503050406030204" pitchFamily="18" charset="0"/>
                  </a:rPr>
                  <a:t>El intervalo termina siendo:</a:t>
                </a:r>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s-419" b="0" i="1" dirty="0" smtClean="0">
                              <a:latin typeface="Cambria Math" panose="02040503050406030204" pitchFamily="18" charset="0"/>
                              <a:ea typeface="Cambria Math" panose="02040503050406030204" pitchFamily="18" charset="0"/>
                            </a:rPr>
                          </m:ctrlPr>
                        </m:dPr>
                        <m:e>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r>
                            <a:rPr lang="es-419" b="0" i="1" smtClean="0">
                              <a:latin typeface="Cambria Math" panose="02040503050406030204" pitchFamily="18" charset="0"/>
                            </a:rPr>
                            <m:t>;</m:t>
                          </m:r>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b="0"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e>
                      </m:d>
                    </m:oMath>
                  </m:oMathPara>
                </a14:m>
                <a:endParaRPr lang="es-419" b="0" dirty="0"/>
              </a:p>
              <a:p>
                <a:pPr>
                  <a:lnSpc>
                    <a:spcPct val="150000"/>
                  </a:lnSpc>
                </a:pPr>
                <a:r>
                  <a:rPr lang="es-419" dirty="0">
                    <a:ea typeface="Cambria Math" panose="02040503050406030204" pitchFamily="18" charset="0"/>
                  </a:rPr>
                  <a:t>Resumido en:</a:t>
                </a:r>
              </a:p>
              <a:p>
                <a:pPr marL="0" indent="0">
                  <a:lnSpc>
                    <a:spcPct val="150000"/>
                  </a:lnSpc>
                  <a:buNone/>
                </a:pPr>
                <a14:m>
                  <m:oMathPara xmlns:m="http://schemas.openxmlformats.org/officeDocument/2006/math">
                    <m:oMathParaPr>
                      <m:jc m:val="centerGroup"/>
                    </m:oMathParaPr>
                    <m:oMath xmlns:m="http://schemas.openxmlformats.org/officeDocument/2006/math">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i="1">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e>
                      </m:rad>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74"/>
                </a:stretch>
              </a:blipFill>
            </p:spPr>
            <p:txBody>
              <a:bodyPr/>
              <a:lstStyle/>
              <a:p>
                <a:r>
                  <a:rPr lang="es-419">
                    <a:noFill/>
                  </a:rPr>
                  <a:t> </a:t>
                </a:r>
              </a:p>
            </p:txBody>
          </p:sp>
        </mc:Fallback>
      </mc:AlternateContent>
    </p:spTree>
    <p:extLst>
      <p:ext uri="{BB962C8B-B14F-4D97-AF65-F5344CB8AC3E}">
        <p14:creationId xmlns:p14="http://schemas.microsoft.com/office/powerpoint/2010/main" val="191618660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lstStyle/>
          <a:p>
            <a:r>
              <a:rPr lang="es-419" dirty="0"/>
              <a:t>Visualizando</a:t>
            </a:r>
            <a:endParaRPr lang="en-US" dirty="0"/>
          </a:p>
        </p:txBody>
      </p:sp>
      <p:pic>
        <p:nvPicPr>
          <p:cNvPr id="4098" name="Picture 2">
            <a:extLst>
              <a:ext uri="{FF2B5EF4-FFF2-40B4-BE49-F238E27FC236}">
                <a16:creationId xmlns:a16="http://schemas.microsoft.com/office/drawing/2014/main" id="{B3CCB2AD-5814-43A5-A5D8-21F9902F0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8483" y="963000"/>
            <a:ext cx="8615034" cy="493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7134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9.51</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lstStyle/>
          <a:p>
            <a:pPr marL="0" indent="0">
              <a:lnSpc>
                <a:spcPct val="150000"/>
              </a:lnSpc>
              <a:buNone/>
            </a:pPr>
            <a:r>
              <a:rPr lang="es-VE" i="1" dirty="0"/>
              <a:t>Una encuesta de 400 hombres y 400 mujeres de una cierta ciudad mostró que 270 hombres y 240 mujeres favorecerían una determinada proposición. </a:t>
            </a:r>
          </a:p>
          <a:p>
            <a:pPr marL="0" indent="0">
              <a:lnSpc>
                <a:spcPct val="150000"/>
              </a:lnSpc>
              <a:buNone/>
            </a:pPr>
            <a:r>
              <a:rPr lang="es-VE" i="1" dirty="0"/>
              <a:t>Calcular un intervalo de confianza del 88%, para la diferencia de proporciones entre hombres y mujeres. Interpretar el resultado.</a:t>
            </a:r>
          </a:p>
        </p:txBody>
      </p:sp>
    </p:spTree>
    <p:extLst>
      <p:ext uri="{BB962C8B-B14F-4D97-AF65-F5344CB8AC3E}">
        <p14:creationId xmlns:p14="http://schemas.microsoft.com/office/powerpoint/2010/main" val="3382684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9.51</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pt-BR" sz="1200" dirty="0">
                <a:latin typeface="Consolas" panose="020B0609020204030204" pitchFamily="49" charset="0"/>
              </a:rPr>
              <a:t>&gt; n_h &lt;- 400</a:t>
            </a:r>
          </a:p>
          <a:p>
            <a:pPr marL="0" indent="0">
              <a:buNone/>
            </a:pPr>
            <a:r>
              <a:rPr lang="pt-BR" sz="1200" dirty="0">
                <a:latin typeface="Consolas" panose="020B0609020204030204" pitchFamily="49" charset="0"/>
              </a:rPr>
              <a:t>&gt; n_m &lt;- 400</a:t>
            </a:r>
          </a:p>
          <a:p>
            <a:pPr marL="0" indent="0">
              <a:buNone/>
            </a:pPr>
            <a:r>
              <a:rPr lang="pt-BR" sz="1200" dirty="0">
                <a:latin typeface="Consolas" panose="020B0609020204030204" pitchFamily="49" charset="0"/>
              </a:rPr>
              <a:t>&gt; x_h &lt;- 270</a:t>
            </a:r>
          </a:p>
          <a:p>
            <a:pPr marL="0" indent="0">
              <a:buNone/>
            </a:pPr>
            <a:r>
              <a:rPr lang="pt-BR" sz="1200" dirty="0">
                <a:latin typeface="Consolas" panose="020B0609020204030204" pitchFamily="49" charset="0"/>
              </a:rPr>
              <a:t>&gt; x_m &lt;- 240</a:t>
            </a:r>
          </a:p>
          <a:p>
            <a:pPr marL="0" indent="0">
              <a:buNone/>
            </a:pPr>
            <a:r>
              <a:rPr lang="pt-BR" sz="1200" dirty="0">
                <a:latin typeface="Consolas" panose="020B0609020204030204" pitchFamily="49" charset="0"/>
              </a:rPr>
              <a:t>&gt; ic &lt;- 0.88</a:t>
            </a:r>
          </a:p>
          <a:p>
            <a:pPr marL="0" indent="0">
              <a:buNone/>
            </a:pPr>
            <a:r>
              <a:rPr lang="pt-BR" sz="1200" dirty="0">
                <a:latin typeface="Consolas" panose="020B0609020204030204" pitchFamily="49" charset="0"/>
              </a:rPr>
              <a:t>&gt; a &lt;- 1 - ic</a:t>
            </a:r>
          </a:p>
          <a:p>
            <a:pPr marL="0" indent="0">
              <a:buNone/>
            </a:pPr>
            <a:endParaRPr lang="pt-BR" sz="1200" dirty="0">
              <a:latin typeface="Consolas" panose="020B0609020204030204" pitchFamily="49" charset="0"/>
            </a:endParaRPr>
          </a:p>
          <a:p>
            <a:pPr marL="0" indent="0">
              <a:buNone/>
            </a:pPr>
            <a:r>
              <a:rPr lang="pt-BR" sz="1200" dirty="0">
                <a:latin typeface="Consolas" panose="020B0609020204030204" pitchFamily="49" charset="0"/>
              </a:rPr>
              <a:t>&gt; p_h &lt;- x_h/n_h</a:t>
            </a:r>
          </a:p>
          <a:p>
            <a:pPr marL="0" indent="0">
              <a:buNone/>
            </a:pPr>
            <a:r>
              <a:rPr lang="pt-BR" sz="1200" dirty="0">
                <a:latin typeface="Consolas" panose="020B0609020204030204" pitchFamily="49" charset="0"/>
              </a:rPr>
              <a:t>&gt; p_m &lt;- x_m/n_m</a:t>
            </a:r>
          </a:p>
          <a:p>
            <a:pPr marL="0" indent="0">
              <a:buNone/>
            </a:pPr>
            <a:endParaRPr lang="pt-BR" sz="1200" dirty="0">
              <a:latin typeface="Consolas" panose="020B0609020204030204" pitchFamily="49" charset="0"/>
            </a:endParaRPr>
          </a:p>
          <a:p>
            <a:pPr marL="0" indent="0">
              <a:buNone/>
            </a:pPr>
            <a:r>
              <a:rPr lang="pt-BR" sz="1200" dirty="0">
                <a:latin typeface="Consolas" panose="020B0609020204030204" pitchFamily="49" charset="0"/>
              </a:rPr>
              <a:t>&gt; c(inferior = (p_h - p_m) - qnorm(a/2, lower.tail = FALSE)*sqrt((p_h*(1-p_h)/n_h)+(p_m*(1-p_m)/n_m)),</a:t>
            </a:r>
          </a:p>
          <a:p>
            <a:pPr marL="0" indent="0">
              <a:buNone/>
            </a:pPr>
            <a:r>
              <a:rPr lang="pt-BR" sz="1200" dirty="0">
                <a:latin typeface="Consolas" panose="020B0609020204030204" pitchFamily="49" charset="0"/>
              </a:rPr>
              <a:t>+   superior = (p_h - p_m) + qnorm(a/2, lower.tail = FALSE)*sqrt((p_h*(1-p_h)/n_h)+(p_m*(1-p_m)/n_m)))*100</a:t>
            </a:r>
          </a:p>
          <a:p>
            <a:pPr marL="0" indent="0">
              <a:buNone/>
            </a:pPr>
            <a:r>
              <a:rPr lang="pt-BR" sz="1200" dirty="0">
                <a:highlight>
                  <a:srgbClr val="FFFF00"/>
                </a:highlight>
                <a:latin typeface="Consolas" panose="020B0609020204030204" pitchFamily="49" charset="0"/>
              </a:rPr>
              <a:t> inferior  superior </a:t>
            </a:r>
          </a:p>
          <a:p>
            <a:pPr marL="0" indent="0">
              <a:buNone/>
            </a:pPr>
            <a:r>
              <a:rPr lang="pt-BR" sz="1200" dirty="0">
                <a:highlight>
                  <a:srgbClr val="FFFF00"/>
                </a:highlight>
                <a:latin typeface="Consolas" panose="020B0609020204030204" pitchFamily="49" charset="0"/>
              </a:rPr>
              <a:t> 2.231089 12.768911 </a:t>
            </a:r>
          </a:p>
        </p:txBody>
      </p:sp>
    </p:spTree>
    <p:extLst>
      <p:ext uri="{BB962C8B-B14F-4D97-AF65-F5344CB8AC3E}">
        <p14:creationId xmlns:p14="http://schemas.microsoft.com/office/powerpoint/2010/main" val="395792500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diferencia de proporciones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r>
                  <a:rPr lang="es-419" dirty="0">
                    <a:ea typeface="Cambria Math" panose="02040503050406030204" pitchFamily="18" charset="0"/>
                  </a:rPr>
                  <a:t>Para poblaciones finitas con muestreos sin reemplazamiento.</a:t>
                </a:r>
              </a:p>
              <a:p>
                <a:pPr marL="0" indent="0">
                  <a:lnSpc>
                    <a:spcPct val="150000"/>
                  </a:lnSpc>
                  <a:buNone/>
                </a:pPr>
                <a14:m>
                  <m:oMathPara xmlns:m="http://schemas.openxmlformats.org/officeDocument/2006/math">
                    <m:oMathParaPr>
                      <m:jc m:val="centerGroup"/>
                    </m:oMathParaPr>
                    <m:oMath xmlns:m="http://schemas.openxmlformats.org/officeDocument/2006/math">
                      <m:d>
                        <m:dPr>
                          <m:ctrlPr>
                            <a:rPr lang="es-419" i="1">
                              <a:latin typeface="Cambria Math" panose="02040503050406030204" pitchFamily="18" charset="0"/>
                              <a:ea typeface="Cambria Math" panose="02040503050406030204" pitchFamily="18" charset="0"/>
                            </a:rPr>
                          </m:ctrlPr>
                        </m:dPr>
                        <m:e>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r>
                            <a:rPr lang="es-419" i="1">
                              <a:latin typeface="Cambria Math" panose="02040503050406030204" pitchFamily="18" charset="0"/>
                              <a:ea typeface="Cambria Math" panose="02040503050406030204" pitchFamily="18" charset="0"/>
                            </a:rPr>
                            <m:t>−</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r>
                        <a:rPr lang="es-419" i="1" smtClean="0">
                          <a:latin typeface="Cambria Math" panose="02040503050406030204" pitchFamily="18" charset="0"/>
                          <a:ea typeface="Cambria Math" panose="02040503050406030204" pitchFamily="18" charset="0"/>
                        </a:rPr>
                        <m:t>±</m:t>
                      </m:r>
                      <m:sSub>
                        <m:sSubPr>
                          <m:ctrlPr>
                            <a:rPr lang="es-419" i="1">
                              <a:latin typeface="Cambria Math" panose="02040503050406030204" pitchFamily="18" charset="0"/>
                              <a:ea typeface="Cambria Math" panose="02040503050406030204" pitchFamily="18" charset="0"/>
                            </a:rPr>
                          </m:ctrlPr>
                        </m:sSubPr>
                        <m:e>
                          <m:r>
                            <a:rPr lang="es-419" b="0" i="1" smtClean="0">
                              <a:latin typeface="Cambria Math" panose="02040503050406030204" pitchFamily="18" charset="0"/>
                              <a:ea typeface="Cambria Math" panose="02040503050406030204" pitchFamily="18" charset="0"/>
                            </a:rPr>
                            <m:t>𝑧</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rad>
                        <m:radPr>
                          <m:degHide m:val="on"/>
                          <m:ctrlPr>
                            <a:rPr lang="es-419" i="1">
                              <a:latin typeface="Cambria Math" panose="02040503050406030204" pitchFamily="18" charset="0"/>
                              <a:ea typeface="Cambria Math" panose="02040503050406030204" pitchFamily="18" charset="0"/>
                            </a:rPr>
                          </m:ctrlPr>
                        </m:radPr>
                        <m:deg/>
                        <m:e>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𝑥</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𝑥</m:t>
                                  </m:r>
                                </m:sub>
                              </m:sSub>
                            </m:den>
                          </m:f>
                          <m:f>
                            <m:fPr>
                              <m:ctrlPr>
                                <a:rPr lang="es-419" i="1" dirty="0">
                                  <a:latin typeface="Cambria Math" panose="02040503050406030204" pitchFamily="18" charset="0"/>
                                  <a:ea typeface="Cambria Math" panose="02040503050406030204" pitchFamily="18" charset="0"/>
                                </a:rPr>
                              </m:ctrlPr>
                            </m:fPr>
                            <m:num>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𝑁</m:t>
                                  </m:r>
                                </m:e>
                                <m:sub>
                                  <m:r>
                                    <a:rPr lang="es-419" i="1" dirty="0">
                                      <a:latin typeface="Cambria Math" panose="02040503050406030204" pitchFamily="18" charset="0"/>
                                      <a:ea typeface="Cambria Math" panose="02040503050406030204" pitchFamily="18" charset="0"/>
                                    </a:rPr>
                                    <m:t>𝑥</m:t>
                                  </m:r>
                                </m:sub>
                              </m:sSub>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𝑛</m:t>
                                  </m:r>
                                </m:e>
                                <m:sub>
                                  <m:r>
                                    <a:rPr lang="es-419" i="1" dirty="0">
                                      <a:latin typeface="Cambria Math" panose="02040503050406030204" pitchFamily="18" charset="0"/>
                                      <a:ea typeface="Cambria Math" panose="02040503050406030204" pitchFamily="18" charset="0"/>
                                    </a:rPr>
                                    <m:t>𝑥</m:t>
                                  </m:r>
                                </m:sub>
                              </m:sSub>
                            </m:num>
                            <m:den>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𝑁</m:t>
                                  </m:r>
                                </m:e>
                                <m:sub>
                                  <m:r>
                                    <a:rPr lang="es-419" i="1" dirty="0">
                                      <a:latin typeface="Cambria Math" panose="02040503050406030204" pitchFamily="18" charset="0"/>
                                      <a:ea typeface="Cambria Math" panose="02040503050406030204" pitchFamily="18" charset="0"/>
                                    </a:rPr>
                                    <m:t>𝑥</m:t>
                                  </m:r>
                                </m:sub>
                              </m:sSub>
                              <m:r>
                                <a:rPr lang="es-419" i="1" dirty="0">
                                  <a:latin typeface="Cambria Math" panose="02040503050406030204" pitchFamily="18" charset="0"/>
                                  <a:ea typeface="Cambria Math" panose="02040503050406030204" pitchFamily="18" charset="0"/>
                                </a:rPr>
                                <m:t>−1</m:t>
                              </m:r>
                            </m:den>
                          </m:f>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d>
                                <m:dPr>
                                  <m:ctrlPr>
                                    <a:rPr lang="es-419" i="1">
                                      <a:latin typeface="Cambria Math" panose="02040503050406030204" pitchFamily="18" charset="0"/>
                                      <a:ea typeface="Cambria Math" panose="02040503050406030204" pitchFamily="18" charset="0"/>
                                    </a:rPr>
                                  </m:ctrlPr>
                                </m:dPr>
                                <m:e>
                                  <m:r>
                                    <a:rPr lang="es-419" i="1">
                                      <a:latin typeface="Cambria Math" panose="02040503050406030204" pitchFamily="18" charset="0"/>
                                      <a:ea typeface="Cambria Math" panose="02040503050406030204" pitchFamily="18" charset="0"/>
                                    </a:rPr>
                                    <m:t>1−</m:t>
                                  </m:r>
                                  <m:acc>
                                    <m:accPr>
                                      <m:chr m:val="̂"/>
                                      <m:ctrlPr>
                                        <a:rPr lang="es-419" i="1">
                                          <a:latin typeface="Cambria Math" panose="02040503050406030204" pitchFamily="18" charset="0"/>
                                          <a:ea typeface="Cambria Math" panose="02040503050406030204" pitchFamily="18" charset="0"/>
                                        </a:rPr>
                                      </m:ctrlPr>
                                    </m:accPr>
                                    <m:e>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𝑝</m:t>
                                          </m:r>
                                        </m:e>
                                        <m:sub>
                                          <m:r>
                                            <a:rPr lang="es-419" i="1">
                                              <a:latin typeface="Cambria Math" panose="02040503050406030204" pitchFamily="18" charset="0"/>
                                              <a:ea typeface="Cambria Math" panose="02040503050406030204" pitchFamily="18" charset="0"/>
                                            </a:rPr>
                                            <m:t>𝑦</m:t>
                                          </m:r>
                                        </m:sub>
                                      </m:sSub>
                                    </m:e>
                                  </m:acc>
                                </m:e>
                              </m:d>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𝑛</m:t>
                                  </m:r>
                                </m:e>
                                <m:sub>
                                  <m:r>
                                    <a:rPr lang="es-419" i="1">
                                      <a:latin typeface="Cambria Math" panose="02040503050406030204" pitchFamily="18" charset="0"/>
                                      <a:ea typeface="Cambria Math" panose="02040503050406030204" pitchFamily="18" charset="0"/>
                                    </a:rPr>
                                    <m:t>𝑦</m:t>
                                  </m:r>
                                </m:sub>
                              </m:sSub>
                            </m:den>
                          </m:f>
                          <m:f>
                            <m:fPr>
                              <m:ctrlPr>
                                <a:rPr lang="es-419" i="1" dirty="0">
                                  <a:latin typeface="Cambria Math" panose="02040503050406030204" pitchFamily="18" charset="0"/>
                                  <a:ea typeface="Cambria Math" panose="02040503050406030204" pitchFamily="18" charset="0"/>
                                </a:rPr>
                              </m:ctrlPr>
                            </m:fPr>
                            <m:num>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𝑁</m:t>
                                  </m:r>
                                </m:e>
                                <m:sub>
                                  <m:r>
                                    <a:rPr lang="es-419" i="1" dirty="0">
                                      <a:latin typeface="Cambria Math" panose="02040503050406030204" pitchFamily="18" charset="0"/>
                                      <a:ea typeface="Cambria Math" panose="02040503050406030204" pitchFamily="18" charset="0"/>
                                    </a:rPr>
                                    <m:t>𝑦</m:t>
                                  </m:r>
                                </m:sub>
                              </m:sSub>
                              <m:r>
                                <a:rPr lang="es-419" i="1" dirty="0">
                                  <a:latin typeface="Cambria Math" panose="02040503050406030204" pitchFamily="18" charset="0"/>
                                  <a:ea typeface="Cambria Math" panose="02040503050406030204" pitchFamily="18" charset="0"/>
                                </a:rPr>
                                <m:t>−</m:t>
                              </m:r>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𝑛</m:t>
                                  </m:r>
                                </m:e>
                                <m:sub>
                                  <m:r>
                                    <a:rPr lang="es-419" i="1" dirty="0">
                                      <a:latin typeface="Cambria Math" panose="02040503050406030204" pitchFamily="18" charset="0"/>
                                      <a:ea typeface="Cambria Math" panose="02040503050406030204" pitchFamily="18" charset="0"/>
                                    </a:rPr>
                                    <m:t>𝑦</m:t>
                                  </m:r>
                                </m:sub>
                              </m:sSub>
                            </m:num>
                            <m:den>
                              <m:sSub>
                                <m:sSubPr>
                                  <m:ctrlPr>
                                    <a:rPr lang="es-419" i="1" dirty="0">
                                      <a:latin typeface="Cambria Math" panose="02040503050406030204" pitchFamily="18" charset="0"/>
                                      <a:ea typeface="Cambria Math" panose="02040503050406030204" pitchFamily="18" charset="0"/>
                                    </a:rPr>
                                  </m:ctrlPr>
                                </m:sSubPr>
                                <m:e>
                                  <m:r>
                                    <a:rPr lang="es-419" i="1" dirty="0">
                                      <a:latin typeface="Cambria Math" panose="02040503050406030204" pitchFamily="18" charset="0"/>
                                      <a:ea typeface="Cambria Math" panose="02040503050406030204" pitchFamily="18" charset="0"/>
                                    </a:rPr>
                                    <m:t>𝑁</m:t>
                                  </m:r>
                                </m:e>
                                <m:sub>
                                  <m:r>
                                    <a:rPr lang="es-419" i="1" dirty="0">
                                      <a:latin typeface="Cambria Math" panose="02040503050406030204" pitchFamily="18" charset="0"/>
                                      <a:ea typeface="Cambria Math" panose="02040503050406030204" pitchFamily="18" charset="0"/>
                                    </a:rPr>
                                    <m:t>𝑦</m:t>
                                  </m:r>
                                </m:sub>
                              </m:sSub>
                              <m:r>
                                <a:rPr lang="es-419" i="1" dirty="0">
                                  <a:latin typeface="Cambria Math" panose="02040503050406030204" pitchFamily="18" charset="0"/>
                                  <a:ea typeface="Cambria Math" panose="02040503050406030204" pitchFamily="18" charset="0"/>
                                </a:rPr>
                                <m:t>−1</m:t>
                              </m:r>
                            </m:den>
                          </m:f>
                        </m:e>
                      </m:rad>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s-419">
                    <a:noFill/>
                  </a:rPr>
                  <a:t> </a:t>
                </a:r>
              </a:p>
            </p:txBody>
          </p:sp>
        </mc:Fallback>
      </mc:AlternateContent>
    </p:spTree>
    <p:extLst>
      <p:ext uri="{BB962C8B-B14F-4D97-AF65-F5344CB8AC3E}">
        <p14:creationId xmlns:p14="http://schemas.microsoft.com/office/powerpoint/2010/main" val="20140398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F6B2-E504-45EC-81E9-A5F16E4EB780}"/>
              </a:ext>
            </a:extLst>
          </p:cNvPr>
          <p:cNvSpPr>
            <a:spLocks noGrp="1"/>
          </p:cNvSpPr>
          <p:nvPr>
            <p:ph type="title"/>
          </p:nvPr>
        </p:nvSpPr>
        <p:spPr/>
        <p:txBody>
          <a:bodyPr/>
          <a:lstStyle/>
          <a:p>
            <a:r>
              <a:rPr lang="es-419" dirty="0"/>
              <a:t>Propuesto 9.57</a:t>
            </a:r>
            <a:endParaRPr lang="es-419" b="1" dirty="0">
              <a:solidFill>
                <a:srgbClr val="003A5D"/>
              </a:solidFill>
            </a:endParaRPr>
          </a:p>
        </p:txBody>
      </p:sp>
      <p:sp>
        <p:nvSpPr>
          <p:cNvPr id="3" name="Content Placeholder 2">
            <a:extLst>
              <a:ext uri="{FF2B5EF4-FFF2-40B4-BE49-F238E27FC236}">
                <a16:creationId xmlns:a16="http://schemas.microsoft.com/office/drawing/2014/main" id="{2CF54D96-2B14-4A91-9784-B744394E3B88}"/>
              </a:ext>
            </a:extLst>
          </p:cNvPr>
          <p:cNvSpPr>
            <a:spLocks noGrp="1"/>
          </p:cNvSpPr>
          <p:nvPr>
            <p:ph idx="1"/>
          </p:nvPr>
        </p:nvSpPr>
        <p:spPr/>
        <p:txBody>
          <a:bodyPr>
            <a:normAutofit fontScale="85000" lnSpcReduction="10000"/>
          </a:bodyPr>
          <a:lstStyle/>
          <a:p>
            <a:pPr marL="0" indent="0" algn="just">
              <a:lnSpc>
                <a:spcPct val="150000"/>
              </a:lnSpc>
              <a:buNone/>
            </a:pPr>
            <a:r>
              <a:rPr lang="es-VE" i="1" dirty="0"/>
              <a:t>El gobierno desea mejorar la comunicación terrestre que existe entre dos pueblos del interior, y se discute sobre la conveniencia de dos proyectos. El proyecto A es ampliar y mejorar la actual carretera; el proyecto B es construir una nueva carretera entre los dos pueblos. Uno de los pueblos tiene 25.000 habitantes y el otro 20.000 habitantes. En una muestra de 2.500 habitantes del primer pueblo, 2.000 apoyan el proyecto B y 500 el proyecto A. En el segundo pueblo de una muestra de 2.000 habitantes, 1.500 favorecen el proyecto B y 500 el  proyecto A. Estimar con una confianza del 95%, la diferencia de proporciones de la población en ambas ciudades que favorecen el proyecto B. Interpretar el resultado.</a:t>
            </a:r>
          </a:p>
        </p:txBody>
      </p:sp>
    </p:spTree>
    <p:extLst>
      <p:ext uri="{BB962C8B-B14F-4D97-AF65-F5344CB8AC3E}">
        <p14:creationId xmlns:p14="http://schemas.microsoft.com/office/powerpoint/2010/main" val="334802795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A7408-68A4-46BE-AAA1-E8F067126436}"/>
              </a:ext>
            </a:extLst>
          </p:cNvPr>
          <p:cNvSpPr>
            <a:spLocks noGrp="1"/>
          </p:cNvSpPr>
          <p:nvPr>
            <p:ph type="title"/>
          </p:nvPr>
        </p:nvSpPr>
        <p:spPr/>
        <p:txBody>
          <a:bodyPr/>
          <a:lstStyle/>
          <a:p>
            <a:r>
              <a:rPr lang="es-419" dirty="0"/>
              <a:t>Resuelto 9.57</a:t>
            </a:r>
          </a:p>
        </p:txBody>
      </p:sp>
      <p:sp>
        <p:nvSpPr>
          <p:cNvPr id="3" name="Content Placeholder 2">
            <a:extLst>
              <a:ext uri="{FF2B5EF4-FFF2-40B4-BE49-F238E27FC236}">
                <a16:creationId xmlns:a16="http://schemas.microsoft.com/office/drawing/2014/main" id="{5FF01FCA-855B-4DA4-B864-3D93B9A664A7}"/>
              </a:ext>
            </a:extLst>
          </p:cNvPr>
          <p:cNvSpPr>
            <a:spLocks noGrp="1"/>
          </p:cNvSpPr>
          <p:nvPr>
            <p:ph idx="1"/>
          </p:nvPr>
        </p:nvSpPr>
        <p:spPr>
          <a:xfrm>
            <a:off x="838200" y="749508"/>
            <a:ext cx="10515600" cy="5427455"/>
          </a:xfrm>
          <a:solidFill>
            <a:srgbClr val="E7E6E6">
              <a:alpha val="50196"/>
            </a:srgbClr>
          </a:solidFill>
        </p:spPr>
        <p:txBody>
          <a:bodyPr vert="horz" lIns="91440" tIns="45720" rIns="91440" bIns="45720" rtlCol="0">
            <a:normAutofit/>
          </a:bodyPr>
          <a:lstStyle/>
          <a:p>
            <a:pPr marL="0" indent="0">
              <a:buNone/>
            </a:pPr>
            <a:r>
              <a:rPr lang="pt-BR" sz="900" dirty="0">
                <a:latin typeface="Consolas" panose="020B0609020204030204" pitchFamily="49" charset="0"/>
              </a:rPr>
              <a:t>&gt; N_1 &lt;- 25000</a:t>
            </a:r>
          </a:p>
          <a:p>
            <a:pPr marL="0" indent="0">
              <a:buNone/>
            </a:pPr>
            <a:r>
              <a:rPr lang="pt-BR" sz="900" dirty="0">
                <a:latin typeface="Consolas" panose="020B0609020204030204" pitchFamily="49" charset="0"/>
              </a:rPr>
              <a:t>&gt; N_2 &lt;- 20000 </a:t>
            </a:r>
          </a:p>
          <a:p>
            <a:pPr marL="0" indent="0">
              <a:buNone/>
            </a:pPr>
            <a:r>
              <a:rPr lang="pt-BR" sz="900" dirty="0">
                <a:latin typeface="Consolas" panose="020B0609020204030204" pitchFamily="49" charset="0"/>
              </a:rPr>
              <a:t>&gt; n1 &lt;- 2500</a:t>
            </a:r>
          </a:p>
          <a:p>
            <a:pPr marL="0" indent="0">
              <a:buNone/>
            </a:pPr>
            <a:r>
              <a:rPr lang="pt-BR" sz="900" dirty="0">
                <a:latin typeface="Consolas" panose="020B0609020204030204" pitchFamily="49" charset="0"/>
              </a:rPr>
              <a:t>&gt; b1 &lt;- 2000 </a:t>
            </a:r>
          </a:p>
          <a:p>
            <a:pPr marL="0" indent="0">
              <a:buNone/>
            </a:pPr>
            <a:endParaRPr lang="pt-BR" sz="900" dirty="0">
              <a:latin typeface="Consolas" panose="020B0609020204030204" pitchFamily="49" charset="0"/>
            </a:endParaRPr>
          </a:p>
          <a:p>
            <a:pPr marL="0" indent="0">
              <a:buNone/>
            </a:pPr>
            <a:r>
              <a:rPr lang="pt-BR" sz="900" dirty="0">
                <a:latin typeface="Consolas" panose="020B0609020204030204" pitchFamily="49" charset="0"/>
              </a:rPr>
              <a:t>&gt; n2 &lt;- 2000</a:t>
            </a:r>
          </a:p>
          <a:p>
            <a:pPr marL="0" indent="0">
              <a:buNone/>
            </a:pPr>
            <a:r>
              <a:rPr lang="pt-BR" sz="900" dirty="0">
                <a:latin typeface="Consolas" panose="020B0609020204030204" pitchFamily="49" charset="0"/>
              </a:rPr>
              <a:t>&gt; b2 &lt;- 1500</a:t>
            </a:r>
          </a:p>
          <a:p>
            <a:pPr marL="0" indent="0">
              <a:buNone/>
            </a:pPr>
            <a:endParaRPr lang="pt-BR" sz="900" dirty="0">
              <a:latin typeface="Consolas" panose="020B0609020204030204" pitchFamily="49" charset="0"/>
            </a:endParaRPr>
          </a:p>
          <a:p>
            <a:pPr marL="0" indent="0">
              <a:buNone/>
            </a:pPr>
            <a:r>
              <a:rPr lang="pt-BR" sz="900" dirty="0">
                <a:latin typeface="Consolas" panose="020B0609020204030204" pitchFamily="49" charset="0"/>
              </a:rPr>
              <a:t>&gt; ic &lt;- 0.95</a:t>
            </a:r>
          </a:p>
          <a:p>
            <a:pPr marL="0" indent="0">
              <a:buNone/>
            </a:pPr>
            <a:r>
              <a:rPr lang="pt-BR" sz="900" dirty="0">
                <a:latin typeface="Consolas" panose="020B0609020204030204" pitchFamily="49" charset="0"/>
              </a:rPr>
              <a:t>&gt; a &lt;- 1 - ic</a:t>
            </a:r>
          </a:p>
          <a:p>
            <a:pPr marL="0" indent="0">
              <a:buNone/>
            </a:pPr>
            <a:endParaRPr lang="pt-BR" sz="900" dirty="0">
              <a:latin typeface="Consolas" panose="020B0609020204030204" pitchFamily="49" charset="0"/>
            </a:endParaRPr>
          </a:p>
          <a:p>
            <a:pPr marL="0" indent="0">
              <a:buNone/>
            </a:pPr>
            <a:r>
              <a:rPr lang="pt-BR" sz="900" dirty="0">
                <a:latin typeface="Consolas" panose="020B0609020204030204" pitchFamily="49" charset="0"/>
              </a:rPr>
              <a:t>&gt; p_hat1 &lt;- b1/n1</a:t>
            </a:r>
          </a:p>
          <a:p>
            <a:pPr marL="0" indent="0">
              <a:buNone/>
            </a:pPr>
            <a:r>
              <a:rPr lang="pt-BR" sz="900" dirty="0">
                <a:latin typeface="Consolas" panose="020B0609020204030204" pitchFamily="49" charset="0"/>
              </a:rPr>
              <a:t>&gt; p_hat2 &lt;- b2/n2</a:t>
            </a:r>
          </a:p>
          <a:p>
            <a:pPr marL="0" indent="0">
              <a:buNone/>
            </a:pPr>
            <a:endParaRPr lang="pt-BR" sz="900" dirty="0">
              <a:latin typeface="Consolas" panose="020B0609020204030204" pitchFamily="49" charset="0"/>
            </a:endParaRPr>
          </a:p>
          <a:p>
            <a:pPr marL="0" indent="0">
              <a:buNone/>
            </a:pPr>
            <a:r>
              <a:rPr lang="pt-BR" sz="900" dirty="0">
                <a:latin typeface="Consolas" panose="020B0609020204030204" pitchFamily="49" charset="0"/>
              </a:rPr>
              <a:t>&gt; c(inferior = (p_hat1 - p_hat2) - qnorm(1 - a/2)*sqrt(((p_hat1*(1 - p_hat1)/n1)*((N_1 - n1)/(N_1 - 1))) + ((p_hat2*(1 - p_hat2)/n2)*((N_2 - n2)/(N_2 - 1)))),</a:t>
            </a:r>
          </a:p>
          <a:p>
            <a:pPr marL="0" indent="0">
              <a:buNone/>
            </a:pPr>
            <a:r>
              <a:rPr lang="pt-BR" sz="900" dirty="0">
                <a:latin typeface="Consolas" panose="020B0609020204030204" pitchFamily="49" charset="0"/>
              </a:rPr>
              <a:t>+   superior = (p_hat1 - p_hat2) + qnorm(1 - a/2)*sqrt(((p_hat1*(1 - p_hat1)/n1)*((N_1 - n1)/(N_1 - 1))) + ((p_hat2*(1 - p_hat2)/n2)*((N_2 - n2)/(N_2 - 1)))))*100</a:t>
            </a:r>
          </a:p>
          <a:p>
            <a:pPr marL="0" indent="0">
              <a:buNone/>
            </a:pPr>
            <a:r>
              <a:rPr lang="pt-BR" sz="900" dirty="0">
                <a:highlight>
                  <a:srgbClr val="FFFF00"/>
                </a:highlight>
                <a:latin typeface="Consolas" panose="020B0609020204030204" pitchFamily="49" charset="0"/>
              </a:rPr>
              <a:t>inferior superior </a:t>
            </a:r>
          </a:p>
          <a:p>
            <a:pPr marL="0" indent="0">
              <a:buNone/>
            </a:pPr>
            <a:r>
              <a:rPr lang="pt-BR" sz="900" dirty="0">
                <a:highlight>
                  <a:srgbClr val="FFFF00"/>
                </a:highlight>
                <a:latin typeface="Consolas" panose="020B0609020204030204" pitchFamily="49" charset="0"/>
              </a:rPr>
              <a:t>2.664585 7.335415 </a:t>
            </a:r>
          </a:p>
        </p:txBody>
      </p:sp>
    </p:spTree>
    <p:extLst>
      <p:ext uri="{BB962C8B-B14F-4D97-AF65-F5344CB8AC3E}">
        <p14:creationId xmlns:p14="http://schemas.microsoft.com/office/powerpoint/2010/main" val="139631394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BB7AA6-FADF-4C74-BB6D-7BFBB63F51BC}"/>
              </a:ext>
            </a:extLst>
          </p:cNvPr>
          <p:cNvSpPr>
            <a:spLocks noGrp="1"/>
          </p:cNvSpPr>
          <p:nvPr>
            <p:ph type="title"/>
          </p:nvPr>
        </p:nvSpPr>
        <p:spPr/>
        <p:txBody>
          <a:bodyPr/>
          <a:lstStyle/>
          <a:p>
            <a:r>
              <a:rPr lang="es-VE" dirty="0"/>
              <a:t>Intervalos de confianza para proporción de varianzas poblacionales</a:t>
            </a:r>
            <a:endParaRPr lang="es-419" dirty="0"/>
          </a:p>
        </p:txBody>
      </p:sp>
      <p:sp>
        <p:nvSpPr>
          <p:cNvPr id="2" name="Marcador de texto 1"/>
          <p:cNvSpPr>
            <a:spLocks noGrp="1"/>
          </p:cNvSpPr>
          <p:nvPr>
            <p:ph type="body" idx="1"/>
          </p:nvPr>
        </p:nvSpPr>
        <p:spPr/>
        <p:txBody>
          <a:bodyPr/>
          <a:lstStyle/>
          <a:p>
            <a:r>
              <a:rPr lang="es-VE" dirty="0"/>
              <a:t>Construcción y ejemplos</a:t>
            </a:r>
            <a:endParaRPr lang="en-US" dirty="0"/>
          </a:p>
        </p:txBody>
      </p:sp>
    </p:spTree>
    <p:extLst>
      <p:ext uri="{BB962C8B-B14F-4D97-AF65-F5344CB8AC3E}">
        <p14:creationId xmlns:p14="http://schemas.microsoft.com/office/powerpoint/2010/main" val="27877276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proporción de varianzas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62500" lnSpcReduction="20000"/>
              </a:bodyPr>
              <a:lstStyle/>
              <a:p>
                <a:pPr>
                  <a:lnSpc>
                    <a:spcPct val="120000"/>
                  </a:lnSpc>
                </a:pPr>
                <a:r>
                  <a:rPr lang="es-419" sz="2900" dirty="0">
                    <a:ea typeface="Cambria Math" panose="02040503050406030204" pitchFamily="18" charset="0"/>
                  </a:rPr>
                  <a:t>Queremos acercarnos al cociente de varianzas:</a:t>
                </a:r>
              </a:p>
              <a:p>
                <a:pPr marL="0" indent="0">
                  <a:lnSpc>
                    <a:spcPct val="120000"/>
                  </a:lnSpc>
                  <a:buNone/>
                </a:pPr>
                <a14:m>
                  <m:oMathPara xmlns:m="http://schemas.openxmlformats.org/officeDocument/2006/math">
                    <m:oMathParaPr>
                      <m:jc m:val="centerGroup"/>
                    </m:oMathParaPr>
                    <m:oMath xmlns:m="http://schemas.openxmlformats.org/officeDocument/2006/math">
                      <m:f>
                        <m:fPr>
                          <m:ctrlPr>
                            <a:rPr lang="es-419" sz="2900" i="1">
                              <a:latin typeface="Cambria Math" panose="02040503050406030204" pitchFamily="18" charset="0"/>
                              <a:ea typeface="Cambria Math" panose="02040503050406030204" pitchFamily="18" charset="0"/>
                            </a:rPr>
                          </m:ctrlPr>
                        </m:fPr>
                        <m:num>
                          <m:sSubSup>
                            <m:sSubSupPr>
                              <m:ctrlPr>
                                <a:rPr lang="es-419" sz="2900" i="1">
                                  <a:latin typeface="Cambria Math" panose="02040503050406030204" pitchFamily="18" charset="0"/>
                                </a:rPr>
                              </m:ctrlPr>
                            </m:sSubSupPr>
                            <m:e>
                              <m:r>
                                <a:rPr lang="es-419" sz="2900" i="1">
                                  <a:latin typeface="Cambria Math" panose="02040503050406030204" pitchFamily="18" charset="0"/>
                                  <a:ea typeface="Cambria Math" panose="02040503050406030204" pitchFamily="18" charset="0"/>
                                </a:rPr>
                                <m:t>𝜎</m:t>
                              </m:r>
                            </m:e>
                            <m:sub>
                              <m:r>
                                <a:rPr lang="es-419" sz="2900" b="0" i="1" smtClean="0">
                                  <a:latin typeface="Cambria Math" panose="02040503050406030204" pitchFamily="18" charset="0"/>
                                  <a:ea typeface="Cambria Math" panose="02040503050406030204" pitchFamily="18" charset="0"/>
                                </a:rPr>
                                <m:t>𝑥</m:t>
                              </m:r>
                            </m:sub>
                            <m:sup>
                              <m:r>
                                <a:rPr lang="es-419" sz="2900" i="1">
                                  <a:latin typeface="Cambria Math" panose="02040503050406030204" pitchFamily="18" charset="0"/>
                                </a:rPr>
                                <m:t>2</m:t>
                              </m:r>
                            </m:sup>
                          </m:sSubSup>
                        </m:num>
                        <m:den>
                          <m:sSubSup>
                            <m:sSubSupPr>
                              <m:ctrlPr>
                                <a:rPr lang="es-419" sz="2900" i="1">
                                  <a:latin typeface="Cambria Math" panose="02040503050406030204" pitchFamily="18" charset="0"/>
                                </a:rPr>
                              </m:ctrlPr>
                            </m:sSubSupPr>
                            <m:e>
                              <m:r>
                                <a:rPr lang="es-419" sz="2900" i="1">
                                  <a:latin typeface="Cambria Math" panose="02040503050406030204" pitchFamily="18" charset="0"/>
                                  <a:ea typeface="Cambria Math" panose="02040503050406030204" pitchFamily="18" charset="0"/>
                                </a:rPr>
                                <m:t>𝜎</m:t>
                              </m:r>
                            </m:e>
                            <m:sub>
                              <m:r>
                                <a:rPr lang="es-419" sz="2900" b="0" i="1" smtClean="0">
                                  <a:latin typeface="Cambria Math" panose="02040503050406030204" pitchFamily="18" charset="0"/>
                                  <a:ea typeface="Cambria Math" panose="02040503050406030204" pitchFamily="18" charset="0"/>
                                </a:rPr>
                                <m:t>𝑦</m:t>
                              </m:r>
                            </m:sub>
                            <m:sup>
                              <m:r>
                                <a:rPr lang="es-419" sz="2900" i="1">
                                  <a:latin typeface="Cambria Math" panose="02040503050406030204" pitchFamily="18" charset="0"/>
                                </a:rPr>
                                <m:t>2</m:t>
                              </m:r>
                            </m:sup>
                          </m:sSubSup>
                        </m:den>
                      </m:f>
                    </m:oMath>
                  </m:oMathPara>
                </a14:m>
                <a:endParaRPr lang="es-419" sz="2900" i="1" dirty="0">
                  <a:latin typeface="Cambria Math" panose="02040503050406030204" pitchFamily="18" charset="0"/>
                </a:endParaRPr>
              </a:p>
              <a:p>
                <a:pPr>
                  <a:lnSpc>
                    <a:spcPct val="120000"/>
                  </a:lnSpc>
                </a:pPr>
                <a:r>
                  <a:rPr lang="es-419" dirty="0">
                    <a:ea typeface="Cambria Math" panose="02040503050406030204" pitchFamily="18" charset="0"/>
                  </a:rPr>
                  <a:t>Usando el estimador puntual constituido por varianzas muestrales insesgadas:</a:t>
                </a:r>
              </a:p>
              <a:p>
                <a:pPr marL="0" indent="0">
                  <a:lnSpc>
                    <a:spcPct val="120000"/>
                  </a:lnSpc>
                  <a:buNone/>
                </a:pPr>
                <a14:m>
                  <m:oMathPara xmlns:m="http://schemas.openxmlformats.org/officeDocument/2006/math">
                    <m:oMathParaPr>
                      <m:jc m:val="centerGroup"/>
                    </m:oMathParaPr>
                    <m:oMath xmlns:m="http://schemas.openxmlformats.org/officeDocument/2006/math">
                      <m:f>
                        <m:fPr>
                          <m:ctrlPr>
                            <a:rPr lang="es-419" sz="2800" i="1" smtClean="0">
                              <a:latin typeface="Cambria Math" panose="02040503050406030204" pitchFamily="18" charset="0"/>
                              <a:ea typeface="Cambria Math" panose="02040503050406030204" pitchFamily="18" charset="0"/>
                            </a:rPr>
                          </m:ctrlPr>
                        </m:fPr>
                        <m:num>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rPr>
                                <m:t>𝑥</m:t>
                              </m:r>
                            </m:sub>
                            <m:sup>
                              <m:r>
                                <a:rPr lang="es-419" sz="2800" i="1">
                                  <a:latin typeface="Cambria Math" panose="02040503050406030204" pitchFamily="18" charset="0"/>
                                </a:rPr>
                                <m:t>2</m:t>
                              </m:r>
                            </m:sup>
                          </m:sSubSup>
                        </m:num>
                        <m:den>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rPr>
                                <m:t>𝑦</m:t>
                              </m:r>
                            </m:sub>
                            <m:sup>
                              <m:r>
                                <a:rPr lang="es-419" sz="2800" i="1">
                                  <a:latin typeface="Cambria Math" panose="02040503050406030204" pitchFamily="18" charset="0"/>
                                </a:rPr>
                                <m:t>2</m:t>
                              </m:r>
                            </m:sup>
                          </m:sSubSup>
                        </m:den>
                      </m:f>
                    </m:oMath>
                  </m:oMathPara>
                </a14:m>
                <a:endParaRPr lang="es-419" dirty="0">
                  <a:ea typeface="Cambria Math" panose="02040503050406030204" pitchFamily="18" charset="0"/>
                </a:endParaRPr>
              </a:p>
              <a:p>
                <a:pPr>
                  <a:lnSpc>
                    <a:spcPct val="120000"/>
                  </a:lnSpc>
                </a:pPr>
                <a:r>
                  <a:rPr lang="es-419" dirty="0">
                    <a:ea typeface="Cambria Math" panose="02040503050406030204" pitchFamily="18" charset="0"/>
                  </a:rPr>
                  <a:t>Cuya distribución se aproxima:</a:t>
                </a:r>
              </a:p>
              <a:p>
                <a:pPr marL="0" indent="0">
                  <a:lnSpc>
                    <a:spcPct val="120000"/>
                  </a:lnSpc>
                  <a:buNone/>
                </a:pPr>
                <a14:m>
                  <m:oMathPara xmlns:m="http://schemas.openxmlformats.org/officeDocument/2006/math">
                    <m:oMathParaPr>
                      <m:jc m:val="centerGroup"/>
                    </m:oMathParaPr>
                    <m:oMath xmlns:m="http://schemas.openxmlformats.org/officeDocument/2006/math">
                      <m:r>
                        <a:rPr lang="es-419" sz="2800" b="0" i="1" smtClean="0">
                          <a:latin typeface="Cambria Math" panose="02040503050406030204" pitchFamily="18" charset="0"/>
                          <a:ea typeface="Cambria Math" panose="02040503050406030204" pitchFamily="18" charset="0"/>
                        </a:rPr>
                        <m:t>𝐹</m:t>
                      </m:r>
                      <m:r>
                        <a:rPr lang="es-419" sz="2800" b="0" i="1" smtClean="0">
                          <a:latin typeface="Cambria Math" panose="02040503050406030204" pitchFamily="18" charset="0"/>
                          <a:ea typeface="Cambria Math" panose="02040503050406030204" pitchFamily="18" charset="0"/>
                        </a:rPr>
                        <m:t>=</m:t>
                      </m:r>
                      <m:f>
                        <m:fPr>
                          <m:ctrlPr>
                            <a:rPr lang="es-419" sz="2800" b="0" i="1" smtClean="0">
                              <a:latin typeface="Cambria Math" panose="02040503050406030204" pitchFamily="18" charset="0"/>
                              <a:ea typeface="Cambria Math" panose="02040503050406030204" pitchFamily="18" charset="0"/>
                            </a:rPr>
                          </m:ctrlPr>
                        </m:fPr>
                        <m:num>
                          <m:f>
                            <m:fPr>
                              <m:ctrlPr>
                                <a:rPr lang="es-419" sz="2800" b="0" i="1" smtClean="0">
                                  <a:latin typeface="Cambria Math" panose="02040503050406030204" pitchFamily="18" charset="0"/>
                                  <a:ea typeface="Cambria Math" panose="02040503050406030204" pitchFamily="18" charset="0"/>
                                </a:rPr>
                              </m:ctrlPr>
                            </m:fPr>
                            <m:num>
                              <m:f>
                                <m:fPr>
                                  <m:ctrlPr>
                                    <a:rPr lang="es-419" sz="2800" i="1" smtClean="0">
                                      <a:latin typeface="Cambria Math" panose="02040503050406030204" pitchFamily="18" charset="0"/>
                                    </a:rPr>
                                  </m:ctrlPr>
                                </m:fPr>
                                <m:num>
                                  <m:sSub>
                                    <m:sSubPr>
                                      <m:ctrlPr>
                                        <a:rPr lang="es-419" sz="2800" i="1">
                                          <a:latin typeface="Cambria Math" panose="02040503050406030204" pitchFamily="18" charset="0"/>
                                        </a:rPr>
                                      </m:ctrlPr>
                                    </m:sSubPr>
                                    <m:e>
                                      <m:r>
                                        <a:rPr lang="es-419" sz="2800" b="0" i="1" smtClean="0">
                                          <a:latin typeface="Cambria Math" panose="02040503050406030204" pitchFamily="18" charset="0"/>
                                        </a:rPr>
                                        <m:t>(</m:t>
                                      </m:r>
                                      <m:r>
                                        <a:rPr lang="es-419" sz="2800" i="1">
                                          <a:latin typeface="Cambria Math" panose="02040503050406030204" pitchFamily="18" charset="0"/>
                                        </a:rPr>
                                        <m:t>𝑛</m:t>
                                      </m:r>
                                    </m:e>
                                    <m:sub>
                                      <m:r>
                                        <a:rPr lang="es-419" sz="2800" i="1">
                                          <a:latin typeface="Cambria Math" panose="02040503050406030204" pitchFamily="18" charset="0"/>
                                        </a:rPr>
                                        <m:t>𝑥</m:t>
                                      </m:r>
                                    </m:sub>
                                  </m:sSub>
                                  <m:r>
                                    <a:rPr lang="es-419" sz="2800" b="0" i="1" smtClean="0">
                                      <a:latin typeface="Cambria Math" panose="02040503050406030204" pitchFamily="18" charset="0"/>
                                    </a:rPr>
                                    <m:t>−1)</m:t>
                                  </m:r>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rPr>
                                        <m:t>𝑥</m:t>
                                      </m:r>
                                    </m:sub>
                                    <m:sup>
                                      <m:r>
                                        <a:rPr lang="es-419" sz="2800" i="1">
                                          <a:latin typeface="Cambria Math" panose="02040503050406030204" pitchFamily="18" charset="0"/>
                                        </a:rPr>
                                        <m:t>2</m:t>
                                      </m:r>
                                    </m:sup>
                                  </m:sSubSup>
                                </m:num>
                                <m:den>
                                  <m:sSubSup>
                                    <m:sSubSupPr>
                                      <m:ctrlPr>
                                        <a:rPr lang="es-419" sz="2800" i="1" smtClean="0">
                                          <a:latin typeface="Cambria Math" panose="02040503050406030204" pitchFamily="18" charset="0"/>
                                        </a:rPr>
                                      </m:ctrlPr>
                                    </m:sSubSupPr>
                                    <m:e>
                                      <m:r>
                                        <a:rPr lang="es-419" sz="2800" i="1" smtClean="0">
                                          <a:latin typeface="Cambria Math" panose="02040503050406030204" pitchFamily="18" charset="0"/>
                                          <a:ea typeface="Cambria Math" panose="02040503050406030204" pitchFamily="18" charset="0"/>
                                        </a:rPr>
                                        <m:t>𝜎</m:t>
                                      </m:r>
                                    </m:e>
                                    <m:sub>
                                      <m:r>
                                        <a:rPr lang="es-419" sz="2800" b="0" i="1" smtClean="0">
                                          <a:latin typeface="Cambria Math" panose="02040503050406030204" pitchFamily="18" charset="0"/>
                                        </a:rPr>
                                        <m:t>𝑥</m:t>
                                      </m:r>
                                    </m:sub>
                                    <m:sup>
                                      <m:r>
                                        <a:rPr lang="es-419" sz="2800" b="0" i="1" smtClean="0">
                                          <a:latin typeface="Cambria Math" panose="02040503050406030204" pitchFamily="18" charset="0"/>
                                        </a:rPr>
                                        <m:t>2</m:t>
                                      </m:r>
                                    </m:sup>
                                  </m:sSubSup>
                                </m:den>
                              </m:f>
                            </m:num>
                            <m:den>
                              <m:r>
                                <a:rPr lang="es-419" sz="2800" b="0" i="1" smtClean="0">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𝑥</m:t>
                                  </m:r>
                                </m:sub>
                              </m:sSub>
                              <m:r>
                                <a:rPr lang="es-419" sz="2800" b="0" i="1" smtClean="0">
                                  <a:latin typeface="Cambria Math" panose="02040503050406030204" pitchFamily="18" charset="0"/>
                                </a:rPr>
                                <m:t>−1)</m:t>
                              </m:r>
                            </m:den>
                          </m:f>
                        </m:num>
                        <m:den>
                          <m:f>
                            <m:fPr>
                              <m:ctrlPr>
                                <a:rPr lang="es-419" sz="2800" b="0" i="1" smtClean="0">
                                  <a:latin typeface="Cambria Math" panose="02040503050406030204" pitchFamily="18" charset="0"/>
                                  <a:ea typeface="Cambria Math" panose="02040503050406030204" pitchFamily="18" charset="0"/>
                                </a:rPr>
                              </m:ctrlPr>
                            </m:fPr>
                            <m:num>
                              <m:f>
                                <m:fPr>
                                  <m:ctrlPr>
                                    <a:rPr lang="es-419" sz="2800" i="1">
                                      <a:latin typeface="Cambria Math" panose="02040503050406030204" pitchFamily="18" charset="0"/>
                                    </a:rPr>
                                  </m:ctrlPr>
                                </m:fPr>
                                <m:num>
                                  <m:sSub>
                                    <m:sSubPr>
                                      <m:ctrlPr>
                                        <a:rPr lang="es-419" sz="2800" i="1">
                                          <a:latin typeface="Cambria Math" panose="02040503050406030204" pitchFamily="18" charset="0"/>
                                        </a:rPr>
                                      </m:ctrlPr>
                                    </m:sSubPr>
                                    <m:e>
                                      <m:r>
                                        <a:rPr lang="es-419" sz="2800" b="0" i="1" smtClean="0">
                                          <a:latin typeface="Cambria Math" panose="02040503050406030204" pitchFamily="18" charset="0"/>
                                        </a:rPr>
                                        <m:t>(</m:t>
                                      </m:r>
                                      <m:r>
                                        <a:rPr lang="es-419" sz="2800" i="1">
                                          <a:latin typeface="Cambria Math" panose="02040503050406030204" pitchFamily="18" charset="0"/>
                                        </a:rPr>
                                        <m:t>𝑛</m:t>
                                      </m:r>
                                    </m:e>
                                    <m:sub>
                                      <m:r>
                                        <a:rPr lang="es-419" sz="2800" b="0" i="1" smtClean="0">
                                          <a:latin typeface="Cambria Math" panose="02040503050406030204" pitchFamily="18" charset="0"/>
                                        </a:rPr>
                                        <m:t>𝑦</m:t>
                                      </m:r>
                                      <m:r>
                                        <a:rPr lang="es-419" sz="2800" b="0" i="1" smtClean="0">
                                          <a:latin typeface="Cambria Math" panose="02040503050406030204" pitchFamily="18" charset="0"/>
                                        </a:rPr>
                                        <m:t>−</m:t>
                                      </m:r>
                                    </m:sub>
                                  </m:sSub>
                                  <m:r>
                                    <a:rPr lang="es-419" sz="2800" b="0" i="1" smtClean="0">
                                      <a:latin typeface="Cambria Math" panose="02040503050406030204" pitchFamily="18" charset="0"/>
                                    </a:rPr>
                                    <m:t>1)</m:t>
                                  </m:r>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b="0" i="1" smtClean="0">
                                          <a:latin typeface="Cambria Math" panose="02040503050406030204" pitchFamily="18" charset="0"/>
                                        </a:rPr>
                                        <m:t>𝑦</m:t>
                                      </m:r>
                                    </m:sub>
                                    <m:sup>
                                      <m:r>
                                        <a:rPr lang="es-419" sz="2800" i="1">
                                          <a:latin typeface="Cambria Math" panose="02040503050406030204" pitchFamily="18" charset="0"/>
                                        </a:rPr>
                                        <m:t>2</m:t>
                                      </m:r>
                                    </m:sup>
                                  </m:sSubSup>
                                </m:num>
                                <m:den>
                                  <m:sSubSup>
                                    <m:sSubSupPr>
                                      <m:ctrlPr>
                                        <a:rPr lang="es-419" sz="2800" i="1">
                                          <a:latin typeface="Cambria Math" panose="02040503050406030204" pitchFamily="18" charset="0"/>
                                        </a:rPr>
                                      </m:ctrlPr>
                                    </m:sSubSupPr>
                                    <m:e>
                                      <m:r>
                                        <a:rPr lang="es-419" sz="2800" i="1">
                                          <a:latin typeface="Cambria Math" panose="02040503050406030204" pitchFamily="18" charset="0"/>
                                          <a:ea typeface="Cambria Math" panose="02040503050406030204" pitchFamily="18" charset="0"/>
                                        </a:rPr>
                                        <m:t>𝜎</m:t>
                                      </m:r>
                                    </m:e>
                                    <m:sub>
                                      <m:r>
                                        <a:rPr lang="es-419" sz="2800" b="0" i="1" smtClean="0">
                                          <a:latin typeface="Cambria Math" panose="02040503050406030204" pitchFamily="18" charset="0"/>
                                          <a:ea typeface="Cambria Math" panose="02040503050406030204" pitchFamily="18" charset="0"/>
                                        </a:rPr>
                                        <m:t>𝑦</m:t>
                                      </m:r>
                                    </m:sub>
                                    <m:sup>
                                      <m:r>
                                        <a:rPr lang="es-419" sz="2800" i="1">
                                          <a:latin typeface="Cambria Math" panose="02040503050406030204" pitchFamily="18" charset="0"/>
                                        </a:rPr>
                                        <m:t>2</m:t>
                                      </m:r>
                                    </m:sup>
                                  </m:sSubSup>
                                </m:den>
                              </m:f>
                            </m:num>
                            <m:den>
                              <m:r>
                                <a:rPr lang="es-419" sz="2800" b="0" i="1" smtClean="0">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b="0" i="1" smtClean="0">
                                      <a:latin typeface="Cambria Math" panose="02040503050406030204" pitchFamily="18" charset="0"/>
                                    </a:rPr>
                                    <m:t>𝑦</m:t>
                                  </m:r>
                                </m:sub>
                              </m:sSub>
                              <m:r>
                                <a:rPr lang="es-419" sz="2800" b="0" i="1" smtClean="0">
                                  <a:latin typeface="Cambria Math" panose="02040503050406030204" pitchFamily="18" charset="0"/>
                                </a:rPr>
                                <m:t>−1)</m:t>
                              </m:r>
                            </m:den>
                          </m:f>
                        </m:den>
                      </m:f>
                      <m:r>
                        <a:rPr lang="es-419" sz="2800" b="0" i="1" smtClean="0">
                          <a:latin typeface="Cambria Math" panose="02040503050406030204" pitchFamily="18" charset="0"/>
                        </a:rPr>
                        <m:t>=</m:t>
                      </m:r>
                      <m:f>
                        <m:fPr>
                          <m:ctrlPr>
                            <a:rPr lang="es-419" sz="2800" i="1">
                              <a:latin typeface="Cambria Math" panose="02040503050406030204" pitchFamily="18" charset="0"/>
                              <a:ea typeface="Cambria Math" panose="02040503050406030204" pitchFamily="18" charset="0"/>
                            </a:rPr>
                          </m:ctrlPr>
                        </m:fPr>
                        <m:num>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rPr>
                                <m:t>𝑥</m:t>
                              </m:r>
                            </m:sub>
                            <m:sup>
                              <m:r>
                                <a:rPr lang="es-419" sz="2800" i="1">
                                  <a:latin typeface="Cambria Math" panose="02040503050406030204" pitchFamily="18" charset="0"/>
                                </a:rPr>
                                <m:t>2</m:t>
                              </m:r>
                            </m:sup>
                          </m:sSubSup>
                          <m:sSubSup>
                            <m:sSubSupPr>
                              <m:ctrlPr>
                                <a:rPr lang="es-419" sz="2800" i="1">
                                  <a:latin typeface="Cambria Math" panose="02040503050406030204" pitchFamily="18" charset="0"/>
                                </a:rPr>
                              </m:ctrlPr>
                            </m:sSubSupPr>
                            <m:e>
                              <m:r>
                                <a:rPr lang="es-419" sz="2800" i="1">
                                  <a:latin typeface="Cambria Math" panose="02040503050406030204" pitchFamily="18" charset="0"/>
                                  <a:ea typeface="Cambria Math" panose="02040503050406030204" pitchFamily="18" charset="0"/>
                                </a:rPr>
                                <m:t>𝜎</m:t>
                              </m:r>
                            </m:e>
                            <m:sub>
                              <m:r>
                                <a:rPr lang="es-419" sz="2800" i="1">
                                  <a:latin typeface="Cambria Math" panose="02040503050406030204" pitchFamily="18" charset="0"/>
                                  <a:ea typeface="Cambria Math" panose="02040503050406030204" pitchFamily="18" charset="0"/>
                                </a:rPr>
                                <m:t>𝑦</m:t>
                              </m:r>
                            </m:sub>
                            <m:sup>
                              <m:r>
                                <a:rPr lang="es-419" sz="2800" i="1">
                                  <a:latin typeface="Cambria Math" panose="02040503050406030204" pitchFamily="18" charset="0"/>
                                </a:rPr>
                                <m:t>2</m:t>
                              </m:r>
                            </m:sup>
                          </m:sSubSup>
                        </m:num>
                        <m:den>
                          <m:sSubSup>
                            <m:sSubSupPr>
                              <m:ctrlPr>
                                <a:rPr lang="es-419" sz="2800" i="1">
                                  <a:latin typeface="Cambria Math" panose="02040503050406030204" pitchFamily="18" charset="0"/>
                                </a:rPr>
                              </m:ctrlPr>
                            </m:sSubSupPr>
                            <m:e>
                              <m:r>
                                <a:rPr lang="es-419" sz="2800" i="1">
                                  <a:latin typeface="Cambria Math" panose="02040503050406030204" pitchFamily="18" charset="0"/>
                                </a:rPr>
                                <m:t>𝑆</m:t>
                              </m:r>
                            </m:e>
                            <m:sub>
                              <m:r>
                                <a:rPr lang="es-419" sz="2800" i="1">
                                  <a:latin typeface="Cambria Math" panose="02040503050406030204" pitchFamily="18" charset="0"/>
                                </a:rPr>
                                <m:t>𝑦</m:t>
                              </m:r>
                            </m:sub>
                            <m:sup>
                              <m:r>
                                <a:rPr lang="es-419" sz="2800" i="1">
                                  <a:latin typeface="Cambria Math" panose="02040503050406030204" pitchFamily="18" charset="0"/>
                                </a:rPr>
                                <m:t>2</m:t>
                              </m:r>
                            </m:sup>
                          </m:sSubSup>
                          <m:sSubSup>
                            <m:sSubSupPr>
                              <m:ctrlPr>
                                <a:rPr lang="es-419" sz="2800" i="1">
                                  <a:latin typeface="Cambria Math" panose="02040503050406030204" pitchFamily="18" charset="0"/>
                                </a:rPr>
                              </m:ctrlPr>
                            </m:sSubSupPr>
                            <m:e>
                              <m:r>
                                <a:rPr lang="es-419" sz="2800" i="1">
                                  <a:latin typeface="Cambria Math" panose="02040503050406030204" pitchFamily="18" charset="0"/>
                                  <a:ea typeface="Cambria Math" panose="02040503050406030204" pitchFamily="18" charset="0"/>
                                </a:rPr>
                                <m:t>𝜎</m:t>
                              </m:r>
                            </m:e>
                            <m:sub>
                              <m:r>
                                <a:rPr lang="es-419" sz="2800" i="1">
                                  <a:latin typeface="Cambria Math" panose="02040503050406030204" pitchFamily="18" charset="0"/>
                                  <a:ea typeface="Cambria Math" panose="02040503050406030204" pitchFamily="18" charset="0"/>
                                </a:rPr>
                                <m:t>𝑥</m:t>
                              </m:r>
                            </m:sub>
                            <m:sup>
                              <m:r>
                                <a:rPr lang="es-419" sz="2800" i="1">
                                  <a:latin typeface="Cambria Math" panose="02040503050406030204" pitchFamily="18" charset="0"/>
                                </a:rPr>
                                <m:t>2</m:t>
                              </m:r>
                            </m:sup>
                          </m:sSubSup>
                        </m:den>
                      </m:f>
                      <m:r>
                        <a:rPr lang="es-419" sz="2800" i="1">
                          <a:latin typeface="Cambria Math" panose="02040503050406030204" pitchFamily="18" charset="0"/>
                          <a:ea typeface="Cambria Math" panose="02040503050406030204" pitchFamily="18" charset="0"/>
                        </a:rPr>
                        <m:t>~</m:t>
                      </m:r>
                      <m:r>
                        <a:rPr lang="es-419" sz="2800" i="1">
                          <a:latin typeface="Cambria Math" panose="02040503050406030204" pitchFamily="18" charset="0"/>
                          <a:ea typeface="Cambria Math" panose="02040503050406030204" pitchFamily="18" charset="0"/>
                        </a:rPr>
                        <m:t>𝐹</m:t>
                      </m:r>
                      <m:r>
                        <a:rPr lang="es-419" sz="2800" i="1">
                          <a:latin typeface="Cambria Math" panose="02040503050406030204" pitchFamily="18" charset="0"/>
                          <a:ea typeface="Cambria Math" panose="02040503050406030204" pitchFamily="18" charset="0"/>
                        </a:rPr>
                        <m:t>(</m:t>
                      </m:r>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𝑥</m:t>
                          </m:r>
                        </m:sub>
                      </m:sSub>
                      <m:r>
                        <a:rPr lang="es-419" sz="2800" i="1">
                          <a:latin typeface="Cambria Math" panose="02040503050406030204" pitchFamily="18" charset="0"/>
                        </a:rPr>
                        <m:t>−1</m:t>
                      </m:r>
                      <m:r>
                        <m:rPr>
                          <m:nor/>
                        </m:rPr>
                        <a:rPr lang="es-419" sz="2800" dirty="0">
                          <a:ea typeface="Cambria Math" panose="02040503050406030204" pitchFamily="18" charset="0"/>
                        </a:rPr>
                        <m:t>,</m:t>
                      </m:r>
                      <m:r>
                        <m:rPr>
                          <m:nor/>
                        </m:rPr>
                        <a:rPr lang="es-419" sz="2800" dirty="0"/>
                        <m:t> </m:t>
                      </m:r>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𝑦</m:t>
                          </m:r>
                        </m:sub>
                      </m:sSub>
                      <m:r>
                        <a:rPr lang="es-419" sz="2800" i="1">
                          <a:latin typeface="Cambria Math" panose="02040503050406030204" pitchFamily="18" charset="0"/>
                        </a:rPr>
                        <m:t>−1</m:t>
                      </m:r>
                      <m:r>
                        <m:rPr>
                          <m:nor/>
                        </m:rPr>
                        <a:rPr lang="es-419" sz="2800" dirty="0">
                          <a:ea typeface="Cambria Math" panose="02040503050406030204" pitchFamily="18" charset="0"/>
                        </a:rPr>
                        <m:t>)</m:t>
                      </m:r>
                    </m:oMath>
                  </m:oMathPara>
                </a14:m>
                <a:endParaRPr lang="es-419" dirty="0">
                  <a:ea typeface="Cambria Math" panose="02040503050406030204" pitchFamily="18" charset="0"/>
                </a:endParaRPr>
              </a:p>
              <a:p>
                <a:pPr>
                  <a:lnSpc>
                    <a:spcPct val="120000"/>
                  </a:lnSpc>
                </a:pPr>
                <a:r>
                  <a:rPr lang="es-419" dirty="0">
                    <a:ea typeface="Cambria Math" panose="02040503050406030204" pitchFamily="18" charset="0"/>
                  </a:rPr>
                  <a:t>Se distribuye como una </a:t>
                </a:r>
                <a:r>
                  <a:rPr lang="es-419" b="1" dirty="0">
                    <a:solidFill>
                      <a:srgbClr val="003A5D"/>
                    </a:solidFill>
                    <a:ea typeface="Cambria Math" panose="02040503050406030204" pitchFamily="18" charset="0"/>
                  </a:rPr>
                  <a:t>F-Snedecor</a:t>
                </a:r>
                <a:r>
                  <a:rPr lang="es-419" dirty="0">
                    <a:ea typeface="Cambria Math" panose="02040503050406030204" pitchFamily="18" charset="0"/>
                  </a:rPr>
                  <a:t> con </a:t>
                </a:r>
                <a14:m>
                  <m:oMath xmlns:m="http://schemas.openxmlformats.org/officeDocument/2006/math">
                    <m:sSub>
                      <m:sSubPr>
                        <m:ctrlPr>
                          <a:rPr lang="es-419" sz="2800" i="1" smtClean="0">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𝑥</m:t>
                        </m:r>
                      </m:sub>
                    </m:sSub>
                    <m:r>
                      <a:rPr lang="es-419" sz="2800" i="1">
                        <a:latin typeface="Cambria Math" panose="02040503050406030204" pitchFamily="18" charset="0"/>
                      </a:rPr>
                      <m:t>−1</m:t>
                    </m:r>
                    <m:r>
                      <m:rPr>
                        <m:nor/>
                      </m:rPr>
                      <a:rPr lang="es-419" sz="2800" dirty="0">
                        <a:ea typeface="Cambria Math" panose="02040503050406030204" pitchFamily="18" charset="0"/>
                      </a:rPr>
                      <m:t>,</m:t>
                    </m:r>
                    <m:r>
                      <m:rPr>
                        <m:nor/>
                      </m:rPr>
                      <a:rPr lang="es-419" sz="2800" dirty="0"/>
                      <m:t> </m:t>
                    </m:r>
                    <m:sSub>
                      <m:sSubPr>
                        <m:ctrlPr>
                          <a:rPr lang="es-419" sz="2800" i="1">
                            <a:latin typeface="Cambria Math" panose="02040503050406030204" pitchFamily="18" charset="0"/>
                          </a:rPr>
                        </m:ctrlPr>
                      </m:sSubPr>
                      <m:e>
                        <m:r>
                          <a:rPr lang="es-419" sz="2800" i="1">
                            <a:latin typeface="Cambria Math" panose="02040503050406030204" pitchFamily="18" charset="0"/>
                          </a:rPr>
                          <m:t>𝑛</m:t>
                        </m:r>
                      </m:e>
                      <m:sub>
                        <m:r>
                          <a:rPr lang="es-419" sz="2800" i="1">
                            <a:latin typeface="Cambria Math" panose="02040503050406030204" pitchFamily="18" charset="0"/>
                          </a:rPr>
                          <m:t>𝑦</m:t>
                        </m:r>
                      </m:sub>
                    </m:sSub>
                    <m:r>
                      <a:rPr lang="es-419" sz="2800" i="1">
                        <a:latin typeface="Cambria Math" panose="02040503050406030204" pitchFamily="18" charset="0"/>
                      </a:rPr>
                      <m:t>−1</m:t>
                    </m:r>
                  </m:oMath>
                </a14:m>
                <a:r>
                  <a:rPr lang="es-419" dirty="0">
                    <a:ea typeface="Cambria Math" panose="02040503050406030204" pitchFamily="18" charset="0"/>
                  </a:rPr>
                  <a:t> grados de libertad.</a:t>
                </a: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406" t="-667"/>
                </a:stretch>
              </a:blipFill>
            </p:spPr>
            <p:txBody>
              <a:bodyPr/>
              <a:lstStyle/>
              <a:p>
                <a:r>
                  <a:rPr lang="es-419">
                    <a:noFill/>
                  </a:rPr>
                  <a:t> </a:t>
                </a:r>
              </a:p>
            </p:txBody>
          </p:sp>
        </mc:Fallback>
      </mc:AlternateContent>
    </p:spTree>
    <p:extLst>
      <p:ext uri="{BB962C8B-B14F-4D97-AF65-F5344CB8AC3E}">
        <p14:creationId xmlns:p14="http://schemas.microsoft.com/office/powerpoint/2010/main" val="24914720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a:extLst>
              <a:ext uri="{FF2B5EF4-FFF2-40B4-BE49-F238E27FC236}">
                <a16:creationId xmlns:a16="http://schemas.microsoft.com/office/drawing/2014/main" id="{C8F77230-D141-496C-A61D-4BE1D7E9B1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340" t="60895" r="34393" b="7652"/>
          <a:stretch/>
        </p:blipFill>
        <p:spPr bwMode="auto">
          <a:xfrm>
            <a:off x="6096000" y="3429000"/>
            <a:ext cx="5230070" cy="223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proporción de varianzas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fontScale="25000" lnSpcReduction="20000"/>
              </a:bodyPr>
              <a:lstStyle/>
              <a:p>
                <a:pPr>
                  <a:lnSpc>
                    <a:spcPct val="120000"/>
                  </a:lnSpc>
                </a:pPr>
                <a:r>
                  <a:rPr lang="es-419" sz="7600" dirty="0">
                    <a:ea typeface="Cambria Math" panose="02040503050406030204" pitchFamily="18" charset="0"/>
                  </a:rPr>
                  <a:t>Para un ratio entre varianzas recordamos que al emplear varianzas muestrales insesgadas:</a:t>
                </a:r>
              </a:p>
              <a:p>
                <a:pPr>
                  <a:lnSpc>
                    <a:spcPct val="120000"/>
                  </a:lnSpc>
                </a:pPr>
                <a14:m>
                  <m:oMath xmlns:m="http://schemas.openxmlformats.org/officeDocument/2006/math">
                    <m:r>
                      <a:rPr lang="es-419" sz="7600" b="0" i="1" smtClean="0">
                        <a:latin typeface="Cambria Math" panose="02040503050406030204" pitchFamily="18" charset="0"/>
                        <a:ea typeface="Cambria Math" panose="02040503050406030204" pitchFamily="18" charset="0"/>
                      </a:rPr>
                      <m:t>𝐹</m:t>
                    </m:r>
                    <m:r>
                      <a:rPr lang="es-419" sz="7600" b="0" i="1" smtClean="0">
                        <a:latin typeface="Cambria Math" panose="02040503050406030204" pitchFamily="18" charset="0"/>
                      </a:rPr>
                      <m:t>=</m:t>
                    </m:r>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𝑦</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𝑥</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ea typeface="Cambria Math" panose="02040503050406030204" pitchFamily="18" charset="0"/>
                      </a:rPr>
                      <m:t>𝐹</m:t>
                    </m:r>
                    <m:r>
                      <a:rPr lang="es-419" sz="7600" i="1">
                        <a:latin typeface="Cambria Math" panose="02040503050406030204" pitchFamily="18" charset="0"/>
                        <a:ea typeface="Cambria Math" panose="02040503050406030204" pitchFamily="18" charset="0"/>
                      </a:rPr>
                      <m:t>(</m:t>
                    </m:r>
                    <m:sSub>
                      <m:sSubPr>
                        <m:ctrlPr>
                          <a:rPr lang="es-419" sz="7600" i="1">
                            <a:latin typeface="Cambria Math" panose="02040503050406030204" pitchFamily="18" charset="0"/>
                          </a:rPr>
                        </m:ctrlPr>
                      </m:sSubPr>
                      <m:e>
                        <m:r>
                          <a:rPr lang="es-419" sz="7600" i="1">
                            <a:latin typeface="Cambria Math" panose="02040503050406030204" pitchFamily="18" charset="0"/>
                          </a:rPr>
                          <m:t>𝑛</m:t>
                        </m:r>
                      </m:e>
                      <m:sub>
                        <m:r>
                          <a:rPr lang="es-419" sz="7600" i="1">
                            <a:latin typeface="Cambria Math" panose="02040503050406030204" pitchFamily="18" charset="0"/>
                          </a:rPr>
                          <m:t>𝑥</m:t>
                        </m:r>
                      </m:sub>
                    </m:sSub>
                    <m:r>
                      <a:rPr lang="es-419" sz="7600" i="1">
                        <a:latin typeface="Cambria Math" panose="02040503050406030204" pitchFamily="18" charset="0"/>
                      </a:rPr>
                      <m:t>−1</m:t>
                    </m:r>
                    <m:r>
                      <m:rPr>
                        <m:nor/>
                      </m:rPr>
                      <a:rPr lang="es-419" sz="7600" dirty="0">
                        <a:ea typeface="Cambria Math" panose="02040503050406030204" pitchFamily="18" charset="0"/>
                      </a:rPr>
                      <m:t>,</m:t>
                    </m:r>
                    <m:r>
                      <m:rPr>
                        <m:nor/>
                      </m:rPr>
                      <a:rPr lang="es-419" sz="7600" dirty="0"/>
                      <m:t> </m:t>
                    </m:r>
                    <m:sSub>
                      <m:sSubPr>
                        <m:ctrlPr>
                          <a:rPr lang="es-419" sz="7600" i="1">
                            <a:latin typeface="Cambria Math" panose="02040503050406030204" pitchFamily="18" charset="0"/>
                          </a:rPr>
                        </m:ctrlPr>
                      </m:sSubPr>
                      <m:e>
                        <m:r>
                          <a:rPr lang="es-419" sz="7600" i="1">
                            <a:latin typeface="Cambria Math" panose="02040503050406030204" pitchFamily="18" charset="0"/>
                          </a:rPr>
                          <m:t>𝑛</m:t>
                        </m:r>
                      </m:e>
                      <m:sub>
                        <m:r>
                          <a:rPr lang="es-419" sz="7600" i="1">
                            <a:latin typeface="Cambria Math" panose="02040503050406030204" pitchFamily="18" charset="0"/>
                          </a:rPr>
                          <m:t>𝑦</m:t>
                        </m:r>
                      </m:sub>
                    </m:sSub>
                    <m:r>
                      <a:rPr lang="es-419" sz="7600" i="1">
                        <a:latin typeface="Cambria Math" panose="02040503050406030204" pitchFamily="18" charset="0"/>
                      </a:rPr>
                      <m:t>−1</m:t>
                    </m:r>
                    <m:r>
                      <m:rPr>
                        <m:nor/>
                      </m:rPr>
                      <a:rPr lang="es-419" sz="7600" dirty="0">
                        <a:ea typeface="Cambria Math" panose="02040503050406030204" pitchFamily="18" charset="0"/>
                      </a:rPr>
                      <m:t>)</m:t>
                    </m:r>
                    <m:r>
                      <m:rPr>
                        <m:nor/>
                      </m:rPr>
                      <a:rPr lang="es-419" sz="7600" b="0" i="0" dirty="0" smtClean="0">
                        <a:ea typeface="Cambria Math" panose="02040503050406030204" pitchFamily="18" charset="0"/>
                      </a:rPr>
                      <m:t>;</m:t>
                    </m:r>
                  </m:oMath>
                </a14:m>
                <a:r>
                  <a:rPr lang="es-419" sz="7600" dirty="0">
                    <a:ea typeface="Cambria Math" panose="02040503050406030204" pitchFamily="18" charset="0"/>
                  </a:rPr>
                  <a:t> </a:t>
                </a:r>
                <a14:m>
                  <m:oMath xmlns:m="http://schemas.openxmlformats.org/officeDocument/2006/math">
                    <m:r>
                      <m:rPr>
                        <m:nor/>
                      </m:rPr>
                      <a:rPr lang="es-419" sz="7600" dirty="0">
                        <a:ea typeface="Cambria Math" panose="02040503050406030204" pitchFamily="18" charset="0"/>
                      </a:rPr>
                      <m:t>la</m:t>
                    </m:r>
                    <m:r>
                      <m:rPr>
                        <m:nor/>
                      </m:rPr>
                      <a:rPr lang="es-419" sz="7600" dirty="0">
                        <a:ea typeface="Cambria Math" panose="02040503050406030204" pitchFamily="18" charset="0"/>
                      </a:rPr>
                      <m:t> </m:t>
                    </m:r>
                    <m:r>
                      <m:rPr>
                        <m:nor/>
                      </m:rPr>
                      <a:rPr lang="es-419" sz="7600" dirty="0">
                        <a:ea typeface="Cambria Math" panose="02040503050406030204" pitchFamily="18" charset="0"/>
                      </a:rPr>
                      <m:t>distribuci</m:t>
                    </m:r>
                    <m:r>
                      <m:rPr>
                        <m:nor/>
                      </m:rPr>
                      <a:rPr lang="es-419" sz="7600" dirty="0">
                        <a:ea typeface="Cambria Math" panose="02040503050406030204" pitchFamily="18" charset="0"/>
                      </a:rPr>
                      <m:t>ó</m:t>
                    </m:r>
                    <m:r>
                      <m:rPr>
                        <m:nor/>
                      </m:rPr>
                      <a:rPr lang="es-419" sz="7600" dirty="0">
                        <a:ea typeface="Cambria Math" panose="02040503050406030204" pitchFamily="18" charset="0"/>
                      </a:rPr>
                      <m:t>n</m:t>
                    </m:r>
                    <m:r>
                      <m:rPr>
                        <m:nor/>
                      </m:rPr>
                      <a:rPr lang="es-419" sz="7600" dirty="0">
                        <a:ea typeface="Cambria Math" panose="02040503050406030204" pitchFamily="18" charset="0"/>
                      </a:rPr>
                      <m:t> </m:t>
                    </m:r>
                    <m:r>
                      <m:rPr>
                        <m:nor/>
                      </m:rPr>
                      <a:rPr lang="es-419" sz="7600" dirty="0">
                        <a:ea typeface="Cambria Math" panose="02040503050406030204" pitchFamily="18" charset="0"/>
                      </a:rPr>
                      <m:t>no</m:t>
                    </m:r>
                    <m:r>
                      <m:rPr>
                        <m:nor/>
                      </m:rPr>
                      <a:rPr lang="es-419" sz="7600" dirty="0">
                        <a:ea typeface="Cambria Math" panose="02040503050406030204" pitchFamily="18" charset="0"/>
                      </a:rPr>
                      <m:t> </m:t>
                    </m:r>
                    <m:r>
                      <m:rPr>
                        <m:nor/>
                      </m:rPr>
                      <a:rPr lang="es-419" sz="7600" dirty="0">
                        <a:ea typeface="Cambria Math" panose="02040503050406030204" pitchFamily="18" charset="0"/>
                      </a:rPr>
                      <m:t>es</m:t>
                    </m:r>
                    <m:r>
                      <m:rPr>
                        <m:nor/>
                      </m:rPr>
                      <a:rPr lang="es-419" sz="7600" dirty="0">
                        <a:ea typeface="Cambria Math" panose="02040503050406030204" pitchFamily="18" charset="0"/>
                      </a:rPr>
                      <m:t> </m:t>
                    </m:r>
                    <m:r>
                      <m:rPr>
                        <m:nor/>
                      </m:rPr>
                      <a:rPr lang="es-419" sz="7600" dirty="0">
                        <a:ea typeface="Cambria Math" panose="02040503050406030204" pitchFamily="18" charset="0"/>
                      </a:rPr>
                      <m:t>sim</m:t>
                    </m:r>
                    <m:r>
                      <m:rPr>
                        <m:nor/>
                      </m:rPr>
                      <a:rPr lang="es-419" sz="7600" dirty="0">
                        <a:ea typeface="Cambria Math" panose="02040503050406030204" pitchFamily="18" charset="0"/>
                      </a:rPr>
                      <m:t>é</m:t>
                    </m:r>
                    <m:r>
                      <m:rPr>
                        <m:nor/>
                      </m:rPr>
                      <a:rPr lang="es-419" sz="7600" dirty="0">
                        <a:ea typeface="Cambria Math" panose="02040503050406030204" pitchFamily="18" charset="0"/>
                      </a:rPr>
                      <m:t>trica</m:t>
                    </m:r>
                    <m:r>
                      <m:rPr>
                        <m:nor/>
                      </m:rPr>
                      <a:rPr lang="es-419" sz="7600" dirty="0">
                        <a:ea typeface="Cambria Math" panose="02040503050406030204" pitchFamily="18" charset="0"/>
                      </a:rPr>
                      <m:t>.</m:t>
                    </m:r>
                  </m:oMath>
                </a14:m>
                <a:endParaRPr lang="es-419" sz="7600"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sz="7600" i="1">
                        <a:latin typeface="Cambria Math" panose="02040503050406030204" pitchFamily="18" charset="0"/>
                        <a:ea typeface="Cambria Math" panose="02040503050406030204" pitchFamily="18" charset="0"/>
                      </a:rPr>
                      <m:t>𝑃</m:t>
                    </m:r>
                    <m:d>
                      <m:dPr>
                        <m:ctrlPr>
                          <a:rPr lang="es-419" sz="7600" i="1">
                            <a:latin typeface="Cambria Math" panose="02040503050406030204" pitchFamily="18" charset="0"/>
                            <a:ea typeface="Cambria Math" panose="02040503050406030204" pitchFamily="18" charset="0"/>
                          </a:rPr>
                        </m:ctrlPr>
                      </m:dPr>
                      <m:e>
                        <m:r>
                          <a:rPr lang="es-419" sz="7600" i="1">
                            <a:latin typeface="Cambria Math" panose="02040503050406030204" pitchFamily="18" charset="0"/>
                            <a:ea typeface="Cambria Math" panose="02040503050406030204" pitchFamily="18" charset="0"/>
                          </a:rPr>
                          <m:t>𝑎</m:t>
                        </m:r>
                        <m:r>
                          <a:rPr lang="es-419" sz="7600" i="1">
                            <a:latin typeface="Cambria Math" panose="02040503050406030204" pitchFamily="18" charset="0"/>
                            <a:ea typeface="Cambria Math" panose="02040503050406030204" pitchFamily="18" charset="0"/>
                          </a:rPr>
                          <m:t>≤</m:t>
                        </m:r>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𝑦</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𝑥</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ea typeface="Cambria Math" panose="02040503050406030204" pitchFamily="18" charset="0"/>
                          </a:rPr>
                          <m:t>𝑏</m:t>
                        </m:r>
                      </m:e>
                    </m:d>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rPr>
                      <m:t>1−</m:t>
                    </m:r>
                    <m:r>
                      <a:rPr lang="es-419" sz="7600" i="1">
                        <a:latin typeface="Cambria Math" panose="02040503050406030204" pitchFamily="18" charset="0"/>
                        <a:ea typeface="Cambria Math" panose="02040503050406030204" pitchFamily="18" charset="0"/>
                      </a:rPr>
                      <m:t>𝛼</m:t>
                    </m:r>
                    <m:r>
                      <a:rPr lang="es-419" sz="7600" i="1" smtClean="0">
                        <a:latin typeface="Cambria Math" panose="02040503050406030204" pitchFamily="18" charset="0"/>
                        <a:ea typeface="Cambria Math" panose="02040503050406030204" pitchFamily="18" charset="0"/>
                      </a:rPr>
                      <m:t>→</m:t>
                    </m:r>
                    <m:r>
                      <a:rPr lang="es-419" sz="7600" i="1">
                        <a:latin typeface="Cambria Math" panose="02040503050406030204" pitchFamily="18" charset="0"/>
                        <a:ea typeface="Cambria Math" panose="02040503050406030204" pitchFamily="18" charset="0"/>
                      </a:rPr>
                      <m:t>𝑃</m:t>
                    </m:r>
                    <m:d>
                      <m:dPr>
                        <m:ctrlPr>
                          <a:rPr lang="es-419" sz="7600" i="1">
                            <a:latin typeface="Cambria Math" panose="02040503050406030204" pitchFamily="18" charset="0"/>
                            <a:ea typeface="Cambria Math" panose="02040503050406030204" pitchFamily="18" charset="0"/>
                          </a:rPr>
                        </m:ctrlPr>
                      </m:dPr>
                      <m:e>
                        <m:r>
                          <a:rPr lang="es-419" sz="7600" b="0" i="1" smtClean="0">
                            <a:latin typeface="Cambria Math" panose="02040503050406030204" pitchFamily="18" charset="0"/>
                            <a:ea typeface="Cambria Math" panose="02040503050406030204" pitchFamily="18" charset="0"/>
                          </a:rPr>
                          <m:t>𝑎</m:t>
                        </m:r>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𝑦</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𝑥</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r>
                          <a:rPr lang="es-419" sz="7600" b="0" i="1" smtClean="0">
                            <a:latin typeface="Cambria Math" panose="02040503050406030204" pitchFamily="18" charset="0"/>
                            <a:ea typeface="Cambria Math" panose="02040503050406030204" pitchFamily="18" charset="0"/>
                          </a:rPr>
                          <m:t>𝑏</m:t>
                        </m:r>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den>
                        </m:f>
                      </m:e>
                    </m:d>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rPr>
                      <m:t>1−</m:t>
                    </m:r>
                    <m:r>
                      <a:rPr lang="es-419" sz="7600" i="1">
                        <a:latin typeface="Cambria Math" panose="02040503050406030204" pitchFamily="18" charset="0"/>
                        <a:ea typeface="Cambria Math" panose="02040503050406030204" pitchFamily="18" charset="0"/>
                      </a:rPr>
                      <m:t>𝛼</m:t>
                    </m:r>
                  </m:oMath>
                </a14:m>
                <a:endParaRPr lang="es-419" sz="7600"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sz="7600" i="1">
                        <a:latin typeface="Cambria Math" panose="02040503050406030204" pitchFamily="18" charset="0"/>
                        <a:ea typeface="Cambria Math" panose="02040503050406030204" pitchFamily="18" charset="0"/>
                      </a:rPr>
                      <m:t>𝑃</m:t>
                    </m:r>
                    <m:d>
                      <m:dPr>
                        <m:ctrlPr>
                          <a:rPr lang="es-419" sz="7600" i="1">
                            <a:latin typeface="Cambria Math" panose="02040503050406030204" pitchFamily="18" charset="0"/>
                            <a:ea typeface="Cambria Math" panose="02040503050406030204" pitchFamily="18" charset="0"/>
                          </a:rPr>
                        </m:ctrlPr>
                      </m:dPr>
                      <m:e>
                        <m:f>
                          <m:fPr>
                            <m:ctrlPr>
                              <a:rPr lang="es-419" sz="7600" i="1">
                                <a:latin typeface="Cambria Math" panose="02040503050406030204" pitchFamily="18" charset="0"/>
                                <a:ea typeface="Cambria Math" panose="02040503050406030204" pitchFamily="18" charset="0"/>
                              </a:rPr>
                            </m:ctrlPr>
                          </m:fPr>
                          <m:num>
                            <m:r>
                              <a:rPr lang="es-419" sz="7600" b="0" i="1" smtClean="0">
                                <a:latin typeface="Cambria Math" panose="02040503050406030204" pitchFamily="18" charset="0"/>
                                <a:ea typeface="Cambria Math" panose="02040503050406030204" pitchFamily="18" charset="0"/>
                              </a:rPr>
                              <m:t>1</m:t>
                            </m:r>
                          </m:num>
                          <m:den>
                            <m:r>
                              <a:rPr lang="es-419" sz="7600" b="0" i="1" smtClean="0">
                                <a:latin typeface="Cambria Math" panose="02040503050406030204" pitchFamily="18" charset="0"/>
                                <a:ea typeface="Cambria Math" panose="02040503050406030204" pitchFamily="18" charset="0"/>
                              </a:rPr>
                              <m:t>𝑎</m:t>
                            </m:r>
                          </m:den>
                        </m:f>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f>
                          <m:fPr>
                            <m:ctrlPr>
                              <a:rPr lang="es-419" sz="7600" i="1" dirty="0">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𝑥</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𝑦</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f>
                          <m:fPr>
                            <m:ctrlPr>
                              <a:rPr lang="es-419" sz="7600" i="1">
                                <a:latin typeface="Cambria Math" panose="02040503050406030204" pitchFamily="18" charset="0"/>
                                <a:ea typeface="Cambria Math" panose="02040503050406030204" pitchFamily="18" charset="0"/>
                              </a:rPr>
                            </m:ctrlPr>
                          </m:fPr>
                          <m:num>
                            <m:r>
                              <a:rPr lang="es-419" sz="7600" b="0" i="1" smtClean="0">
                                <a:latin typeface="Cambria Math" panose="02040503050406030204" pitchFamily="18" charset="0"/>
                                <a:ea typeface="Cambria Math" panose="02040503050406030204" pitchFamily="18" charset="0"/>
                              </a:rPr>
                              <m:t>1</m:t>
                            </m:r>
                          </m:num>
                          <m:den>
                            <m:r>
                              <a:rPr lang="es-419" sz="7600" b="0" i="1" smtClean="0">
                                <a:latin typeface="Cambria Math" panose="02040503050406030204" pitchFamily="18" charset="0"/>
                                <a:ea typeface="Cambria Math" panose="02040503050406030204" pitchFamily="18" charset="0"/>
                              </a:rPr>
                              <m:t>𝑏</m:t>
                            </m:r>
                          </m:den>
                        </m:f>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den>
                        </m:f>
                      </m:e>
                    </m:d>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rPr>
                      <m:t>1−</m:t>
                    </m:r>
                    <m:r>
                      <a:rPr lang="es-419" sz="7600" i="1">
                        <a:latin typeface="Cambria Math" panose="02040503050406030204" pitchFamily="18" charset="0"/>
                        <a:ea typeface="Cambria Math" panose="02040503050406030204" pitchFamily="18" charset="0"/>
                      </a:rPr>
                      <m:t>𝛼</m:t>
                    </m:r>
                  </m:oMath>
                </a14:m>
                <a:endParaRPr lang="es-419" sz="7600" dirty="0">
                  <a:ea typeface="Cambria Math" panose="02040503050406030204" pitchFamily="18" charset="0"/>
                </a:endParaRPr>
              </a:p>
              <a:p>
                <a:pPr marL="514350" indent="-514350">
                  <a:lnSpc>
                    <a:spcPct val="150000"/>
                  </a:lnSpc>
                  <a:buFont typeface="+mj-lt"/>
                  <a:buAutoNum type="arabicPeriod"/>
                </a:pPr>
                <a14:m>
                  <m:oMath xmlns:m="http://schemas.openxmlformats.org/officeDocument/2006/math">
                    <m:r>
                      <a:rPr lang="es-419" sz="7600" i="1">
                        <a:latin typeface="Cambria Math" panose="02040503050406030204" pitchFamily="18" charset="0"/>
                        <a:ea typeface="Cambria Math" panose="02040503050406030204" pitchFamily="18" charset="0"/>
                      </a:rPr>
                      <m:t>𝑃</m:t>
                    </m:r>
                    <m:d>
                      <m:dPr>
                        <m:ctrlPr>
                          <a:rPr lang="es-419" sz="7600" i="1">
                            <a:latin typeface="Cambria Math" panose="02040503050406030204" pitchFamily="18" charset="0"/>
                            <a:ea typeface="Cambria Math" panose="02040503050406030204" pitchFamily="18" charset="0"/>
                          </a:rPr>
                        </m:ctrlPr>
                      </m:dPr>
                      <m:e>
                        <m:f>
                          <m:fPr>
                            <m:ctrlPr>
                              <a:rPr lang="es-419" sz="7600" i="1" smtClean="0">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1</m:t>
                            </m:r>
                          </m:num>
                          <m:den>
                            <m:r>
                              <a:rPr lang="es-419" sz="7600" b="0" i="1" smtClean="0">
                                <a:latin typeface="Cambria Math" panose="02040503050406030204" pitchFamily="18" charset="0"/>
                                <a:ea typeface="Cambria Math" panose="02040503050406030204" pitchFamily="18" charset="0"/>
                              </a:rPr>
                              <m:t>𝑏</m:t>
                            </m:r>
                          </m:den>
                        </m:f>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f>
                          <m:fPr>
                            <m:ctrlPr>
                              <a:rPr lang="es-419" sz="7600" i="1" dirty="0">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𝑥</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𝑦</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f>
                          <m:fPr>
                            <m:ctrlPr>
                              <a:rPr lang="es-419" sz="7600" i="1">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1</m:t>
                            </m:r>
                          </m:num>
                          <m:den>
                            <m:r>
                              <a:rPr lang="es-419" sz="7600" b="0" i="1" smtClean="0">
                                <a:latin typeface="Cambria Math" panose="02040503050406030204" pitchFamily="18" charset="0"/>
                                <a:ea typeface="Cambria Math" panose="02040503050406030204" pitchFamily="18" charset="0"/>
                              </a:rPr>
                              <m:t>𝑎</m:t>
                            </m:r>
                          </m:den>
                        </m:f>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den>
                        </m:f>
                      </m:e>
                    </m:d>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rPr>
                      <m:t>1−</m:t>
                    </m:r>
                    <m:r>
                      <a:rPr lang="es-419" sz="7600" i="1">
                        <a:latin typeface="Cambria Math" panose="02040503050406030204" pitchFamily="18" charset="0"/>
                        <a:ea typeface="Cambria Math" panose="02040503050406030204" pitchFamily="18" charset="0"/>
                      </a:rPr>
                      <m:t>𝛼</m:t>
                    </m:r>
                  </m:oMath>
                </a14:m>
                <a:endParaRPr lang="es-419" sz="7600" dirty="0">
                  <a:ea typeface="Cambria Math" panose="02040503050406030204" pitchFamily="18" charset="0"/>
                </a:endParaRPr>
              </a:p>
              <a:p>
                <a:pPr>
                  <a:lnSpc>
                    <a:spcPct val="150000"/>
                  </a:lnSpc>
                </a:pPr>
                <a14:m>
                  <m:oMath xmlns:m="http://schemas.openxmlformats.org/officeDocument/2006/math">
                    <m:r>
                      <a:rPr lang="es-419" sz="7600" i="1">
                        <a:latin typeface="Cambria Math" panose="02040503050406030204" pitchFamily="18" charset="0"/>
                        <a:ea typeface="Cambria Math" panose="02040503050406030204" pitchFamily="18" charset="0"/>
                      </a:rPr>
                      <m:t>𝑃</m:t>
                    </m:r>
                    <m:d>
                      <m:dPr>
                        <m:ctrlPr>
                          <a:rPr lang="es-419" sz="7600" i="1">
                            <a:latin typeface="Cambria Math" panose="02040503050406030204" pitchFamily="18" charset="0"/>
                            <a:ea typeface="Cambria Math" panose="02040503050406030204" pitchFamily="18" charset="0"/>
                          </a:rPr>
                        </m:ctrlPr>
                      </m:dPr>
                      <m:e>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𝑦</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𝑥</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r>
                          <a:rPr lang="es-419" sz="7600" i="1" dirty="0">
                            <a:latin typeface="Cambria Math" panose="02040503050406030204" pitchFamily="18" charset="0"/>
                            <a:ea typeface="Cambria Math" panose="02040503050406030204" pitchFamily="18" charset="0"/>
                          </a:rPr>
                          <m:t>𝑎</m:t>
                        </m:r>
                      </m:e>
                    </m:d>
                    <m:r>
                      <a:rPr lang="es-419" sz="7600" i="1">
                        <a:latin typeface="Cambria Math" panose="02040503050406030204" pitchFamily="18" charset="0"/>
                        <a:ea typeface="Cambria Math" panose="02040503050406030204" pitchFamily="18" charset="0"/>
                      </a:rPr>
                      <m:t>=</m:t>
                    </m:r>
                    <m:f>
                      <m:fPr>
                        <m:ctrlPr>
                          <a:rPr lang="es-419" sz="7600" i="1">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𝛼</m:t>
                        </m:r>
                      </m:num>
                      <m:den>
                        <m:r>
                          <a:rPr lang="es-419" sz="7600" i="1">
                            <a:latin typeface="Cambria Math" panose="02040503050406030204" pitchFamily="18" charset="0"/>
                            <a:ea typeface="Cambria Math" panose="02040503050406030204" pitchFamily="18" charset="0"/>
                          </a:rPr>
                          <m:t>2</m:t>
                        </m:r>
                      </m:den>
                    </m:f>
                    <m:r>
                      <a:rPr lang="es-419" sz="7600">
                        <a:latin typeface="Cambria Math" panose="02040503050406030204" pitchFamily="18" charset="0"/>
                        <a:ea typeface="Cambria Math" panose="02040503050406030204" pitchFamily="18" charset="0"/>
                      </a:rPr>
                      <m:t>;</m:t>
                    </m:r>
                    <m:r>
                      <a:rPr lang="es-419" sz="7600" i="1">
                        <a:latin typeface="Cambria Math" panose="02040503050406030204" pitchFamily="18" charset="0"/>
                        <a:ea typeface="Cambria Math" panose="02040503050406030204" pitchFamily="18" charset="0"/>
                      </a:rPr>
                      <m:t>𝑃</m:t>
                    </m:r>
                    <m:d>
                      <m:dPr>
                        <m:ctrlPr>
                          <a:rPr lang="es-419" sz="7600" i="1">
                            <a:latin typeface="Cambria Math" panose="02040503050406030204" pitchFamily="18" charset="0"/>
                            <a:ea typeface="Cambria Math" panose="02040503050406030204" pitchFamily="18" charset="0"/>
                          </a:rPr>
                        </m:ctrlPr>
                      </m:dPr>
                      <m:e>
                        <m:f>
                          <m:fPr>
                            <m:ctrlPr>
                              <a:rPr lang="es-419" sz="7600" i="1">
                                <a:latin typeface="Cambria Math" panose="02040503050406030204" pitchFamily="18" charset="0"/>
                                <a:ea typeface="Cambria Math" panose="02040503050406030204" pitchFamily="18" charset="0"/>
                              </a:rPr>
                            </m:ctrlPr>
                          </m:fPr>
                          <m:num>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𝑥</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𝑦</m:t>
                                </m:r>
                              </m:sub>
                              <m:sup>
                                <m:r>
                                  <a:rPr lang="es-419" sz="7600" i="1">
                                    <a:latin typeface="Cambria Math" panose="02040503050406030204" pitchFamily="18" charset="0"/>
                                  </a:rPr>
                                  <m:t>2</m:t>
                                </m:r>
                              </m:sup>
                            </m:sSubSup>
                          </m:num>
                          <m:den>
                            <m:sSubSup>
                              <m:sSubSupPr>
                                <m:ctrlPr>
                                  <a:rPr lang="es-419" sz="7600" i="1">
                                    <a:latin typeface="Cambria Math" panose="02040503050406030204" pitchFamily="18" charset="0"/>
                                  </a:rPr>
                                </m:ctrlPr>
                              </m:sSubSupPr>
                              <m:e>
                                <m:r>
                                  <a:rPr lang="es-419" sz="7600" i="1">
                                    <a:latin typeface="Cambria Math" panose="02040503050406030204" pitchFamily="18" charset="0"/>
                                  </a:rPr>
                                  <m:t>𝑆</m:t>
                                </m:r>
                              </m:e>
                              <m:sub>
                                <m:r>
                                  <a:rPr lang="es-419" sz="7600" i="1">
                                    <a:latin typeface="Cambria Math" panose="02040503050406030204" pitchFamily="18" charset="0"/>
                                  </a:rPr>
                                  <m:t>𝑦</m:t>
                                </m:r>
                              </m:sub>
                              <m:sup>
                                <m:r>
                                  <a:rPr lang="es-419" sz="7600" i="1">
                                    <a:latin typeface="Cambria Math" panose="02040503050406030204" pitchFamily="18" charset="0"/>
                                  </a:rPr>
                                  <m:t>2</m:t>
                                </m:r>
                              </m:sup>
                            </m:sSubSup>
                            <m:sSubSup>
                              <m:sSubSupPr>
                                <m:ctrlPr>
                                  <a:rPr lang="es-419" sz="7600" i="1">
                                    <a:latin typeface="Cambria Math" panose="02040503050406030204" pitchFamily="18" charset="0"/>
                                  </a:rPr>
                                </m:ctrlPr>
                              </m:sSubSupPr>
                              <m:e>
                                <m:r>
                                  <a:rPr lang="es-419" sz="7600" i="1">
                                    <a:latin typeface="Cambria Math" panose="02040503050406030204" pitchFamily="18" charset="0"/>
                                    <a:ea typeface="Cambria Math" panose="02040503050406030204" pitchFamily="18" charset="0"/>
                                  </a:rPr>
                                  <m:t>𝜎</m:t>
                                </m:r>
                              </m:e>
                              <m:sub>
                                <m:r>
                                  <a:rPr lang="es-419" sz="7600" i="1">
                                    <a:latin typeface="Cambria Math" panose="02040503050406030204" pitchFamily="18" charset="0"/>
                                    <a:ea typeface="Cambria Math" panose="02040503050406030204" pitchFamily="18" charset="0"/>
                                  </a:rPr>
                                  <m:t>𝑥</m:t>
                                </m:r>
                              </m:sub>
                              <m:sup>
                                <m:r>
                                  <a:rPr lang="es-419" sz="7600" i="1">
                                    <a:latin typeface="Cambria Math" panose="02040503050406030204" pitchFamily="18" charset="0"/>
                                  </a:rPr>
                                  <m:t>2</m:t>
                                </m:r>
                              </m:sup>
                            </m:sSubSup>
                          </m:den>
                        </m:f>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ea typeface="Cambria Math" panose="02040503050406030204" pitchFamily="18" charset="0"/>
                          </a:rPr>
                          <m:t>𝑏</m:t>
                        </m:r>
                      </m:e>
                    </m:d>
                    <m:r>
                      <a:rPr lang="es-419" sz="7600" i="1">
                        <a:latin typeface="Cambria Math" panose="02040503050406030204" pitchFamily="18" charset="0"/>
                        <a:ea typeface="Cambria Math" panose="02040503050406030204" pitchFamily="18" charset="0"/>
                      </a:rPr>
                      <m:t>=</m:t>
                    </m:r>
                    <m:f>
                      <m:fPr>
                        <m:ctrlPr>
                          <a:rPr lang="es-419" sz="7600" i="1">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𝛼</m:t>
                        </m:r>
                      </m:num>
                      <m:den>
                        <m:r>
                          <a:rPr lang="es-419" sz="7600" i="1">
                            <a:latin typeface="Cambria Math" panose="02040503050406030204" pitchFamily="18" charset="0"/>
                            <a:ea typeface="Cambria Math" panose="02040503050406030204" pitchFamily="18" charset="0"/>
                          </a:rPr>
                          <m:t>2</m:t>
                        </m:r>
                      </m:den>
                    </m:f>
                  </m:oMath>
                </a14:m>
                <a:endParaRPr lang="es-419" sz="7600" dirty="0">
                  <a:ea typeface="Cambria Math" panose="02040503050406030204" pitchFamily="18" charset="0"/>
                </a:endParaRPr>
              </a:p>
              <a:p>
                <a:pPr>
                  <a:lnSpc>
                    <a:spcPct val="150000"/>
                  </a:lnSpc>
                </a:pPr>
                <a14:m>
                  <m:oMath xmlns:m="http://schemas.openxmlformats.org/officeDocument/2006/math">
                    <m:r>
                      <a:rPr lang="es-419" sz="7600" i="1">
                        <a:latin typeface="Cambria Math" panose="02040503050406030204" pitchFamily="18" charset="0"/>
                        <a:ea typeface="Cambria Math" panose="02040503050406030204" pitchFamily="18" charset="0"/>
                      </a:rPr>
                      <m:t>𝑎</m:t>
                    </m:r>
                    <m:r>
                      <a:rPr lang="es-419" sz="7600" i="1">
                        <a:latin typeface="Cambria Math" panose="02040503050406030204" pitchFamily="18" charset="0"/>
                        <a:ea typeface="Cambria Math" panose="02040503050406030204" pitchFamily="18" charset="0"/>
                      </a:rPr>
                      <m:t>=</m:t>
                    </m:r>
                    <m:sSub>
                      <m:sSubPr>
                        <m:ctrlPr>
                          <a:rPr lang="es-419" sz="7600" i="1">
                            <a:latin typeface="Cambria Math" panose="02040503050406030204" pitchFamily="18" charset="0"/>
                            <a:ea typeface="Cambria Math" panose="02040503050406030204" pitchFamily="18" charset="0"/>
                          </a:rPr>
                        </m:ctrlPr>
                      </m:sSubPr>
                      <m:e>
                        <m:r>
                          <a:rPr lang="es-419" sz="7600" b="0" i="1" smtClean="0">
                            <a:latin typeface="Cambria Math" panose="02040503050406030204" pitchFamily="18" charset="0"/>
                            <a:ea typeface="Cambria Math" panose="02040503050406030204" pitchFamily="18" charset="0"/>
                          </a:rPr>
                          <m:t>𝐹</m:t>
                        </m:r>
                      </m:e>
                      <m:sub>
                        <m:r>
                          <a:rPr lang="es-419" sz="7600" i="1">
                            <a:latin typeface="Cambria Math" panose="02040503050406030204" pitchFamily="18" charset="0"/>
                            <a:ea typeface="Cambria Math" panose="02040503050406030204" pitchFamily="18" charset="0"/>
                          </a:rPr>
                          <m:t>1−</m:t>
                        </m:r>
                        <m:f>
                          <m:fPr>
                            <m:type m:val="skw"/>
                            <m:ctrlPr>
                              <a:rPr lang="es-419" sz="7600" i="1">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𝛼</m:t>
                            </m:r>
                          </m:num>
                          <m:den>
                            <m:r>
                              <a:rPr lang="es-419" sz="7600" i="1">
                                <a:latin typeface="Cambria Math" panose="02040503050406030204" pitchFamily="18" charset="0"/>
                                <a:ea typeface="Cambria Math" panose="02040503050406030204" pitchFamily="18" charset="0"/>
                              </a:rPr>
                              <m:t>2</m:t>
                            </m:r>
                          </m:den>
                        </m:f>
                      </m:sub>
                    </m:sSub>
                    <m:r>
                      <a:rPr lang="es-419" sz="7600" i="1">
                        <a:latin typeface="Cambria Math" panose="02040503050406030204" pitchFamily="18" charset="0"/>
                        <a:ea typeface="Cambria Math" panose="02040503050406030204" pitchFamily="18" charset="0"/>
                      </a:rPr>
                      <m:t>;</m:t>
                    </m:r>
                    <m:r>
                      <a:rPr lang="es-419" sz="7600" i="1">
                        <a:latin typeface="Cambria Math" panose="02040503050406030204" pitchFamily="18" charset="0"/>
                        <a:ea typeface="Cambria Math" panose="02040503050406030204" pitchFamily="18" charset="0"/>
                      </a:rPr>
                      <m:t>𝑏</m:t>
                    </m:r>
                    <m:r>
                      <a:rPr lang="es-419" sz="7600" i="1">
                        <a:latin typeface="Cambria Math" panose="02040503050406030204" pitchFamily="18" charset="0"/>
                        <a:ea typeface="Cambria Math" panose="02040503050406030204" pitchFamily="18" charset="0"/>
                      </a:rPr>
                      <m:t>=</m:t>
                    </m:r>
                    <m:sSub>
                      <m:sSubPr>
                        <m:ctrlPr>
                          <a:rPr lang="es-419" sz="7600" i="1">
                            <a:latin typeface="Cambria Math" panose="02040503050406030204" pitchFamily="18" charset="0"/>
                            <a:ea typeface="Cambria Math" panose="02040503050406030204" pitchFamily="18" charset="0"/>
                          </a:rPr>
                        </m:ctrlPr>
                      </m:sSubPr>
                      <m:e>
                        <m:r>
                          <a:rPr lang="es-419" sz="7600" b="0" i="1" smtClean="0">
                            <a:latin typeface="Cambria Math" panose="02040503050406030204" pitchFamily="18" charset="0"/>
                            <a:ea typeface="Cambria Math" panose="02040503050406030204" pitchFamily="18" charset="0"/>
                          </a:rPr>
                          <m:t>𝐹</m:t>
                        </m:r>
                      </m:e>
                      <m:sub>
                        <m:f>
                          <m:fPr>
                            <m:type m:val="skw"/>
                            <m:ctrlPr>
                              <a:rPr lang="es-419" sz="7600" i="1">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𝛼</m:t>
                            </m:r>
                          </m:num>
                          <m:den>
                            <m:r>
                              <a:rPr lang="es-419" sz="7600" i="1">
                                <a:latin typeface="Cambria Math" panose="02040503050406030204" pitchFamily="18" charset="0"/>
                                <a:ea typeface="Cambria Math" panose="02040503050406030204" pitchFamily="18" charset="0"/>
                              </a:rPr>
                              <m:t>2</m:t>
                            </m:r>
                          </m:den>
                        </m:f>
                      </m:sub>
                    </m:sSub>
                    <m:r>
                      <a:rPr lang="es-419" sz="7600" i="1" smtClean="0">
                        <a:latin typeface="Cambria Math" panose="02040503050406030204" pitchFamily="18" charset="0"/>
                        <a:ea typeface="Cambria Math" panose="02040503050406030204" pitchFamily="18" charset="0"/>
                      </a:rPr>
                      <m:t>→</m:t>
                    </m:r>
                    <m:sSub>
                      <m:sSubPr>
                        <m:ctrlPr>
                          <a:rPr lang="es-419" sz="7600" i="1">
                            <a:latin typeface="Cambria Math" panose="02040503050406030204" pitchFamily="18" charset="0"/>
                            <a:ea typeface="Cambria Math" panose="02040503050406030204" pitchFamily="18" charset="0"/>
                          </a:rPr>
                        </m:ctrlPr>
                      </m:sSubPr>
                      <m:e>
                        <m:r>
                          <a:rPr lang="es-419" sz="7600" i="1">
                            <a:latin typeface="Cambria Math" panose="02040503050406030204" pitchFamily="18" charset="0"/>
                            <a:ea typeface="Cambria Math" panose="02040503050406030204" pitchFamily="18" charset="0"/>
                          </a:rPr>
                          <m:t>𝐹</m:t>
                        </m:r>
                      </m:e>
                      <m:sub>
                        <m:f>
                          <m:fPr>
                            <m:type m:val="skw"/>
                            <m:ctrlPr>
                              <a:rPr lang="es-419" sz="7600" i="1">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𝛼</m:t>
                            </m:r>
                          </m:num>
                          <m:den>
                            <m:r>
                              <a:rPr lang="es-419" sz="7600" i="1">
                                <a:latin typeface="Cambria Math" panose="02040503050406030204" pitchFamily="18" charset="0"/>
                                <a:ea typeface="Cambria Math" panose="02040503050406030204" pitchFamily="18" charset="0"/>
                              </a:rPr>
                              <m:t>2</m:t>
                            </m:r>
                          </m:den>
                        </m:f>
                      </m:sub>
                    </m:sSub>
                    <m:r>
                      <a:rPr lang="es-VE" sz="7600" b="0" i="1" smtClean="0">
                        <a:latin typeface="Cambria Math" panose="02040503050406030204" pitchFamily="18" charset="0"/>
                        <a:ea typeface="Cambria Math" panose="02040503050406030204" pitchFamily="18" charset="0"/>
                      </a:rPr>
                      <m:t>&gt;</m:t>
                    </m:r>
                    <m:sSub>
                      <m:sSubPr>
                        <m:ctrlPr>
                          <a:rPr lang="es-419" sz="7600" i="1">
                            <a:latin typeface="Cambria Math" panose="02040503050406030204" pitchFamily="18" charset="0"/>
                            <a:ea typeface="Cambria Math" panose="02040503050406030204" pitchFamily="18" charset="0"/>
                          </a:rPr>
                        </m:ctrlPr>
                      </m:sSubPr>
                      <m:e>
                        <m:r>
                          <a:rPr lang="es-419" sz="7600" i="1">
                            <a:latin typeface="Cambria Math" panose="02040503050406030204" pitchFamily="18" charset="0"/>
                            <a:ea typeface="Cambria Math" panose="02040503050406030204" pitchFamily="18" charset="0"/>
                          </a:rPr>
                          <m:t>𝐹</m:t>
                        </m:r>
                      </m:e>
                      <m:sub>
                        <m:r>
                          <a:rPr lang="es-419" sz="7600" i="1">
                            <a:latin typeface="Cambria Math" panose="02040503050406030204" pitchFamily="18" charset="0"/>
                            <a:ea typeface="Cambria Math" panose="02040503050406030204" pitchFamily="18" charset="0"/>
                          </a:rPr>
                          <m:t>1−</m:t>
                        </m:r>
                        <m:f>
                          <m:fPr>
                            <m:type m:val="skw"/>
                            <m:ctrlPr>
                              <a:rPr lang="es-419" sz="7600" i="1">
                                <a:latin typeface="Cambria Math" panose="02040503050406030204" pitchFamily="18" charset="0"/>
                                <a:ea typeface="Cambria Math" panose="02040503050406030204" pitchFamily="18" charset="0"/>
                              </a:rPr>
                            </m:ctrlPr>
                          </m:fPr>
                          <m:num>
                            <m:r>
                              <a:rPr lang="es-419" sz="7600" i="1">
                                <a:latin typeface="Cambria Math" panose="02040503050406030204" pitchFamily="18" charset="0"/>
                                <a:ea typeface="Cambria Math" panose="02040503050406030204" pitchFamily="18" charset="0"/>
                              </a:rPr>
                              <m:t>𝛼</m:t>
                            </m:r>
                          </m:num>
                          <m:den>
                            <m:r>
                              <a:rPr lang="es-419" sz="7600" i="1">
                                <a:latin typeface="Cambria Math" panose="02040503050406030204" pitchFamily="18" charset="0"/>
                                <a:ea typeface="Cambria Math" panose="02040503050406030204" pitchFamily="18" charset="0"/>
                              </a:rPr>
                              <m:t>2</m:t>
                            </m:r>
                          </m:den>
                        </m:f>
                      </m:sub>
                    </m:sSub>
                  </m:oMath>
                </a14:m>
                <a:endParaRPr lang="es-419" sz="760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b="0"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3"/>
                <a:stretch>
                  <a:fillRect l="-464" t="-667" b="-556"/>
                </a:stretch>
              </a:blipFill>
            </p:spPr>
            <p:txBody>
              <a:bodyPr/>
              <a:lstStyle/>
              <a:p>
                <a:r>
                  <a:rPr lang="es-VE">
                    <a:noFill/>
                  </a:rPr>
                  <a:t> </a:t>
                </a:r>
              </a:p>
            </p:txBody>
          </p:sp>
        </mc:Fallback>
      </mc:AlternateContent>
    </p:spTree>
    <p:extLst>
      <p:ext uri="{BB962C8B-B14F-4D97-AF65-F5344CB8AC3E}">
        <p14:creationId xmlns:p14="http://schemas.microsoft.com/office/powerpoint/2010/main" val="290555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5C2F5-AB6D-4DC9-89B1-BA648969079A}"/>
              </a:ext>
            </a:extLst>
          </p:cNvPr>
          <p:cNvSpPr>
            <a:spLocks noGrp="1"/>
          </p:cNvSpPr>
          <p:nvPr>
            <p:ph type="title"/>
          </p:nvPr>
        </p:nvSpPr>
        <p:spPr/>
        <p:txBody>
          <a:bodyPr>
            <a:normAutofit/>
          </a:bodyPr>
          <a:lstStyle/>
          <a:p>
            <a:r>
              <a:rPr lang="es-419" dirty="0"/>
              <a:t>Intervalos de confianza para proporción de varianzas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AD2B7B-D57E-4721-9C41-C48E6975A026}"/>
                  </a:ext>
                </a:extLst>
              </p:cNvPr>
              <p:cNvSpPr>
                <a:spLocks noGrp="1"/>
              </p:cNvSpPr>
              <p:nvPr>
                <p:ph idx="1"/>
              </p:nvPr>
            </p:nvSpPr>
            <p:spPr/>
            <p:txBody>
              <a:bodyPr>
                <a:normAutofit/>
              </a:bodyPr>
              <a:lstStyle/>
              <a:p>
                <a:pPr>
                  <a:lnSpc>
                    <a:spcPct val="150000"/>
                  </a:lnSpc>
                </a:pPr>
                <a14:m>
                  <m:oMath xmlns:m="http://schemas.openxmlformats.org/officeDocument/2006/math">
                    <m:r>
                      <a:rPr lang="es-419" sz="2400" i="1" smtClean="0">
                        <a:latin typeface="Cambria Math" panose="02040503050406030204" pitchFamily="18" charset="0"/>
                        <a:ea typeface="Cambria Math" panose="02040503050406030204" pitchFamily="18" charset="0"/>
                      </a:rPr>
                      <m:t>𝑃</m:t>
                    </m:r>
                    <m:d>
                      <m:dPr>
                        <m:ctrlPr>
                          <a:rPr lang="es-419" sz="2400" i="1">
                            <a:latin typeface="Cambria Math" panose="02040503050406030204" pitchFamily="18" charset="0"/>
                            <a:ea typeface="Cambria Math" panose="02040503050406030204" pitchFamily="18" charset="0"/>
                          </a:rPr>
                        </m:ctrlPr>
                      </m:dPr>
                      <m:e>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1</m:t>
                            </m:r>
                          </m:num>
                          <m:den>
                            <m:r>
                              <a:rPr lang="es-419" sz="2400" i="1">
                                <a:latin typeface="Cambria Math" panose="02040503050406030204" pitchFamily="18" charset="0"/>
                                <a:ea typeface="Cambria Math" panose="02040503050406030204" pitchFamily="18" charset="0"/>
                              </a:rPr>
                              <m:t>𝑏</m:t>
                            </m:r>
                          </m:den>
                        </m:f>
                        <m:f>
                          <m:fPr>
                            <m:ctrlPr>
                              <a:rPr lang="es-419" sz="2400" i="1">
                                <a:latin typeface="Cambria Math" panose="02040503050406030204" pitchFamily="18" charset="0"/>
                                <a:ea typeface="Cambria Math" panose="02040503050406030204" pitchFamily="18" charset="0"/>
                              </a:rPr>
                            </m:ctrlPr>
                          </m:fPr>
                          <m:num>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𝑥</m:t>
                                </m:r>
                              </m:sub>
                              <m:sup>
                                <m:r>
                                  <a:rPr lang="es-419" sz="2400" i="1">
                                    <a:latin typeface="Cambria Math" panose="02040503050406030204" pitchFamily="18" charset="0"/>
                                  </a:rPr>
                                  <m:t>2</m:t>
                                </m:r>
                              </m:sup>
                            </m:sSubSup>
                          </m:num>
                          <m:den>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𝑦</m:t>
                                </m:r>
                              </m:sub>
                              <m:sup>
                                <m:r>
                                  <a:rPr lang="es-419" sz="2400" i="1">
                                    <a:latin typeface="Cambria Math" panose="02040503050406030204" pitchFamily="18" charset="0"/>
                                  </a:rPr>
                                  <m:t>2</m:t>
                                </m:r>
                              </m:sup>
                            </m:sSubSup>
                          </m:den>
                        </m:f>
                        <m:r>
                          <a:rPr lang="es-419" sz="2400" i="1">
                            <a:latin typeface="Cambria Math" panose="02040503050406030204" pitchFamily="18" charset="0"/>
                            <a:ea typeface="Cambria Math" panose="02040503050406030204" pitchFamily="18" charset="0"/>
                          </a:rPr>
                          <m:t>≤</m:t>
                        </m:r>
                        <m:f>
                          <m:fPr>
                            <m:ctrlPr>
                              <a:rPr lang="es-419" sz="2400" i="1" dirty="0">
                                <a:latin typeface="Cambria Math" panose="02040503050406030204" pitchFamily="18" charset="0"/>
                                <a:ea typeface="Cambria Math" panose="02040503050406030204" pitchFamily="18" charset="0"/>
                              </a:rPr>
                            </m:ctrlPr>
                          </m:fPr>
                          <m:num>
                            <m:sSubSup>
                              <m:sSubSupPr>
                                <m:ctrlPr>
                                  <a:rPr lang="es-419" sz="2400" i="1">
                                    <a:latin typeface="Cambria Math" panose="02040503050406030204" pitchFamily="18" charset="0"/>
                                  </a:rPr>
                                </m:ctrlPr>
                              </m:sSubSupPr>
                              <m:e>
                                <m:r>
                                  <a:rPr lang="es-419" sz="2400" i="1">
                                    <a:latin typeface="Cambria Math" panose="02040503050406030204" pitchFamily="18" charset="0"/>
                                    <a:ea typeface="Cambria Math" panose="02040503050406030204" pitchFamily="18" charset="0"/>
                                  </a:rPr>
                                  <m:t>𝜎</m:t>
                                </m:r>
                              </m:e>
                              <m:sub>
                                <m:r>
                                  <a:rPr lang="es-419" sz="2400" i="1">
                                    <a:latin typeface="Cambria Math" panose="02040503050406030204" pitchFamily="18" charset="0"/>
                                    <a:ea typeface="Cambria Math" panose="02040503050406030204" pitchFamily="18" charset="0"/>
                                  </a:rPr>
                                  <m:t>𝑥</m:t>
                                </m:r>
                              </m:sub>
                              <m:sup>
                                <m:r>
                                  <a:rPr lang="es-419" sz="2400" i="1">
                                    <a:latin typeface="Cambria Math" panose="02040503050406030204" pitchFamily="18" charset="0"/>
                                  </a:rPr>
                                  <m:t>2</m:t>
                                </m:r>
                              </m:sup>
                            </m:sSubSup>
                          </m:num>
                          <m:den>
                            <m:sSubSup>
                              <m:sSubSupPr>
                                <m:ctrlPr>
                                  <a:rPr lang="es-419" sz="2400" i="1">
                                    <a:latin typeface="Cambria Math" panose="02040503050406030204" pitchFamily="18" charset="0"/>
                                  </a:rPr>
                                </m:ctrlPr>
                              </m:sSubSupPr>
                              <m:e>
                                <m:r>
                                  <a:rPr lang="es-419" sz="2400" i="1">
                                    <a:latin typeface="Cambria Math" panose="02040503050406030204" pitchFamily="18" charset="0"/>
                                    <a:ea typeface="Cambria Math" panose="02040503050406030204" pitchFamily="18" charset="0"/>
                                  </a:rPr>
                                  <m:t>𝜎</m:t>
                                </m:r>
                              </m:e>
                              <m:sub>
                                <m:r>
                                  <a:rPr lang="es-419" sz="2400" i="1">
                                    <a:latin typeface="Cambria Math" panose="02040503050406030204" pitchFamily="18" charset="0"/>
                                    <a:ea typeface="Cambria Math" panose="02040503050406030204" pitchFamily="18" charset="0"/>
                                  </a:rPr>
                                  <m:t>𝑦</m:t>
                                </m:r>
                              </m:sub>
                              <m:sup>
                                <m:r>
                                  <a:rPr lang="es-419" sz="2400" i="1">
                                    <a:latin typeface="Cambria Math" panose="02040503050406030204" pitchFamily="18" charset="0"/>
                                  </a:rPr>
                                  <m:t>2</m:t>
                                </m:r>
                              </m:sup>
                            </m:sSubSup>
                          </m:den>
                        </m:f>
                        <m:r>
                          <a:rPr lang="es-419" sz="2400" i="1">
                            <a:latin typeface="Cambria Math" panose="02040503050406030204" pitchFamily="18" charset="0"/>
                            <a:ea typeface="Cambria Math" panose="02040503050406030204" pitchFamily="18" charset="0"/>
                          </a:rPr>
                          <m:t>≤</m:t>
                        </m:r>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1</m:t>
                            </m:r>
                          </m:num>
                          <m:den>
                            <m:r>
                              <a:rPr lang="es-419" sz="2400" i="1">
                                <a:latin typeface="Cambria Math" panose="02040503050406030204" pitchFamily="18" charset="0"/>
                                <a:ea typeface="Cambria Math" panose="02040503050406030204" pitchFamily="18" charset="0"/>
                              </a:rPr>
                              <m:t>𝑎</m:t>
                            </m:r>
                          </m:den>
                        </m:f>
                        <m:f>
                          <m:fPr>
                            <m:ctrlPr>
                              <a:rPr lang="es-419" sz="2400" i="1">
                                <a:latin typeface="Cambria Math" panose="02040503050406030204" pitchFamily="18" charset="0"/>
                                <a:ea typeface="Cambria Math" panose="02040503050406030204" pitchFamily="18" charset="0"/>
                              </a:rPr>
                            </m:ctrlPr>
                          </m:fPr>
                          <m:num>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𝑥</m:t>
                                </m:r>
                              </m:sub>
                              <m:sup>
                                <m:r>
                                  <a:rPr lang="es-419" sz="2400" i="1">
                                    <a:latin typeface="Cambria Math" panose="02040503050406030204" pitchFamily="18" charset="0"/>
                                  </a:rPr>
                                  <m:t>2</m:t>
                                </m:r>
                              </m:sup>
                            </m:sSubSup>
                          </m:num>
                          <m:den>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𝑦</m:t>
                                </m:r>
                              </m:sub>
                              <m:sup>
                                <m:r>
                                  <a:rPr lang="es-419" sz="2400" i="1">
                                    <a:latin typeface="Cambria Math" panose="02040503050406030204" pitchFamily="18" charset="0"/>
                                  </a:rPr>
                                  <m:t>2</m:t>
                                </m:r>
                              </m:sup>
                            </m:sSubSup>
                          </m:den>
                        </m:f>
                      </m:e>
                    </m:d>
                    <m:r>
                      <a:rPr lang="es-419" sz="2400" i="1">
                        <a:latin typeface="Cambria Math" panose="02040503050406030204" pitchFamily="18" charset="0"/>
                        <a:ea typeface="Cambria Math" panose="02040503050406030204" pitchFamily="18" charset="0"/>
                      </a:rPr>
                      <m:t>=</m:t>
                    </m:r>
                    <m:r>
                      <a:rPr lang="es-419" sz="2400" i="1">
                        <a:latin typeface="Cambria Math" panose="02040503050406030204" pitchFamily="18" charset="0"/>
                      </a:rPr>
                      <m:t>1−</m:t>
                    </m:r>
                    <m:r>
                      <a:rPr lang="es-419" sz="2400" i="1">
                        <a:latin typeface="Cambria Math" panose="02040503050406030204" pitchFamily="18" charset="0"/>
                        <a:ea typeface="Cambria Math" panose="02040503050406030204" pitchFamily="18" charset="0"/>
                      </a:rPr>
                      <m:t>𝛼</m:t>
                    </m:r>
                    <m:r>
                      <a:rPr lang="es-419" sz="2400" i="1">
                        <a:latin typeface="Cambria Math" panose="02040503050406030204" pitchFamily="18" charset="0"/>
                        <a:ea typeface="Cambria Math" panose="02040503050406030204" pitchFamily="18" charset="0"/>
                      </a:rPr>
                      <m:t>→</m:t>
                    </m:r>
                    <m:r>
                      <a:rPr lang="es-419" sz="2400" i="1">
                        <a:latin typeface="Cambria Math" panose="02040503050406030204" pitchFamily="18" charset="0"/>
                        <a:ea typeface="Cambria Math" panose="02040503050406030204" pitchFamily="18" charset="0"/>
                      </a:rPr>
                      <m:t>𝑃</m:t>
                    </m:r>
                    <m:d>
                      <m:dPr>
                        <m:ctrlPr>
                          <a:rPr lang="es-419" sz="2400" i="1">
                            <a:latin typeface="Cambria Math" panose="02040503050406030204" pitchFamily="18" charset="0"/>
                            <a:ea typeface="Cambria Math" panose="02040503050406030204" pitchFamily="18" charset="0"/>
                          </a:rPr>
                        </m:ctrlPr>
                      </m:dPr>
                      <m:e>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1</m:t>
                            </m:r>
                          </m:num>
                          <m:den>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𝐹</m:t>
                                </m:r>
                              </m:e>
                              <m:sub>
                                <m:f>
                                  <m:fPr>
                                    <m:type m:val="skw"/>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𝛼</m:t>
                                    </m:r>
                                  </m:num>
                                  <m:den>
                                    <m:r>
                                      <a:rPr lang="es-419" sz="2400" i="1">
                                        <a:latin typeface="Cambria Math" panose="02040503050406030204" pitchFamily="18" charset="0"/>
                                        <a:ea typeface="Cambria Math" panose="02040503050406030204" pitchFamily="18" charset="0"/>
                                      </a:rPr>
                                      <m:t>2</m:t>
                                    </m:r>
                                  </m:den>
                                </m:f>
                              </m:sub>
                            </m:sSub>
                          </m:den>
                        </m:f>
                        <m:f>
                          <m:fPr>
                            <m:ctrlPr>
                              <a:rPr lang="es-419" sz="2400" i="1">
                                <a:latin typeface="Cambria Math" panose="02040503050406030204" pitchFamily="18" charset="0"/>
                                <a:ea typeface="Cambria Math" panose="02040503050406030204" pitchFamily="18" charset="0"/>
                              </a:rPr>
                            </m:ctrlPr>
                          </m:fPr>
                          <m:num>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𝑥</m:t>
                                </m:r>
                              </m:sub>
                              <m:sup>
                                <m:r>
                                  <a:rPr lang="es-419" sz="2400" i="1">
                                    <a:latin typeface="Cambria Math" panose="02040503050406030204" pitchFamily="18" charset="0"/>
                                  </a:rPr>
                                  <m:t>2</m:t>
                                </m:r>
                              </m:sup>
                            </m:sSubSup>
                          </m:num>
                          <m:den>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𝑦</m:t>
                                </m:r>
                              </m:sub>
                              <m:sup>
                                <m:r>
                                  <a:rPr lang="es-419" sz="2400" i="1">
                                    <a:latin typeface="Cambria Math" panose="02040503050406030204" pitchFamily="18" charset="0"/>
                                  </a:rPr>
                                  <m:t>2</m:t>
                                </m:r>
                              </m:sup>
                            </m:sSubSup>
                          </m:den>
                        </m:f>
                        <m:r>
                          <a:rPr lang="es-419" sz="2400" i="1">
                            <a:latin typeface="Cambria Math" panose="02040503050406030204" pitchFamily="18" charset="0"/>
                            <a:ea typeface="Cambria Math" panose="02040503050406030204" pitchFamily="18" charset="0"/>
                          </a:rPr>
                          <m:t>≤</m:t>
                        </m:r>
                        <m:f>
                          <m:fPr>
                            <m:ctrlPr>
                              <a:rPr lang="es-419" sz="2400" i="1" dirty="0">
                                <a:latin typeface="Cambria Math" panose="02040503050406030204" pitchFamily="18" charset="0"/>
                                <a:ea typeface="Cambria Math" panose="02040503050406030204" pitchFamily="18" charset="0"/>
                              </a:rPr>
                            </m:ctrlPr>
                          </m:fPr>
                          <m:num>
                            <m:sSubSup>
                              <m:sSubSupPr>
                                <m:ctrlPr>
                                  <a:rPr lang="es-419" sz="2400" i="1">
                                    <a:latin typeface="Cambria Math" panose="02040503050406030204" pitchFamily="18" charset="0"/>
                                  </a:rPr>
                                </m:ctrlPr>
                              </m:sSubSupPr>
                              <m:e>
                                <m:r>
                                  <a:rPr lang="es-419" sz="2400" i="1">
                                    <a:latin typeface="Cambria Math" panose="02040503050406030204" pitchFamily="18" charset="0"/>
                                    <a:ea typeface="Cambria Math" panose="02040503050406030204" pitchFamily="18" charset="0"/>
                                  </a:rPr>
                                  <m:t>𝜎</m:t>
                                </m:r>
                              </m:e>
                              <m:sub>
                                <m:r>
                                  <a:rPr lang="es-419" sz="2400" i="1">
                                    <a:latin typeface="Cambria Math" panose="02040503050406030204" pitchFamily="18" charset="0"/>
                                    <a:ea typeface="Cambria Math" panose="02040503050406030204" pitchFamily="18" charset="0"/>
                                  </a:rPr>
                                  <m:t>𝑥</m:t>
                                </m:r>
                              </m:sub>
                              <m:sup>
                                <m:r>
                                  <a:rPr lang="es-419" sz="2400" i="1">
                                    <a:latin typeface="Cambria Math" panose="02040503050406030204" pitchFamily="18" charset="0"/>
                                  </a:rPr>
                                  <m:t>2</m:t>
                                </m:r>
                              </m:sup>
                            </m:sSubSup>
                          </m:num>
                          <m:den>
                            <m:sSubSup>
                              <m:sSubSupPr>
                                <m:ctrlPr>
                                  <a:rPr lang="es-419" sz="2400" i="1">
                                    <a:latin typeface="Cambria Math" panose="02040503050406030204" pitchFamily="18" charset="0"/>
                                  </a:rPr>
                                </m:ctrlPr>
                              </m:sSubSupPr>
                              <m:e>
                                <m:r>
                                  <a:rPr lang="es-419" sz="2400" i="1">
                                    <a:latin typeface="Cambria Math" panose="02040503050406030204" pitchFamily="18" charset="0"/>
                                    <a:ea typeface="Cambria Math" panose="02040503050406030204" pitchFamily="18" charset="0"/>
                                  </a:rPr>
                                  <m:t>𝜎</m:t>
                                </m:r>
                              </m:e>
                              <m:sub>
                                <m:r>
                                  <a:rPr lang="es-419" sz="2400" i="1">
                                    <a:latin typeface="Cambria Math" panose="02040503050406030204" pitchFamily="18" charset="0"/>
                                    <a:ea typeface="Cambria Math" panose="02040503050406030204" pitchFamily="18" charset="0"/>
                                  </a:rPr>
                                  <m:t>𝑦</m:t>
                                </m:r>
                              </m:sub>
                              <m:sup>
                                <m:r>
                                  <a:rPr lang="es-419" sz="2400" i="1">
                                    <a:latin typeface="Cambria Math" panose="02040503050406030204" pitchFamily="18" charset="0"/>
                                  </a:rPr>
                                  <m:t>2</m:t>
                                </m:r>
                              </m:sup>
                            </m:sSubSup>
                          </m:den>
                        </m:f>
                        <m:r>
                          <a:rPr lang="es-419" sz="2400" i="1">
                            <a:latin typeface="Cambria Math" panose="02040503050406030204" pitchFamily="18" charset="0"/>
                            <a:ea typeface="Cambria Math" panose="02040503050406030204" pitchFamily="18" charset="0"/>
                          </a:rPr>
                          <m:t>≤</m:t>
                        </m:r>
                        <m:f>
                          <m:fPr>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1</m:t>
                            </m:r>
                          </m:num>
                          <m:den>
                            <m:sSub>
                              <m:sSubPr>
                                <m:ctrlPr>
                                  <a:rPr lang="es-419" sz="2400" i="1">
                                    <a:latin typeface="Cambria Math" panose="02040503050406030204" pitchFamily="18" charset="0"/>
                                    <a:ea typeface="Cambria Math" panose="02040503050406030204" pitchFamily="18" charset="0"/>
                                  </a:rPr>
                                </m:ctrlPr>
                              </m:sSubPr>
                              <m:e>
                                <m:r>
                                  <a:rPr lang="es-419" sz="2400" i="1">
                                    <a:latin typeface="Cambria Math" panose="02040503050406030204" pitchFamily="18" charset="0"/>
                                    <a:ea typeface="Cambria Math" panose="02040503050406030204" pitchFamily="18" charset="0"/>
                                  </a:rPr>
                                  <m:t>𝐹</m:t>
                                </m:r>
                              </m:e>
                              <m:sub>
                                <m:r>
                                  <a:rPr lang="es-419" sz="2400" i="1">
                                    <a:latin typeface="Cambria Math" panose="02040503050406030204" pitchFamily="18" charset="0"/>
                                    <a:ea typeface="Cambria Math" panose="02040503050406030204" pitchFamily="18" charset="0"/>
                                  </a:rPr>
                                  <m:t>1−</m:t>
                                </m:r>
                                <m:f>
                                  <m:fPr>
                                    <m:type m:val="skw"/>
                                    <m:ctrlPr>
                                      <a:rPr lang="es-419" sz="2400" i="1">
                                        <a:latin typeface="Cambria Math" panose="02040503050406030204" pitchFamily="18" charset="0"/>
                                        <a:ea typeface="Cambria Math" panose="02040503050406030204" pitchFamily="18" charset="0"/>
                                      </a:rPr>
                                    </m:ctrlPr>
                                  </m:fPr>
                                  <m:num>
                                    <m:r>
                                      <a:rPr lang="es-419" sz="2400" i="1">
                                        <a:latin typeface="Cambria Math" panose="02040503050406030204" pitchFamily="18" charset="0"/>
                                        <a:ea typeface="Cambria Math" panose="02040503050406030204" pitchFamily="18" charset="0"/>
                                      </a:rPr>
                                      <m:t>𝛼</m:t>
                                    </m:r>
                                  </m:num>
                                  <m:den>
                                    <m:r>
                                      <a:rPr lang="es-419" sz="2400" i="1">
                                        <a:latin typeface="Cambria Math" panose="02040503050406030204" pitchFamily="18" charset="0"/>
                                        <a:ea typeface="Cambria Math" panose="02040503050406030204" pitchFamily="18" charset="0"/>
                                      </a:rPr>
                                      <m:t>2</m:t>
                                    </m:r>
                                  </m:den>
                                </m:f>
                              </m:sub>
                            </m:sSub>
                          </m:den>
                        </m:f>
                        <m:f>
                          <m:fPr>
                            <m:ctrlPr>
                              <a:rPr lang="es-419" sz="2400" i="1">
                                <a:latin typeface="Cambria Math" panose="02040503050406030204" pitchFamily="18" charset="0"/>
                                <a:ea typeface="Cambria Math" panose="02040503050406030204" pitchFamily="18" charset="0"/>
                              </a:rPr>
                            </m:ctrlPr>
                          </m:fPr>
                          <m:num>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𝑥</m:t>
                                </m:r>
                              </m:sub>
                              <m:sup>
                                <m:r>
                                  <a:rPr lang="es-419" sz="2400" i="1">
                                    <a:latin typeface="Cambria Math" panose="02040503050406030204" pitchFamily="18" charset="0"/>
                                  </a:rPr>
                                  <m:t>2</m:t>
                                </m:r>
                              </m:sup>
                            </m:sSubSup>
                          </m:num>
                          <m:den>
                            <m:sSubSup>
                              <m:sSubSupPr>
                                <m:ctrlPr>
                                  <a:rPr lang="es-419" sz="2400" i="1">
                                    <a:latin typeface="Cambria Math" panose="02040503050406030204" pitchFamily="18" charset="0"/>
                                  </a:rPr>
                                </m:ctrlPr>
                              </m:sSubSupPr>
                              <m:e>
                                <m:r>
                                  <a:rPr lang="es-419" sz="2400" i="1">
                                    <a:latin typeface="Cambria Math" panose="02040503050406030204" pitchFamily="18" charset="0"/>
                                  </a:rPr>
                                  <m:t>𝑆</m:t>
                                </m:r>
                              </m:e>
                              <m:sub>
                                <m:r>
                                  <a:rPr lang="es-419" sz="2400" i="1">
                                    <a:latin typeface="Cambria Math" panose="02040503050406030204" pitchFamily="18" charset="0"/>
                                  </a:rPr>
                                  <m:t>𝑦</m:t>
                                </m:r>
                              </m:sub>
                              <m:sup>
                                <m:r>
                                  <a:rPr lang="es-419" sz="2400" i="1">
                                    <a:latin typeface="Cambria Math" panose="02040503050406030204" pitchFamily="18" charset="0"/>
                                  </a:rPr>
                                  <m:t>2</m:t>
                                </m:r>
                              </m:sup>
                            </m:sSubSup>
                          </m:den>
                        </m:f>
                      </m:e>
                    </m:d>
                    <m:r>
                      <a:rPr lang="es-419" sz="2400" i="1">
                        <a:latin typeface="Cambria Math" panose="02040503050406030204" pitchFamily="18" charset="0"/>
                        <a:ea typeface="Cambria Math" panose="02040503050406030204" pitchFamily="18" charset="0"/>
                      </a:rPr>
                      <m:t>=</m:t>
                    </m:r>
                    <m:r>
                      <a:rPr lang="es-419" sz="2400" i="1">
                        <a:latin typeface="Cambria Math" panose="02040503050406030204" pitchFamily="18" charset="0"/>
                      </a:rPr>
                      <m:t>1−</m:t>
                    </m:r>
                    <m:r>
                      <a:rPr lang="es-419" sz="2400" i="1">
                        <a:latin typeface="Cambria Math" panose="02040503050406030204" pitchFamily="18" charset="0"/>
                        <a:ea typeface="Cambria Math" panose="02040503050406030204" pitchFamily="18" charset="0"/>
                      </a:rPr>
                      <m:t>𝛼</m:t>
                    </m:r>
                  </m:oMath>
                </a14:m>
                <a:endParaRPr lang="es-419" sz="2400" dirty="0">
                  <a:ea typeface="Cambria Math" panose="02040503050406030204" pitchFamily="18" charset="0"/>
                </a:endParaRPr>
              </a:p>
              <a:p>
                <a:pPr>
                  <a:lnSpc>
                    <a:spcPct val="150000"/>
                  </a:lnSpc>
                </a:pPr>
                <a:r>
                  <a:rPr lang="es-419" dirty="0">
                    <a:ea typeface="Cambria Math" panose="02040503050406030204" pitchFamily="18" charset="0"/>
                  </a:rPr>
                  <a:t>Por lo que el intervalo de confianza termina siendo:</a:t>
                </a:r>
              </a:p>
              <a:p>
                <a:pPr marL="0" indent="0" algn="ctr">
                  <a:lnSpc>
                    <a:spcPct val="150000"/>
                  </a:lnSpc>
                  <a:buNone/>
                </a:pPr>
                <a14:m>
                  <m:oMathPara xmlns:m="http://schemas.openxmlformats.org/officeDocument/2006/math">
                    <m:oMathParaPr>
                      <m:jc m:val="centerGroup"/>
                    </m:oMathParaPr>
                    <m:oMath xmlns:m="http://schemas.openxmlformats.org/officeDocument/2006/math">
                      <m:r>
                        <a:rPr lang="es-419" i="1">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1</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𝐹</m:t>
                              </m:r>
                            </m:e>
                            <m:sub>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𝑥</m:t>
                              </m:r>
                            </m:sub>
                            <m:sup>
                              <m:r>
                                <a:rPr lang="es-419" i="1">
                                  <a:latin typeface="Cambria Math" panose="02040503050406030204" pitchFamily="18" charset="0"/>
                                </a:rPr>
                                <m:t>2</m:t>
                              </m:r>
                            </m:sup>
                          </m:sSubSup>
                        </m:num>
                        <m:den>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𝑦</m:t>
                              </m:r>
                            </m:sub>
                            <m:sup>
                              <m:r>
                                <a:rPr lang="es-419" i="1">
                                  <a:latin typeface="Cambria Math" panose="02040503050406030204" pitchFamily="18" charset="0"/>
                                </a:rPr>
                                <m:t>2</m:t>
                              </m:r>
                            </m:sup>
                          </m:sSubSup>
                        </m:den>
                      </m:f>
                      <m:r>
                        <a:rPr lang="es-419" b="0" i="0" smtClean="0">
                          <a:latin typeface="Cambria Math" panose="02040503050406030204" pitchFamily="18" charset="0"/>
                          <a:ea typeface="Cambria Math" panose="02040503050406030204" pitchFamily="18" charset="0"/>
                        </a:rPr>
                        <m:t>;</m:t>
                      </m:r>
                      <m:f>
                        <m:fPr>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1</m:t>
                          </m:r>
                        </m:num>
                        <m:den>
                          <m:sSub>
                            <m:sSubPr>
                              <m:ctrlPr>
                                <a:rPr lang="es-419" i="1">
                                  <a:latin typeface="Cambria Math" panose="02040503050406030204" pitchFamily="18" charset="0"/>
                                  <a:ea typeface="Cambria Math" panose="02040503050406030204" pitchFamily="18" charset="0"/>
                                </a:rPr>
                              </m:ctrlPr>
                            </m:sSubPr>
                            <m:e>
                              <m:r>
                                <a:rPr lang="es-419" i="1">
                                  <a:latin typeface="Cambria Math" panose="02040503050406030204" pitchFamily="18" charset="0"/>
                                  <a:ea typeface="Cambria Math" panose="02040503050406030204" pitchFamily="18" charset="0"/>
                                </a:rPr>
                                <m:t>𝐹</m:t>
                              </m:r>
                            </m:e>
                            <m:sub>
                              <m:r>
                                <a:rPr lang="es-419" i="1">
                                  <a:latin typeface="Cambria Math" panose="02040503050406030204" pitchFamily="18" charset="0"/>
                                  <a:ea typeface="Cambria Math" panose="02040503050406030204" pitchFamily="18" charset="0"/>
                                </a:rPr>
                                <m:t>1−</m:t>
                              </m:r>
                              <m:f>
                                <m:fPr>
                                  <m:type m:val="skw"/>
                                  <m:ctrlPr>
                                    <a:rPr lang="es-419" i="1">
                                      <a:latin typeface="Cambria Math" panose="02040503050406030204" pitchFamily="18" charset="0"/>
                                      <a:ea typeface="Cambria Math" panose="02040503050406030204" pitchFamily="18" charset="0"/>
                                    </a:rPr>
                                  </m:ctrlPr>
                                </m:fPr>
                                <m:num>
                                  <m:r>
                                    <a:rPr lang="es-419" i="1">
                                      <a:latin typeface="Cambria Math" panose="02040503050406030204" pitchFamily="18" charset="0"/>
                                      <a:ea typeface="Cambria Math" panose="02040503050406030204" pitchFamily="18" charset="0"/>
                                    </a:rPr>
                                    <m:t>𝛼</m:t>
                                  </m:r>
                                </m:num>
                                <m:den>
                                  <m:r>
                                    <a:rPr lang="es-419" i="1">
                                      <a:latin typeface="Cambria Math" panose="02040503050406030204" pitchFamily="18" charset="0"/>
                                      <a:ea typeface="Cambria Math" panose="02040503050406030204" pitchFamily="18" charset="0"/>
                                    </a:rPr>
                                    <m:t>2</m:t>
                                  </m:r>
                                </m:den>
                              </m:f>
                            </m:sub>
                          </m:sSub>
                        </m:den>
                      </m:f>
                      <m:f>
                        <m:fPr>
                          <m:ctrlPr>
                            <a:rPr lang="es-419" i="1">
                              <a:latin typeface="Cambria Math" panose="02040503050406030204" pitchFamily="18" charset="0"/>
                              <a:ea typeface="Cambria Math" panose="02040503050406030204" pitchFamily="18" charset="0"/>
                            </a:rPr>
                          </m:ctrlPr>
                        </m:fPr>
                        <m:num>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𝑥</m:t>
                              </m:r>
                            </m:sub>
                            <m:sup>
                              <m:r>
                                <a:rPr lang="es-419" i="1">
                                  <a:latin typeface="Cambria Math" panose="02040503050406030204" pitchFamily="18" charset="0"/>
                                </a:rPr>
                                <m:t>2</m:t>
                              </m:r>
                            </m:sup>
                          </m:sSubSup>
                        </m:num>
                        <m:den>
                          <m:sSubSup>
                            <m:sSubSupPr>
                              <m:ctrlPr>
                                <a:rPr lang="es-419" i="1">
                                  <a:latin typeface="Cambria Math" panose="02040503050406030204" pitchFamily="18" charset="0"/>
                                </a:rPr>
                              </m:ctrlPr>
                            </m:sSubSupPr>
                            <m:e>
                              <m:r>
                                <a:rPr lang="es-419" i="1">
                                  <a:latin typeface="Cambria Math" panose="02040503050406030204" pitchFamily="18" charset="0"/>
                                </a:rPr>
                                <m:t>𝑆</m:t>
                              </m:r>
                            </m:e>
                            <m:sub>
                              <m:r>
                                <a:rPr lang="es-419" i="1">
                                  <a:latin typeface="Cambria Math" panose="02040503050406030204" pitchFamily="18" charset="0"/>
                                </a:rPr>
                                <m:t>𝑦</m:t>
                              </m:r>
                            </m:sub>
                            <m:sup>
                              <m:r>
                                <a:rPr lang="es-419" i="1">
                                  <a:latin typeface="Cambria Math" panose="02040503050406030204" pitchFamily="18" charset="0"/>
                                </a:rPr>
                                <m:t>2</m:t>
                              </m:r>
                            </m:sup>
                          </m:sSubSup>
                        </m:den>
                      </m:f>
                      <m:r>
                        <a:rPr lang="es-419" b="0" i="1" smtClean="0">
                          <a:latin typeface="Cambria Math" panose="02040503050406030204" pitchFamily="18" charset="0"/>
                        </a:rPr>
                        <m:t>]</m:t>
                      </m:r>
                    </m:oMath>
                  </m:oMathPara>
                </a14:m>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ea typeface="Cambria Math" panose="02040503050406030204" pitchFamily="18" charset="0"/>
                </a:endParaRPr>
              </a:p>
              <a:p>
                <a:pPr>
                  <a:lnSpc>
                    <a:spcPct val="150000"/>
                  </a:lnSpc>
                </a:pPr>
                <a:endParaRPr lang="es-419" dirty="0"/>
              </a:p>
              <a:p>
                <a:pPr>
                  <a:lnSpc>
                    <a:spcPct val="150000"/>
                  </a:lnSpc>
                </a:pPr>
                <a:endParaRPr lang="es-419" dirty="0"/>
              </a:p>
              <a:p>
                <a:pPr>
                  <a:lnSpc>
                    <a:spcPct val="150000"/>
                  </a:lnSpc>
                </a:pPr>
                <a:endParaRPr lang="es-419" dirty="0"/>
              </a:p>
              <a:p>
                <a:pPr marL="514350" indent="-514350">
                  <a:lnSpc>
                    <a:spcPct val="150000"/>
                  </a:lnSpc>
                  <a:buFont typeface="+mj-lt"/>
                  <a:buAutoNum type="alphaLcPeriod"/>
                </a:pPr>
                <a:endParaRPr lang="es-419" dirty="0"/>
              </a:p>
              <a:p>
                <a:pPr>
                  <a:lnSpc>
                    <a:spcPct val="150000"/>
                  </a:lnSpc>
                </a:pPr>
                <a:endParaRPr lang="es-419" dirty="0"/>
              </a:p>
            </p:txBody>
          </p:sp>
        </mc:Choice>
        <mc:Fallback xmlns="">
          <p:sp>
            <p:nvSpPr>
              <p:cNvPr id="3" name="Content Placeholder 2">
                <a:extLst>
                  <a:ext uri="{FF2B5EF4-FFF2-40B4-BE49-F238E27FC236}">
                    <a16:creationId xmlns:a16="http://schemas.microsoft.com/office/drawing/2014/main" id="{11AD2B7B-D57E-4721-9C41-C48E6975A026}"/>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s-419">
                    <a:noFill/>
                  </a:rPr>
                  <a:t> </a:t>
                </a:r>
              </a:p>
            </p:txBody>
          </p:sp>
        </mc:Fallback>
      </mc:AlternateContent>
    </p:spTree>
    <p:extLst>
      <p:ext uri="{BB962C8B-B14F-4D97-AF65-F5344CB8AC3E}">
        <p14:creationId xmlns:p14="http://schemas.microsoft.com/office/powerpoint/2010/main" val="39582016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4357B-7739-64ED-CF4A-BEB18B31C762}"/>
              </a:ext>
            </a:extLst>
          </p:cNvPr>
          <p:cNvSpPr>
            <a:spLocks noGrp="1"/>
          </p:cNvSpPr>
          <p:nvPr>
            <p:ph type="title"/>
          </p:nvPr>
        </p:nvSpPr>
        <p:spPr/>
        <p:txBody>
          <a:bodyPr/>
          <a:lstStyle/>
          <a:p>
            <a:r>
              <a:rPr lang="es-VE" dirty="0"/>
              <a:t>Mensaje principal</a:t>
            </a:r>
          </a:p>
        </p:txBody>
      </p:sp>
      <p:sp>
        <p:nvSpPr>
          <p:cNvPr id="3" name="Marcador de contenido 2">
            <a:extLst>
              <a:ext uri="{FF2B5EF4-FFF2-40B4-BE49-F238E27FC236}">
                <a16:creationId xmlns:a16="http://schemas.microsoft.com/office/drawing/2014/main" id="{9478D337-D951-332A-AC1D-6135DA1A7AA2}"/>
              </a:ext>
            </a:extLst>
          </p:cNvPr>
          <p:cNvSpPr>
            <a:spLocks noGrp="1"/>
          </p:cNvSpPr>
          <p:nvPr>
            <p:ph idx="1"/>
          </p:nvPr>
        </p:nvSpPr>
        <p:spPr/>
        <p:txBody>
          <a:bodyPr>
            <a:normAutofit/>
          </a:bodyPr>
          <a:lstStyle/>
          <a:p>
            <a:pPr marL="0" indent="0" algn="ctr">
              <a:lnSpc>
                <a:spcPct val="150000"/>
              </a:lnSpc>
              <a:buNone/>
            </a:pPr>
            <a:endParaRPr lang="es-VE" sz="2000" i="1" dirty="0"/>
          </a:p>
          <a:p>
            <a:pPr marL="0" indent="0" algn="ctr">
              <a:lnSpc>
                <a:spcPct val="150000"/>
              </a:lnSpc>
              <a:buNone/>
            </a:pPr>
            <a:r>
              <a:rPr lang="es-VE" sz="2000" i="1" dirty="0"/>
              <a:t>A partir de información muestral, podemos definir rangos de valores para acercarnos a parámetros poblacionales desconocidos.</a:t>
            </a:r>
          </a:p>
          <a:p>
            <a:pPr marL="0" indent="0" algn="ctr">
              <a:lnSpc>
                <a:spcPct val="150000"/>
              </a:lnSpc>
              <a:buNone/>
            </a:pPr>
            <a:r>
              <a:rPr lang="es-VE" sz="2000" i="1" dirty="0"/>
              <a:t>Los extremos de estos intervalos están sujetos a propiedades probabilísticas.</a:t>
            </a:r>
          </a:p>
          <a:p>
            <a:pPr marL="0" indent="0" algn="ctr">
              <a:lnSpc>
                <a:spcPct val="150000"/>
              </a:lnSpc>
              <a:buNone/>
            </a:pPr>
            <a:r>
              <a:rPr lang="es-VE" sz="2000" i="1" dirty="0"/>
              <a:t>La noción de confianza proviene de una lógica asintótica de infinitos intervalos y la proporción de ellos que contiende al parámetro desconocido.</a:t>
            </a:r>
          </a:p>
          <a:p>
            <a:pPr marL="0" indent="0" algn="ctr">
              <a:lnSpc>
                <a:spcPct val="150000"/>
              </a:lnSpc>
              <a:buNone/>
            </a:pPr>
            <a:r>
              <a:rPr lang="es-VE" sz="2000" i="1" dirty="0"/>
              <a:t>Se pueden construir intervalos de confianza a base de estadísticos conocidos y trabajarlos de forma estandarizada.</a:t>
            </a:r>
            <a:endParaRPr lang="es-VE" sz="2400" i="1" dirty="0"/>
          </a:p>
          <a:p>
            <a:pPr marL="0" indent="0" algn="ctr">
              <a:lnSpc>
                <a:spcPct val="150000"/>
              </a:lnSpc>
              <a:buNone/>
            </a:pPr>
            <a:endParaRPr lang="es-VE" i="1" dirty="0"/>
          </a:p>
        </p:txBody>
      </p:sp>
    </p:spTree>
    <p:extLst>
      <p:ext uri="{BB962C8B-B14F-4D97-AF65-F5344CB8AC3E}">
        <p14:creationId xmlns:p14="http://schemas.microsoft.com/office/powerpoint/2010/main" val="407783867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1CB5B7C-2524-4454-BA98-4C573E5FA2D4}"/>
              </a:ext>
            </a:extLst>
          </p:cNvPr>
          <p:cNvSpPr>
            <a:spLocks noGrp="1"/>
          </p:cNvSpPr>
          <p:nvPr>
            <p:ph idx="1"/>
          </p:nvPr>
        </p:nvSpPr>
        <p:spPr/>
        <p:txBody>
          <a:bodyPr/>
          <a:lstStyle/>
          <a:p>
            <a:pPr marL="0" indent="0" algn="ctr">
              <a:buNone/>
            </a:pPr>
            <a:endParaRPr lang="es-419" dirty="0"/>
          </a:p>
          <a:p>
            <a:pPr marL="0" indent="0" algn="ctr">
              <a:buNone/>
            </a:pPr>
            <a:endParaRPr lang="es-419" dirty="0"/>
          </a:p>
          <a:p>
            <a:pPr marL="0" indent="0" algn="ctr">
              <a:buNone/>
            </a:pPr>
            <a:endParaRPr lang="es-419" dirty="0"/>
          </a:p>
          <a:p>
            <a:pPr marL="0" indent="0" algn="ctr">
              <a:buNone/>
            </a:pPr>
            <a:endParaRPr lang="es-419" dirty="0"/>
          </a:p>
          <a:p>
            <a:pPr marL="0" indent="0" algn="ctr">
              <a:buNone/>
            </a:pPr>
            <a:r>
              <a:rPr lang="es-419" dirty="0"/>
              <a:t>Giorgio Cunto Morales</a:t>
            </a:r>
          </a:p>
          <a:p>
            <a:pPr marL="0" indent="0" algn="ctr">
              <a:buNone/>
            </a:pPr>
            <a:r>
              <a:rPr lang="es-419" sz="2400" dirty="0">
                <a:hlinkClick r:id="rId2"/>
              </a:rPr>
              <a:t>gcuntomo@ucab.edu.ve</a:t>
            </a:r>
            <a:r>
              <a:rPr lang="es-419" sz="2400" dirty="0"/>
              <a:t> | </a:t>
            </a:r>
            <a:r>
              <a:rPr lang="en-US" sz="2400" dirty="0">
                <a:hlinkClick r:id="rId3"/>
              </a:rPr>
              <a:t>https://www.lintedin.com/in/giorgiocmorales/</a:t>
            </a:r>
            <a:endParaRPr lang="en-US" sz="2400" dirty="0"/>
          </a:p>
        </p:txBody>
      </p:sp>
    </p:spTree>
    <p:extLst>
      <p:ext uri="{BB962C8B-B14F-4D97-AF65-F5344CB8AC3E}">
        <p14:creationId xmlns:p14="http://schemas.microsoft.com/office/powerpoint/2010/main" val="1398922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19934</TotalTime>
  <Words>5505</Words>
  <Application>Microsoft Office PowerPoint</Application>
  <PresentationFormat>Panorámica</PresentationFormat>
  <Paragraphs>1221</Paragraphs>
  <Slides>123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123</vt:i4>
      </vt:variant>
    </vt:vector>
  </HeadingPairs>
  <TitlesOfParts>
    <vt:vector size="129" baseType="lpstr">
      <vt:lpstr>Arial</vt:lpstr>
      <vt:lpstr>Calibri</vt:lpstr>
      <vt:lpstr>Cambria Math</vt:lpstr>
      <vt:lpstr>Consolas</vt:lpstr>
      <vt:lpstr>Georgia</vt:lpstr>
      <vt:lpstr>Office Theme</vt:lpstr>
      <vt:lpstr>Presentación de PowerPoint</vt:lpstr>
      <vt:lpstr>Mensaje principal</vt:lpstr>
      <vt:lpstr>Estimación por Intervalos</vt:lpstr>
      <vt:lpstr>Espacio de intervención: 30 segundos</vt:lpstr>
      <vt:lpstr>Estimación por intervalos</vt:lpstr>
      <vt:lpstr>Estimación por intervalos</vt:lpstr>
      <vt:lpstr>Construcción de un intervalo</vt:lpstr>
      <vt:lpstr>Intervalos de confianza para la media de una población</vt:lpstr>
      <vt:lpstr>Construcción del intervalo</vt:lpstr>
      <vt:lpstr>Visualizando</vt:lpstr>
      <vt:lpstr>Construcción del intervalo</vt:lpstr>
      <vt:lpstr>Intervalo de confianza para la media poblacional</vt:lpstr>
      <vt:lpstr>Visualizando para dos muestras</vt:lpstr>
      <vt:lpstr>Visualizando para varias muestras</vt:lpstr>
      <vt:lpstr>Un ejemplo con datos</vt:lpstr>
      <vt:lpstr>Un ejemplo con datos</vt:lpstr>
      <vt:lpstr>Ejemplo 9.1</vt:lpstr>
      <vt:lpstr>Ejemplo 9.1</vt:lpstr>
      <vt:lpstr>Ejemplo 9.1</vt:lpstr>
      <vt:lpstr>Ejemplo 9.1</vt:lpstr>
      <vt:lpstr>Notas sobre amplitud</vt:lpstr>
      <vt:lpstr>Espacio de intervención: 30 segundos</vt:lpstr>
      <vt:lpstr>Amplitud del intervalo</vt:lpstr>
      <vt:lpstr>Amplitud del intervalo</vt:lpstr>
      <vt:lpstr>Confianza vs probabilidad</vt:lpstr>
      <vt:lpstr>Espacio de intervención: 30 segundos</vt:lpstr>
      <vt:lpstr>Algunas mis concepciones</vt:lpstr>
      <vt:lpstr>Confianza vs probabilidad</vt:lpstr>
      <vt:lpstr>Confianza vs probabilidad</vt:lpstr>
      <vt:lpstr>Confianza: proporción de intervalos que contienen a μ </vt:lpstr>
      <vt:lpstr>Interpretación correcta</vt:lpstr>
      <vt:lpstr>Certeza vs “precisión”</vt:lpstr>
      <vt:lpstr>Intervalos de confianza para la media de una población</vt:lpstr>
      <vt:lpstr>Intervalos de confianza para la media de una población</vt:lpstr>
      <vt:lpstr>Resuelto 9.1</vt:lpstr>
      <vt:lpstr>Resuelto 9.1</vt:lpstr>
      <vt:lpstr>Intervalos de confianza para la media de una población</vt:lpstr>
      <vt:lpstr>Intervalos de confianza para la media de una población</vt:lpstr>
      <vt:lpstr>Espacio de intervención: 30 segundos</vt:lpstr>
      <vt:lpstr>Intervalos de confianza para la media de una población</vt:lpstr>
      <vt:lpstr>Resuelto 9.3</vt:lpstr>
      <vt:lpstr>Resuelto 9.3</vt:lpstr>
      <vt:lpstr>Resuelto 9.3</vt:lpstr>
      <vt:lpstr>Propuesto 9.16</vt:lpstr>
      <vt:lpstr>Propuesto 9.16</vt:lpstr>
      <vt:lpstr>Propuesto 9.16</vt:lpstr>
      <vt:lpstr>Propuesto 9.32</vt:lpstr>
      <vt:lpstr>Propuesto 9.32</vt:lpstr>
      <vt:lpstr>Espacio de intervención: 30 segundos</vt:lpstr>
      <vt:lpstr>Intervalos de confianza para la media de una población finita</vt:lpstr>
      <vt:lpstr>Intervalos de confianza para la media de una población finita</vt:lpstr>
      <vt:lpstr>Intervalos de confianza para la media de una población finita</vt:lpstr>
      <vt:lpstr>Intervalos de confianza para la media de una población finita</vt:lpstr>
      <vt:lpstr>Intervalos de confianza para la media de una población finita</vt:lpstr>
      <vt:lpstr>Intervalos de confianza para la media de una población finita</vt:lpstr>
      <vt:lpstr>Intervalos de confianza para la media de una población finita</vt:lpstr>
      <vt:lpstr>Intervalos de confianza para la media de una población finita</vt:lpstr>
      <vt:lpstr>Propuesto 9.25</vt:lpstr>
      <vt:lpstr>Propuesto 9.25</vt:lpstr>
      <vt:lpstr>Espacio de intervención: 30 segundos</vt:lpstr>
      <vt:lpstr>Determinación tamaño de una muestra</vt:lpstr>
      <vt:lpstr>Propuesto 9.33</vt:lpstr>
      <vt:lpstr>Propuesto 9.33</vt:lpstr>
      <vt:lpstr>Espacio de intervención: Para próxima clase</vt:lpstr>
      <vt:lpstr>Espacio de intervención: Para próxima clase</vt:lpstr>
      <vt:lpstr>Intervalos de confianza para la varianza de una población</vt:lpstr>
      <vt:lpstr>Intervalos de confianza para la varianza poblacional</vt:lpstr>
      <vt:lpstr>Intervalos de confianza para la varianza poblacional</vt:lpstr>
      <vt:lpstr>Intervalos de confianza para la varianza poblacional</vt:lpstr>
      <vt:lpstr>Propuesto 9.20</vt:lpstr>
      <vt:lpstr>Propuesto 9.20</vt:lpstr>
      <vt:lpstr>Propuesto 9.20</vt:lpstr>
      <vt:lpstr>Espacio de intervención: 30 segundos</vt:lpstr>
      <vt:lpstr>Intervalos de confianza para la varianza poblacional</vt:lpstr>
      <vt:lpstr>Intervalos de confianza para la varianza poblacional</vt:lpstr>
      <vt:lpstr>Intervalos de confianza para la varianza poblacional</vt:lpstr>
      <vt:lpstr>Intervalos de confianza para la varianza poblacional</vt:lpstr>
      <vt:lpstr>Espacio de intervención: 30 segundos</vt:lpstr>
      <vt:lpstr>Intervalos de confianza para la proporción de una población</vt:lpstr>
      <vt:lpstr>Intervalos de confianza para proporción poblacional</vt:lpstr>
      <vt:lpstr>Intervalos de confianza para proporción poblacional</vt:lpstr>
      <vt:lpstr>Visualizando</vt:lpstr>
      <vt:lpstr>Propuesto 9.23 y 9.24</vt:lpstr>
      <vt:lpstr>Propuesto 9.23 y 9.24</vt:lpstr>
      <vt:lpstr>Propuesto 9.23 y 9.24</vt:lpstr>
      <vt:lpstr>Propuesto 9.37 y 9.38</vt:lpstr>
      <vt:lpstr>Propuesto 9.37</vt:lpstr>
      <vt:lpstr>Intervalos de confianza para proporción poblacional</vt:lpstr>
      <vt:lpstr>Propuesto 9.38</vt:lpstr>
      <vt:lpstr>Propuesto 9.38</vt:lpstr>
      <vt:lpstr>Propuesto 9.44 y 9.47</vt:lpstr>
      <vt:lpstr>Resuelto 9.47</vt:lpstr>
      <vt:lpstr>Intervalos de confianza para la diferencia de medias poblacionales</vt:lpstr>
      <vt:lpstr>Intervalos de confianza para diferencia de medias</vt:lpstr>
      <vt:lpstr>Intervalos de confianza para diferencia de medias</vt:lpstr>
      <vt:lpstr>Espacio de intervención: 30 segundos</vt:lpstr>
      <vt:lpstr>Intervalos de confianza para diferencia de medias</vt:lpstr>
      <vt:lpstr>Intervalos de confianza para diferencia de medias</vt:lpstr>
      <vt:lpstr>Intervalos de confianza para diferencia de medias</vt:lpstr>
      <vt:lpstr>Intervalos de confianza para diferencia de medias</vt:lpstr>
      <vt:lpstr>Propuesto 9.49</vt:lpstr>
      <vt:lpstr>Resuelto 9.49</vt:lpstr>
      <vt:lpstr>Propuesto 9.55</vt:lpstr>
      <vt:lpstr>Propuesto 9.55</vt:lpstr>
      <vt:lpstr>Intervalos de confianza para diferencia de medias</vt:lpstr>
      <vt:lpstr>Intervalos de confianza para diferencia de medias</vt:lpstr>
      <vt:lpstr>Propuesto 9.59</vt:lpstr>
      <vt:lpstr>Resuelto 9.59</vt:lpstr>
      <vt:lpstr>Intervalos de confianza para diferencia de proporciones poblacionales</vt:lpstr>
      <vt:lpstr>Intervalos de confianza para diferencia de proporciones</vt:lpstr>
      <vt:lpstr>Intervalos de confianza para diferencia de medias</vt:lpstr>
      <vt:lpstr>Visualizando</vt:lpstr>
      <vt:lpstr>Propuesto 9.51</vt:lpstr>
      <vt:lpstr>Resuelto 9.51</vt:lpstr>
      <vt:lpstr>Intervalos de confianza para diferencia de proporciones</vt:lpstr>
      <vt:lpstr>Propuesto 9.57</vt:lpstr>
      <vt:lpstr>Resuelto 9.57</vt:lpstr>
      <vt:lpstr>Intervalos de confianza para proporción de varianzas poblacionales</vt:lpstr>
      <vt:lpstr>Intervalos de confianza para proporción de varianzas</vt:lpstr>
      <vt:lpstr>Intervalos de confianza para proporción de varianzas</vt:lpstr>
      <vt:lpstr>Intervalos de confianza para proporción de varianzas</vt:lpstr>
      <vt:lpstr>Mensaje principal</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Giorgio C Morales</dc:creator>
  <cp:lastModifiedBy>DTI</cp:lastModifiedBy>
  <cp:revision>230</cp:revision>
  <dcterms:created xsi:type="dcterms:W3CDTF">2020-04-17T00:45:03Z</dcterms:created>
  <dcterms:modified xsi:type="dcterms:W3CDTF">2022-10-26T14:49:02Z</dcterms:modified>
</cp:coreProperties>
</file>